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301" r:id="rId5"/>
    <p:sldId id="304" r:id="rId6"/>
    <p:sldId id="319" r:id="rId7"/>
    <p:sldId id="320" r:id="rId8"/>
    <p:sldId id="321" r:id="rId9"/>
    <p:sldId id="322" r:id="rId10"/>
    <p:sldId id="323" r:id="rId11"/>
    <p:sldId id="324" r:id="rId12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51" r:id="rId34"/>
    <p:sldId id="345" r:id="rId35"/>
    <p:sldId id="346" r:id="rId36"/>
    <p:sldId id="347" r:id="rId37"/>
    <p:sldId id="302" r:id="rId38"/>
    <p:sldId id="349" r:id="rId39"/>
    <p:sldId id="350" r:id="rId40"/>
    <p:sldId id="306" r:id="rId41"/>
    <p:sldId id="348" r:id="rId42"/>
    <p:sldId id="310" r:id="rId43"/>
    <p:sldId id="312" r:id="rId44"/>
    <p:sldId id="313" r:id="rId45"/>
    <p:sldId id="315" r:id="rId46"/>
    <p:sldId id="314" r:id="rId47"/>
    <p:sldId id="318" r:id="rId48"/>
    <p:sldId id="316" r:id="rId49"/>
    <p:sldId id="299" r:id="rId50"/>
    <p:sldId id="317" r:id="rId51"/>
    <p:sldId id="300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4033E-AB62-4128-9E45-CDD9CE0BF2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0A7F1-4273-4D6C-95D5-9DD575D919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整个</a:t>
            </a:r>
            <a:r>
              <a:rPr lang="en-US" altLang="zh-CN" dirty="0"/>
              <a:t>PA</a:t>
            </a:r>
            <a:r>
              <a:rPr lang="zh-CN" altLang="en-US" dirty="0"/>
              <a:t>的核心是</a:t>
            </a:r>
            <a:r>
              <a:rPr lang="en-US" altLang="zh-CN" dirty="0"/>
              <a:t>NEMU</a:t>
            </a:r>
            <a:r>
              <a:rPr lang="zh-CN" altLang="en-US" dirty="0"/>
              <a:t>模拟器，它的实现参照了著名的开源模拟器</a:t>
            </a:r>
            <a:r>
              <a:rPr lang="en-US" altLang="zh-CN" dirty="0"/>
              <a:t>QEMU</a:t>
            </a:r>
            <a:r>
              <a:rPr lang="zh-CN" altLang="en-US" dirty="0"/>
              <a:t>的代码。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它内置了一个内建调试器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能够模拟一台简化的</a:t>
            </a:r>
            <a:r>
              <a:rPr lang="en-US" altLang="zh-CN" dirty="0"/>
              <a:t>i386</a:t>
            </a:r>
            <a:r>
              <a:rPr lang="zh-CN" altLang="en-US" dirty="0"/>
              <a:t>指令集体系结构计算机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在这个模拟器上，能够运行一个称为</a:t>
            </a:r>
            <a:r>
              <a:rPr lang="en-US" altLang="zh-CN" dirty="0"/>
              <a:t>Kernel</a:t>
            </a:r>
            <a:r>
              <a:rPr lang="zh-CN" altLang="en-US" dirty="0"/>
              <a:t>的微型操作系统。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并且运行包括测试用例、游戏等在内的用户程序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为了实现这么丰富的功能，我们将整个</a:t>
            </a:r>
            <a:r>
              <a:rPr lang="en-US" altLang="zh-CN" dirty="0"/>
              <a:t>PA</a:t>
            </a:r>
            <a:r>
              <a:rPr lang="zh-CN" altLang="en-US" dirty="0"/>
              <a:t>分成了四个大的阶段，具体内容会在后续课程中详细展开。这次课，我们关注的是如何做好开展</a:t>
            </a:r>
            <a:r>
              <a:rPr lang="en-US" altLang="zh-CN" dirty="0"/>
              <a:t>PA</a:t>
            </a:r>
            <a:r>
              <a:rPr lang="zh-CN" altLang="en-US" dirty="0"/>
              <a:t>实验的准备工作。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整个</a:t>
            </a:r>
            <a:r>
              <a:rPr lang="en-US" altLang="zh-CN" dirty="0"/>
              <a:t>PA</a:t>
            </a:r>
            <a:r>
              <a:rPr lang="zh-CN" altLang="en-US" dirty="0"/>
              <a:t>的核心是</a:t>
            </a:r>
            <a:r>
              <a:rPr lang="en-US" altLang="zh-CN" dirty="0"/>
              <a:t>NEMU</a:t>
            </a:r>
            <a:r>
              <a:rPr lang="zh-CN" altLang="en-US" dirty="0"/>
              <a:t>模拟器，它的实现参照了著名的开源模拟器</a:t>
            </a:r>
            <a:r>
              <a:rPr lang="en-US" altLang="zh-CN" dirty="0"/>
              <a:t>QEMU</a:t>
            </a:r>
            <a:r>
              <a:rPr lang="zh-CN" altLang="en-US" dirty="0"/>
              <a:t>的代码。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7FF40-55F0-481A-8B49-CACFA5DDDE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62E6-A5FE-4614-93F7-EF930F4376B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0615F-B4EA-43D7-960C-AEBA89FFC64B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CB2B-3C62-4800-BEBD-F13A1986BD18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E43F-AA02-4F7E-BA8E-66FDD3FFCBD9}" type="datetime3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E1FFD-6F06-4D9E-B691-F4EA14A90984}" type="datetime3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140F-E92B-4D35-BFAA-8668B39CBAB8}" type="datetime3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F4F1-6E6A-419C-BB23-DDD9D27903CA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C0AF-E0F0-4656-BB45-0C2DA57A910A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C05-FCFD-4EEF-92FE-74C99CA0D4FB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97780-D8AE-4661-920E-2609AD032167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7A346967-A2D4-4E07-BD82-1E1E38F5A241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space.bilibili.com/284613991/channel/detail?cid=103368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4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0.jpeg"/><Relationship Id="rId1" Type="http://schemas.openxmlformats.org/officeDocument/2006/relationships/image" Target="../media/image8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emf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0 – </a:t>
            </a:r>
            <a:r>
              <a:rPr lang="zh-CN" altLang="en-US" sz="4800" dirty="0"/>
              <a:t>在线实验平台与</a:t>
            </a:r>
            <a:r>
              <a:rPr lang="en-US" altLang="zh-CN" sz="4800" dirty="0"/>
              <a:t>PA</a:t>
            </a:r>
            <a:r>
              <a:rPr lang="zh-CN" altLang="en-US" sz="4800" dirty="0"/>
              <a:t>简介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 smtClean="0"/>
              <a:t>2025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26</a:t>
            </a:r>
            <a:r>
              <a:rPr lang="zh-CN" altLang="en-US" dirty="0" smtClean="0"/>
              <a:t>日</a:t>
            </a:r>
            <a:endParaRPr lang="zh-CN" altLang="en-US" dirty="0" smtClean="0"/>
          </a:p>
          <a:p>
            <a:pPr algn="r"/>
            <a:r>
              <a:rPr lang="en-US" altLang="zh-CN" dirty="0" smtClean="0">
                <a:sym typeface="+mn-ea"/>
              </a:rPr>
              <a:t>2025</a:t>
            </a:r>
            <a:r>
              <a:rPr lang="zh-CN" altLang="en-US" dirty="0" smtClean="0">
                <a:sym typeface="+mn-ea"/>
              </a:rPr>
              <a:t>年</a:t>
            </a:r>
            <a:r>
              <a:rPr lang="en-US" altLang="zh-CN" dirty="0" smtClean="0">
                <a:sym typeface="+mn-ea"/>
              </a:rPr>
              <a:t>8</a:t>
            </a:r>
            <a:r>
              <a:rPr lang="zh-CN" altLang="en-US" dirty="0" smtClean="0">
                <a:sym typeface="+mn-ea"/>
              </a:rPr>
              <a:t>月</a:t>
            </a:r>
            <a:r>
              <a:rPr lang="en-US" altLang="zh-CN" dirty="0" smtClean="0">
                <a:sym typeface="+mn-ea"/>
              </a:rPr>
              <a:t>27</a:t>
            </a:r>
            <a:r>
              <a:rPr lang="zh-CN" altLang="en-US" dirty="0" smtClean="0">
                <a:sym typeface="+mn-ea"/>
              </a:rPr>
              <a:t>日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D081-7704-4002-A034-3CFF8BD6D838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课程基本信息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PA</a:t>
            </a:r>
            <a:r>
              <a:rPr lang="zh-CN" altLang="en-US"/>
              <a:t>课程内容和原理简介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zh-CN" altLang="en-US"/>
              <a:t>在线</a:t>
            </a:r>
            <a:r>
              <a:rPr lang="zh-CN" altLang="en-US" dirty="0"/>
              <a:t>实验平台的使用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课程基本信息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/>
              <a:t>PA</a:t>
            </a:r>
            <a:r>
              <a:rPr lang="zh-CN" altLang="en-US" dirty="0"/>
              <a:t>课程内容和原理简介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/>
              <a:t>在线实验平台的使用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课程基本信息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8891" y="1226776"/>
            <a:ext cx="3912624" cy="1553441"/>
          </a:xfrm>
          <a:solidFill>
            <a:schemeClr val="bg1"/>
          </a:solidFill>
        </p:spPr>
        <p:txBody>
          <a:bodyPr/>
          <a:lstStyle/>
          <a:p>
            <a:r>
              <a:rPr lang="zh-CN" altLang="en-US" dirty="0"/>
              <a:t>在线实验平台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990600" y="1424709"/>
            <a:ext cx="3549650" cy="98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上课时间地点</a:t>
            </a:r>
            <a:endParaRPr lang="zh-CN" altLang="en-US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7398891" y="2903176"/>
            <a:ext cx="5994400" cy="15534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助教（在</a:t>
            </a:r>
            <a:r>
              <a:rPr lang="en-US" altLang="zh-CN" dirty="0"/>
              <a:t>QQ</a:t>
            </a:r>
            <a:r>
              <a:rPr lang="zh-CN" altLang="en-US" dirty="0"/>
              <a:t>群）</a:t>
            </a:r>
            <a:endParaRPr lang="zh-CN" altLang="en-US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7398891" y="4531481"/>
            <a:ext cx="5994400" cy="15534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以前学期的视频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90600" y="5372784"/>
            <a:ext cx="10791825" cy="8299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  <a:hlinkClick r:id="rId1"/>
              </a:rPr>
              <a:t>https://space.bilibili.com/284613991/channel/detail?cid=103368</a:t>
            </a:r>
            <a:endParaRPr lang="en-US" altLang="zh-CN" sz="2400" dirty="0">
              <a:solidFill>
                <a:schemeClr val="accent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5"/>
                </a:solidFill>
              </a:rPr>
              <a:t>https://box.nju.edu.cn/d/8d35d9cdabda4410ac48/ </a:t>
            </a:r>
            <a:endParaRPr lang="en-US" altLang="zh-CN" sz="2400" dirty="0">
              <a:solidFill>
                <a:schemeClr val="accent5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7491" y="3373494"/>
            <a:ext cx="573405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5"/>
                </a:solidFill>
              </a:rPr>
              <a:t>应明</a:t>
            </a:r>
            <a:r>
              <a:rPr lang="zh-CN" altLang="en-US" sz="2400" dirty="0">
                <a:solidFill>
                  <a:schemeClr val="accent5"/>
                </a:solidFill>
              </a:rPr>
              <a:t>（负责平台问题）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7491" y="1700717"/>
            <a:ext cx="374269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http://</a:t>
            </a:r>
            <a:r>
              <a:rPr lang="en-US" altLang="zh-CN" sz="2400" dirty="0" smtClean="0">
                <a:solidFill>
                  <a:srgbClr val="FF0000"/>
                </a:solidFill>
              </a:rPr>
              <a:t>114.212.10.200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chemeClr val="accent5"/>
                </a:solidFill>
              </a:rPr>
              <a:t>使用</a:t>
            </a:r>
            <a:r>
              <a:rPr lang="zh-CN" altLang="en-US" sz="2400" dirty="0">
                <a:solidFill>
                  <a:schemeClr val="accent5"/>
                </a:solidFill>
              </a:rPr>
              <a:t>方法接下来详细演示</a:t>
            </a:r>
            <a:endParaRPr lang="zh-CN" altLang="en-US" sz="2400" dirty="0">
              <a:solidFill>
                <a:schemeClr val="accent5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86542" y="2956835"/>
            <a:ext cx="56323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周二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5-6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</a:t>
            </a:r>
            <a:r>
              <a:rPr lang="zh-CN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仙</a:t>
            </a:r>
            <a:r>
              <a:rPr lang="en-US" altLang="zh-CN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I-202</a:t>
            </a:r>
            <a:endParaRPr lang="en-US" altLang="zh-CN" sz="3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周三</a:t>
            </a:r>
            <a:r>
              <a:rPr lang="en-US" altLang="zh-CN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5-6</a:t>
            </a:r>
            <a:r>
              <a:rPr lang="zh-CN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节仙</a:t>
            </a:r>
            <a:r>
              <a:rPr lang="en-US" altLang="zh-CN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I-203</a:t>
            </a:r>
            <a:endParaRPr lang="en-US" altLang="zh-CN" sz="3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课程基本信息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</a:t>
            </a:r>
            <a:r>
              <a:rPr lang="zh-CN" altLang="en-US" b="1" dirty="0">
                <a:solidFill>
                  <a:srgbClr val="C00000"/>
                </a:solidFill>
              </a:rPr>
              <a:t>课程内容和原理简介</a:t>
            </a:r>
            <a:endParaRPr lang="zh-CN" altLang="en-US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在线实验平台的使用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990850" y="3302007"/>
            <a:ext cx="4928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计算机系统基础</a:t>
            </a:r>
            <a:endParaRPr lang="zh-CN" altLang="en-US" sz="2800" dirty="0">
              <a:latin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75" y="1617980"/>
            <a:ext cx="3031490" cy="4189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41486" y="1749285"/>
            <a:ext cx="6250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Programming Assignment</a:t>
            </a:r>
            <a:r>
              <a:rPr lang="zh-CN" altLang="en-US" sz="2800" dirty="0"/>
              <a:t>，简称</a:t>
            </a:r>
            <a:r>
              <a:rPr lang="en-US" altLang="zh-CN" sz="2800" dirty="0"/>
              <a:t>PA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4421393" y="2700169"/>
            <a:ext cx="2807746" cy="240971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编程实践部分</a:t>
            </a: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178" y="2524338"/>
            <a:ext cx="3803622" cy="2585544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752475" y="1617980"/>
            <a:ext cx="3031490" cy="4189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9457" y="1327368"/>
            <a:ext cx="118625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/>
              <a:t>PA</a:t>
            </a:r>
            <a:r>
              <a:rPr lang="zh-CN" altLang="en-US" sz="4000" dirty="0"/>
              <a:t>实验的目的：实现</a:t>
            </a:r>
            <a:r>
              <a:rPr lang="en-US" altLang="zh-CN" sz="4000" dirty="0"/>
              <a:t>NEMU</a:t>
            </a:r>
            <a:r>
              <a:rPr lang="zh-CN" altLang="en-US" sz="4000" dirty="0"/>
              <a:t>，一个简化的</a:t>
            </a:r>
            <a:r>
              <a:rPr lang="en-US" altLang="zh-CN" sz="4000" dirty="0"/>
              <a:t>i386</a:t>
            </a:r>
            <a:r>
              <a:rPr lang="zh-CN" altLang="en-US" sz="4000" dirty="0"/>
              <a:t>模拟器</a:t>
            </a:r>
            <a:endParaRPr lang="en-US" altLang="zh-CN" sz="4000" dirty="0"/>
          </a:p>
        </p:txBody>
      </p:sp>
      <p:sp>
        <p:nvSpPr>
          <p:cNvPr id="8" name="文本框 7"/>
          <p:cNvSpPr txBox="1"/>
          <p:nvPr/>
        </p:nvSpPr>
        <p:spPr>
          <a:xfrm>
            <a:off x="6299199" y="4614287"/>
            <a:ext cx="5230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由</a:t>
            </a:r>
            <a:r>
              <a:rPr lang="en-US" altLang="zh-CN" sz="3200" dirty="0"/>
              <a:t>C</a:t>
            </a:r>
            <a:r>
              <a:rPr lang="zh-CN" altLang="en-US" sz="3200" dirty="0"/>
              <a:t>语言编写</a:t>
            </a:r>
            <a:endParaRPr lang="zh-CN" alt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以用户软件的形态运行</a:t>
            </a:r>
            <a:endParaRPr lang="zh-CN" alt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能够执行</a:t>
            </a:r>
            <a:r>
              <a:rPr lang="en-US" altLang="zh-CN" sz="3200" dirty="0"/>
              <a:t>i386</a:t>
            </a:r>
            <a:r>
              <a:rPr lang="zh-CN" altLang="en-US" sz="3200" dirty="0"/>
              <a:t>指令集程序</a:t>
            </a:r>
            <a:endParaRPr lang="zh-CN" altLang="en-US" sz="3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69" y="2573591"/>
            <a:ext cx="4865406" cy="3307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008" y="2342367"/>
            <a:ext cx="2021335" cy="2021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09650" y="2424906"/>
            <a:ext cx="1244600" cy="1244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v1.0</a:t>
            </a:r>
            <a:endParaRPr lang="zh-CN" altLang="en-US" sz="2800" b="1" dirty="0"/>
          </a:p>
        </p:txBody>
      </p:sp>
      <p:sp>
        <p:nvSpPr>
          <p:cNvPr id="12" name="椭圆 11"/>
          <p:cNvSpPr/>
          <p:nvPr/>
        </p:nvSpPr>
        <p:spPr>
          <a:xfrm>
            <a:off x="3016250" y="2424906"/>
            <a:ext cx="1244600" cy="1244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v2.0</a:t>
            </a:r>
            <a:endParaRPr lang="zh-CN" altLang="en-US" sz="2800" b="1" dirty="0"/>
          </a:p>
        </p:txBody>
      </p:sp>
      <p:sp>
        <p:nvSpPr>
          <p:cNvPr id="13" name="椭圆 12"/>
          <p:cNvSpPr/>
          <p:nvPr/>
        </p:nvSpPr>
        <p:spPr>
          <a:xfrm>
            <a:off x="5022850" y="2424906"/>
            <a:ext cx="1244600" cy="1244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v3.0</a:t>
            </a:r>
            <a:endParaRPr lang="zh-CN" altLang="en-US" sz="2800" b="1" dirty="0"/>
          </a:p>
        </p:txBody>
      </p:sp>
      <p:sp>
        <p:nvSpPr>
          <p:cNvPr id="14" name="椭圆 13"/>
          <p:cNvSpPr/>
          <p:nvPr/>
        </p:nvSpPr>
        <p:spPr>
          <a:xfrm>
            <a:off x="7029450" y="2424906"/>
            <a:ext cx="1244600" cy="1244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v3.1</a:t>
            </a:r>
            <a:endParaRPr lang="zh-CN" altLang="en-US" sz="2800" b="1" dirty="0"/>
          </a:p>
        </p:txBody>
      </p:sp>
      <p:sp>
        <p:nvSpPr>
          <p:cNvPr id="15" name="右箭头 14"/>
          <p:cNvSpPr/>
          <p:nvPr/>
        </p:nvSpPr>
        <p:spPr>
          <a:xfrm>
            <a:off x="2419350" y="2945606"/>
            <a:ext cx="431800" cy="203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6" name="右箭头 15"/>
          <p:cNvSpPr/>
          <p:nvPr/>
        </p:nvSpPr>
        <p:spPr>
          <a:xfrm>
            <a:off x="4425950" y="2945606"/>
            <a:ext cx="431800" cy="203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" name="右箭头 16"/>
          <p:cNvSpPr/>
          <p:nvPr/>
        </p:nvSpPr>
        <p:spPr>
          <a:xfrm>
            <a:off x="6432550" y="2945606"/>
            <a:ext cx="431800" cy="203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8" name="文本框 17"/>
          <p:cNvSpPr txBox="1"/>
          <p:nvPr/>
        </p:nvSpPr>
        <p:spPr>
          <a:xfrm>
            <a:off x="1009650" y="39370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2014</a:t>
            </a:r>
            <a:endParaRPr lang="zh-CN" altLang="en-US" sz="28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3020483" y="39370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2017</a:t>
            </a:r>
            <a:endParaRPr lang="zh-CN" altLang="en-US" sz="28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5031316" y="39370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2018</a:t>
            </a:r>
            <a:endParaRPr lang="zh-CN" altLang="en-US" sz="28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7042150" y="39370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2019</a:t>
            </a:r>
            <a:endParaRPr lang="zh-CN" altLang="en-US" sz="28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390525" y="1578014"/>
            <a:ext cx="249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余子濠 开发完成</a:t>
            </a:r>
            <a:endParaRPr lang="zh-CN" altLang="en-US" sz="24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3470275" y="4858147"/>
            <a:ext cx="5149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PA</a:t>
            </a:r>
            <a:r>
              <a:rPr lang="zh-CN" altLang="en-US" sz="2800" b="1" dirty="0"/>
              <a:t>的简要历史</a:t>
            </a:r>
            <a:endParaRPr lang="zh-CN" altLang="en-US" sz="28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8813800" y="1578014"/>
            <a:ext cx="173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当前版本</a:t>
            </a:r>
            <a:endParaRPr lang="zh-CN" altLang="en-US" sz="2400" b="1" dirty="0"/>
          </a:p>
        </p:txBody>
      </p:sp>
      <p:sp>
        <p:nvSpPr>
          <p:cNvPr id="25" name="下箭头 24"/>
          <p:cNvSpPr/>
          <p:nvPr/>
        </p:nvSpPr>
        <p:spPr>
          <a:xfrm>
            <a:off x="1492250" y="2100262"/>
            <a:ext cx="292100" cy="27344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6" name="下箭头 25"/>
          <p:cNvSpPr/>
          <p:nvPr/>
        </p:nvSpPr>
        <p:spPr>
          <a:xfrm>
            <a:off x="9537700" y="2100262"/>
            <a:ext cx="292100" cy="27344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7" name="椭圆 26"/>
          <p:cNvSpPr/>
          <p:nvPr/>
        </p:nvSpPr>
        <p:spPr>
          <a:xfrm>
            <a:off x="9067800" y="2424906"/>
            <a:ext cx="1244600" cy="1244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v3.3</a:t>
            </a:r>
            <a:endParaRPr lang="zh-CN" altLang="en-US" sz="2800" b="1" dirty="0"/>
          </a:p>
        </p:txBody>
      </p:sp>
      <p:sp>
        <p:nvSpPr>
          <p:cNvPr id="28" name="右箭头 27"/>
          <p:cNvSpPr/>
          <p:nvPr/>
        </p:nvSpPr>
        <p:spPr>
          <a:xfrm>
            <a:off x="8458200" y="2945606"/>
            <a:ext cx="431800" cy="203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9" name="文本框 28"/>
          <p:cNvSpPr txBox="1"/>
          <p:nvPr/>
        </p:nvSpPr>
        <p:spPr>
          <a:xfrm>
            <a:off x="9067800" y="396240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2020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45" y="878667"/>
            <a:ext cx="6879474" cy="51596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35200" y="2717800"/>
            <a:ext cx="5976119" cy="3403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982200" y="5290403"/>
            <a:ext cx="294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NEMU</a:t>
            </a:r>
            <a:r>
              <a:rPr lang="zh-CN" altLang="en-US" sz="2400" dirty="0"/>
              <a:t>模拟器</a:t>
            </a:r>
            <a:endParaRPr lang="en-US" altLang="zh-CN" sz="2400" dirty="0"/>
          </a:p>
          <a:p>
            <a:r>
              <a:rPr lang="en-US" altLang="zh-CN" sz="2400" dirty="0"/>
              <a:t>(NJU Emulator)</a:t>
            </a:r>
            <a:endParaRPr lang="zh-CN" altLang="en-US" sz="2400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45" y="878667"/>
            <a:ext cx="6879474" cy="51596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flipH="1">
            <a:off x="1369945" y="2717800"/>
            <a:ext cx="877955" cy="3403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6964" y="4182408"/>
            <a:ext cx="48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内建调试器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9982200" y="5290403"/>
            <a:ext cx="294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NEMU</a:t>
            </a:r>
            <a:r>
              <a:rPr lang="zh-CN" altLang="en-US" sz="2400" dirty="0"/>
              <a:t>模拟器</a:t>
            </a:r>
            <a:endParaRPr lang="en-US" altLang="zh-CN" sz="2400" dirty="0"/>
          </a:p>
          <a:p>
            <a:r>
              <a:rPr lang="en-US" altLang="zh-CN" sz="2400" dirty="0"/>
              <a:t>(NJU Emulator)</a:t>
            </a:r>
            <a:endParaRPr lang="zh-CN" altLang="en-US" sz="24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45" y="878667"/>
            <a:ext cx="6879474" cy="51596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flipV="1">
            <a:off x="2209799" y="2527300"/>
            <a:ext cx="5988819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6964" y="4182408"/>
            <a:ext cx="48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内建调试器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9982200" y="2954136"/>
            <a:ext cx="284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简化的</a:t>
            </a:r>
            <a:r>
              <a:rPr lang="en-US" altLang="zh-CN" sz="2400" dirty="0"/>
              <a:t>i386</a:t>
            </a:r>
            <a:r>
              <a:rPr lang="zh-CN" altLang="en-US" sz="2400" dirty="0"/>
              <a:t>指</a:t>
            </a:r>
            <a:endParaRPr lang="zh-CN" altLang="en-US" sz="2400" dirty="0"/>
          </a:p>
          <a:p>
            <a:r>
              <a:rPr lang="zh-CN" altLang="en-US" sz="2400" dirty="0"/>
              <a:t>令集体系结构</a:t>
            </a:r>
            <a:endParaRPr lang="zh-CN" altLang="en-US" sz="2400" dirty="0"/>
          </a:p>
        </p:txBody>
      </p:sp>
      <p:sp>
        <p:nvSpPr>
          <p:cNvPr id="9" name="上箭头 8"/>
          <p:cNvSpPr/>
          <p:nvPr/>
        </p:nvSpPr>
        <p:spPr>
          <a:xfrm>
            <a:off x="10375900" y="3839535"/>
            <a:ext cx="1270000" cy="1231666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实现</a:t>
            </a:r>
            <a:endParaRPr lang="zh-CN" altLang="en-US" sz="2400" dirty="0"/>
          </a:p>
        </p:txBody>
      </p:sp>
      <p:sp>
        <p:nvSpPr>
          <p:cNvPr id="10" name="右大括号 9"/>
          <p:cNvSpPr/>
          <p:nvPr/>
        </p:nvSpPr>
        <p:spPr>
          <a:xfrm>
            <a:off x="8321675" y="2763102"/>
            <a:ext cx="228600" cy="3275170"/>
          </a:xfrm>
          <a:prstGeom prst="rightBrace">
            <a:avLst>
              <a:gd name="adj1" fmla="val 929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623300" y="3369635"/>
            <a:ext cx="5461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模拟硬件</a:t>
            </a:r>
            <a:endParaRPr lang="zh-CN" altLang="en-US" sz="3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9982200" y="5290403"/>
            <a:ext cx="294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NEMU</a:t>
            </a:r>
            <a:r>
              <a:rPr lang="zh-CN" altLang="en-US" sz="2400" dirty="0"/>
              <a:t>模拟器</a:t>
            </a:r>
            <a:endParaRPr lang="en-US" altLang="zh-CN" sz="2400" dirty="0"/>
          </a:p>
          <a:p>
            <a:r>
              <a:rPr lang="en-US" altLang="zh-CN" sz="2400" dirty="0"/>
              <a:t>(NJU Emulator)</a:t>
            </a:r>
            <a:endParaRPr lang="zh-CN" altLang="en-US" sz="2400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45" y="878667"/>
            <a:ext cx="6879474" cy="51596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09799" y="1714500"/>
            <a:ext cx="5988819" cy="81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6964" y="4182408"/>
            <a:ext cx="48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内建调试器</a:t>
            </a:r>
            <a:endParaRPr lang="zh-CN" altLang="en-US" sz="2400" dirty="0"/>
          </a:p>
        </p:txBody>
      </p:sp>
      <p:sp>
        <p:nvSpPr>
          <p:cNvPr id="10" name="上箭头 9"/>
          <p:cNvSpPr/>
          <p:nvPr/>
        </p:nvSpPr>
        <p:spPr>
          <a:xfrm>
            <a:off x="10375900" y="1714500"/>
            <a:ext cx="1270000" cy="121243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运行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9982200" y="1198433"/>
            <a:ext cx="284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微型操作系统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9982200" y="2954136"/>
            <a:ext cx="284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简化的</a:t>
            </a:r>
            <a:r>
              <a:rPr lang="en-US" altLang="zh-CN" sz="2400" dirty="0"/>
              <a:t>i386</a:t>
            </a:r>
            <a:r>
              <a:rPr lang="zh-CN" altLang="en-US" sz="2400" dirty="0"/>
              <a:t>指</a:t>
            </a:r>
            <a:endParaRPr lang="zh-CN" altLang="en-US" sz="2400" dirty="0"/>
          </a:p>
          <a:p>
            <a:r>
              <a:rPr lang="zh-CN" altLang="en-US" sz="2400" dirty="0"/>
              <a:t>令集体系结构</a:t>
            </a:r>
            <a:endParaRPr lang="zh-CN" altLang="en-US" sz="2400" dirty="0"/>
          </a:p>
        </p:txBody>
      </p:sp>
      <p:sp>
        <p:nvSpPr>
          <p:cNvPr id="15" name="上箭头 14"/>
          <p:cNvSpPr/>
          <p:nvPr/>
        </p:nvSpPr>
        <p:spPr>
          <a:xfrm>
            <a:off x="10375900" y="3839535"/>
            <a:ext cx="1270000" cy="1231666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实现</a:t>
            </a:r>
            <a:endParaRPr lang="zh-CN" altLang="en-US" sz="2400" dirty="0"/>
          </a:p>
        </p:txBody>
      </p:sp>
      <p:sp>
        <p:nvSpPr>
          <p:cNvPr id="16" name="右大括号 15"/>
          <p:cNvSpPr/>
          <p:nvPr/>
        </p:nvSpPr>
        <p:spPr>
          <a:xfrm>
            <a:off x="8321675" y="2763102"/>
            <a:ext cx="228600" cy="3275170"/>
          </a:xfrm>
          <a:prstGeom prst="rightBrace">
            <a:avLst>
              <a:gd name="adj1" fmla="val 929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23300" y="3369635"/>
            <a:ext cx="5461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模拟硬件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982200" y="5290403"/>
            <a:ext cx="294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NEMU</a:t>
            </a:r>
            <a:r>
              <a:rPr lang="zh-CN" altLang="en-US" sz="2400" dirty="0"/>
              <a:t>模拟器</a:t>
            </a:r>
            <a:endParaRPr lang="en-US" altLang="zh-CN" sz="2400" dirty="0"/>
          </a:p>
          <a:p>
            <a:r>
              <a:rPr lang="en-US" altLang="zh-CN" sz="2400" dirty="0"/>
              <a:t>(NJU Emulator)</a:t>
            </a:r>
            <a:endParaRPr lang="zh-CN" altLang="en-US" sz="24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45" y="878667"/>
            <a:ext cx="6879474" cy="51596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flipV="1">
            <a:off x="2209799" y="878667"/>
            <a:ext cx="5988819" cy="835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6964" y="4182408"/>
            <a:ext cx="48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内建调试器</a:t>
            </a:r>
            <a:endParaRPr lang="zh-CN" altLang="en-US" sz="2400" dirty="0"/>
          </a:p>
        </p:txBody>
      </p:sp>
      <p:sp>
        <p:nvSpPr>
          <p:cNvPr id="15" name="上箭头 14"/>
          <p:cNvSpPr/>
          <p:nvPr/>
        </p:nvSpPr>
        <p:spPr>
          <a:xfrm>
            <a:off x="10375900" y="1714500"/>
            <a:ext cx="1270000" cy="121243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运行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9982200" y="1198433"/>
            <a:ext cx="284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微型操作系统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9982200" y="2954136"/>
            <a:ext cx="284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简化的</a:t>
            </a:r>
            <a:r>
              <a:rPr lang="en-US" altLang="zh-CN" sz="2400" dirty="0"/>
              <a:t>i386</a:t>
            </a:r>
            <a:r>
              <a:rPr lang="zh-CN" altLang="en-US" sz="2400" dirty="0"/>
              <a:t>指</a:t>
            </a:r>
            <a:endParaRPr lang="zh-CN" altLang="en-US" sz="2400" dirty="0"/>
          </a:p>
          <a:p>
            <a:r>
              <a:rPr lang="zh-CN" altLang="en-US" sz="2400" dirty="0"/>
              <a:t>令集体系结构</a:t>
            </a:r>
            <a:endParaRPr lang="zh-CN" altLang="en-US" sz="2400" dirty="0"/>
          </a:p>
        </p:txBody>
      </p:sp>
      <p:sp>
        <p:nvSpPr>
          <p:cNvPr id="18" name="上箭头 17"/>
          <p:cNvSpPr/>
          <p:nvPr/>
        </p:nvSpPr>
        <p:spPr>
          <a:xfrm>
            <a:off x="10375900" y="3839535"/>
            <a:ext cx="1270000" cy="1231666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实现</a:t>
            </a:r>
            <a:endParaRPr lang="zh-CN" altLang="en-US" sz="2400" dirty="0"/>
          </a:p>
        </p:txBody>
      </p:sp>
      <p:sp>
        <p:nvSpPr>
          <p:cNvPr id="19" name="右大括号 18"/>
          <p:cNvSpPr/>
          <p:nvPr/>
        </p:nvSpPr>
        <p:spPr>
          <a:xfrm>
            <a:off x="8321675" y="2763102"/>
            <a:ext cx="228600" cy="3275170"/>
          </a:xfrm>
          <a:prstGeom prst="rightBrace">
            <a:avLst>
              <a:gd name="adj1" fmla="val 929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623300" y="3369635"/>
            <a:ext cx="5461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模拟硬件</a:t>
            </a:r>
            <a:endParaRPr lang="zh-CN" altLang="en-US" sz="3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9982200" y="5290403"/>
            <a:ext cx="294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NEMU</a:t>
            </a:r>
            <a:r>
              <a:rPr lang="zh-CN" altLang="en-US" sz="2400" dirty="0"/>
              <a:t>模拟器</a:t>
            </a:r>
            <a:endParaRPr lang="en-US" altLang="zh-CN" sz="2400" dirty="0"/>
          </a:p>
          <a:p>
            <a:r>
              <a:rPr lang="en-US" altLang="zh-CN" sz="2400" dirty="0"/>
              <a:t>(NJU Emulator)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9982200" y="736768"/>
            <a:ext cx="284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用户程序</a:t>
            </a:r>
            <a:endParaRPr lang="zh-CN" altLang="en-US" sz="2400" dirty="0"/>
          </a:p>
        </p:txBody>
      </p:sp>
      <p:sp>
        <p:nvSpPr>
          <p:cNvPr id="23" name="右大括号 22"/>
          <p:cNvSpPr/>
          <p:nvPr/>
        </p:nvSpPr>
        <p:spPr>
          <a:xfrm>
            <a:off x="8321675" y="878666"/>
            <a:ext cx="228600" cy="1637585"/>
          </a:xfrm>
          <a:prstGeom prst="rightBrace">
            <a:avLst>
              <a:gd name="adj1" fmla="val 9294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623300" y="1158849"/>
            <a:ext cx="546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软件</a:t>
            </a:r>
            <a:endParaRPr lang="zh-CN" altLang="en-US" sz="3200" dirty="0"/>
          </a:p>
        </p:txBody>
      </p:sp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51150" y="1483710"/>
            <a:ext cx="6489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PA</a:t>
            </a:r>
            <a:r>
              <a:rPr lang="zh-CN" altLang="en-US" sz="4000" dirty="0"/>
              <a:t>分为四个大的阶段，每个大阶段又拆分为三个小阶段</a:t>
            </a:r>
            <a:endParaRPr lang="en-US" altLang="zh-CN" sz="4000" dirty="0"/>
          </a:p>
          <a:p>
            <a:endParaRPr lang="zh-CN" altLang="en-US" sz="3200" dirty="0"/>
          </a:p>
          <a:p>
            <a:endParaRPr lang="zh-CN" alt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3200" dirty="0"/>
              <a:t>PA 1 - </a:t>
            </a:r>
            <a:r>
              <a:rPr lang="zh-CN" altLang="en-US" sz="3200" dirty="0"/>
              <a:t>数据的表示、存取和运算</a:t>
            </a:r>
            <a:endParaRPr lang="zh-CN" alt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3200" dirty="0"/>
              <a:t>PA 2 - </a:t>
            </a:r>
            <a:r>
              <a:rPr lang="zh-CN" altLang="en-US" sz="3200" dirty="0"/>
              <a:t>程序的执行</a:t>
            </a:r>
            <a:endParaRPr lang="zh-CN" alt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3200" dirty="0"/>
              <a:t>PA 3 - </a:t>
            </a:r>
            <a:r>
              <a:rPr lang="zh-CN" altLang="en-US" sz="3200" dirty="0"/>
              <a:t>存储管理</a:t>
            </a:r>
            <a:endParaRPr lang="zh-CN" alt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3200" dirty="0"/>
              <a:t>PA 4 - </a:t>
            </a:r>
            <a:r>
              <a:rPr lang="zh-CN" altLang="en-US" sz="3200" dirty="0"/>
              <a:t>异常、中断与</a:t>
            </a:r>
            <a:r>
              <a:rPr lang="en-US" altLang="zh-CN" sz="3200" dirty="0"/>
              <a:t>I/O</a:t>
            </a:r>
            <a:endParaRPr lang="en-US" altLang="zh-CN" sz="3200" dirty="0"/>
          </a:p>
          <a:p>
            <a:endParaRPr lang="zh-CN" altLang="en-US" sz="3200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54468" y="4460983"/>
            <a:ext cx="7683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如何编写软件模拟一台计算机？</a:t>
            </a:r>
            <a:endParaRPr lang="zh-CN" altLang="en-US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54467" y="1757160"/>
            <a:ext cx="85468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能不能</a:t>
            </a:r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用软件模拟一台计算机？</a:t>
            </a:r>
            <a:endParaRPr lang="en-US" altLang="zh-CN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en-US" altLang="zh-CN" sz="4400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44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为什么</a:t>
            </a:r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用软件模拟一台计算机？</a:t>
            </a:r>
            <a:endParaRPr lang="zh-CN" altLang="en-US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90" y="3522740"/>
            <a:ext cx="3438886" cy="21162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09800" y="1407048"/>
            <a:ext cx="8119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可以使用软件模拟一台计算机！</a:t>
            </a:r>
            <a:endParaRPr lang="zh-CN" altLang="en-US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96" y="2484409"/>
            <a:ext cx="1495916" cy="149591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765" y="2648598"/>
            <a:ext cx="1197858" cy="119785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87218" y="5488020"/>
            <a:ext cx="300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  <a:latin typeface="+mn-ea"/>
              </a:rPr>
              <a:t>√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模拟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PC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机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325" y="2837294"/>
            <a:ext cx="2018315" cy="20183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42503" y="5488020"/>
            <a:ext cx="300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  <a:latin typeface="+mn-ea"/>
              </a:rPr>
              <a:t>√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模拟手机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85" y="3032538"/>
            <a:ext cx="2893094" cy="162782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201952" y="5488020"/>
            <a:ext cx="3779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  <a:latin typeface="+mn-ea"/>
              </a:rPr>
              <a:t>√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模拟游戏机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4583096" y="698333"/>
            <a:ext cx="2186151" cy="29008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51" y="3599187"/>
            <a:ext cx="2358621" cy="2358621"/>
          </a:xfrm>
          <a:prstGeom prst="rect">
            <a:avLst/>
          </a:prstGeom>
        </p:spPr>
      </p:pic>
      <p:cxnSp>
        <p:nvCxnSpPr>
          <p:cNvPr id="11" name="曲线连接符 10"/>
          <p:cNvCxnSpPr>
            <a:stCxn id="7" idx="1"/>
            <a:endCxn id="8" idx="0"/>
          </p:cNvCxnSpPr>
          <p:nvPr/>
        </p:nvCxnSpPr>
        <p:spPr>
          <a:xfrm rot="10800000" flipV="1">
            <a:off x="3034862" y="2148759"/>
            <a:ext cx="1548234" cy="1450427"/>
          </a:xfrm>
          <a:prstGeom prst="curved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7" idx="3"/>
          </p:cNvCxnSpPr>
          <p:nvPr/>
        </p:nvCxnSpPr>
        <p:spPr>
          <a:xfrm>
            <a:off x="6769247" y="2148760"/>
            <a:ext cx="1644095" cy="1450427"/>
          </a:xfrm>
          <a:prstGeom prst="curved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263062" y="4424554"/>
            <a:ext cx="300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  <a:latin typeface="+mn-ea"/>
              </a:rPr>
              <a:t>√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真机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850821" y="4424554"/>
            <a:ext cx="2341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6"/>
                </a:solidFill>
                <a:latin typeface="+mn-ea"/>
              </a:rPr>
              <a:t>√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模拟器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43074" y="1216609"/>
            <a:ext cx="300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+mn-ea"/>
              </a:rPr>
              <a:t>同样的程序</a:t>
            </a:r>
            <a:endParaRPr lang="zh-CN" altLang="en-US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714" y="3855778"/>
            <a:ext cx="2784107" cy="1892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4776740" cy="719777"/>
          </a:xfrm>
        </p:spPr>
        <p:txBody>
          <a:bodyPr/>
          <a:lstStyle/>
          <a:p>
            <a:r>
              <a:rPr lang="zh-CN" altLang="en-US" dirty="0"/>
              <a:t>从机器的视角来看程序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4485" y="2797914"/>
            <a:ext cx="5096599" cy="267765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/>
              <a:t>#include&lt;stdio.h&gt;</a:t>
            </a:r>
            <a:endParaRPr lang="zh-CN" altLang="en-US" sz="2800" dirty="0"/>
          </a:p>
          <a:p>
            <a:endParaRPr lang="zh-CN" altLang="en-US" sz="2800" dirty="0"/>
          </a:p>
          <a:p>
            <a:r>
              <a:rPr lang="zh-CN" altLang="en-US" sz="2800" dirty="0"/>
              <a:t>int main() {</a:t>
            </a:r>
            <a:endParaRPr lang="zh-CN" altLang="en-US" sz="2800" dirty="0"/>
          </a:p>
          <a:p>
            <a:r>
              <a:rPr lang="zh-CN" altLang="en-US" sz="2800" dirty="0"/>
              <a:t>	printf("Hello World!\n");</a:t>
            </a:r>
            <a:endParaRPr lang="zh-CN" altLang="en-US" sz="2800" dirty="0"/>
          </a:p>
          <a:p>
            <a:r>
              <a:rPr lang="zh-CN" altLang="en-US" sz="2800" dirty="0"/>
              <a:t>	return 0;</a:t>
            </a:r>
            <a:endParaRPr lang="zh-CN" altLang="en-US" sz="2800" dirty="0"/>
          </a:p>
          <a:p>
            <a:r>
              <a:rPr lang="zh-CN" altLang="en-US" sz="2800" dirty="0"/>
              <a:t>}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1559203" y="2110753"/>
            <a:ext cx="3861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7108370" y="2525980"/>
            <a:ext cx="4987743" cy="32215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pPr>
              <a:lnSpc>
                <a:spcPct val="300000"/>
              </a:lnSpc>
            </a:pPr>
            <a:r>
              <a:rPr lang="en-US" altLang="zh-CN" sz="2400" dirty="0"/>
              <a:t>$ ./</a:t>
            </a:r>
            <a:r>
              <a:rPr lang="en-US" altLang="zh-CN" sz="2400" dirty="0" err="1"/>
              <a:t>hello_world</a:t>
            </a:r>
            <a:endParaRPr lang="en-US" altLang="zh-CN" sz="2400" dirty="0"/>
          </a:p>
          <a:p>
            <a:pPr>
              <a:lnSpc>
                <a:spcPct val="300000"/>
              </a:lnSpc>
            </a:pPr>
            <a:r>
              <a:rPr lang="en-US" altLang="zh-CN" sz="2400" dirty="0"/>
              <a:t>Hello World!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614940" y="2971803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编译得到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可执行文件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14940" y="4014780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机器运行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可执行文件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14940" y="5121627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得到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执行结果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4776740" cy="719777"/>
          </a:xfrm>
        </p:spPr>
        <p:txBody>
          <a:bodyPr/>
          <a:lstStyle/>
          <a:p>
            <a:r>
              <a:rPr lang="zh-CN" altLang="en-US" dirty="0"/>
              <a:t>从机器的视角来看程序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4485" y="2797914"/>
            <a:ext cx="5096599" cy="267765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/>
              <a:t>#include&lt;stdio.h&gt;</a:t>
            </a:r>
            <a:endParaRPr lang="zh-CN" altLang="en-US" sz="2800" dirty="0"/>
          </a:p>
          <a:p>
            <a:endParaRPr lang="zh-CN" altLang="en-US" sz="2800" dirty="0"/>
          </a:p>
          <a:p>
            <a:r>
              <a:rPr lang="zh-CN" altLang="en-US" sz="2800" dirty="0"/>
              <a:t>int main() {</a:t>
            </a:r>
            <a:endParaRPr lang="zh-CN" altLang="en-US" sz="2800" dirty="0"/>
          </a:p>
          <a:p>
            <a:r>
              <a:rPr lang="zh-CN" altLang="en-US" sz="2800" dirty="0"/>
              <a:t>	printf("Hello World!\n");</a:t>
            </a:r>
            <a:endParaRPr lang="zh-CN" altLang="en-US" sz="2800" dirty="0"/>
          </a:p>
          <a:p>
            <a:r>
              <a:rPr lang="zh-CN" altLang="en-US" sz="2800" dirty="0"/>
              <a:t>	return 0;</a:t>
            </a:r>
            <a:endParaRPr lang="zh-CN" altLang="en-US" sz="2800" dirty="0"/>
          </a:p>
          <a:p>
            <a:r>
              <a:rPr lang="zh-CN" altLang="en-US" sz="2800" dirty="0"/>
              <a:t>}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1559203" y="2110753"/>
            <a:ext cx="3861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7108370" y="2525980"/>
            <a:ext cx="4987743" cy="32215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–o </a:t>
            </a:r>
            <a:r>
              <a:rPr lang="en-US" altLang="zh-CN" sz="2400" dirty="0" err="1"/>
              <a:t>hello_world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pPr>
              <a:lnSpc>
                <a:spcPct val="300000"/>
              </a:lnSpc>
            </a:pPr>
            <a:r>
              <a:rPr lang="en-US" altLang="zh-CN" sz="2400" dirty="0"/>
              <a:t>$ ./</a:t>
            </a:r>
            <a:r>
              <a:rPr lang="en-US" altLang="zh-CN" sz="2400" dirty="0" err="1"/>
              <a:t>hello_world</a:t>
            </a:r>
            <a:endParaRPr lang="en-US" altLang="zh-CN" sz="2400" dirty="0"/>
          </a:p>
          <a:p>
            <a:pPr>
              <a:lnSpc>
                <a:spcPct val="300000"/>
              </a:lnSpc>
            </a:pPr>
            <a:r>
              <a:rPr lang="en-US" altLang="zh-CN" sz="2400" dirty="0"/>
              <a:t>Hello World!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614940" y="2971803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编译得到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可执行文件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14940" y="4014780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机器运行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可执行文件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14940" y="5121627"/>
            <a:ext cx="14934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得到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执行结果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367752" y="3920359"/>
            <a:ext cx="1965434" cy="987972"/>
          </a:xfrm>
          <a:prstGeom prst="ellipse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333186" y="4428377"/>
            <a:ext cx="2554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软件程序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4776740" cy="719777"/>
          </a:xfrm>
        </p:spPr>
        <p:txBody>
          <a:bodyPr/>
          <a:lstStyle/>
          <a:p>
            <a:r>
              <a:rPr lang="zh-CN" altLang="en-US" dirty="0"/>
              <a:t>从机器的视角来看程序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29401" y="496610"/>
            <a:ext cx="535330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hello_world.c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hexdump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16" name="矩形 15"/>
          <p:cNvSpPr/>
          <p:nvPr/>
        </p:nvSpPr>
        <p:spPr>
          <a:xfrm>
            <a:off x="4478175" y="2555248"/>
            <a:ext cx="6507805" cy="2862322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0000000 457f 464c 0101 0001 0000 0000 0000 0000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0000010 0001 0003 0001 0000 0000 0000 0000 0000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0000020 02fc 0000 0000 0000 0034 0000 0000 0028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0000030 000f 000e 0001 0000 0007 0000 4c8d 0424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0000040 e483 fff0 fc71 8955 53e5 e851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0000050 0105 0000 8300 0cec 908d 0000 0000 8952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0000060 e8c3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r>
              <a:rPr lang="en-US" altLang="zh-CN" dirty="0">
                <a:latin typeface="Consolas" panose="020B0609020204030204" pitchFamily="49" charset="0"/>
              </a:rPr>
              <a:t> c483 b810 0000 0000 658d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0000070 59f8 5d5b 618d c3fc 6548 6c6c 206f 6f57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0000080 6c72 2164 8b00 2404 00c3 4347 3a43 2820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0000090 6544 6962 6e61 3620 332e 302e 312d 2938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92080" y="1843745"/>
            <a:ext cx="5116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hello_world.o</a:t>
            </a:r>
            <a:r>
              <a:rPr lang="en-US" altLang="zh-CN" sz="3200" dirty="0"/>
              <a:t>  </a:t>
            </a:r>
            <a:r>
              <a:rPr lang="zh-CN" altLang="en-US" sz="3200" dirty="0"/>
              <a:t>查看其内容</a:t>
            </a:r>
            <a:endParaRPr lang="zh-CN" altLang="en-US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478175" y="5890619"/>
            <a:ext cx="640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偏移量                                         数据，两字节一组，小端</a:t>
            </a:r>
            <a:endParaRPr lang="zh-CN" altLang="en-US" dirty="0"/>
          </a:p>
        </p:txBody>
      </p:sp>
      <p:sp>
        <p:nvSpPr>
          <p:cNvPr id="19" name="右大括号 18"/>
          <p:cNvSpPr/>
          <p:nvPr/>
        </p:nvSpPr>
        <p:spPr>
          <a:xfrm rot="5400000">
            <a:off x="7896705" y="3199209"/>
            <a:ext cx="267531" cy="483124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24485" y="2797914"/>
            <a:ext cx="3333115" cy="156966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/>
              <a:t>#include&lt;stdio.h&gt;</a:t>
            </a:r>
            <a:endParaRPr lang="zh-CN" altLang="en-US" sz="1600" dirty="0"/>
          </a:p>
          <a:p>
            <a:endParaRPr lang="zh-CN" altLang="en-US" sz="1600" dirty="0"/>
          </a:p>
          <a:p>
            <a:r>
              <a:rPr lang="zh-CN" altLang="en-US" sz="1600" dirty="0"/>
              <a:t>int main() {</a:t>
            </a:r>
            <a:endParaRPr lang="zh-CN" altLang="en-US" sz="1600" dirty="0"/>
          </a:p>
          <a:p>
            <a:r>
              <a:rPr lang="zh-CN" altLang="en-US" sz="1600" dirty="0"/>
              <a:t>	printf("Hello World!\n");</a:t>
            </a:r>
            <a:endParaRPr lang="zh-CN" altLang="en-US" sz="1600" dirty="0"/>
          </a:p>
          <a:p>
            <a:r>
              <a:rPr lang="zh-CN" altLang="en-US" sz="1600" dirty="0"/>
              <a:t>	return 0;</a:t>
            </a:r>
            <a:endParaRPr lang="zh-CN" altLang="en-US" sz="1600" dirty="0"/>
          </a:p>
          <a:p>
            <a:r>
              <a:rPr lang="zh-CN" altLang="en-US" sz="1600" dirty="0"/>
              <a:t>}</a:t>
            </a:r>
            <a:endParaRPr lang="zh-CN" altLang="en-US" sz="1600" dirty="0"/>
          </a:p>
        </p:txBody>
      </p:sp>
      <p:sp>
        <p:nvSpPr>
          <p:cNvPr id="21" name="文本框 20"/>
          <p:cNvSpPr txBox="1"/>
          <p:nvPr/>
        </p:nvSpPr>
        <p:spPr>
          <a:xfrm>
            <a:off x="-101431" y="2130880"/>
            <a:ext cx="3861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hello_world.c</a:t>
            </a:r>
            <a:endParaRPr lang="zh-CN" altLang="en-US" sz="3200" dirty="0"/>
          </a:p>
        </p:txBody>
      </p:sp>
      <p:cxnSp>
        <p:nvCxnSpPr>
          <p:cNvPr id="23" name="肘形连接符 22"/>
          <p:cNvCxnSpPr>
            <a:stCxn id="20" idx="2"/>
          </p:cNvCxnSpPr>
          <p:nvPr/>
        </p:nvCxnSpPr>
        <p:spPr>
          <a:xfrm rot="16200000" flipH="1">
            <a:off x="3005887" y="3352729"/>
            <a:ext cx="383102" cy="2412791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469931" y="4836511"/>
            <a:ext cx="90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/>
                </a:solidFill>
              </a:rPr>
              <a:t>编译</a:t>
            </a:r>
            <a:endParaRPr lang="zh-CN" altLang="en-US" sz="2000" dirty="0">
              <a:solidFill>
                <a:schemeClr val="accent5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867" y="555206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什么叫小端方式？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05600" y="601595"/>
            <a:ext cx="54864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objdump</a:t>
            </a:r>
            <a:r>
              <a:rPr lang="en-US" altLang="zh-CN" sz="2400" dirty="0"/>
              <a:t> -d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9" name="矩形 8"/>
          <p:cNvSpPr/>
          <p:nvPr/>
        </p:nvSpPr>
        <p:spPr>
          <a:xfrm>
            <a:off x="4619827" y="2444539"/>
            <a:ext cx="7524346" cy="3970318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hello_world.o</a:t>
            </a:r>
            <a:r>
              <a:rPr lang="en-US" altLang="zh-CN" dirty="0">
                <a:latin typeface="Consolas" panose="020B0609020204030204" pitchFamily="49" charset="0"/>
              </a:rPr>
              <a:t>:     file format elf32-i386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Disassembly of section .text: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00000000 &lt;main&gt;: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),%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7:  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71 fc                </a:t>
            </a:r>
            <a:r>
              <a:rPr lang="en-US" altLang="zh-CN" dirty="0" err="1">
                <a:latin typeface="Consolas" panose="020B0609020204030204" pitchFamily="49" charset="0"/>
              </a:rPr>
              <a:t>pushl</a:t>
            </a:r>
            <a:r>
              <a:rPr lang="en-US" altLang="zh-CN" dirty="0">
                <a:latin typeface="Consolas" panose="020B0609020204030204" pitchFamily="49" charset="0"/>
              </a:rPr>
              <a:t>  -0x4(%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dirty="0" err="1">
                <a:latin typeface="Consolas" panose="020B0609020204030204" pitchFamily="49" charset="0"/>
              </a:rPr>
              <a:t>mov</a:t>
            </a:r>
            <a:r>
              <a:rPr lang="en-US" altLang="zh-CN" dirty="0">
                <a:latin typeface="Consolas" panose="020B0609020204030204" pitchFamily="49" charset="0"/>
              </a:rPr>
              <a:t>    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,%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f:   e8 fc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         call   10 &lt;main+0x10&gt;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41775" y="1749320"/>
            <a:ext cx="5302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hello_world.o</a:t>
            </a:r>
            <a:r>
              <a:rPr lang="en-US" altLang="zh-CN" sz="3200" dirty="0"/>
              <a:t>  </a:t>
            </a:r>
            <a:r>
              <a:rPr lang="zh-CN" altLang="en-US" sz="3200" dirty="0"/>
              <a:t>反汇编其内容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110429" y="124620"/>
            <a:ext cx="6507805" cy="203132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0000030 000f 000e 0001 0000 0007 0000 4c8d 0424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0000040 e483 fff0 fc71 8955 53e5 e851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0000050 0105 0000 8300 0cec 908d 0000 0000 8952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0000060 e8c3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r>
              <a:rPr lang="en-US" altLang="zh-CN" dirty="0">
                <a:latin typeface="Consolas" panose="020B0609020204030204" pitchFamily="49" charset="0"/>
              </a:rPr>
              <a:t> c483 b810 0000 0000 658d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0000070 59f8 5d5b 618d c3fc 6548 6c6c 206f 6f57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0000080 6c72 2164 8b00 2404 00c3 4347 3a43 2820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0000090 6544 6962 6e61 3620 332e 302e 312d 2938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2103" y="423862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有没有找到对应关系？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3095625" y="2444539"/>
            <a:ext cx="0" cy="1498811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4038600" y="4238625"/>
            <a:ext cx="1581150" cy="19107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05600" y="601595"/>
            <a:ext cx="54864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objdump</a:t>
            </a:r>
            <a:r>
              <a:rPr lang="en-US" altLang="zh-CN" sz="2400" dirty="0"/>
              <a:t> -d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9" name="矩形 8"/>
          <p:cNvSpPr/>
          <p:nvPr/>
        </p:nvSpPr>
        <p:spPr>
          <a:xfrm>
            <a:off x="4619827" y="2444539"/>
            <a:ext cx="7524346" cy="3970318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hello_world.o</a:t>
            </a:r>
            <a:r>
              <a:rPr lang="en-US" altLang="zh-CN" dirty="0">
                <a:latin typeface="Consolas" panose="020B0609020204030204" pitchFamily="49" charset="0"/>
              </a:rPr>
              <a:t>:     file format elf32-i386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Disassembly of section .text: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00000000 &lt;main&gt;: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),%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7:  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71 fc                </a:t>
            </a:r>
            <a:r>
              <a:rPr lang="en-US" altLang="zh-CN" dirty="0" err="1">
                <a:latin typeface="Consolas" panose="020B0609020204030204" pitchFamily="49" charset="0"/>
              </a:rPr>
              <a:t>pushl</a:t>
            </a:r>
            <a:r>
              <a:rPr lang="en-US" altLang="zh-CN" dirty="0">
                <a:latin typeface="Consolas" panose="020B0609020204030204" pitchFamily="49" charset="0"/>
              </a:rPr>
              <a:t>  -0x4(%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dirty="0" err="1">
                <a:latin typeface="Consolas" panose="020B0609020204030204" pitchFamily="49" charset="0"/>
              </a:rPr>
              <a:t>mov</a:t>
            </a:r>
            <a:r>
              <a:rPr lang="en-US" altLang="zh-CN" dirty="0">
                <a:latin typeface="Consolas" panose="020B0609020204030204" pitchFamily="49" charset="0"/>
              </a:rPr>
              <a:t>    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,%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f:   e8 fc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         call   10 &lt;main+0x10&gt;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41775" y="1749320"/>
            <a:ext cx="5302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hello_world.o</a:t>
            </a:r>
            <a:r>
              <a:rPr lang="en-US" altLang="zh-CN" sz="3200" dirty="0"/>
              <a:t>  </a:t>
            </a:r>
            <a:r>
              <a:rPr lang="zh-CN" altLang="en-US" sz="3200" dirty="0"/>
              <a:t>反汇编其内容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110429" y="124620"/>
            <a:ext cx="6507805" cy="203132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0000030 000f 000e 0001 0000 0007 0000 4c8d 0424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0000040 e483 fff0 fc71 8955 53e5 e851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0000050 0105 0000 8300 0cec 908d 0000 0000 8952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0000060 e8c3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r>
              <a:rPr lang="en-US" altLang="zh-CN" dirty="0">
                <a:latin typeface="Consolas" panose="020B0609020204030204" pitchFamily="49" charset="0"/>
              </a:rPr>
              <a:t> c483 b810 0000 0000 658d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0000070 59f8 5d5b 618d c3fc 6548 6c6c 206f 6f57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0000080 6c72 2164 8b00 2404 00c3 4347 3a43 2820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0000090 6544 6962 6e61 3620 332e 302e 312d 2938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29352" y="124620"/>
            <a:ext cx="1198179" cy="33783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96910" y="4091863"/>
            <a:ext cx="1742090" cy="33783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05600" y="601595"/>
            <a:ext cx="548640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/>
              <a:t>$ </a:t>
            </a:r>
            <a:r>
              <a:rPr lang="en-US" altLang="zh-CN" sz="2400" dirty="0" err="1"/>
              <a:t>gcc</a:t>
            </a:r>
            <a:r>
              <a:rPr lang="en-US" altLang="zh-CN" sz="2400" dirty="0"/>
              <a:t> –c –o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hello_world.S</a:t>
            </a:r>
            <a:endParaRPr lang="en-US" altLang="zh-CN" sz="2400" dirty="0"/>
          </a:p>
          <a:p>
            <a:r>
              <a:rPr lang="en-US" altLang="zh-CN" sz="2400" dirty="0"/>
              <a:t>$ </a:t>
            </a:r>
            <a:r>
              <a:rPr lang="en-US" altLang="zh-CN" sz="2400" dirty="0" err="1"/>
              <a:t>objdump</a:t>
            </a:r>
            <a:r>
              <a:rPr lang="en-US" altLang="zh-CN" sz="2400" dirty="0"/>
              <a:t> -d </a:t>
            </a:r>
            <a:r>
              <a:rPr lang="en-US" altLang="zh-CN" sz="2400" dirty="0" err="1"/>
              <a:t>hello_world.o</a:t>
            </a:r>
            <a:r>
              <a:rPr lang="en-US" altLang="zh-CN" sz="2400" dirty="0"/>
              <a:t> | less</a:t>
            </a:r>
            <a:endParaRPr lang="en-US" altLang="zh-CN" sz="2400" dirty="0"/>
          </a:p>
        </p:txBody>
      </p:sp>
      <p:sp>
        <p:nvSpPr>
          <p:cNvPr id="9" name="矩形 8"/>
          <p:cNvSpPr/>
          <p:nvPr/>
        </p:nvSpPr>
        <p:spPr>
          <a:xfrm>
            <a:off x="4619827" y="2444539"/>
            <a:ext cx="7524346" cy="3970318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hello_world.o</a:t>
            </a:r>
            <a:r>
              <a:rPr lang="en-US" altLang="zh-CN" dirty="0">
                <a:latin typeface="Consolas" panose="020B0609020204030204" pitchFamily="49" charset="0"/>
              </a:rPr>
              <a:t>:     file format elf32-i386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Disassembly of section .text: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00000000 &lt;main&gt;: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),%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7:  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71 fc                </a:t>
            </a:r>
            <a:r>
              <a:rPr lang="en-US" altLang="zh-CN" dirty="0" err="1">
                <a:latin typeface="Consolas" panose="020B0609020204030204" pitchFamily="49" charset="0"/>
              </a:rPr>
              <a:t>pushl</a:t>
            </a:r>
            <a:r>
              <a:rPr lang="en-US" altLang="zh-CN" dirty="0">
                <a:latin typeface="Consolas" panose="020B0609020204030204" pitchFamily="49" charset="0"/>
              </a:rPr>
              <a:t>  -0x4(%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dirty="0" err="1">
                <a:latin typeface="Consolas" panose="020B0609020204030204" pitchFamily="49" charset="0"/>
              </a:rPr>
              <a:t>mov</a:t>
            </a:r>
            <a:r>
              <a:rPr lang="en-US" altLang="zh-CN" dirty="0">
                <a:latin typeface="Consolas" panose="020B0609020204030204" pitchFamily="49" charset="0"/>
              </a:rPr>
              <a:t>    %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,%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ebx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f:   e8 fc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</a:t>
            </a:r>
            <a:r>
              <a:rPr lang="en-US" altLang="zh-CN" dirty="0">
                <a:latin typeface="Consolas" panose="020B0609020204030204" pitchFamily="49" charset="0"/>
              </a:rPr>
              <a:t>          call   10 &lt;main+0x10&gt;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41775" y="1749320"/>
            <a:ext cx="5302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/>
              <a:t>hello_world.o</a:t>
            </a:r>
            <a:r>
              <a:rPr lang="en-US" altLang="zh-CN" sz="3200" dirty="0"/>
              <a:t>  </a:t>
            </a:r>
            <a:r>
              <a:rPr lang="zh-CN" altLang="en-US" sz="3200" dirty="0"/>
              <a:t>反汇编其内容</a:t>
            </a:r>
            <a:endParaRPr lang="zh-CN" altLang="en-US" sz="3200" dirty="0"/>
          </a:p>
        </p:txBody>
      </p:sp>
      <p:sp>
        <p:nvSpPr>
          <p:cNvPr id="11" name="矩形 10"/>
          <p:cNvSpPr/>
          <p:nvPr/>
        </p:nvSpPr>
        <p:spPr>
          <a:xfrm>
            <a:off x="110429" y="124620"/>
            <a:ext cx="6507805" cy="203132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0000030 000f 000e 0001 0000 0007 0000 4c8d 0424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0000040 e483 fff0 fc71 8955 53e5 e851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0000050 0105 0000 8300 0cec 908d 0000 0000 8952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0000060 e8c3 </a:t>
            </a:r>
            <a:r>
              <a:rPr lang="en-US" altLang="zh-CN" dirty="0" err="1">
                <a:latin typeface="Consolas" panose="020B0609020204030204" pitchFamily="49" charset="0"/>
              </a:rPr>
              <a:t>fffc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ffff</a:t>
            </a:r>
            <a:r>
              <a:rPr lang="en-US" altLang="zh-CN" dirty="0">
                <a:latin typeface="Consolas" panose="020B0609020204030204" pitchFamily="49" charset="0"/>
              </a:rPr>
              <a:t> c483 b810 0000 0000 658d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0000070 59f8 5d5b 618d c3fc 6548 6c6c 206f 6f57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0000080 6c72 2164 8b00 2404 00c3 4347 3a43 2820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0000090 6544 6962 6e61 3620 332e 302e 312d 2938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29352" y="124620"/>
            <a:ext cx="1198179" cy="33783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96910" y="4091863"/>
            <a:ext cx="1742090" cy="33783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4091863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交给机器执行的就是指令的序列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55572" y="4091863"/>
            <a:ext cx="3294994" cy="2322994"/>
          </a:xfrm>
          <a:prstGeom prst="rect">
            <a:avLst/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肘形连接符 13"/>
          <p:cNvCxnSpPr>
            <a:stCxn id="3" idx="0"/>
            <a:endCxn id="13" idx="0"/>
          </p:cNvCxnSpPr>
          <p:nvPr/>
        </p:nvCxnSpPr>
        <p:spPr>
          <a:xfrm rot="5400000" flipH="1" flipV="1">
            <a:off x="6156434" y="145229"/>
            <a:ext cx="12700" cy="7893269"/>
          </a:xfrm>
          <a:prstGeom prst="bentConnector3">
            <a:avLst>
              <a:gd name="adj1" fmla="val 7841378"/>
            </a:avLst>
          </a:prstGeom>
          <a:ln w="508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3731173" y="176448"/>
            <a:ext cx="2186151" cy="29008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579" y="4044330"/>
            <a:ext cx="2358621" cy="235862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17324" y="288047"/>
            <a:ext cx="5002339" cy="2677656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1200" dirty="0">
                <a:latin typeface="Consolas" panose="020B0609020204030204" pitchFamily="49" charset="0"/>
              </a:rPr>
              <a:t>:     file format elf32-i386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Disassembly of section .text: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00000000 &lt;main&gt;: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),%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7:  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pushl</a:t>
            </a:r>
            <a:r>
              <a:rPr lang="en-US" altLang="zh-CN" sz="1200" dirty="0">
                <a:latin typeface="Consolas" panose="020B0609020204030204" pitchFamily="49" charset="0"/>
              </a:rPr>
              <a:t>  -0x4(%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r>
              <a:rPr lang="en-US" altLang="zh-CN" sz="1200" dirty="0">
                <a:latin typeface="Consolas" panose="020B0609020204030204" pitchFamily="49" charset="0"/>
              </a:rPr>
              <a:t>)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mov</a:t>
            </a:r>
            <a:r>
              <a:rPr lang="en-US" altLang="zh-CN" sz="1200" dirty="0">
                <a:latin typeface="Consolas" panose="020B0609020204030204" pitchFamily="49" charset="0"/>
              </a:rPr>
              <a:t>    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,%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f:   e8 fc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585545" y="3509994"/>
            <a:ext cx="9493468" cy="0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00284" y="3671044"/>
            <a:ext cx="5506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指令集体系结构</a:t>
            </a:r>
            <a:endParaRPr lang="en-US" altLang="zh-CN" sz="2800" b="1" dirty="0"/>
          </a:p>
          <a:p>
            <a:pPr algn="r"/>
            <a:r>
              <a:rPr lang="en-US" altLang="zh-CN" sz="2800" b="1" dirty="0"/>
              <a:t>Instruction Set Architecture, ISA</a:t>
            </a:r>
            <a:endParaRPr lang="zh-CN" altLang="en-US" sz="2800" b="1" dirty="0"/>
          </a:p>
        </p:txBody>
      </p:sp>
      <p:sp>
        <p:nvSpPr>
          <p:cNvPr id="15" name="下箭头 14"/>
          <p:cNvSpPr/>
          <p:nvPr/>
        </p:nvSpPr>
        <p:spPr>
          <a:xfrm>
            <a:off x="10628586" y="1531820"/>
            <a:ext cx="1450427" cy="17750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编写</a:t>
            </a:r>
            <a:endParaRPr lang="zh-CN" altLang="en-US" sz="4000" dirty="0"/>
          </a:p>
        </p:txBody>
      </p:sp>
      <p:sp>
        <p:nvSpPr>
          <p:cNvPr id="18" name="上箭头 17"/>
          <p:cNvSpPr/>
          <p:nvPr/>
        </p:nvSpPr>
        <p:spPr>
          <a:xfrm>
            <a:off x="10628586" y="3713099"/>
            <a:ext cx="1450427" cy="17762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实现</a:t>
            </a:r>
            <a:endParaRPr lang="zh-CN" altLang="en-US" sz="4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200284" y="2749910"/>
            <a:ext cx="383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软硬件遵守共同的规范</a:t>
            </a:r>
            <a:endParaRPr lang="zh-CN" altLang="en-US" sz="28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1860331" y="5431454"/>
            <a:ext cx="5052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用硬件实现</a:t>
            </a:r>
            <a:r>
              <a:rPr lang="en-US" altLang="zh-CN" sz="2800" b="1" dirty="0"/>
              <a:t>ISA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3731173" y="176448"/>
            <a:ext cx="2186151" cy="290085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17324" y="288047"/>
            <a:ext cx="5002339" cy="2677656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1200" dirty="0">
                <a:latin typeface="Consolas" panose="020B0609020204030204" pitchFamily="49" charset="0"/>
              </a:rPr>
              <a:t>:     file format elf32-i386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Disassembly of section .text: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00000000 &lt;main&gt;: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),%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7:  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pushl</a:t>
            </a:r>
            <a:r>
              <a:rPr lang="en-US" altLang="zh-CN" sz="1200" dirty="0">
                <a:latin typeface="Consolas" panose="020B0609020204030204" pitchFamily="49" charset="0"/>
              </a:rPr>
              <a:t>  -0x4(%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r>
              <a:rPr lang="en-US" altLang="zh-CN" sz="1200" dirty="0">
                <a:latin typeface="Consolas" panose="020B0609020204030204" pitchFamily="49" charset="0"/>
              </a:rPr>
              <a:t>)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mov</a:t>
            </a:r>
            <a:r>
              <a:rPr lang="en-US" altLang="zh-CN" sz="1200" dirty="0">
                <a:latin typeface="Consolas" panose="020B0609020204030204" pitchFamily="49" charset="0"/>
              </a:rPr>
              <a:t>    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,%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f:   e8 fc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585545" y="3509994"/>
            <a:ext cx="9493468" cy="0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00284" y="3671044"/>
            <a:ext cx="5506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指令集体系结构</a:t>
            </a:r>
            <a:endParaRPr lang="en-US" altLang="zh-CN" sz="2800" b="1" dirty="0"/>
          </a:p>
          <a:p>
            <a:pPr algn="r"/>
            <a:r>
              <a:rPr lang="en-US" altLang="zh-CN" sz="2800" b="1" dirty="0"/>
              <a:t>Instruction Set Architecture, ISA</a:t>
            </a:r>
            <a:endParaRPr lang="zh-CN" altLang="en-US" sz="2800" b="1" dirty="0"/>
          </a:p>
        </p:txBody>
      </p:sp>
      <p:sp>
        <p:nvSpPr>
          <p:cNvPr id="15" name="下箭头 14"/>
          <p:cNvSpPr/>
          <p:nvPr/>
        </p:nvSpPr>
        <p:spPr>
          <a:xfrm>
            <a:off x="10628586" y="1531820"/>
            <a:ext cx="1450427" cy="17750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编写</a:t>
            </a:r>
            <a:endParaRPr lang="zh-CN" altLang="en-US" sz="4000" dirty="0"/>
          </a:p>
        </p:txBody>
      </p:sp>
      <p:sp>
        <p:nvSpPr>
          <p:cNvPr id="18" name="上箭头 17"/>
          <p:cNvSpPr/>
          <p:nvPr/>
        </p:nvSpPr>
        <p:spPr>
          <a:xfrm>
            <a:off x="10628586" y="3713099"/>
            <a:ext cx="1450427" cy="177624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实现</a:t>
            </a:r>
            <a:endParaRPr lang="zh-CN" altLang="en-US" sz="4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200284" y="2749910"/>
            <a:ext cx="383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软硬件遵守共同的规范</a:t>
            </a:r>
            <a:endParaRPr lang="zh-CN" altLang="en-US" sz="28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714" y="3855778"/>
            <a:ext cx="3072209" cy="20883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860331" y="5431454"/>
            <a:ext cx="5052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/>
              <a:t>替换</a:t>
            </a:r>
            <a:r>
              <a:rPr lang="en-US" altLang="zh-CN" sz="2800" b="1" dirty="0"/>
              <a:t>ISA</a:t>
            </a:r>
            <a:r>
              <a:rPr lang="zh-CN" altLang="en-US" sz="2800" b="1" dirty="0"/>
              <a:t>实现方案，用软件模拟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31772" y="1195758"/>
            <a:ext cx="5723558" cy="4651753"/>
          </a:xfrm>
          <a:prstGeom prst="rect">
            <a:avLst/>
          </a:prstGeom>
          <a:noFill/>
        </p:spPr>
      </p:pic>
      <p:sp>
        <p:nvSpPr>
          <p:cNvPr id="9" name="文本框 8"/>
          <p:cNvSpPr txBox="1"/>
          <p:nvPr/>
        </p:nvSpPr>
        <p:spPr>
          <a:xfrm>
            <a:off x="8357435" y="3336968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ISA</a:t>
            </a:r>
            <a:r>
              <a:rPr lang="zh-CN" altLang="en-US" sz="2400" dirty="0">
                <a:solidFill>
                  <a:srgbClr val="FF0000"/>
                </a:solidFill>
              </a:rPr>
              <a:t>屏蔽了底层的所有细节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244" y="3798633"/>
            <a:ext cx="3072209" cy="2088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39510" y="954490"/>
            <a:ext cx="94277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algn="just">
              <a:spcAft>
                <a:spcPts val="0"/>
              </a:spcAft>
            </a:pP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pa_nju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game</a:t>
            </a:r>
            <a:r>
              <a:rPr lang="en-US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包含游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戏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关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代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码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include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PA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整体依赖的一些文件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├──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config.h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一些配置用的宏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trap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trap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相关定义，不可改动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kernel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一个微型操作系统内核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帮助编译和执行工程的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Makefile.git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git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有关的部分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nemu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NEMU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src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    </a:t>
            </a: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main.c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 // NEMU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入口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testcase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测试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用例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scripts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框架代码功能脚本，不可改动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libs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框架代码所使用的库，不可改动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655674" y="28612"/>
            <a:ext cx="1052679" cy="139682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3222171" y="654485"/>
            <a:ext cx="1905000" cy="76065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222171" y="834155"/>
            <a:ext cx="1905000" cy="166804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3222171" y="1099129"/>
            <a:ext cx="1905000" cy="335312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76524" y="199572"/>
            <a:ext cx="99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软件</a:t>
            </a:r>
            <a:endParaRPr lang="zh-CN" altLang="en-US" sz="3200" dirty="0"/>
          </a:p>
        </p:txBody>
      </p:sp>
      <p:sp>
        <p:nvSpPr>
          <p:cNvPr id="24" name="矩形 23"/>
          <p:cNvSpPr/>
          <p:nvPr/>
        </p:nvSpPr>
        <p:spPr>
          <a:xfrm>
            <a:off x="545892" y="2200891"/>
            <a:ext cx="3201692" cy="138499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6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600" dirty="0">
                <a:latin typeface="Consolas" panose="020B0609020204030204" pitchFamily="49" charset="0"/>
              </a:rPr>
              <a:t>:     file format elf32-i386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Disassembly of section .text: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00000000 &lt;main&gt;: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),%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7:  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pushl</a:t>
            </a:r>
            <a:r>
              <a:rPr lang="en-US" altLang="zh-CN" sz="600" dirty="0">
                <a:latin typeface="Consolas" panose="020B0609020204030204" pitchFamily="49" charset="0"/>
              </a:rPr>
              <a:t>  -0x4(%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r>
              <a:rPr lang="en-US" altLang="zh-CN" sz="600" dirty="0">
                <a:latin typeface="Consolas" panose="020B0609020204030204" pitchFamily="49" charset="0"/>
              </a:rPr>
              <a:t>)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mov</a:t>
            </a:r>
            <a:r>
              <a:rPr lang="en-US" altLang="zh-CN" sz="600" dirty="0">
                <a:latin typeface="Consolas" panose="020B0609020204030204" pitchFamily="49" charset="0"/>
              </a:rPr>
              <a:t>    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,%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f:   e8 fc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600" dirty="0">
              <a:latin typeface="Consolas" panose="020B0609020204030204" pitchFamily="49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5700" y="1714795"/>
            <a:ext cx="306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编译得到指令的序列</a:t>
            </a:r>
            <a:endParaRPr lang="zh-CN" altLang="en-US" sz="2400" dirty="0"/>
          </a:p>
        </p:txBody>
      </p:sp>
      <p:sp>
        <p:nvSpPr>
          <p:cNvPr id="28" name="下箭头 27"/>
          <p:cNvSpPr/>
          <p:nvPr/>
        </p:nvSpPr>
        <p:spPr>
          <a:xfrm>
            <a:off x="1923581" y="1358736"/>
            <a:ext cx="449505" cy="2996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39510" y="954490"/>
            <a:ext cx="94277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algn="just">
              <a:spcAft>
                <a:spcPts val="0"/>
              </a:spcAft>
            </a:pP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pa_nju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game</a:t>
            </a:r>
            <a:r>
              <a:rPr lang="en-US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包含游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戏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关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代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码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include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PA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整体依赖的一些文件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├──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config.h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一些配置用的宏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trap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trap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相关定义，不可改动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kernel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一个微型操作系统内核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帮助编译和执行工程的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Makefile.git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git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有关的部分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nemu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NEMU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src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    </a:t>
            </a: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main.c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 // NEMU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入口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testcase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测试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用例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scripts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框架代码功能脚本，不可改动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libs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框架代码所使用的库，不可改动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655674" y="28612"/>
            <a:ext cx="1052679" cy="139682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3222171" y="654485"/>
            <a:ext cx="1905000" cy="76065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222171" y="834155"/>
            <a:ext cx="1905000" cy="166804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76524" y="199572"/>
            <a:ext cx="99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软件</a:t>
            </a:r>
            <a:endParaRPr lang="zh-CN" altLang="en-US" sz="3200" dirty="0"/>
          </a:p>
        </p:txBody>
      </p:sp>
      <p:sp>
        <p:nvSpPr>
          <p:cNvPr id="24" name="矩形 23"/>
          <p:cNvSpPr/>
          <p:nvPr/>
        </p:nvSpPr>
        <p:spPr>
          <a:xfrm>
            <a:off x="545892" y="2200891"/>
            <a:ext cx="3201692" cy="138499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6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600" dirty="0">
                <a:latin typeface="Consolas" panose="020B0609020204030204" pitchFamily="49" charset="0"/>
              </a:rPr>
              <a:t>:     file format elf32-i386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Disassembly of section .text: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00000000 &lt;main&gt;: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),%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7:  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pushl</a:t>
            </a:r>
            <a:r>
              <a:rPr lang="en-US" altLang="zh-CN" sz="600" dirty="0">
                <a:latin typeface="Consolas" panose="020B0609020204030204" pitchFamily="49" charset="0"/>
              </a:rPr>
              <a:t>  -0x4(%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r>
              <a:rPr lang="en-US" altLang="zh-CN" sz="600" dirty="0">
                <a:latin typeface="Consolas" panose="020B0609020204030204" pitchFamily="49" charset="0"/>
              </a:rPr>
              <a:t>)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mov</a:t>
            </a:r>
            <a:r>
              <a:rPr lang="en-US" altLang="zh-CN" sz="600" dirty="0">
                <a:latin typeface="Consolas" panose="020B0609020204030204" pitchFamily="49" charset="0"/>
              </a:rPr>
              <a:t>    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,%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f:   e8 fc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600" dirty="0">
              <a:latin typeface="Consolas" panose="020B0609020204030204" pitchFamily="49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5700" y="1714795"/>
            <a:ext cx="306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编译得到指令的序列</a:t>
            </a:r>
            <a:endParaRPr lang="zh-CN" altLang="en-US" sz="2400" dirty="0"/>
          </a:p>
        </p:txBody>
      </p:sp>
      <p:sp>
        <p:nvSpPr>
          <p:cNvPr id="28" name="下箭头 27"/>
          <p:cNvSpPr/>
          <p:nvPr/>
        </p:nvSpPr>
        <p:spPr>
          <a:xfrm>
            <a:off x="1923581" y="1358736"/>
            <a:ext cx="449505" cy="2996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15686" y="3771251"/>
            <a:ext cx="3858985" cy="0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373086" y="3832316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ISA: Intel i386</a:t>
            </a:r>
            <a:endParaRPr lang="zh-CN" altLang="en-US" sz="2400" b="1" dirty="0"/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3222171" y="1099129"/>
            <a:ext cx="1905000" cy="335312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39510" y="954490"/>
            <a:ext cx="94277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algn="just">
              <a:spcAft>
                <a:spcPts val="0"/>
              </a:spcAft>
            </a:pP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pa_nju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game</a:t>
            </a:r>
            <a:r>
              <a:rPr lang="en-US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包含游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戏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相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关</a:t>
            </a:r>
            <a:r>
              <a:rPr lang="zh-CN" altLang="zh-CN" sz="2000" kern="100" dirty="0">
                <a:latin typeface="MS Gothic" panose="020B0609070205080204" pitchFamily="49" charset="-128"/>
                <a:cs typeface="DotumChe"/>
              </a:rPr>
              <a:t>代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码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include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PA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整体依赖的一些文件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├──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config.h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一些配置用的宏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trap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.h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trap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相关定义，不可改动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kernel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一个微型操作系统内核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帮助编译和执行工程的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Makefile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Makefile.git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 err="1">
                <a:latin typeface="MS Gothic" panose="020B0609070205080204" pitchFamily="49" charset="-128"/>
                <a:cs typeface="Times New Roman" panose="02020603050405020304" pitchFamily="18" charset="0"/>
              </a:rPr>
              <a:t>git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有关的部分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├──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nemu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NEMU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└──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src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       </a:t>
            </a: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main.c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 // NEMU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入口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testcase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测试</a:t>
            </a:r>
            <a:r>
              <a:rPr lang="zh-CN" altLang="zh-CN" sz="20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用例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scripts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框架代码功能脚本，不可改动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zh-CN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└── </a:t>
            </a:r>
            <a:r>
              <a:rPr lang="en-US" altLang="zh-CN" sz="20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libs              </a:t>
            </a:r>
            <a:r>
              <a:rPr lang="en-US" altLang="zh-CN" sz="2000" kern="100" dirty="0">
                <a:latin typeface="等线" panose="02010600030101010101" charset="-122"/>
                <a:ea typeface="MS Gothic" panose="020B0609070205080204" pitchFamily="49" charset="-128"/>
                <a:cs typeface="Times New Roman" panose="02020603050405020304" pitchFamily="18" charset="0"/>
              </a:rPr>
              <a:t>// </a:t>
            </a:r>
            <a:r>
              <a:rPr lang="zh-CN" altLang="zh-CN" sz="2000" kern="100" dirty="0">
                <a:latin typeface="MS Gothic" panose="020B0609070205080204" pitchFamily="49" charset="-128"/>
                <a:cs typeface="微软雅黑" panose="020B0503020204020204" pitchFamily="34" charset="-122"/>
              </a:rPr>
              <a:t>框架代码所使用的库，不可改动</a:t>
            </a:r>
            <a:endParaRPr lang="zh-CN" altLang="zh-CN" sz="20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655674" y="28612"/>
            <a:ext cx="1052679" cy="139682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76524" y="199572"/>
            <a:ext cx="99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软件</a:t>
            </a:r>
            <a:endParaRPr lang="zh-CN" altLang="en-US" sz="3200" dirty="0"/>
          </a:p>
        </p:txBody>
      </p:sp>
      <p:sp>
        <p:nvSpPr>
          <p:cNvPr id="24" name="矩形 23"/>
          <p:cNvSpPr/>
          <p:nvPr/>
        </p:nvSpPr>
        <p:spPr>
          <a:xfrm>
            <a:off x="545892" y="2200891"/>
            <a:ext cx="3201692" cy="1384995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6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600" dirty="0">
                <a:latin typeface="Consolas" panose="020B0609020204030204" pitchFamily="49" charset="0"/>
              </a:rPr>
              <a:t>:     file format elf32-i386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Disassembly of section .text: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00000000 &lt;main&gt;: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),%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7:  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pushl</a:t>
            </a:r>
            <a:r>
              <a:rPr lang="en-US" altLang="zh-CN" sz="600" dirty="0">
                <a:latin typeface="Consolas" panose="020B0609020204030204" pitchFamily="49" charset="0"/>
              </a:rPr>
              <a:t>  -0x4(%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r>
              <a:rPr lang="en-US" altLang="zh-CN" sz="600" dirty="0">
                <a:latin typeface="Consolas" panose="020B0609020204030204" pitchFamily="49" charset="0"/>
              </a:rPr>
              <a:t>)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600" dirty="0" err="1">
                <a:latin typeface="Consolas" panose="020B0609020204030204" pitchFamily="49" charset="0"/>
              </a:rPr>
              <a:t>mov</a:t>
            </a:r>
            <a:r>
              <a:rPr lang="en-US" altLang="zh-CN" sz="600" dirty="0">
                <a:latin typeface="Consolas" panose="020B0609020204030204" pitchFamily="49" charset="0"/>
              </a:rPr>
              <a:t>    %</a:t>
            </a:r>
            <a:r>
              <a:rPr lang="en-US" altLang="zh-CN" sz="600" dirty="0" err="1">
                <a:latin typeface="Consolas" panose="020B0609020204030204" pitchFamily="49" charset="0"/>
              </a:rPr>
              <a:t>esp</a:t>
            </a:r>
            <a:r>
              <a:rPr lang="en-US" altLang="zh-CN" sz="600" dirty="0">
                <a:latin typeface="Consolas" panose="020B0609020204030204" pitchFamily="49" charset="0"/>
              </a:rPr>
              <a:t>,%</a:t>
            </a:r>
            <a:r>
              <a:rPr lang="en-US" altLang="zh-CN" sz="600" dirty="0" err="1">
                <a:latin typeface="Consolas" panose="020B0609020204030204" pitchFamily="49" charset="0"/>
              </a:rPr>
              <a:t>ebp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ebx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600" dirty="0" err="1">
                <a:latin typeface="Consolas" panose="020B0609020204030204" pitchFamily="49" charset="0"/>
              </a:rPr>
              <a:t>ecx</a:t>
            </a:r>
            <a:endParaRPr lang="en-US" altLang="zh-CN" sz="600" dirty="0">
              <a:latin typeface="Consolas" panose="020B0609020204030204" pitchFamily="49" charset="0"/>
            </a:endParaRPr>
          </a:p>
          <a:p>
            <a:r>
              <a:rPr lang="en-US" altLang="zh-CN" sz="600" dirty="0">
                <a:latin typeface="Consolas" panose="020B0609020204030204" pitchFamily="49" charset="0"/>
              </a:rPr>
              <a:t>   f:   e8 fc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</a:t>
            </a:r>
            <a:r>
              <a:rPr lang="en-US" altLang="zh-CN" sz="600" dirty="0" err="1">
                <a:latin typeface="Consolas" panose="020B0609020204030204" pitchFamily="49" charset="0"/>
              </a:rPr>
              <a:t>ff</a:t>
            </a:r>
            <a:r>
              <a:rPr lang="en-US" altLang="zh-CN" sz="6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600" dirty="0">
              <a:latin typeface="Consolas" panose="020B0609020204030204" pitchFamily="49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5700" y="1714795"/>
            <a:ext cx="3062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编译得到指令的序列</a:t>
            </a:r>
            <a:endParaRPr lang="zh-CN" altLang="en-US" sz="2400" dirty="0"/>
          </a:p>
        </p:txBody>
      </p:sp>
      <p:sp>
        <p:nvSpPr>
          <p:cNvPr id="28" name="下箭头 27"/>
          <p:cNvSpPr/>
          <p:nvPr/>
        </p:nvSpPr>
        <p:spPr>
          <a:xfrm>
            <a:off x="1923581" y="1358736"/>
            <a:ext cx="449505" cy="2996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315686" y="3771251"/>
            <a:ext cx="3858985" cy="0"/>
          </a:xfrm>
          <a:prstGeom prst="line">
            <a:avLst/>
          </a:prstGeom>
          <a:ln w="889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373086" y="3832316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ISA: Intel i386</a:t>
            </a:r>
            <a:endParaRPr lang="zh-CN" altLang="en-US" sz="2400" b="1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67" y="4211895"/>
            <a:ext cx="2358621" cy="2358621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 flipH="1">
            <a:off x="3747585" y="3690257"/>
            <a:ext cx="1379586" cy="151311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927413" y="5195619"/>
            <a:ext cx="1236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模拟实现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163964" y="5529943"/>
            <a:ext cx="5057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可以解释执行</a:t>
            </a:r>
            <a:r>
              <a:rPr lang="en-US" altLang="zh-CN" sz="2800" dirty="0">
                <a:solidFill>
                  <a:srgbClr val="C00000"/>
                </a:solidFill>
              </a:rPr>
              <a:t>i386</a:t>
            </a:r>
            <a:r>
              <a:rPr lang="zh-CN" altLang="en-US" sz="2800" dirty="0">
                <a:solidFill>
                  <a:srgbClr val="C00000"/>
                </a:solidFill>
              </a:rPr>
              <a:t>指令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1826260" y="5414010"/>
            <a:ext cx="9054465" cy="1179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400"/>
              <a:t>物理计算机（</a:t>
            </a:r>
            <a:r>
              <a:rPr lang="en-US" altLang="zh-CN" sz="4400"/>
              <a:t>ISA1</a:t>
            </a:r>
            <a:r>
              <a:rPr lang="zh-CN" altLang="en-US" sz="4400"/>
              <a:t>：</a:t>
            </a:r>
            <a:r>
              <a:rPr lang="en-US" altLang="zh-CN" sz="4400"/>
              <a:t>amd64</a:t>
            </a:r>
            <a:r>
              <a:rPr lang="zh-CN" altLang="en-US" sz="4400"/>
              <a:t>）</a:t>
            </a:r>
            <a:endParaRPr lang="zh-CN" altLang="en-US" sz="4400"/>
          </a:p>
        </p:txBody>
      </p:sp>
      <p:sp>
        <p:nvSpPr>
          <p:cNvPr id="8" name="矩形 7"/>
          <p:cNvSpPr/>
          <p:nvPr/>
        </p:nvSpPr>
        <p:spPr>
          <a:xfrm>
            <a:off x="1826260" y="4022090"/>
            <a:ext cx="9053830" cy="1179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/>
              <a:t>Host OS</a:t>
            </a:r>
            <a:r>
              <a:rPr lang="zh-CN" altLang="en-US" sz="4400"/>
              <a:t>（</a:t>
            </a:r>
            <a:r>
              <a:rPr lang="en-US" altLang="zh-CN" sz="4400"/>
              <a:t>Debian/Ubuntu</a:t>
            </a:r>
            <a:r>
              <a:rPr lang="zh-CN" altLang="en-US" sz="4400"/>
              <a:t>）</a:t>
            </a:r>
            <a:endParaRPr lang="zh-CN" altLang="en-US" sz="4400"/>
          </a:p>
        </p:txBody>
      </p:sp>
      <p:sp>
        <p:nvSpPr>
          <p:cNvPr id="9" name="矩形 8"/>
          <p:cNvSpPr/>
          <p:nvPr/>
        </p:nvSpPr>
        <p:spPr>
          <a:xfrm>
            <a:off x="1826260" y="2630170"/>
            <a:ext cx="5989320" cy="1179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/>
              <a:t>NEMU</a:t>
            </a:r>
            <a:endParaRPr lang="en-US" sz="4400"/>
          </a:p>
        </p:txBody>
      </p:sp>
      <p:sp>
        <p:nvSpPr>
          <p:cNvPr id="10" name="矩形 9"/>
          <p:cNvSpPr/>
          <p:nvPr/>
        </p:nvSpPr>
        <p:spPr>
          <a:xfrm>
            <a:off x="8070850" y="2630170"/>
            <a:ext cx="2809240" cy="11791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/>
              <a:t>Hello World</a:t>
            </a:r>
            <a:endParaRPr lang="en-US" sz="4400"/>
          </a:p>
        </p:txBody>
      </p:sp>
      <p:cxnSp>
        <p:nvCxnSpPr>
          <p:cNvPr id="11" name="直接连接符 10"/>
          <p:cNvCxnSpPr/>
          <p:nvPr/>
        </p:nvCxnSpPr>
        <p:spPr>
          <a:xfrm>
            <a:off x="1793875" y="2440305"/>
            <a:ext cx="600075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9430" y="214820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i386</a:t>
            </a:r>
            <a:endParaRPr lang="en-US" altLang="zh-CN" sz="3200"/>
          </a:p>
        </p:txBody>
      </p:sp>
      <p:sp>
        <p:nvSpPr>
          <p:cNvPr id="13" name="矩形 12"/>
          <p:cNvSpPr/>
          <p:nvPr/>
        </p:nvSpPr>
        <p:spPr>
          <a:xfrm>
            <a:off x="1847215" y="1452880"/>
            <a:ext cx="5925820" cy="817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600">
                <a:solidFill>
                  <a:schemeClr val="tx1"/>
                </a:solidFill>
              </a:rPr>
              <a:t>Kernel (i386)</a:t>
            </a:r>
            <a:endParaRPr lang="en-US" altLang="zh-CN" sz="36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46580" y="465455"/>
            <a:ext cx="5873115" cy="817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>
                <a:solidFill>
                  <a:schemeClr val="tx1"/>
                </a:solidFill>
              </a:rPr>
              <a:t>用户程序</a:t>
            </a:r>
            <a:r>
              <a:rPr lang="en-US" altLang="zh-CN" sz="3600">
                <a:solidFill>
                  <a:schemeClr val="tx1"/>
                </a:solidFill>
              </a:rPr>
              <a:t>(i386)</a:t>
            </a:r>
            <a:endParaRPr lang="en-US" altLang="zh-CN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0900" y="1520212"/>
            <a:ext cx="52596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PA</a:t>
            </a:r>
            <a:r>
              <a:rPr lang="zh-CN" altLang="en-US" sz="3200" dirty="0"/>
              <a:t>分为四个大的阶段，每个大阶段又拆分为三个小阶段</a:t>
            </a:r>
            <a:endParaRPr lang="en-US" altLang="zh-CN" sz="32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1 - </a:t>
            </a:r>
            <a:r>
              <a:rPr lang="zh-CN" altLang="en-US" sz="2400" dirty="0"/>
              <a:t>数据的表示、存取和运算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2 - </a:t>
            </a:r>
            <a:r>
              <a:rPr lang="zh-CN" altLang="en-US" sz="2400" dirty="0"/>
              <a:t>程序的执行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3 - </a:t>
            </a:r>
            <a:r>
              <a:rPr lang="zh-CN" altLang="en-US" sz="2400" dirty="0"/>
              <a:t>存储管理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4 - </a:t>
            </a:r>
            <a:r>
              <a:rPr lang="zh-CN" altLang="en-US" sz="2400" dirty="0"/>
              <a:t>异常、中断与</a:t>
            </a:r>
            <a:r>
              <a:rPr lang="en-US" altLang="zh-CN" sz="2400" dirty="0"/>
              <a:t>I/O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252">
            <a:off x="1157483" y="4255176"/>
            <a:ext cx="834704" cy="8347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62" y="3504759"/>
            <a:ext cx="1012899" cy="7546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9" y="5106724"/>
            <a:ext cx="977612" cy="8396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11" y="5281278"/>
            <a:ext cx="487991" cy="48799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96000" y="1989238"/>
            <a:ext cx="8305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algn="just">
              <a:spcAft>
                <a:spcPts val="0"/>
              </a:spcAft>
            </a:pP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pa_nju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nemu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└──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src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main.c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cpu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memory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device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7043057" y="3504759"/>
            <a:ext cx="1905000" cy="46852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268686" y="4126462"/>
            <a:ext cx="36793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974771" y="4672528"/>
            <a:ext cx="4049486" cy="11165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32714" y="5253205"/>
            <a:ext cx="3167743" cy="27206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的原理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0900" y="1520212"/>
            <a:ext cx="52596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PA</a:t>
            </a:r>
            <a:r>
              <a:rPr lang="zh-CN" altLang="en-US" sz="3200" dirty="0"/>
              <a:t>分为四个大的阶段，每个大阶段又拆分为三个小阶段</a:t>
            </a:r>
            <a:endParaRPr lang="en-US" altLang="zh-CN" sz="32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1 - </a:t>
            </a:r>
            <a:r>
              <a:rPr lang="zh-CN" altLang="en-US" sz="2400" dirty="0"/>
              <a:t>数据的表示、存取和运算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2 - </a:t>
            </a:r>
            <a:r>
              <a:rPr lang="zh-CN" altLang="en-US" sz="2400" dirty="0"/>
              <a:t>程序的执行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3 - </a:t>
            </a:r>
            <a:r>
              <a:rPr lang="zh-CN" altLang="en-US" sz="2400" dirty="0"/>
              <a:t>存储管理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PA 4 - </a:t>
            </a:r>
            <a:r>
              <a:rPr lang="zh-CN" altLang="en-US" sz="2400" dirty="0"/>
              <a:t>异常、中断与</a:t>
            </a:r>
            <a:r>
              <a:rPr lang="en-US" altLang="zh-CN" sz="2400" dirty="0"/>
              <a:t>I/O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252">
            <a:off x="1157483" y="4255176"/>
            <a:ext cx="834704" cy="8347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62" y="3504759"/>
            <a:ext cx="1012899" cy="7546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9" y="5106724"/>
            <a:ext cx="977612" cy="8396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11" y="5281278"/>
            <a:ext cx="487991" cy="48799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096000" y="1989238"/>
            <a:ext cx="8305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0" algn="just">
              <a:spcAft>
                <a:spcPts val="0"/>
              </a:spcAft>
            </a:pP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pa_nju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nemu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└──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src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main.c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</a:t>
            </a:r>
            <a:r>
              <a:rPr lang="en-US" altLang="zh-CN" sz="2400" kern="100" dirty="0" err="1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cpu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memory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>
              <a:spcAft>
                <a:spcPts val="0"/>
              </a:spcAft>
            </a:pP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 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│</a:t>
            </a:r>
            <a:endParaRPr lang="en-US" altLang="zh-CN" sz="2400" kern="100" dirty="0">
              <a:latin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1600200" algn="just"/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       </a:t>
            </a:r>
            <a:r>
              <a:rPr lang="zh-CN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└</a:t>
            </a:r>
            <a:r>
              <a:rPr lang="en-US" altLang="zh-CN" sz="2400" kern="100" dirty="0"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── device</a:t>
            </a:r>
            <a:endParaRPr lang="zh-CN" altLang="zh-CN" sz="2400" kern="100" dirty="0"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7043057" y="3504759"/>
            <a:ext cx="1905000" cy="46852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268686" y="4126462"/>
            <a:ext cx="36793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974771" y="4672528"/>
            <a:ext cx="4049486" cy="11165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32714" y="5253205"/>
            <a:ext cx="3167743" cy="27206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789" y="2368964"/>
            <a:ext cx="3738625" cy="3738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49" y="1082119"/>
            <a:ext cx="6879474" cy="515960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85648" y="61537"/>
            <a:ext cx="10515600" cy="73400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154621" y="6334780"/>
            <a:ext cx="3888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完整的</a:t>
            </a:r>
            <a:r>
              <a:rPr lang="en-US" altLang="zh-CN" sz="2800" dirty="0"/>
              <a:t>PA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305" y="428538"/>
            <a:ext cx="2248943" cy="2400984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9096375" y="3288030"/>
            <a:ext cx="2204720" cy="3046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740"/>
            <a:ext cx="11235055" cy="482854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课程基本信息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PA</a:t>
            </a:r>
            <a:r>
              <a:rPr lang="zh-CN" altLang="en-US" dirty="0"/>
              <a:t>课程内容和原理简介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在线实验平台的使用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注意：各位同学的账号还没有创建，请在本周末或</a:t>
            </a:r>
            <a:r>
              <a:rPr lang="en-US" altLang="zh-CN" b="1" dirty="0">
                <a:solidFill>
                  <a:srgbClr val="C00000"/>
                </a:solidFill>
              </a:rPr>
              <a:t>QQ</a:t>
            </a:r>
            <a:r>
              <a:rPr lang="zh-CN" altLang="en-US" b="1" dirty="0">
                <a:solidFill>
                  <a:srgbClr val="C00000"/>
                </a:solidFill>
              </a:rPr>
              <a:t>群中通知后再尝试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在线实验平台的使用说明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56" y="1746756"/>
            <a:ext cx="778475" cy="778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154" y="2789248"/>
            <a:ext cx="3131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确保自己连接了校园网，如果在校外访问，则需要拨通南京大学</a:t>
            </a:r>
            <a:r>
              <a:rPr lang="en-US" altLang="zh-CN" dirty="0"/>
              <a:t>VPN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44" y="3994348"/>
            <a:ext cx="1201658" cy="93729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86" y="3985777"/>
            <a:ext cx="1279684" cy="10215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3154" y="5138840"/>
            <a:ext cx="3406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使用我们推荐的浏览器访问在线实验平台，若使用的是</a:t>
            </a:r>
            <a:r>
              <a:rPr lang="en-US" altLang="zh-CN" dirty="0" err="1"/>
              <a:t>firefox</a:t>
            </a:r>
            <a:r>
              <a:rPr lang="zh-CN" altLang="en-US" dirty="0"/>
              <a:t>，按照教程首页上的说明进行设置</a:t>
            </a:r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39" y="1760718"/>
            <a:ext cx="7264847" cy="3232301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V="1">
            <a:off x="3308944" y="2966866"/>
            <a:ext cx="1907741" cy="146040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659077" y="513884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在线实验平台架构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4420696" y="3683914"/>
            <a:ext cx="86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访问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62" y="1313385"/>
            <a:ext cx="4090791" cy="1820089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2269554" y="2795827"/>
            <a:ext cx="749940" cy="109859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90773" y="3966786"/>
            <a:ext cx="2914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访问入口节点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输入</a:t>
            </a:r>
            <a:r>
              <a:rPr lang="en-US" altLang="zh-CN" b="1" dirty="0">
                <a:solidFill>
                  <a:srgbClr val="C00000"/>
                </a:solidFill>
              </a:rPr>
              <a:t>pa</a:t>
            </a:r>
            <a:r>
              <a:rPr lang="zh-CN" altLang="en-US" b="1" dirty="0">
                <a:solidFill>
                  <a:srgbClr val="C00000"/>
                </a:solidFill>
              </a:rPr>
              <a:t>学号</a:t>
            </a:r>
            <a:r>
              <a:rPr lang="zh-CN" altLang="en-US" dirty="0"/>
              <a:t>作为用户名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点击‘</a:t>
            </a:r>
            <a:r>
              <a:rPr lang="zh-CN" altLang="en-US" b="1" dirty="0">
                <a:solidFill>
                  <a:srgbClr val="C00000"/>
                </a:solidFill>
              </a:rPr>
              <a:t>跳转到主机</a:t>
            </a:r>
            <a:r>
              <a:rPr lang="zh-CN" altLang="en-US" dirty="0"/>
              <a:t>’按钮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6742878" y="2420858"/>
            <a:ext cx="1138066" cy="1322261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003" y="3810643"/>
            <a:ext cx="3397614" cy="25402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3"/>
          <a:srcRect l="14014" t="15153" r="8705" b="11106"/>
          <a:stretch>
            <a:fillRect/>
          </a:stretch>
        </p:blipFill>
        <p:spPr>
          <a:xfrm>
            <a:off x="7992777" y="197353"/>
            <a:ext cx="3604066" cy="2585317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8558521" y="322343"/>
            <a:ext cx="2197191" cy="335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196949" y="2578740"/>
            <a:ext cx="2197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跳转失败：</a:t>
            </a:r>
            <a:endParaRPr lang="en-US" altLang="zh-CN" dirty="0"/>
          </a:p>
          <a:p>
            <a:r>
              <a:rPr lang="zh-CN" altLang="en-US" dirty="0"/>
              <a:t>群里找老师和助教</a:t>
            </a:r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"/>
          <a:stretch>
            <a:fillRect/>
          </a:stretch>
        </p:blipFill>
        <p:spPr>
          <a:xfrm>
            <a:off x="8440109" y="3734535"/>
            <a:ext cx="3578660" cy="2688707"/>
          </a:xfrm>
          <a:prstGeom prst="rect">
            <a:avLst/>
          </a:prstGeom>
        </p:spPr>
      </p:pic>
      <p:cxnSp>
        <p:nvCxnSpPr>
          <p:cNvPr id="29" name="直接箭头连接符 28"/>
          <p:cNvCxnSpPr/>
          <p:nvPr/>
        </p:nvCxnSpPr>
        <p:spPr>
          <a:xfrm>
            <a:off x="6788927" y="4183873"/>
            <a:ext cx="1526192" cy="87493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749456" y="4987537"/>
            <a:ext cx="1559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跳转成功：</a:t>
            </a:r>
            <a:endParaRPr lang="en-US" altLang="zh-CN" dirty="0"/>
          </a:p>
          <a:p>
            <a:r>
              <a:rPr lang="zh-CN" altLang="en-US" dirty="0"/>
              <a:t>来到工作节点</a:t>
            </a:r>
            <a:endParaRPr lang="zh-CN" altLang="en-US" dirty="0"/>
          </a:p>
        </p:txBody>
      </p: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）访问平台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266322" y="4098330"/>
            <a:ext cx="3093183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486775" y="4041714"/>
            <a:ext cx="3187700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00" y="2053072"/>
            <a:ext cx="5612747" cy="4014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73948" y="2137064"/>
            <a:ext cx="432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登录失败：群里找老师和助教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）访问平台</a:t>
            </a:r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44"/>
          <a:stretch>
            <a:fillRect/>
          </a:stretch>
        </p:blipFill>
        <p:spPr>
          <a:xfrm>
            <a:off x="326949" y="2788074"/>
            <a:ext cx="3711651" cy="227072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479718" y="1359412"/>
            <a:ext cx="46346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http://114.212.10.201:81/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8600" y="3275429"/>
            <a:ext cx="1993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初始用户名和密码都是：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pa</a:t>
            </a:r>
            <a:r>
              <a:rPr lang="zh-CN" altLang="en-US" sz="2400" dirty="0">
                <a:solidFill>
                  <a:srgbClr val="C00000"/>
                </a:solidFill>
              </a:rPr>
              <a:t>学号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00" y="2046925"/>
            <a:ext cx="5612747" cy="40205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73948" y="2137064"/>
            <a:ext cx="432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登录失败：群里找老师和助教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）访问平台</a:t>
            </a:r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44"/>
          <a:stretch>
            <a:fillRect/>
          </a:stretch>
        </p:blipFill>
        <p:spPr>
          <a:xfrm>
            <a:off x="326949" y="2788074"/>
            <a:ext cx="3711651" cy="227072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479718" y="1359412"/>
            <a:ext cx="44791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http://114.212.10.201:81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8600" y="3275429"/>
            <a:ext cx="1993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初始用户名和密码都是：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pa</a:t>
            </a:r>
            <a:r>
              <a:rPr lang="zh-CN" altLang="en-US" sz="2400" dirty="0">
                <a:solidFill>
                  <a:srgbClr val="C00000"/>
                </a:solidFill>
              </a:rPr>
              <a:t>学号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18437" y="5403420"/>
            <a:ext cx="3394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登陆成功！</a:t>
            </a:r>
            <a:endParaRPr lang="en-US" altLang="zh-CN" sz="2800" dirty="0"/>
          </a:p>
          <a:p>
            <a:r>
              <a:rPr lang="ja-JP" altLang="en-US" sz="2800" b="1" dirty="0"/>
              <a:t>✿✿ヽ</a:t>
            </a:r>
            <a:r>
              <a:rPr lang="en-US" altLang="ja-JP" sz="2800" b="1" dirty="0"/>
              <a:t>(°▽°)</a:t>
            </a:r>
            <a:r>
              <a:rPr lang="ja-JP" altLang="en-US" sz="2800" b="1" dirty="0"/>
              <a:t>ノ✿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）更改密码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32" y="2019573"/>
            <a:ext cx="3910271" cy="2923524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355154" y="3611552"/>
            <a:ext cx="822302" cy="335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790" y="2047203"/>
            <a:ext cx="3917310" cy="2928787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5552183" y="3493140"/>
            <a:ext cx="717047" cy="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55767" y="3777108"/>
            <a:ext cx="2847358" cy="81462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216844" y="5289048"/>
            <a:ext cx="5289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第一处：更改网页登陆密码</a:t>
            </a:r>
            <a:endParaRPr lang="zh-CN" altLang="en-US" sz="3200" dirty="0"/>
          </a:p>
        </p:txBody>
      </p:sp>
      <p:sp>
        <p:nvSpPr>
          <p:cNvPr id="12" name="矩形 11"/>
          <p:cNvSpPr/>
          <p:nvPr/>
        </p:nvSpPr>
        <p:spPr>
          <a:xfrm>
            <a:off x="1494672" y="2372525"/>
            <a:ext cx="3484522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595309" y="2409459"/>
            <a:ext cx="3484522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61369" y="3694974"/>
            <a:ext cx="759994" cy="228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）更改密码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2" y="2019573"/>
            <a:ext cx="3910271" cy="2923524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3065542" y="5492979"/>
            <a:ext cx="5920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第二处：更改个人</a:t>
            </a:r>
            <a:r>
              <a:rPr lang="en-US" altLang="zh-CN" sz="3200" dirty="0" err="1"/>
              <a:t>docker</a:t>
            </a:r>
            <a:r>
              <a:rPr lang="zh-CN" altLang="en-US" sz="3200" dirty="0"/>
              <a:t>密码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1598555" y="2499799"/>
            <a:ext cx="1638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点这个按钮打开远程终端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84" y="2019573"/>
            <a:ext cx="3933047" cy="2940553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3658201" y="2707184"/>
            <a:ext cx="852839" cy="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987535" y="3763951"/>
            <a:ext cx="2755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填写登陆信息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doc/</a:t>
            </a:r>
            <a:r>
              <a:rPr lang="en-US" altLang="zh-CN" b="1" dirty="0" err="1">
                <a:solidFill>
                  <a:srgbClr val="C00000"/>
                </a:solidFill>
              </a:rPr>
              <a:t>ssh</a:t>
            </a:r>
            <a:r>
              <a:rPr lang="zh-CN" altLang="en-US" b="1" dirty="0">
                <a:solidFill>
                  <a:srgbClr val="C00000"/>
                </a:solidFill>
              </a:rPr>
              <a:t>终端登陆信息</a:t>
            </a:r>
            <a:r>
              <a:rPr lang="en-US" altLang="zh-CN" b="1" dirty="0">
                <a:solidFill>
                  <a:srgbClr val="C00000"/>
                </a:solidFill>
              </a:rPr>
              <a:t>.txt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1690653" y="3196976"/>
            <a:ext cx="3276052" cy="1087062"/>
          </a:xfrm>
          <a:custGeom>
            <a:avLst/>
            <a:gdLst>
              <a:gd name="connsiteX0" fmla="*/ 0 w 3276052"/>
              <a:gd name="connsiteY0" fmla="*/ 59341 h 1087062"/>
              <a:gd name="connsiteX1" fmla="*/ 618371 w 3276052"/>
              <a:gd name="connsiteY1" fmla="*/ 98811 h 1087062"/>
              <a:gd name="connsiteX2" fmla="*/ 1519615 w 3276052"/>
              <a:gd name="connsiteY2" fmla="*/ 980319 h 1087062"/>
              <a:gd name="connsiteX3" fmla="*/ 3276052 w 3276052"/>
              <a:gd name="connsiteY3" fmla="*/ 1039525 h 1087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76052" h="1087062">
                <a:moveTo>
                  <a:pt x="0" y="59341"/>
                </a:moveTo>
                <a:cubicBezTo>
                  <a:pt x="182551" y="2328"/>
                  <a:pt x="365102" y="-54685"/>
                  <a:pt x="618371" y="98811"/>
                </a:cubicBezTo>
                <a:cubicBezTo>
                  <a:pt x="871640" y="252307"/>
                  <a:pt x="1076668" y="823533"/>
                  <a:pt x="1519615" y="980319"/>
                </a:cubicBezTo>
                <a:cubicBezTo>
                  <a:pt x="1962562" y="1137105"/>
                  <a:pt x="2619307" y="1088315"/>
                  <a:pt x="3276052" y="1039525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583" y="2013331"/>
            <a:ext cx="3928417" cy="2937091"/>
          </a:xfrm>
          <a:prstGeom prst="rect">
            <a:avLst/>
          </a:prstGeom>
        </p:spPr>
      </p:pic>
      <p:cxnSp>
        <p:nvCxnSpPr>
          <p:cNvPr id="22" name="直接箭头连接符 21"/>
          <p:cNvCxnSpPr/>
          <p:nvPr/>
        </p:nvCxnSpPr>
        <p:spPr>
          <a:xfrm>
            <a:off x="7774535" y="2707184"/>
            <a:ext cx="775105" cy="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229600" y="1386840"/>
            <a:ext cx="3002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命令</a:t>
            </a:r>
            <a:r>
              <a:rPr lang="en-US" altLang="zh-CN" sz="3200" dirty="0" err="1"/>
              <a:t>passwd</a:t>
            </a:r>
            <a:endParaRPr lang="zh-CN" altLang="en-US" sz="3200" dirty="0"/>
          </a:p>
        </p:txBody>
      </p:sp>
      <p:sp>
        <p:nvSpPr>
          <p:cNvPr id="23" name="任意多边形 22"/>
          <p:cNvSpPr/>
          <p:nvPr/>
        </p:nvSpPr>
        <p:spPr>
          <a:xfrm>
            <a:off x="7078980" y="3261360"/>
            <a:ext cx="2183346" cy="2567940"/>
          </a:xfrm>
          <a:custGeom>
            <a:avLst/>
            <a:gdLst>
              <a:gd name="connsiteX0" fmla="*/ 1432560 w 2183346"/>
              <a:gd name="connsiteY0" fmla="*/ 2567940 h 2567940"/>
              <a:gd name="connsiteX1" fmla="*/ 2118360 w 2183346"/>
              <a:gd name="connsiteY1" fmla="*/ 1950720 h 2567940"/>
              <a:gd name="connsiteX2" fmla="*/ 0 w 2183346"/>
              <a:gd name="connsiteY2" fmla="*/ 0 h 25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3346" h="2567940">
                <a:moveTo>
                  <a:pt x="1432560" y="2567940"/>
                </a:moveTo>
                <a:cubicBezTo>
                  <a:pt x="1894840" y="2473325"/>
                  <a:pt x="2357120" y="2378710"/>
                  <a:pt x="2118360" y="1950720"/>
                </a:cubicBezTo>
                <a:cubicBezTo>
                  <a:pt x="1879600" y="1522730"/>
                  <a:pt x="939800" y="761365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805155" y="5783251"/>
            <a:ext cx="275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改完后用新密码登陆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3679" y="2372574"/>
            <a:ext cx="3484522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200400" y="2486643"/>
            <a:ext cx="318669" cy="3354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245574" y="2367304"/>
            <a:ext cx="3484522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327079" y="2346945"/>
            <a:ext cx="3484522" cy="1193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218558" y="3690196"/>
            <a:ext cx="759994" cy="228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）熟悉环境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847" y="1426638"/>
            <a:ext cx="6399573" cy="478465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10200" y="318516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实验手册、教程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10200" y="364998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不用关心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10200" y="411480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实验代码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10200" y="4648200"/>
            <a:ext cx="286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提交时要下载的压缩包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10200" y="513588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不用关心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10200" y="560070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不用关心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10000" y="3147060"/>
            <a:ext cx="441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双击打开文件和文件夹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95395" y="2255959"/>
            <a:ext cx="1638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远程终端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800765" y="2016266"/>
            <a:ext cx="5632656" cy="176570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555029" y="4170063"/>
            <a:ext cx="831084" cy="34325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）熟悉环境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88" y="1556179"/>
            <a:ext cx="5430012" cy="405976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260" y="300990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实验手册、教程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43000" y="2697480"/>
            <a:ext cx="441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双击打开文件和文件夹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248" y="1554480"/>
            <a:ext cx="5483242" cy="4099560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V="1">
            <a:off x="4176361" y="2781300"/>
            <a:ext cx="3275999" cy="436424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206740" y="259080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导航栏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80120" y="3299460"/>
            <a:ext cx="313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实验教程：</a:t>
            </a:r>
            <a:r>
              <a:rPr lang="en-US" altLang="zh-CN" b="1" dirty="0">
                <a:solidFill>
                  <a:srgbClr val="C00000"/>
                </a:solidFill>
              </a:rPr>
              <a:t>index.md</a:t>
            </a:r>
            <a:r>
              <a:rPr lang="zh-CN" altLang="en-US" b="1" dirty="0">
                <a:solidFill>
                  <a:srgbClr val="C00000"/>
                </a:solidFill>
              </a:rPr>
              <a:t>是入口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80120" y="3710940"/>
            <a:ext cx="345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i386</a:t>
            </a:r>
            <a:r>
              <a:rPr lang="zh-CN" altLang="en-US" b="1" dirty="0">
                <a:solidFill>
                  <a:srgbClr val="C00000"/>
                </a:solidFill>
              </a:rPr>
              <a:t>手册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24200" y="5882640"/>
            <a:ext cx="5570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找到实验的相关手册和教程</a:t>
            </a:r>
            <a:endParaRPr lang="zh-CN" altLang="en-US" sz="2800" dirty="0"/>
          </a:p>
        </p:txBody>
      </p:sp>
      <p:sp>
        <p:nvSpPr>
          <p:cNvPr id="16" name="矩形 15"/>
          <p:cNvSpPr/>
          <p:nvPr/>
        </p:nvSpPr>
        <p:spPr>
          <a:xfrm>
            <a:off x="302267" y="2038474"/>
            <a:ext cx="4865046" cy="1570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391917" y="2038474"/>
            <a:ext cx="4865046" cy="1570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806066" y="3883152"/>
            <a:ext cx="831084" cy="29638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）熟悉环境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88" y="1556179"/>
            <a:ext cx="5430012" cy="405976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43000" y="2697480"/>
            <a:ext cx="441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双击打开文件和文件夹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16040" y="5737860"/>
            <a:ext cx="5570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熟悉代码编辑界面</a:t>
            </a:r>
            <a:endParaRPr lang="zh-CN" altLang="en-US" sz="2800" dirty="0"/>
          </a:p>
        </p:txBody>
      </p:sp>
      <p:sp>
        <p:nvSpPr>
          <p:cNvPr id="23" name="文本框 22"/>
          <p:cNvSpPr txBox="1"/>
          <p:nvPr/>
        </p:nvSpPr>
        <p:spPr>
          <a:xfrm>
            <a:off x="2461260" y="3848100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实验代码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39" y="1545446"/>
            <a:ext cx="5485133" cy="4100974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V="1">
            <a:off x="3695700" y="4053840"/>
            <a:ext cx="2575560" cy="2286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212580" y="4617720"/>
            <a:ext cx="1478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类似普通的文本编辑器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294620" y="2811780"/>
            <a:ext cx="1478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保存按钮，快捷键</a:t>
            </a:r>
            <a:r>
              <a:rPr lang="en-US" altLang="zh-CN" dirty="0" err="1">
                <a:solidFill>
                  <a:srgbClr val="C00000"/>
                </a:solidFill>
              </a:rPr>
              <a:t>ctrl+s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1422380" y="2499360"/>
            <a:ext cx="137160" cy="39624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8366760" y="246888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心情按钮，做实验不开心了</a:t>
            </a:r>
            <a:r>
              <a:rPr lang="zh-CN" altLang="en-US">
                <a:solidFill>
                  <a:srgbClr val="C00000"/>
                </a:solidFill>
              </a:rPr>
              <a:t>我们会来</a:t>
            </a:r>
            <a:r>
              <a:rPr lang="zh-CN" altLang="en-US" dirty="0">
                <a:solidFill>
                  <a:srgbClr val="C00000"/>
                </a:solidFill>
              </a:rPr>
              <a:t>关心你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10165080" y="2552700"/>
            <a:ext cx="403860" cy="25146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481060" y="533400"/>
            <a:ext cx="235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关闭按钮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：没有保存也不会有任何提示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37" name="直接箭头连接符 36"/>
          <p:cNvCxnSpPr>
            <a:stCxn id="36" idx="2"/>
          </p:cNvCxnSpPr>
          <p:nvPr/>
        </p:nvCxnSpPr>
        <p:spPr>
          <a:xfrm flipH="1">
            <a:off x="9403080" y="1179731"/>
            <a:ext cx="255270" cy="42808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547360" y="601980"/>
            <a:ext cx="235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关闭按钮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：保存了也会再弹个窗提醒你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267" y="2038474"/>
            <a:ext cx="4865046" cy="1570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339839" y="2007991"/>
            <a:ext cx="4865046" cy="1570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箭头连接符 40"/>
          <p:cNvCxnSpPr>
            <a:stCxn id="40" idx="2"/>
          </p:cNvCxnSpPr>
          <p:nvPr/>
        </p:nvCxnSpPr>
        <p:spPr>
          <a:xfrm flipH="1">
            <a:off x="6537960" y="1248311"/>
            <a:ext cx="186690" cy="108340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806066" y="3883152"/>
            <a:ext cx="655194" cy="29638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文本编辑窗口的已知缺陷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572308"/>
          </a:xfrm>
        </p:spPr>
        <p:txBody>
          <a:bodyPr/>
          <a:lstStyle/>
          <a:p>
            <a:r>
              <a:rPr lang="zh-CN" altLang="en-US" dirty="0"/>
              <a:t>不要同时打开多个编辑窗口，内容会互相覆盖</a:t>
            </a:r>
            <a:endParaRPr lang="en-US" altLang="zh-CN" dirty="0"/>
          </a:p>
          <a:p>
            <a:r>
              <a:rPr lang="zh-CN" altLang="en-US" dirty="0"/>
              <a:t>不要使用系统内的搜索功能，内容会莫名改变</a:t>
            </a:r>
            <a:endParaRPr lang="en-US" altLang="zh-CN" dirty="0"/>
          </a:p>
          <a:p>
            <a:r>
              <a:rPr lang="zh-CN" altLang="en-US" dirty="0"/>
              <a:t>经常保存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38" y="2362629"/>
            <a:ext cx="4976471" cy="3720671"/>
          </a:xfrm>
          <a:prstGeom prst="rect">
            <a:avLst/>
          </a:prstGeom>
        </p:spPr>
      </p:pic>
      <p:sp>
        <p:nvSpPr>
          <p:cNvPr id="9" name="任意多边形 8"/>
          <p:cNvSpPr/>
          <p:nvPr/>
        </p:nvSpPr>
        <p:spPr>
          <a:xfrm>
            <a:off x="4762500" y="2419350"/>
            <a:ext cx="2419350" cy="741556"/>
          </a:xfrm>
          <a:custGeom>
            <a:avLst/>
            <a:gdLst>
              <a:gd name="connsiteX0" fmla="*/ 0 w 2419350"/>
              <a:gd name="connsiteY0" fmla="*/ 0 h 741556"/>
              <a:gd name="connsiteX1" fmla="*/ 958850 w 2419350"/>
              <a:gd name="connsiteY1" fmla="*/ 641350 h 741556"/>
              <a:gd name="connsiteX2" fmla="*/ 2419350 w 2419350"/>
              <a:gd name="connsiteY2" fmla="*/ 730250 h 74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9350" h="741556">
                <a:moveTo>
                  <a:pt x="0" y="0"/>
                </a:moveTo>
                <a:cubicBezTo>
                  <a:pt x="277812" y="259821"/>
                  <a:pt x="555625" y="519642"/>
                  <a:pt x="958850" y="641350"/>
                </a:cubicBezTo>
                <a:cubicBezTo>
                  <a:pt x="1362075" y="763058"/>
                  <a:pt x="1890712" y="746654"/>
                  <a:pt x="2419350" y="730250"/>
                </a:cubicBezTo>
              </a:path>
            </a:pathLst>
          </a:custGeom>
          <a:noFill/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48375" y="3210267"/>
            <a:ext cx="2611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不要用搜索，也不要用</a:t>
            </a:r>
            <a:r>
              <a:rPr lang="en-US" altLang="zh-CN" dirty="0" err="1"/>
              <a:t>Ctrl+F</a:t>
            </a:r>
            <a:r>
              <a:rPr lang="zh-CN" altLang="en-US" dirty="0"/>
              <a:t>出来的搜索功能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196788" y="2986601"/>
            <a:ext cx="2032731" cy="3223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78296" y="2973444"/>
            <a:ext cx="861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X </a:t>
            </a:r>
            <a:r>
              <a:rPr lang="en-US" altLang="zh-CN" dirty="0" err="1">
                <a:solidFill>
                  <a:srgbClr val="C00000"/>
                </a:solidFill>
              </a:rPr>
              <a:t>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X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13153" y="4477541"/>
            <a:ext cx="831084" cy="29638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pa_nju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）尝试一下</a:t>
            </a:r>
            <a:r>
              <a:rPr lang="en-US" altLang="zh-CN" dirty="0"/>
              <a:t>make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" y="1568745"/>
            <a:ext cx="6076950" cy="454344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16132" y="1539843"/>
            <a:ext cx="33944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&gt; cd </a:t>
            </a:r>
            <a:r>
              <a:rPr lang="en-US" altLang="zh-CN" sz="2800" dirty="0" err="1"/>
              <a:t>pa_nju</a:t>
            </a:r>
            <a:r>
              <a:rPr lang="en-US" altLang="zh-CN" sz="2800" dirty="0"/>
              <a:t>/</a:t>
            </a:r>
            <a:endParaRPr lang="en-US" altLang="zh-CN" sz="2800" dirty="0"/>
          </a:p>
          <a:p>
            <a:r>
              <a:rPr lang="en-US" altLang="zh-CN" sz="2800" dirty="0"/>
              <a:t>&gt; make clean</a:t>
            </a:r>
            <a:endParaRPr lang="en-US" altLang="zh-CN" sz="2800" dirty="0"/>
          </a:p>
          <a:p>
            <a:r>
              <a:rPr lang="en-US" altLang="zh-CN" sz="2800" dirty="0"/>
              <a:t>&gt; make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ja-JP" altLang="en-US" sz="2800" b="1" dirty="0"/>
              <a:t>✿✿ヽ</a:t>
            </a:r>
            <a:r>
              <a:rPr lang="en-US" altLang="ja-JP" sz="2800" b="1" dirty="0"/>
              <a:t>(°▽°)</a:t>
            </a:r>
            <a:r>
              <a:rPr lang="ja-JP" altLang="en-US" sz="2800" b="1" dirty="0"/>
              <a:t>ノ✿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716604" y="2124293"/>
            <a:ext cx="5487345" cy="157039"/>
          </a:xfrm>
          <a:prstGeom prst="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352477" y="4270215"/>
            <a:ext cx="37782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warning: empty loadable segment detected at vaddr=0x8048114, is this intentional?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52477" y="5249577"/>
            <a:ext cx="3664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每次编译会看到这个</a:t>
            </a:r>
            <a:r>
              <a:rPr lang="en-US" altLang="zh-CN" dirty="0">
                <a:solidFill>
                  <a:srgbClr val="C00000"/>
                </a:solidFill>
              </a:rPr>
              <a:t>warning</a:t>
            </a:r>
            <a:r>
              <a:rPr lang="zh-CN" altLang="en-US" dirty="0">
                <a:solidFill>
                  <a:srgbClr val="C00000"/>
                </a:solidFill>
              </a:rPr>
              <a:t>，这是正常的，不用担心。其它的任何</a:t>
            </a:r>
            <a:r>
              <a:rPr lang="en-US" altLang="zh-CN" dirty="0">
                <a:solidFill>
                  <a:srgbClr val="C00000"/>
                </a:solidFill>
              </a:rPr>
              <a:t>warning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error</a:t>
            </a:r>
            <a:r>
              <a:rPr lang="zh-CN" altLang="en-US" dirty="0">
                <a:solidFill>
                  <a:srgbClr val="C00000"/>
                </a:solidFill>
              </a:rPr>
              <a:t>都要引起警觉！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2" name="直接箭头连接符 11"/>
          <p:cNvCxnSpPr>
            <a:stCxn id="3" idx="1"/>
          </p:cNvCxnSpPr>
          <p:nvPr/>
        </p:nvCxnSpPr>
        <p:spPr>
          <a:xfrm flipH="1">
            <a:off x="6524625" y="4731880"/>
            <a:ext cx="827852" cy="70689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0 </a:t>
            </a:r>
            <a:r>
              <a:rPr lang="zh-CN" altLang="en-US" dirty="0"/>
              <a:t>完成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0615F-B4EA-43D7-960C-AEBA89FFC64B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3400" dirty="0"/>
              <a:t>不许抄袭！必须通过在线平台完成整个实验！</a:t>
            </a:r>
            <a:endParaRPr lang="en-US" altLang="zh-CN" sz="3400" dirty="0"/>
          </a:p>
          <a:p>
            <a:pPr>
              <a:lnSpc>
                <a:spcPct val="200000"/>
              </a:lnSpc>
            </a:pPr>
            <a:r>
              <a:rPr lang="zh-CN" altLang="en-US" sz="3400" dirty="0"/>
              <a:t>记得时常</a:t>
            </a:r>
            <a:r>
              <a:rPr lang="en-US" altLang="zh-CN" sz="3400" dirty="0" err="1"/>
              <a:t>git</a:t>
            </a:r>
            <a:r>
              <a:rPr lang="en-US" altLang="zh-CN" sz="3400" dirty="0"/>
              <a:t> commit</a:t>
            </a:r>
            <a:r>
              <a:rPr lang="zh-CN" altLang="en-US" sz="3400" dirty="0"/>
              <a:t>保存进度</a:t>
            </a:r>
            <a:endParaRPr lang="en-US" altLang="zh-CN" sz="3400" dirty="0"/>
          </a:p>
          <a:p>
            <a:pPr>
              <a:lnSpc>
                <a:spcPct val="200000"/>
              </a:lnSpc>
            </a:pPr>
            <a:r>
              <a:rPr lang="zh-CN" altLang="en-US" sz="3400" dirty="0"/>
              <a:t>一次只运行一个</a:t>
            </a:r>
            <a:r>
              <a:rPr lang="en-US" altLang="zh-CN" sz="3400" dirty="0" err="1"/>
              <a:t>nemu</a:t>
            </a:r>
            <a:r>
              <a:rPr lang="zh-CN" altLang="en-US" sz="3400" dirty="0"/>
              <a:t>进程，防止服务器过载</a:t>
            </a:r>
            <a:endParaRPr lang="en-US" altLang="zh-CN" sz="3400" dirty="0"/>
          </a:p>
          <a:p>
            <a:pPr>
              <a:lnSpc>
                <a:spcPct val="200000"/>
              </a:lnSpc>
            </a:pPr>
            <a:r>
              <a:rPr lang="zh-CN" altLang="en-US" sz="3400" dirty="0"/>
              <a:t>有问题找老师和助教</a:t>
            </a:r>
            <a:endParaRPr lang="en-US" altLang="zh-CN" sz="3400" dirty="0"/>
          </a:p>
          <a:p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今天需要完成的内容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96661"/>
            <a:ext cx="10515600" cy="39803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/>
              <a:t>保证自己能够登陆在线实验平台</a:t>
            </a:r>
            <a:endParaRPr lang="en-US" altLang="zh-CN" sz="4400" dirty="0"/>
          </a:p>
          <a:p>
            <a:pPr>
              <a:lnSpc>
                <a:spcPct val="150000"/>
              </a:lnSpc>
            </a:pPr>
            <a:r>
              <a:rPr lang="zh-CN" altLang="en-US" sz="4400" dirty="0"/>
              <a:t>修改网站和</a:t>
            </a:r>
            <a:r>
              <a:rPr lang="en-US" altLang="zh-CN" sz="4400" dirty="0"/>
              <a:t>SSH</a:t>
            </a:r>
            <a:r>
              <a:rPr lang="zh-CN" altLang="en-US" sz="4400" dirty="0"/>
              <a:t>两处密码</a:t>
            </a:r>
            <a:endParaRPr lang="en-US" altLang="zh-CN" sz="4400" dirty="0"/>
          </a:p>
          <a:p>
            <a:pPr>
              <a:lnSpc>
                <a:spcPct val="150000"/>
              </a:lnSpc>
            </a:pPr>
            <a:r>
              <a:rPr lang="zh-CN" altLang="en-US" sz="4400" dirty="0"/>
              <a:t>熟悉网页的操作</a:t>
            </a:r>
            <a:endParaRPr lang="zh-CN" altLang="en-US" sz="4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BA3-845E-43B4-AC27-0C3A3BA20189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34AD-6FA3-4626-B03D-D7AC37F3E1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10963</Words>
  <Application>WPS 演示</Application>
  <PresentationFormat>宽屏</PresentationFormat>
  <Paragraphs>1026</Paragraphs>
  <Slides>49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幼圆</vt:lpstr>
      <vt:lpstr>Times New Roman</vt:lpstr>
      <vt:lpstr>等线</vt:lpstr>
      <vt:lpstr>Arial Unicode MS</vt:lpstr>
      <vt:lpstr>Consolas</vt:lpstr>
      <vt:lpstr>MS Gothic</vt:lpstr>
      <vt:lpstr>DotumChe</vt:lpstr>
      <vt:lpstr>Segoe Print</vt:lpstr>
      <vt:lpstr>Calibri</vt:lpstr>
      <vt:lpstr>Yu Gothic</vt:lpstr>
      <vt:lpstr>Office 主题​​</vt:lpstr>
      <vt:lpstr>PA 0 – 在线实验平台与PA简介</vt:lpstr>
      <vt:lpstr>目录</vt:lpstr>
      <vt:lpstr>目录</vt:lpstr>
      <vt:lpstr>课程基本信息</vt:lpstr>
      <vt:lpstr>目录</vt:lpstr>
      <vt:lpstr>PA简介</vt:lpstr>
      <vt:lpstr>PA简介</vt:lpstr>
      <vt:lpstr>PA简介</vt:lpstr>
      <vt:lpstr>PA简介</vt:lpstr>
      <vt:lpstr>PA简介</vt:lpstr>
      <vt:lpstr>PA简介</vt:lpstr>
      <vt:lpstr>PA简介</vt:lpstr>
      <vt:lpstr>PA简介</vt:lpstr>
      <vt:lpstr>PA简介</vt:lpstr>
      <vt:lpstr>PA简介</vt:lpstr>
      <vt:lpstr>PA的原理</vt:lpstr>
      <vt:lpstr>PA的原理</vt:lpstr>
      <vt:lpstr>PA的原理</vt:lpstr>
      <vt:lpstr>PA的原理</vt:lpstr>
      <vt:lpstr>PA的原理</vt:lpstr>
      <vt:lpstr>PA的原理</vt:lpstr>
      <vt:lpstr>PowerPoint 演示文稿</vt:lpstr>
      <vt:lpstr>PowerPoint 演示文稿</vt:lpstr>
      <vt:lpstr>PowerPoint 演示文稿</vt:lpstr>
      <vt:lpstr>PA的原理</vt:lpstr>
      <vt:lpstr>PA的原理</vt:lpstr>
      <vt:lpstr>PA的原理</vt:lpstr>
      <vt:lpstr>PA的原理</vt:lpstr>
      <vt:lpstr>PA的原理</vt:lpstr>
      <vt:lpstr>PA的原理</vt:lpstr>
      <vt:lpstr>PowerPoint 演示文稿</vt:lpstr>
      <vt:lpstr>PA的原理</vt:lpstr>
      <vt:lpstr>PA的原理</vt:lpstr>
      <vt:lpstr>PA简介</vt:lpstr>
      <vt:lpstr>目录</vt:lpstr>
      <vt:lpstr>在线实验平台的使用说明</vt:lpstr>
      <vt:lpstr>（1）访问平台</vt:lpstr>
      <vt:lpstr>（1）访问平台</vt:lpstr>
      <vt:lpstr>（1）访问平台</vt:lpstr>
      <vt:lpstr>（2）更改密码</vt:lpstr>
      <vt:lpstr>（2）更改密码</vt:lpstr>
      <vt:lpstr>（3）熟悉环境</vt:lpstr>
      <vt:lpstr>（3）熟悉环境</vt:lpstr>
      <vt:lpstr>（3）熟悉环境</vt:lpstr>
      <vt:lpstr>文本编辑窗口的已知缺陷</vt:lpstr>
      <vt:lpstr>（4）尝试一下make</vt:lpstr>
      <vt:lpstr>PA 0 完成</vt:lpstr>
      <vt:lpstr>重要事项</vt:lpstr>
      <vt:lpstr>今天需要完成的内容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wangliang</dc:creator>
  <cp:lastModifiedBy>汪亮</cp:lastModifiedBy>
  <cp:revision>619</cp:revision>
  <dcterms:created xsi:type="dcterms:W3CDTF">2020-02-14T04:47:00Z</dcterms:created>
  <dcterms:modified xsi:type="dcterms:W3CDTF">2025-08-27T05:17:27Z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F35A0885F620431E930612767F5512FF_12</vt:lpwstr>
  </property>
  <property fmtid="{D5CDD505-2E9C-101B-9397-08002B2CF9AE}" pid="3" name="KSOProductBuildVer">
    <vt:lpwstr>2052-12.1.0.22529</vt:lpwstr>
  </property>
</Properties>
</file>