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9"/>
  </p:notesMasterIdLst>
  <p:sldIdLst>
    <p:sldId id="256" r:id="rId3"/>
    <p:sldId id="257" r:id="rId4"/>
    <p:sldId id="295" r:id="rId5"/>
    <p:sldId id="298" r:id="rId6"/>
    <p:sldId id="299" r:id="rId7"/>
    <p:sldId id="300" r:id="rId8"/>
    <p:sldId id="301" r:id="rId9"/>
    <p:sldId id="302" r:id="rId10"/>
    <p:sldId id="303" r:id="rId11"/>
    <p:sldId id="306" r:id="rId12"/>
    <p:sldId id="307" r:id="rId13"/>
    <p:sldId id="304" r:id="rId14"/>
    <p:sldId id="305" r:id="rId15"/>
    <p:sldId id="308" r:id="rId16"/>
    <p:sldId id="309" r:id="rId17"/>
    <p:sldId id="321" r:id="rId18"/>
    <p:sldId id="352" r:id="rId19"/>
    <p:sldId id="296" r:id="rId20"/>
    <p:sldId id="260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53" r:id="rId33"/>
    <p:sldId id="322" r:id="rId34"/>
    <p:sldId id="323" r:id="rId35"/>
    <p:sldId id="324" r:id="rId36"/>
    <p:sldId id="325" r:id="rId37"/>
    <p:sldId id="326" r:id="rId38"/>
    <p:sldId id="327" r:id="rId39"/>
    <p:sldId id="264" r:id="rId40"/>
    <p:sldId id="26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56" r:id="rId49"/>
    <p:sldId id="355" r:id="rId50"/>
    <p:sldId id="354" r:id="rId51"/>
    <p:sldId id="339" r:id="rId52"/>
    <p:sldId id="338" r:id="rId53"/>
    <p:sldId id="340" r:id="rId54"/>
    <p:sldId id="336" r:id="rId55"/>
    <p:sldId id="337" r:id="rId56"/>
    <p:sldId id="341" r:id="rId57"/>
    <p:sldId id="275" r:id="rId58"/>
    <p:sldId id="276" r:id="rId59"/>
    <p:sldId id="277" r:id="rId60"/>
    <p:sldId id="349" r:id="rId61"/>
    <p:sldId id="272" r:id="rId62"/>
    <p:sldId id="280" r:id="rId63"/>
    <p:sldId id="350" r:id="rId64"/>
    <p:sldId id="351" r:id="rId65"/>
    <p:sldId id="297" r:id="rId66"/>
    <p:sldId id="342" r:id="rId67"/>
    <p:sldId id="344" r:id="rId68"/>
    <p:sldId id="345" r:id="rId69"/>
    <p:sldId id="346" r:id="rId70"/>
    <p:sldId id="284" r:id="rId71"/>
    <p:sldId id="347" r:id="rId72"/>
    <p:sldId id="287" r:id="rId73"/>
    <p:sldId id="288" r:id="rId74"/>
    <p:sldId id="348" r:id="rId75"/>
    <p:sldId id="289" r:id="rId76"/>
    <p:sldId id="286" r:id="rId77"/>
    <p:sldId id="290" r:id="rId78"/>
    <p:sldId id="291" r:id="rId80"/>
  </p:sldIdLst>
  <p:sldSz cx="12192000" cy="6858000"/>
  <p:notesSz cx="6858000" cy="9144000"/>
  <p:custDataLst>
    <p:tags r:id="rId8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7" autoAdjust="0"/>
    <p:restoredTop sz="94660"/>
  </p:normalViewPr>
  <p:slideViewPr>
    <p:cSldViewPr snapToGrid="0">
      <p:cViewPr varScale="1">
        <p:scale>
          <a:sx n="89" d="100"/>
          <a:sy n="89" d="100"/>
        </p:scale>
        <p:origin x="5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4" Type="http://schemas.openxmlformats.org/officeDocument/2006/relationships/tags" Target="tags/tag1.xml"/><Relationship Id="rId83" Type="http://schemas.openxmlformats.org/officeDocument/2006/relationships/tableStyles" Target="tableStyles.xml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notesMaster" Target="notesMasters/notesMaster1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EDD8F-D3A5-42D3-9F52-22A17F55EA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E2347-924C-455A-A8B3-55C6855300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9E4F3-5AED-45AA-9342-D2080E596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D8D83-15C8-46BD-975D-62C3F1A13CC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A6AED-1D98-4936-9485-8F936562119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1B77-C720-4FF7-8546-E5DC00EAB91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F5726-2E46-4EDB-BDEA-57611BF04A71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3EC5-BE55-4545-B74B-6B431EB62C0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8F73F-28AF-4312-B883-082EFD773759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85AC-C1BF-4A0B-9AFC-E2EE0275A70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E260B-7DE8-4C70-8D09-EF38567F5F7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E448-DD18-49CD-B8CC-03D660BBC98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438E8-FA5E-430E-AB32-4C9F31C66CD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F76B36BF-C20C-455C-94B4-FBE3A21335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emf"/><Relationship Id="rId2" Type="http://schemas.openxmlformats.org/officeDocument/2006/relationships/image" Target="../media/image8.png"/><Relationship Id="rId1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jpeg"/><Relationship Id="rId3" Type="http://schemas.openxmlformats.org/officeDocument/2006/relationships/image" Target="../media/image18.emf"/><Relationship Id="rId2" Type="http://schemas.openxmlformats.org/officeDocument/2006/relationships/image" Target="../media/image8.png"/><Relationship Id="rId1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jpeg"/><Relationship Id="rId3" Type="http://schemas.openxmlformats.org/officeDocument/2006/relationships/image" Target="../media/image18.emf"/><Relationship Id="rId2" Type="http://schemas.openxmlformats.org/officeDocument/2006/relationships/image" Target="../media/image8.png"/><Relationship Id="rId1" Type="http://schemas.openxmlformats.org/officeDocument/2006/relationships/image" Target="../media/image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23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2692399"/>
            <a:ext cx="9144000" cy="1605915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/>
              <a:t>PA 2-2 – </a:t>
            </a:r>
            <a:r>
              <a:rPr lang="zh-CN" altLang="en-US" sz="4800" dirty="0"/>
              <a:t>程序的装载</a:t>
            </a:r>
            <a:br>
              <a:rPr lang="en-US" altLang="zh-CN" sz="4800" dirty="0"/>
            </a:br>
            <a:r>
              <a:rPr lang="en-US" altLang="zh-CN" sz="4800" dirty="0"/>
              <a:t>PA 2-3 – </a:t>
            </a:r>
            <a:r>
              <a:rPr lang="zh-CN" altLang="en-US" sz="4800" dirty="0"/>
              <a:t>调试器符号表解析</a:t>
            </a:r>
            <a:endParaRPr lang="zh-CN" altLang="en-US" sz="4800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/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14</a:t>
            </a:r>
            <a:r>
              <a:rPr lang="zh-CN" altLang="en-US" dirty="0"/>
              <a:t>日</a:t>
            </a:r>
            <a:endParaRPr lang="zh-CN" altLang="en-US" dirty="0"/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 dirty="0">
                <a:sym typeface="+mn-ea"/>
              </a:rPr>
              <a:t>15</a:t>
            </a:r>
            <a:r>
              <a:rPr lang="zh-CN" altLang="en-US" dirty="0">
                <a:sym typeface="+mn-ea"/>
              </a:rPr>
              <a:t>日</a:t>
            </a:r>
            <a:endParaRPr lang="zh-CN" altLang="en-US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E335-38DA-4C1E-98AF-7F561FA5B05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前情提要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0C9-B284-4F6F-A8D7-0E12D3F9CFF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29" name="文本框 28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30" name="文本框 29"/>
          <p:cNvSpPr txBox="1"/>
          <p:nvPr/>
        </p:nvSpPr>
        <p:spPr>
          <a:xfrm>
            <a:off x="5438227" y="5236094"/>
            <a:ext cx="2804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PA 2-2 </a:t>
            </a:r>
            <a:r>
              <a:rPr lang="zh-CN" altLang="en-US" sz="2800" dirty="0">
                <a:solidFill>
                  <a:srgbClr val="C00000"/>
                </a:solidFill>
              </a:rPr>
              <a:t>深入探讨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en-US" altLang="zh-CN" sz="2800" dirty="0">
                <a:solidFill>
                  <a:srgbClr val="C00000"/>
                </a:solidFill>
              </a:rPr>
              <a:t>PA 2-1 </a:t>
            </a:r>
            <a:r>
              <a:rPr lang="zh-CN" altLang="en-US" sz="2800" dirty="0">
                <a:solidFill>
                  <a:srgbClr val="C00000"/>
                </a:solidFill>
              </a:rPr>
              <a:t>简化实现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rot="16200000" flipH="1">
            <a:off x="7565248" y="413617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曲线连接符 32"/>
          <p:cNvCxnSpPr/>
          <p:nvPr/>
        </p:nvCxnSpPr>
        <p:spPr>
          <a:xfrm rot="5400000" flipH="1">
            <a:off x="7565248" y="1451809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153182" y="2085619"/>
            <a:ext cx="30963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2. </a:t>
            </a:r>
            <a:r>
              <a:rPr lang="zh-CN" altLang="en-US" sz="2000" dirty="0"/>
              <a:t>循环往复地取指令、取操作数、执行、写操作数（若需要写）</a:t>
            </a:r>
            <a:endParaRPr lang="zh-CN" altLang="en-US" sz="2000" dirty="0"/>
          </a:p>
        </p:txBody>
      </p:sp>
      <p:sp>
        <p:nvSpPr>
          <p:cNvPr id="35" name="文本框 34"/>
          <p:cNvSpPr txBox="1"/>
          <p:nvPr/>
        </p:nvSpPr>
        <p:spPr>
          <a:xfrm>
            <a:off x="8004940" y="4937865"/>
            <a:ext cx="124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chemeClr val="accent6"/>
                </a:solidFill>
              </a:rPr>
              <a:t>√</a:t>
            </a:r>
            <a:endParaRPr lang="zh-CN" altLang="en-US" sz="6000" b="1" dirty="0">
              <a:solidFill>
                <a:schemeClr val="accent6"/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419341" y="3714580"/>
            <a:ext cx="2639598" cy="1521514"/>
          </a:xfrm>
          <a:prstGeom prst="round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24099"/>
            <a:ext cx="10515600" cy="38528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认识</a:t>
            </a:r>
            <a:r>
              <a:rPr lang="en-US" altLang="zh-CN" b="1" dirty="0"/>
              <a:t>ELF</a:t>
            </a:r>
            <a:r>
              <a:rPr lang="zh-CN" altLang="en-US" b="1" dirty="0"/>
              <a:t>文件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PA 2-2 – </a:t>
            </a:r>
            <a:r>
              <a:rPr lang="zh-CN" altLang="en-US" b="1" dirty="0"/>
              <a:t>程序的装载        </a:t>
            </a:r>
            <a:r>
              <a:rPr lang="en-US" altLang="zh-CN" b="1" dirty="0"/>
              <a:t>-&gt; ELF</a:t>
            </a:r>
            <a:r>
              <a:rPr lang="zh-CN" altLang="en-US" b="1" dirty="0"/>
              <a:t>文件程序头表的解析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PA 2-3 – </a:t>
            </a:r>
            <a:r>
              <a:rPr lang="zh-CN" altLang="en-US" b="1" dirty="0"/>
              <a:t>调试器符号表解析 </a:t>
            </a:r>
            <a:r>
              <a:rPr lang="en-US" altLang="zh-CN" b="1" dirty="0"/>
              <a:t>–&gt; ELF</a:t>
            </a:r>
            <a:r>
              <a:rPr lang="zh-CN" altLang="en-US" b="1" dirty="0"/>
              <a:t>文件符号表的解析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24099"/>
            <a:ext cx="10515600" cy="38528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认识</a:t>
            </a:r>
            <a:r>
              <a:rPr lang="en-US" altLang="zh-CN" b="1" dirty="0">
                <a:solidFill>
                  <a:srgbClr val="C00000"/>
                </a:solidFill>
              </a:rPr>
              <a:t>ELF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/>
              <a:t>PA 2-2 – </a:t>
            </a:r>
            <a:r>
              <a:rPr lang="zh-CN" altLang="en-US" b="1" dirty="0"/>
              <a:t>程序的装载        </a:t>
            </a:r>
            <a:r>
              <a:rPr lang="en-US" altLang="zh-CN" b="1" dirty="0"/>
              <a:t>-&gt; ELF</a:t>
            </a:r>
            <a:r>
              <a:rPr lang="zh-CN" altLang="en-US" b="1" dirty="0"/>
              <a:t>文件程序头表的解析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PA 2-3 – </a:t>
            </a:r>
            <a:r>
              <a:rPr lang="zh-CN" altLang="en-US" b="1" dirty="0"/>
              <a:t>调试器符号表解析 </a:t>
            </a:r>
            <a:r>
              <a:rPr lang="en-US" altLang="zh-CN" b="1" dirty="0"/>
              <a:t>–&gt; ELF</a:t>
            </a:r>
            <a:r>
              <a:rPr lang="zh-CN" altLang="en-US" b="1" dirty="0"/>
              <a:t>文件符号表的解析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ELF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79009" y="1691409"/>
            <a:ext cx="10299700" cy="1737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400" dirty="0"/>
              <a:t>ELF: Executable and Linkable Format</a:t>
            </a:r>
            <a:endParaRPr lang="en-US" altLang="zh-CN" sz="4400" dirty="0"/>
          </a:p>
          <a:p>
            <a:pPr marL="0" indent="0">
              <a:buNone/>
            </a:pPr>
            <a:r>
              <a:rPr lang="zh-CN" altLang="en-US" sz="4400" dirty="0"/>
              <a:t>可执行可链接文件格式</a:t>
            </a:r>
            <a:endParaRPr lang="zh-CN" altLang="en-US" sz="4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0" y="1442028"/>
            <a:ext cx="1453017" cy="1928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08200" y="4691497"/>
            <a:ext cx="325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类</a:t>
            </a:r>
            <a:r>
              <a:rPr lang="en-US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Unix</a:t>
            </a: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系统上的标准格式</a:t>
            </a:r>
            <a:endParaRPr lang="zh-CN" altLang="en-US" sz="36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95" y="3895110"/>
            <a:ext cx="1768329" cy="2141394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V="1">
            <a:off x="1679009" y="3213100"/>
            <a:ext cx="1191191" cy="115570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467542" y="3652986"/>
            <a:ext cx="125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/>
              <a:t>运行</a:t>
            </a:r>
            <a:endParaRPr lang="zh-CN" altLang="en-US" sz="3200" i="1" dirty="0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4787900" y="2273300"/>
            <a:ext cx="6972300" cy="3987800"/>
          </a:xfrm>
          <a:prstGeom prst="line">
            <a:avLst/>
          </a:prstGeom>
          <a:ln w="635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092" y="4965807"/>
            <a:ext cx="1766617" cy="159517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284866" y="3891320"/>
            <a:ext cx="215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.exe</a:t>
            </a:r>
            <a:endParaRPr lang="zh-CN" altLang="en-US" sz="7200" dirty="0"/>
          </a:p>
        </p:txBody>
      </p:sp>
      <p:cxnSp>
        <p:nvCxnSpPr>
          <p:cNvPr id="20" name="直接箭头连接符 19"/>
          <p:cNvCxnSpPr>
            <a:stCxn id="18" idx="1"/>
          </p:cNvCxnSpPr>
          <p:nvPr/>
        </p:nvCxnSpPr>
        <p:spPr>
          <a:xfrm flipH="1" flipV="1">
            <a:off x="9663758" y="4965807"/>
            <a:ext cx="548334" cy="797587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468291" y="5261581"/>
            <a:ext cx="125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i="1" dirty="0"/>
              <a:t>运行</a:t>
            </a:r>
            <a:endParaRPr lang="zh-CN" altLang="en-US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9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如何得到</a:t>
            </a:r>
            <a:r>
              <a:rPr lang="en-US" altLang="zh-CN" dirty="0"/>
              <a:t>ELF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044" y="1099128"/>
            <a:ext cx="8741911" cy="488652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8750" y="5339325"/>
            <a:ext cx="4102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可重定位文件：</a:t>
            </a:r>
            <a:r>
              <a:rPr lang="en-US" altLang="zh-CN" sz="3600" dirty="0">
                <a:solidFill>
                  <a:srgbClr val="C00000"/>
                </a:solidFill>
              </a:rPr>
              <a:t>ELF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4279900" y="5067300"/>
            <a:ext cx="1663700" cy="64770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664450" y="5842099"/>
            <a:ext cx="4102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可执行文件：</a:t>
            </a:r>
            <a:r>
              <a:rPr lang="en-US" altLang="zh-CN" sz="3600" dirty="0">
                <a:solidFill>
                  <a:srgbClr val="C00000"/>
                </a:solidFill>
              </a:rPr>
              <a:t>ELF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 flipV="1">
            <a:off x="9347200" y="5499100"/>
            <a:ext cx="937704" cy="34300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文件格式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14120" y="1562745"/>
          <a:ext cx="3982092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209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）固定长度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）可选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zh-CN" altLang="en-US" dirty="0"/>
                        <a:t>其它节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3092784" y="1751318"/>
            <a:ext cx="12700" cy="353921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3092784" y="1751318"/>
            <a:ext cx="12700" cy="4102608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242868" y="17216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7089116" y="5442861"/>
            <a:ext cx="12700" cy="393487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7089116" y="3219921"/>
            <a:ext cx="12700" cy="2616426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7081816" y="2829281"/>
            <a:ext cx="7301" cy="3007066"/>
          </a:xfrm>
          <a:prstGeom prst="bentConnector3">
            <a:avLst>
              <a:gd name="adj1" fmla="val -313107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7089116" y="2475455"/>
            <a:ext cx="12700" cy="3360893"/>
          </a:xfrm>
          <a:prstGeom prst="bentConnector3">
            <a:avLst>
              <a:gd name="adj1" fmla="val 1800000"/>
            </a:avLst>
          </a:prstGeom>
          <a:ln w="381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406005" y="54549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66074" y="3694235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008771" y="4427463"/>
            <a:ext cx="0" cy="1027475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65581" y="45658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5014" y="1558946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文件开头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135014" y="5651681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文件末尾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20" idx="2"/>
            <a:endCxn id="21" idx="0"/>
          </p:cNvCxnSpPr>
          <p:nvPr/>
        </p:nvCxnSpPr>
        <p:spPr>
          <a:xfrm>
            <a:off x="1722156" y="1928278"/>
            <a:ext cx="0" cy="37234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768894" y="2233350"/>
            <a:ext cx="461665" cy="35145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1010101010101010101010101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8096049" y="1496698"/>
            <a:ext cx="37723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查看</a:t>
            </a:r>
            <a:r>
              <a:rPr lang="en-US" altLang="zh-CN" sz="3600" dirty="0">
                <a:latin typeface="Consolas" panose="020B0609020204030204" pitchFamily="49" charset="0"/>
              </a:rPr>
              <a:t>ELF</a:t>
            </a:r>
            <a:r>
              <a:rPr lang="zh-CN" altLang="en-US" sz="3600" dirty="0">
                <a:latin typeface="Consolas" panose="020B0609020204030204" pitchFamily="49" charset="0"/>
              </a:rPr>
              <a:t>文件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$ </a:t>
            </a:r>
            <a:r>
              <a:rPr lang="en-US" altLang="zh-CN" sz="3600" dirty="0" err="1">
                <a:latin typeface="Consolas" panose="020B0609020204030204" pitchFamily="49" charset="0"/>
              </a:rPr>
              <a:t>readelf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-a </a:t>
            </a:r>
            <a:r>
              <a:rPr lang="zh-CN" altLang="en-US" sz="3600" dirty="0">
                <a:latin typeface="Consolas" panose="020B0609020204030204" pitchFamily="49" charset="0"/>
              </a:rPr>
              <a:t>查看所有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-h ELF</a:t>
            </a:r>
            <a:r>
              <a:rPr lang="zh-CN" altLang="en-US" sz="3600" dirty="0">
                <a:latin typeface="Consolas" panose="020B0609020204030204" pitchFamily="49" charset="0"/>
              </a:rPr>
              <a:t>头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-l </a:t>
            </a:r>
            <a:r>
              <a:rPr lang="zh-CN" altLang="en-US" sz="3600" dirty="0">
                <a:latin typeface="Consolas" panose="020B0609020204030204" pitchFamily="49" charset="0"/>
              </a:rPr>
              <a:t>程序头表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节头表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符号表</a:t>
            </a:r>
            <a:endParaRPr lang="en-US" altLang="zh-CN" sz="3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文件格式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14120" y="1562745"/>
          <a:ext cx="3982092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209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）固定长度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）可选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zh-CN" altLang="en-US" dirty="0"/>
                        <a:t>其它节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3092784" y="1751318"/>
            <a:ext cx="12700" cy="353921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3092784" y="1751318"/>
            <a:ext cx="12700" cy="4102608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242868" y="17216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7089116" y="5442861"/>
            <a:ext cx="12700" cy="393487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7089116" y="3219921"/>
            <a:ext cx="12700" cy="2616426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7081816" y="2829281"/>
            <a:ext cx="7301" cy="3007066"/>
          </a:xfrm>
          <a:prstGeom prst="bentConnector3">
            <a:avLst>
              <a:gd name="adj1" fmla="val -313107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7089116" y="2475455"/>
            <a:ext cx="12700" cy="3360893"/>
          </a:xfrm>
          <a:prstGeom prst="bentConnector3">
            <a:avLst>
              <a:gd name="adj1" fmla="val 1800000"/>
            </a:avLst>
          </a:prstGeom>
          <a:ln w="381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406005" y="54549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66074" y="3694235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008771" y="4427463"/>
            <a:ext cx="0" cy="1027475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65581" y="45658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5014" y="1558946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文件开头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135014" y="5651681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文件末尾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20" idx="2"/>
            <a:endCxn id="21" idx="0"/>
          </p:cNvCxnSpPr>
          <p:nvPr/>
        </p:nvCxnSpPr>
        <p:spPr>
          <a:xfrm>
            <a:off x="1722156" y="1928278"/>
            <a:ext cx="0" cy="37234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768894" y="2233350"/>
            <a:ext cx="461665" cy="35145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1010101010101010101010101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8096049" y="1496698"/>
            <a:ext cx="37723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查看</a:t>
            </a:r>
            <a:r>
              <a:rPr lang="en-US" altLang="zh-CN" sz="3600" dirty="0">
                <a:latin typeface="Consolas" panose="020B0609020204030204" pitchFamily="49" charset="0"/>
              </a:rPr>
              <a:t>ELF</a:t>
            </a:r>
            <a:r>
              <a:rPr lang="zh-CN" altLang="en-US" sz="3600" dirty="0">
                <a:latin typeface="Consolas" panose="020B0609020204030204" pitchFamily="49" charset="0"/>
              </a:rPr>
              <a:t>文件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$ </a:t>
            </a:r>
            <a:r>
              <a:rPr lang="en-US" altLang="zh-CN" sz="3600" dirty="0" err="1">
                <a:latin typeface="Consolas" panose="020B0609020204030204" pitchFamily="49" charset="0"/>
              </a:rPr>
              <a:t>readelf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-a </a:t>
            </a:r>
            <a:r>
              <a:rPr lang="zh-CN" altLang="en-US" sz="3600" dirty="0">
                <a:latin typeface="Consolas" panose="020B0609020204030204" pitchFamily="49" charset="0"/>
              </a:rPr>
              <a:t>查看所有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-h ELF</a:t>
            </a:r>
            <a:r>
              <a:rPr lang="zh-CN" altLang="en-US" sz="3600" dirty="0">
                <a:latin typeface="Consolas" panose="020B0609020204030204" pitchFamily="49" charset="0"/>
              </a:rPr>
              <a:t>头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-l </a:t>
            </a:r>
            <a:r>
              <a:rPr lang="zh-CN" altLang="en-US" sz="3600" dirty="0">
                <a:latin typeface="Consolas" panose="020B0609020204030204" pitchFamily="49" charset="0"/>
              </a:rPr>
              <a:t>程序头表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节头表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符号表</a:t>
            </a:r>
            <a:endParaRPr lang="en-US" altLang="zh-CN" sz="3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344008" y="5754428"/>
            <a:ext cx="1968500" cy="734002"/>
          </a:xfrm>
        </p:spPr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704" y="151666"/>
            <a:ext cx="2320050" cy="152473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矩形 7"/>
          <p:cNvSpPr/>
          <p:nvPr/>
        </p:nvSpPr>
        <p:spPr>
          <a:xfrm>
            <a:off x="42040" y="240566"/>
            <a:ext cx="9803531" cy="6247864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ELF Header: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Magic:   7f 45 4c 46 01 01 01 00 00 00 00 00 00 00 00 00 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Class:                             ELF32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Data:                              2's complement, little endian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Version:                           1 (current)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OS/ABI:                            UNIX - System V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ABI Version:                       0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Type:                              EXEC (Executable file)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Machine:                           Intel 80386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Version:                           0x1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Entry point address:               0x30000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Start of program headers:          52 (bytes into file)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Start of section headers:          18276 (bytes into file)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Flags:                             0x0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Size of this header:               52 (bytes)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Size of program headers:           32 (bytes)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Number of program headers:         3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Size of section headers:           40 (bytes)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Number of section headers:         15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Section header string table index: 14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34646" y="3660905"/>
            <a:ext cx="21303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永远位于</a:t>
            </a:r>
            <a:r>
              <a:rPr lang="en-US" altLang="zh-CN" sz="2400" dirty="0"/>
              <a:t>ELF</a:t>
            </a:r>
            <a:r>
              <a:rPr lang="zh-CN" altLang="en-US" sz="2400" dirty="0"/>
              <a:t>文件最开始的地方，固定长度（</a:t>
            </a:r>
            <a:r>
              <a:rPr lang="en-US" altLang="zh-CN" sz="2400" dirty="0"/>
              <a:t>ELF32, ELF64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6359135" y="5965210"/>
            <a:ext cx="398487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readelf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–h filename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文件格式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14120" y="1562745"/>
          <a:ext cx="3982092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209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）固定长度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）可选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zh-CN" altLang="en-US" dirty="0"/>
                        <a:t>其它节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3092784" y="1751318"/>
            <a:ext cx="12700" cy="353921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3092784" y="1751318"/>
            <a:ext cx="12700" cy="4102608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242868" y="17216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7089116" y="5442861"/>
            <a:ext cx="12700" cy="393487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7089116" y="3219921"/>
            <a:ext cx="12700" cy="2616426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7081816" y="2829281"/>
            <a:ext cx="7301" cy="3007066"/>
          </a:xfrm>
          <a:prstGeom prst="bentConnector3">
            <a:avLst>
              <a:gd name="adj1" fmla="val -313107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7089116" y="2475455"/>
            <a:ext cx="12700" cy="3360893"/>
          </a:xfrm>
          <a:prstGeom prst="bentConnector3">
            <a:avLst>
              <a:gd name="adj1" fmla="val 1800000"/>
            </a:avLst>
          </a:prstGeom>
          <a:ln w="381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406005" y="54549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66074" y="3694235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008771" y="4427463"/>
            <a:ext cx="0" cy="1027475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65581" y="45658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5014" y="1558946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文件开头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135014" y="5651681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文件末尾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20" idx="2"/>
            <a:endCxn id="21" idx="0"/>
          </p:cNvCxnSpPr>
          <p:nvPr/>
        </p:nvCxnSpPr>
        <p:spPr>
          <a:xfrm>
            <a:off x="1722156" y="1928278"/>
            <a:ext cx="0" cy="37234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768894" y="2233350"/>
            <a:ext cx="461665" cy="35145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1010101010101010101010101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8096049" y="1496698"/>
            <a:ext cx="37723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查看</a:t>
            </a:r>
            <a:r>
              <a:rPr lang="en-US" altLang="zh-CN" sz="3600" dirty="0">
                <a:latin typeface="Consolas" panose="020B0609020204030204" pitchFamily="49" charset="0"/>
              </a:rPr>
              <a:t>ELF</a:t>
            </a:r>
            <a:r>
              <a:rPr lang="zh-CN" altLang="en-US" sz="3600" dirty="0">
                <a:latin typeface="Consolas" panose="020B0609020204030204" pitchFamily="49" charset="0"/>
              </a:rPr>
              <a:t>文件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$ </a:t>
            </a:r>
            <a:r>
              <a:rPr lang="en-US" altLang="zh-CN" sz="3600" dirty="0" err="1">
                <a:latin typeface="Consolas" panose="020B0609020204030204" pitchFamily="49" charset="0"/>
              </a:rPr>
              <a:t>readelf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-a </a:t>
            </a:r>
            <a:r>
              <a:rPr lang="zh-CN" altLang="en-US" sz="3600" dirty="0">
                <a:latin typeface="Consolas" panose="020B0609020204030204" pitchFamily="49" charset="0"/>
              </a:rPr>
              <a:t>查看所有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-h ELF</a:t>
            </a:r>
            <a:r>
              <a:rPr lang="zh-CN" altLang="en-US" sz="3600" dirty="0">
                <a:latin typeface="Consolas" panose="020B0609020204030204" pitchFamily="49" charset="0"/>
              </a:rPr>
              <a:t>头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-l </a:t>
            </a:r>
            <a:r>
              <a:rPr lang="zh-CN" altLang="en-US" sz="3600" dirty="0">
                <a:latin typeface="Consolas" panose="020B0609020204030204" pitchFamily="49" charset="0"/>
              </a:rPr>
              <a:t>程序头表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节头表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符号表</a:t>
            </a:r>
            <a:endParaRPr lang="en-US" altLang="zh-CN" sz="3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节头表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04800" y="1099128"/>
            <a:ext cx="11887200" cy="550920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Section Headers: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</a:t>
            </a:r>
            <a:r>
              <a:rPr lang="en-US" altLang="zh-CN" sz="1600" dirty="0" err="1">
                <a:latin typeface="Consolas" panose="020B0609020204030204" pitchFamily="49" charset="0"/>
              </a:rPr>
              <a:t>Nr</a:t>
            </a:r>
            <a:r>
              <a:rPr lang="en-US" altLang="zh-CN" sz="1600" dirty="0">
                <a:latin typeface="Consolas" panose="020B0609020204030204" pitchFamily="49" charset="0"/>
              </a:rPr>
              <a:t>] Name              Type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latin typeface="Consolas" panose="020B0609020204030204" pitchFamily="49" charset="0"/>
              </a:rPr>
              <a:t>     Off    Size   ES </a:t>
            </a:r>
            <a:r>
              <a:rPr lang="en-US" altLang="zh-CN" sz="1600" dirty="0" err="1">
                <a:latin typeface="Consolas" panose="020B0609020204030204" pitchFamily="49" charset="0"/>
              </a:rPr>
              <a:t>Flg</a:t>
            </a:r>
            <a:r>
              <a:rPr lang="en-US" altLang="zh-CN" sz="1600" dirty="0">
                <a:latin typeface="Consolas" panose="020B0609020204030204" pitchFamily="49" charset="0"/>
              </a:rPr>
              <a:t> Lk </a:t>
            </a:r>
            <a:r>
              <a:rPr lang="en-US" altLang="zh-CN" sz="1600" dirty="0" err="1">
                <a:latin typeface="Consolas" panose="020B0609020204030204" pitchFamily="49" charset="0"/>
              </a:rPr>
              <a:t>Inf</a:t>
            </a:r>
            <a:r>
              <a:rPr lang="en-US" altLang="zh-CN" sz="1600" dirty="0">
                <a:latin typeface="Consolas" panose="020B0609020204030204" pitchFamily="49" charset="0"/>
              </a:rPr>
              <a:t> Al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[ 0]                   NULL            00000000 000000 000000 00      0   0  0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[ 1] .text             PROGBITS        00030000 001000 0000d0 00  AX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[ 2] .</a:t>
            </a:r>
            <a:r>
              <a:rPr lang="en-US" altLang="zh-CN" sz="1600" dirty="0" err="1">
                <a:latin typeface="Consolas" panose="020B0609020204030204" pitchFamily="49" charset="0"/>
              </a:rPr>
              <a:t>eh_frame</a:t>
            </a:r>
            <a:r>
              <a:rPr lang="en-US" altLang="zh-CN" sz="1600" dirty="0">
                <a:latin typeface="Consolas" panose="020B0609020204030204" pitchFamily="49" charset="0"/>
              </a:rPr>
              <a:t>         PROGBITS        000300d0 0010d0 000084 00   A  0   0  4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[ 3] .</a:t>
            </a:r>
            <a:r>
              <a:rPr lang="en-US" altLang="zh-CN" sz="1600" dirty="0" err="1">
                <a:latin typeface="Consolas" panose="020B0609020204030204" pitchFamily="49" charset="0"/>
              </a:rPr>
              <a:t>got.plt</a:t>
            </a:r>
            <a:r>
              <a:rPr lang="en-US" altLang="zh-CN" sz="1600" dirty="0">
                <a:latin typeface="Consolas" panose="020B0609020204030204" pitchFamily="49" charset="0"/>
              </a:rPr>
              <a:t>          PROGBITS        00032000 002000 00000c 04  WA  0   0  4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[ 4] .data             PROGBITS        00032020 002020 000120 00  WA  0   0 32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[ 5] .comment          PROGBITS        00000000 002140 000026 01  MS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[ 6] .</a:t>
            </a:r>
            <a:r>
              <a:rPr lang="en-US" altLang="zh-CN" sz="1600" dirty="0" err="1">
                <a:latin typeface="Consolas" panose="020B0609020204030204" pitchFamily="49" charset="0"/>
              </a:rPr>
              <a:t>debug_aranges</a:t>
            </a:r>
            <a:r>
              <a:rPr lang="en-US" altLang="zh-CN" sz="1600" dirty="0">
                <a:latin typeface="Consolas" panose="020B0609020204030204" pitchFamily="49" charset="0"/>
              </a:rPr>
              <a:t>    PROGBITS        00000000 002168 000040 00      0   0  8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[ 7] .</a:t>
            </a:r>
            <a:r>
              <a:rPr lang="en-US" altLang="zh-CN" sz="1600" dirty="0" err="1">
                <a:latin typeface="Consolas" panose="020B0609020204030204" pitchFamily="49" charset="0"/>
              </a:rPr>
              <a:t>debug_info</a:t>
            </a:r>
            <a:r>
              <a:rPr lang="en-US" altLang="zh-CN" sz="1600" dirty="0">
                <a:latin typeface="Consolas" panose="020B0609020204030204" pitchFamily="49" charset="0"/>
              </a:rPr>
              <a:t>       PROGBITS        00000000 0021a8 000142 00    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[ 8] .</a:t>
            </a:r>
            <a:r>
              <a:rPr lang="en-US" altLang="zh-CN" sz="1600" dirty="0" err="1">
                <a:latin typeface="Consolas" panose="020B0609020204030204" pitchFamily="49" charset="0"/>
              </a:rPr>
              <a:t>debug_abbrev</a:t>
            </a:r>
            <a:r>
              <a:rPr lang="en-US" altLang="zh-CN" sz="1600" dirty="0">
                <a:latin typeface="Consolas" panose="020B0609020204030204" pitchFamily="49" charset="0"/>
              </a:rPr>
              <a:t>     PROGBITS        00000000 0022ea 0000d6 00    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[ 9] .</a:t>
            </a:r>
            <a:r>
              <a:rPr lang="en-US" altLang="zh-CN" sz="1600" dirty="0" err="1">
                <a:latin typeface="Consolas" panose="020B0609020204030204" pitchFamily="49" charset="0"/>
              </a:rPr>
              <a:t>debug_line</a:t>
            </a:r>
            <a:r>
              <a:rPr lang="en-US" altLang="zh-CN" sz="1600" dirty="0">
                <a:latin typeface="Consolas" panose="020B0609020204030204" pitchFamily="49" charset="0"/>
              </a:rPr>
              <a:t>       PROGBITS        00000000 0023c0 0000dc 00    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[10] .</a:t>
            </a:r>
            <a:r>
              <a:rPr lang="en-US" altLang="zh-CN" sz="1600" dirty="0" err="1">
                <a:latin typeface="Consolas" panose="020B0609020204030204" pitchFamily="49" charset="0"/>
              </a:rPr>
              <a:t>debug_str</a:t>
            </a:r>
            <a:r>
              <a:rPr lang="en-US" altLang="zh-CN" sz="1600" dirty="0">
                <a:latin typeface="Consolas" panose="020B0609020204030204" pitchFamily="49" charset="0"/>
              </a:rPr>
              <a:t>        PROGBITS        00000000 00249c 001a37 01  MS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[11] .</a:t>
            </a:r>
            <a:r>
              <a:rPr lang="en-US" altLang="zh-CN" sz="1600" dirty="0" err="1">
                <a:latin typeface="Consolas" panose="020B0609020204030204" pitchFamily="49" charset="0"/>
              </a:rPr>
              <a:t>debug_macro</a:t>
            </a:r>
            <a:r>
              <a:rPr lang="en-US" altLang="zh-CN" sz="1600" dirty="0">
                <a:latin typeface="Consolas" panose="020B0609020204030204" pitchFamily="49" charset="0"/>
              </a:rPr>
              <a:t>      PROGBITS        00000000 003ed3 0005f9 00    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[12] .</a:t>
            </a:r>
            <a:r>
              <a:rPr lang="en-US" altLang="zh-CN" sz="1600" dirty="0" err="1">
                <a:latin typeface="Consolas" panose="020B0609020204030204" pitchFamily="49" charset="0"/>
              </a:rPr>
              <a:t>symtab</a:t>
            </a:r>
            <a:r>
              <a:rPr lang="en-US" altLang="zh-CN" sz="1600" dirty="0">
                <a:latin typeface="Consolas" panose="020B0609020204030204" pitchFamily="49" charset="0"/>
              </a:rPr>
              <a:t>           SYMTAB          00000000 0044cc 000190 10     13  15  4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[13] .</a:t>
            </a:r>
            <a:r>
              <a:rPr lang="en-US" altLang="zh-CN" sz="1600" dirty="0" err="1">
                <a:latin typeface="Consolas" panose="020B0609020204030204" pitchFamily="49" charset="0"/>
              </a:rPr>
              <a:t>strtab</a:t>
            </a:r>
            <a:r>
              <a:rPr lang="en-US" altLang="zh-CN" sz="1600" dirty="0">
                <a:latin typeface="Consolas" panose="020B0609020204030204" pitchFamily="49" charset="0"/>
              </a:rPr>
              <a:t>           STRTAB          00000000 00465c 000078 00    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[14] .</a:t>
            </a:r>
            <a:r>
              <a:rPr lang="en-US" altLang="zh-CN" sz="1600" dirty="0" err="1">
                <a:latin typeface="Consolas" panose="020B0609020204030204" pitchFamily="49" charset="0"/>
              </a:rPr>
              <a:t>shstrtab</a:t>
            </a:r>
            <a:r>
              <a:rPr lang="en-US" altLang="zh-CN" sz="1600" dirty="0">
                <a:latin typeface="Consolas" panose="020B0609020204030204" pitchFamily="49" charset="0"/>
              </a:rPr>
              <a:t>         STRTAB          00000000 0046d4 000090 00      0   0  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Key to Flags: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W (write), A (</a:t>
            </a:r>
            <a:r>
              <a:rPr lang="en-US" altLang="zh-CN" sz="1600" dirty="0" err="1">
                <a:latin typeface="Consolas" panose="020B0609020204030204" pitchFamily="49" charset="0"/>
              </a:rPr>
              <a:t>alloc</a:t>
            </a:r>
            <a:r>
              <a:rPr lang="en-US" altLang="zh-CN" sz="1600" dirty="0">
                <a:latin typeface="Consolas" panose="020B0609020204030204" pitchFamily="49" charset="0"/>
              </a:rPr>
              <a:t>), X (execute), M (merge), S (strings), I (info),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L (link order), O (extra OS processing required), G (group), T (TLS),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C (compressed), x (unknown), o (OS specific), E (exclude),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p (processor specific)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11735" y="6085108"/>
            <a:ext cx="398487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readelf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–S filename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95600" y="2200202"/>
            <a:ext cx="7035800" cy="2971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文件分为多少个节，每个节（如</a:t>
            </a:r>
            <a:r>
              <a:rPr lang="en-US" altLang="zh-CN" sz="3200" dirty="0"/>
              <a:t>.</a:t>
            </a:r>
            <a:r>
              <a:rPr lang="en-US" altLang="zh-CN" sz="3200" dirty="0" err="1"/>
              <a:t>symtab</a:t>
            </a:r>
            <a:r>
              <a:rPr lang="zh-CN" altLang="en-US" sz="3200" dirty="0"/>
              <a:t>节）在文件中的什么地方</a:t>
            </a:r>
            <a:endParaRPr lang="en-US" altLang="zh-CN" sz="3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930" y="93518"/>
            <a:ext cx="2679070" cy="1760682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文件格式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14120" y="1562745"/>
          <a:ext cx="3982092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209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）固定长度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）可选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zh-CN" altLang="en-US" dirty="0"/>
                        <a:t>其它节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3092784" y="1751318"/>
            <a:ext cx="12700" cy="353921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3092784" y="1751318"/>
            <a:ext cx="12700" cy="4102608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242868" y="17216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7089116" y="5442861"/>
            <a:ext cx="12700" cy="393487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7089116" y="3219921"/>
            <a:ext cx="12700" cy="2616426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7081816" y="2829281"/>
            <a:ext cx="7301" cy="3007066"/>
          </a:xfrm>
          <a:prstGeom prst="bentConnector3">
            <a:avLst>
              <a:gd name="adj1" fmla="val -313107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7089116" y="2475455"/>
            <a:ext cx="12700" cy="3360893"/>
          </a:xfrm>
          <a:prstGeom prst="bentConnector3">
            <a:avLst>
              <a:gd name="adj1" fmla="val 1800000"/>
            </a:avLst>
          </a:prstGeom>
          <a:ln w="381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406005" y="54549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66074" y="3694235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008771" y="4427463"/>
            <a:ext cx="0" cy="1027475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65581" y="45658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5014" y="1558946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文件开头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135014" y="5651681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文件末尾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20" idx="2"/>
            <a:endCxn id="21" idx="0"/>
          </p:cNvCxnSpPr>
          <p:nvPr/>
        </p:nvCxnSpPr>
        <p:spPr>
          <a:xfrm>
            <a:off x="1722156" y="1928278"/>
            <a:ext cx="0" cy="37234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768894" y="2233350"/>
            <a:ext cx="461665" cy="35145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1010101010101010101010101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8096049" y="1496698"/>
            <a:ext cx="37723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查看</a:t>
            </a:r>
            <a:r>
              <a:rPr lang="en-US" altLang="zh-CN" sz="3600" dirty="0">
                <a:latin typeface="Consolas" panose="020B0609020204030204" pitchFamily="49" charset="0"/>
              </a:rPr>
              <a:t>ELF</a:t>
            </a:r>
            <a:r>
              <a:rPr lang="zh-CN" altLang="en-US" sz="3600" dirty="0">
                <a:latin typeface="Consolas" panose="020B0609020204030204" pitchFamily="49" charset="0"/>
              </a:rPr>
              <a:t>文件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$ </a:t>
            </a:r>
            <a:r>
              <a:rPr lang="en-US" altLang="zh-CN" sz="3600" dirty="0" err="1">
                <a:latin typeface="Consolas" panose="020B0609020204030204" pitchFamily="49" charset="0"/>
              </a:rPr>
              <a:t>readelf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-a </a:t>
            </a:r>
            <a:r>
              <a:rPr lang="zh-CN" altLang="en-US" sz="3600" dirty="0">
                <a:latin typeface="Consolas" panose="020B0609020204030204" pitchFamily="49" charset="0"/>
              </a:rPr>
              <a:t>查看所有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-h ELF</a:t>
            </a:r>
            <a:r>
              <a:rPr lang="zh-CN" altLang="en-US" sz="3600" dirty="0">
                <a:latin typeface="Consolas" panose="020B0609020204030204" pitchFamily="49" charset="0"/>
              </a:rPr>
              <a:t>头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-l </a:t>
            </a:r>
            <a:r>
              <a:rPr lang="zh-CN" altLang="en-US" sz="3600" dirty="0">
                <a:latin typeface="Consolas" panose="020B0609020204030204" pitchFamily="49" charset="0"/>
              </a:rPr>
              <a:t>程序头表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节头表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符号表</a:t>
            </a:r>
            <a:endParaRPr lang="en-US" altLang="zh-CN" sz="3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程序头表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0400" y="1163524"/>
            <a:ext cx="675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（可选，仅可执行文件有，可重定位文件没有）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488" y="162534"/>
            <a:ext cx="2399512" cy="1576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矩形 8"/>
          <p:cNvSpPr/>
          <p:nvPr/>
        </p:nvSpPr>
        <p:spPr>
          <a:xfrm>
            <a:off x="457200" y="2695203"/>
            <a:ext cx="11074400" cy="34778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Program Headers: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Type           Offset   </a:t>
            </a:r>
            <a:r>
              <a:rPr lang="en-US" altLang="zh-CN" sz="2000" dirty="0" err="1">
                <a:latin typeface="Consolas" panose="020B0609020204030204" pitchFamily="49" charset="0"/>
              </a:rPr>
              <a:t>VirtAddr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PhysAddr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FileSiz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MemSiz</a:t>
            </a: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en-US" altLang="zh-CN" sz="2000" dirty="0" err="1">
                <a:latin typeface="Consolas" panose="020B0609020204030204" pitchFamily="49" charset="0"/>
              </a:rPr>
              <a:t>Flg</a:t>
            </a:r>
            <a:r>
              <a:rPr lang="en-US" altLang="zh-CN" sz="2000" dirty="0">
                <a:latin typeface="Consolas" panose="020B0609020204030204" pitchFamily="49" charset="0"/>
              </a:rPr>
              <a:t> Align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0x001000 0x00030000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0x00030000</a:t>
            </a:r>
            <a:r>
              <a:rPr lang="en-US" altLang="zh-CN" sz="2000" dirty="0">
                <a:latin typeface="Consolas" panose="020B0609020204030204" pitchFamily="49" charset="0"/>
              </a:rPr>
              <a:t> 0x00154 </a:t>
            </a:r>
            <a:r>
              <a:rPr lang="en-US" altLang="zh-CN" sz="2000" dirty="0" err="1">
                <a:latin typeface="Consolas" panose="020B0609020204030204" pitchFamily="49" charset="0"/>
              </a:rPr>
              <a:t>0x00154</a:t>
            </a:r>
            <a:r>
              <a:rPr lang="en-US" altLang="zh-CN" sz="2000" dirty="0">
                <a:latin typeface="Consolas" panose="020B0609020204030204" pitchFamily="49" charset="0"/>
              </a:rPr>
              <a:t> R E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0x002000 0x00032000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0x00032000</a:t>
            </a:r>
            <a:r>
              <a:rPr lang="en-US" altLang="zh-CN" sz="2000" dirty="0">
                <a:latin typeface="Consolas" panose="020B0609020204030204" pitchFamily="49" charset="0"/>
              </a:rPr>
              <a:t> 0x00140 </a:t>
            </a:r>
            <a:r>
              <a:rPr lang="en-US" altLang="zh-CN" sz="2000" dirty="0" err="1">
                <a:latin typeface="Consolas" panose="020B0609020204030204" pitchFamily="49" charset="0"/>
              </a:rPr>
              <a:t>0x00140</a:t>
            </a:r>
            <a:r>
              <a:rPr lang="en-US" altLang="zh-CN" sz="2000" dirty="0">
                <a:latin typeface="Consolas" panose="020B0609020204030204" pitchFamily="49" charset="0"/>
              </a:rPr>
              <a:t> RW 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GNU_STACK      0x000000 0x00000000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0x00000000</a:t>
            </a:r>
            <a:r>
              <a:rPr lang="en-US" altLang="zh-CN" sz="2000" dirty="0">
                <a:latin typeface="Consolas" panose="020B0609020204030204" pitchFamily="49" charset="0"/>
              </a:rPr>
              <a:t> 0x00000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</a:t>
            </a:r>
            <a:r>
              <a:rPr lang="en-US" altLang="zh-CN" sz="2000" dirty="0">
                <a:latin typeface="Consolas" panose="020B0609020204030204" pitchFamily="49" charset="0"/>
              </a:rPr>
              <a:t> RWE 0x10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Section to Segment mapping: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Segment Sections...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00     .text .</a:t>
            </a:r>
            <a:r>
              <a:rPr lang="en-US" altLang="zh-CN" sz="2000" dirty="0" err="1">
                <a:latin typeface="Consolas" panose="020B0609020204030204" pitchFamily="49" charset="0"/>
              </a:rPr>
              <a:t>eh_frame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01     .</a:t>
            </a:r>
            <a:r>
              <a:rPr lang="en-US" altLang="zh-CN" sz="2000" dirty="0" err="1">
                <a:latin typeface="Consolas" panose="020B0609020204030204" pitchFamily="49" charset="0"/>
              </a:rPr>
              <a:t>got.plt</a:t>
            </a:r>
            <a:r>
              <a:rPr lang="en-US" altLang="zh-CN" sz="2000" dirty="0">
                <a:latin typeface="Consolas" panose="020B0609020204030204" pitchFamily="49" charset="0"/>
              </a:rPr>
              <a:t> .data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02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60835" y="5649858"/>
            <a:ext cx="398487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readelf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–l filename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95600" y="2200202"/>
            <a:ext cx="7582688" cy="2971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文件中的哪一部分（节）</a:t>
            </a:r>
            <a:endParaRPr lang="en-US" altLang="zh-CN" sz="3200" dirty="0"/>
          </a:p>
          <a:p>
            <a:pPr algn="ctr"/>
            <a:r>
              <a:rPr lang="zh-CN" altLang="en-US" sz="3200" dirty="0"/>
              <a:t>搬到内存中的哪个位置（段）</a:t>
            </a:r>
            <a:endParaRPr lang="en-US" altLang="zh-CN" sz="3200" dirty="0"/>
          </a:p>
          <a:p>
            <a:pPr algn="ctr"/>
            <a:endParaRPr lang="en-US" altLang="zh-CN" sz="3200" dirty="0"/>
          </a:p>
          <a:p>
            <a:pPr algn="ctr"/>
            <a:r>
              <a:rPr lang="zh-CN" altLang="en-US" sz="3200" dirty="0"/>
              <a:t>（</a:t>
            </a:r>
            <a:r>
              <a:rPr lang="en-US" altLang="zh-CN" sz="3200" dirty="0"/>
              <a:t>PA 2-2 </a:t>
            </a:r>
            <a:r>
              <a:rPr lang="zh-CN" altLang="en-US" sz="3200" dirty="0"/>
              <a:t>装载）</a:t>
            </a: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文件格式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14120" y="1562745"/>
          <a:ext cx="3982092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209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）固定长度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）可选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n-US" altLang="zh-CN" dirty="0" err="1">
                          <a:solidFill>
                            <a:schemeClr val="bg1"/>
                          </a:solidFill>
                        </a:rPr>
                        <a:t>symtab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节 </a:t>
                      </a:r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（符号表）</a:t>
                      </a:r>
                      <a:endParaRPr lang="zh-CN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zh-CN" altLang="en-US" dirty="0"/>
                        <a:t>其它节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n-US" altLang="zh-CN" dirty="0" err="1">
                          <a:solidFill>
                            <a:schemeClr val="bg1"/>
                          </a:solidFill>
                        </a:rPr>
                        <a:t>strtab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节 </a:t>
                      </a:r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（字符串表）</a:t>
                      </a:r>
                      <a:endParaRPr lang="zh-CN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3092784" y="1751318"/>
            <a:ext cx="12700" cy="353921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3092784" y="1751318"/>
            <a:ext cx="12700" cy="4102608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242868" y="17216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7089116" y="5442861"/>
            <a:ext cx="12700" cy="393487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7089116" y="3219921"/>
            <a:ext cx="12700" cy="2616426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7081816" y="2829281"/>
            <a:ext cx="7301" cy="3007066"/>
          </a:xfrm>
          <a:prstGeom prst="bentConnector3">
            <a:avLst>
              <a:gd name="adj1" fmla="val -313107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7089116" y="2475455"/>
            <a:ext cx="12700" cy="3360893"/>
          </a:xfrm>
          <a:prstGeom prst="bentConnector3">
            <a:avLst>
              <a:gd name="adj1" fmla="val 1800000"/>
            </a:avLst>
          </a:prstGeom>
          <a:ln w="381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406005" y="54549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66074" y="3694235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008771" y="4427463"/>
            <a:ext cx="0" cy="1027475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65581" y="45658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5014" y="1558946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文件开头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135014" y="5651681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文件末尾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20" idx="2"/>
            <a:endCxn id="21" idx="0"/>
          </p:cNvCxnSpPr>
          <p:nvPr/>
        </p:nvCxnSpPr>
        <p:spPr>
          <a:xfrm>
            <a:off x="1722156" y="1928278"/>
            <a:ext cx="0" cy="37234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768894" y="2233350"/>
            <a:ext cx="461665" cy="35145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1010101010101010101010101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8096049" y="1496698"/>
            <a:ext cx="37723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查看</a:t>
            </a:r>
            <a:r>
              <a:rPr lang="en-US" altLang="zh-CN" sz="3600" dirty="0">
                <a:latin typeface="Consolas" panose="020B0609020204030204" pitchFamily="49" charset="0"/>
              </a:rPr>
              <a:t>ELF</a:t>
            </a:r>
            <a:r>
              <a:rPr lang="zh-CN" altLang="en-US" sz="3600" dirty="0">
                <a:latin typeface="Consolas" panose="020B0609020204030204" pitchFamily="49" charset="0"/>
              </a:rPr>
              <a:t>文件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$ </a:t>
            </a:r>
            <a:r>
              <a:rPr lang="en-US" altLang="zh-CN" sz="3600" dirty="0" err="1">
                <a:latin typeface="Consolas" panose="020B0609020204030204" pitchFamily="49" charset="0"/>
              </a:rPr>
              <a:t>readelf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-a </a:t>
            </a:r>
            <a:r>
              <a:rPr lang="zh-CN" altLang="en-US" sz="3600" dirty="0">
                <a:latin typeface="Consolas" panose="020B0609020204030204" pitchFamily="49" charset="0"/>
              </a:rPr>
              <a:t>查看所有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-h ELF</a:t>
            </a:r>
            <a:r>
              <a:rPr lang="zh-CN" altLang="en-US" sz="3600" dirty="0">
                <a:latin typeface="Consolas" panose="020B0609020204030204" pitchFamily="49" charset="0"/>
              </a:rPr>
              <a:t>头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-l </a:t>
            </a:r>
            <a:r>
              <a:rPr lang="zh-CN" altLang="en-US" sz="3600" dirty="0">
                <a:latin typeface="Consolas" panose="020B0609020204030204" pitchFamily="49" charset="0"/>
              </a:rPr>
              <a:t>程序头表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节头表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    -s </a:t>
            </a:r>
            <a:r>
              <a:rPr lang="zh-CN" altLang="en-US" sz="3600" dirty="0">
                <a:latin typeface="Consolas" panose="020B0609020204030204" pitchFamily="49" charset="0"/>
              </a:rPr>
              <a:t>符号表</a:t>
            </a:r>
            <a:endParaRPr lang="en-US" altLang="zh-CN" sz="3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</a:t>
            </a:r>
            <a:r>
              <a:rPr lang="en-US" altLang="zh-CN" dirty="0"/>
              <a:t>+</a:t>
            </a:r>
            <a:r>
              <a:rPr lang="zh-CN" altLang="en-US" dirty="0"/>
              <a:t>字符串表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44165" y="1163895"/>
            <a:ext cx="11303670" cy="532453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Symbol table '.symtab' contains 25 entries: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0: 00000000     0 NOTYPE  LOCAL  DEFAULT  UND 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1: 00030000     0 SECTION LOCAL  DEFAULT    1 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 2: 000300d0     0 SECTION LOCAL  DEFAULT    2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 ...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zh-CN" altLang="en-US" sz="2000" dirty="0">
                <a:latin typeface="Consolas" panose="020B0609020204030204" pitchFamily="49" charset="0"/>
              </a:rPr>
              <a:t>14: 00032000     0 OBJECT  LOCAL  DEFAULT    3 _GLOBAL_OFFSET_TABLE_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15: 000300c8     0 FUNC    GLOBAL HIDDEN     1 __x86.get_pc_thunk.ax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16: 00030005    32 FUNC    GLOBAL DEFAULT    1 add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17: 000300cc     0 FUNC    GLOBAL HIDDEN     1 __x86.get_pc_thunk.bx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18: 00032140     0 NOTYPE  GLOBAL DEFAULT    4 __bss_start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19: 00030025   163 FUNC    GLOBAL DEFAULT    1 main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20: 00032040   256 OBJECT  GLOBAL DEFAULT    4 ans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21: 00032140     0 NOTYPE  GLOBAL DEFAULT    4 _edata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22: 00032140     0 NOTYPE  GLOBAL DEFAULT    4 _end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23: 00030000     0 NOTYPE  GLOBAL DEFAULT    1 start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    24: 00032020    32 OBJECT  GLOBAL DEFAULT    4 test_data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53957" y="2340262"/>
            <a:ext cx="6305944" cy="2971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某全局变量或函数（如，</a:t>
            </a:r>
            <a:r>
              <a:rPr lang="en-US" altLang="zh-CN" sz="3200" dirty="0"/>
              <a:t>’main’</a:t>
            </a:r>
            <a:r>
              <a:rPr lang="zh-CN" altLang="en-US" sz="3200" dirty="0"/>
              <a:t>）对应内存的哪个地址</a:t>
            </a:r>
            <a:endParaRPr lang="en-US" altLang="zh-CN" sz="3200" dirty="0"/>
          </a:p>
          <a:p>
            <a:pPr algn="ctr"/>
            <a:endParaRPr lang="en-US" altLang="zh-CN" sz="3200" dirty="0"/>
          </a:p>
          <a:p>
            <a:pPr algn="ctr"/>
            <a:endParaRPr lang="en-US" altLang="zh-CN" sz="3200" dirty="0"/>
          </a:p>
          <a:p>
            <a:pPr algn="ctr"/>
            <a:r>
              <a:rPr lang="zh-CN" altLang="en-US" sz="3200" dirty="0"/>
              <a:t>（</a:t>
            </a:r>
            <a:r>
              <a:rPr lang="en-US" altLang="zh-CN" sz="3200" dirty="0"/>
              <a:t>PA 2-3 </a:t>
            </a:r>
            <a:r>
              <a:rPr lang="zh-CN" altLang="en-US" sz="3200" dirty="0"/>
              <a:t>符号表解析）</a:t>
            </a:r>
            <a:endParaRPr lang="en-US" altLang="zh-CN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5410201" y="575908"/>
            <a:ext cx="39497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readelf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–s filename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254" y="220518"/>
            <a:ext cx="2659746" cy="1747982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文件格式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14120" y="1562745"/>
          <a:ext cx="3982092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209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）固定长度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）可选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zh-CN" altLang="en-US" dirty="0"/>
                        <a:t>其它节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3092784" y="1751318"/>
            <a:ext cx="12700" cy="353921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3092784" y="1751318"/>
            <a:ext cx="12700" cy="4102608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242868" y="17216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7089116" y="5442861"/>
            <a:ext cx="12700" cy="393487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7089116" y="3219921"/>
            <a:ext cx="12700" cy="2616426"/>
          </a:xfrm>
          <a:prstGeom prst="bent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7081816" y="2829281"/>
            <a:ext cx="7301" cy="3007066"/>
          </a:xfrm>
          <a:prstGeom prst="bentConnector3">
            <a:avLst>
              <a:gd name="adj1" fmla="val -313107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7089116" y="2475455"/>
            <a:ext cx="12700" cy="3360893"/>
          </a:xfrm>
          <a:prstGeom prst="bentConnector3">
            <a:avLst>
              <a:gd name="adj1" fmla="val 1800000"/>
            </a:avLst>
          </a:prstGeom>
          <a:ln w="381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406005" y="54549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66074" y="3694235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.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008771" y="4427463"/>
            <a:ext cx="0" cy="1027475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965581" y="45658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5014" y="1558946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文件开头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135014" y="5651681"/>
            <a:ext cx="117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文件末尾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20" idx="2"/>
            <a:endCxn id="21" idx="0"/>
          </p:cNvCxnSpPr>
          <p:nvPr/>
        </p:nvCxnSpPr>
        <p:spPr>
          <a:xfrm>
            <a:off x="1722156" y="1928278"/>
            <a:ext cx="0" cy="37234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768894" y="2233350"/>
            <a:ext cx="461665" cy="35145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1010101010101010101010101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659068" y="1398237"/>
            <a:ext cx="2617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PA 2-2 </a:t>
            </a:r>
            <a:endParaRPr lang="en-US" altLang="zh-CN" sz="3200" dirty="0"/>
          </a:p>
          <a:p>
            <a:r>
              <a:rPr lang="zh-CN" altLang="en-US" sz="3200" dirty="0"/>
              <a:t>程序的装载</a:t>
            </a:r>
            <a:endParaRPr lang="zh-CN" altLang="en-US" sz="3200" dirty="0"/>
          </a:p>
        </p:txBody>
      </p:sp>
      <p:sp>
        <p:nvSpPr>
          <p:cNvPr id="25" name="文本框 24"/>
          <p:cNvSpPr txBox="1"/>
          <p:nvPr/>
        </p:nvSpPr>
        <p:spPr>
          <a:xfrm>
            <a:off x="8659068" y="3612727"/>
            <a:ext cx="29301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PA 2-3 </a:t>
            </a:r>
            <a:endParaRPr lang="en-US" altLang="zh-CN" sz="3200" dirty="0"/>
          </a:p>
          <a:p>
            <a:r>
              <a:rPr lang="zh-CN" altLang="en-US" sz="3200" dirty="0"/>
              <a:t>符号表的解析</a:t>
            </a:r>
            <a:endParaRPr lang="zh-CN" altLang="en-US" sz="3200" dirty="0"/>
          </a:p>
        </p:txBody>
      </p:sp>
      <p:cxnSp>
        <p:nvCxnSpPr>
          <p:cNvPr id="22" name="直接箭头连接符 21"/>
          <p:cNvCxnSpPr>
            <a:stCxn id="3" idx="1"/>
          </p:cNvCxnSpPr>
          <p:nvPr/>
        </p:nvCxnSpPr>
        <p:spPr>
          <a:xfrm flipH="1">
            <a:off x="6877850" y="1936846"/>
            <a:ext cx="1781218" cy="198849"/>
          </a:xfrm>
          <a:prstGeom prst="straightConnector1">
            <a:avLst/>
          </a:prstGeom>
          <a:ln w="635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5" idx="1"/>
          </p:cNvCxnSpPr>
          <p:nvPr/>
        </p:nvCxnSpPr>
        <p:spPr>
          <a:xfrm flipH="1">
            <a:off x="6877850" y="4151336"/>
            <a:ext cx="1781218" cy="181478"/>
          </a:xfrm>
          <a:prstGeom prst="straightConnector1">
            <a:avLst/>
          </a:prstGeom>
          <a:ln w="635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要点梳理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73750" y="2273299"/>
            <a:ext cx="5480050" cy="3187701"/>
          </a:xfr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文件结构</a:t>
            </a:r>
            <a:endParaRPr lang="en-US" altLang="zh-CN" dirty="0"/>
          </a:p>
          <a:p>
            <a:pPr lvl="1"/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lvl="1"/>
            <a:r>
              <a:rPr lang="zh-CN" altLang="en-US" dirty="0"/>
              <a:t>程序头表</a:t>
            </a:r>
            <a:endParaRPr lang="en-US" altLang="zh-CN" dirty="0"/>
          </a:p>
          <a:p>
            <a:pPr lvl="1"/>
            <a:r>
              <a:rPr lang="zh-CN" altLang="en-US" dirty="0"/>
              <a:t>节头表</a:t>
            </a:r>
            <a:endParaRPr lang="en-US" altLang="zh-CN" dirty="0"/>
          </a:p>
          <a:p>
            <a:pPr lvl="1"/>
            <a:r>
              <a:rPr lang="zh-CN" altLang="en-US" dirty="0"/>
              <a:t>各个节</a:t>
            </a:r>
            <a:endParaRPr lang="en-US" altLang="zh-CN" dirty="0"/>
          </a:p>
          <a:p>
            <a:pPr lvl="2"/>
            <a:r>
              <a:rPr lang="zh-CN" altLang="en-US" dirty="0"/>
              <a:t>符号表与字符串表后续再加深理解</a:t>
            </a:r>
            <a:endParaRPr lang="en-US" altLang="zh-CN" dirty="0"/>
          </a:p>
          <a:p>
            <a:r>
              <a:rPr lang="zh-CN" altLang="en-US" dirty="0"/>
              <a:t>可执行</a:t>
            </a:r>
            <a:r>
              <a:rPr lang="en-US" altLang="zh-CN" dirty="0"/>
              <a:t>/</a:t>
            </a:r>
            <a:r>
              <a:rPr lang="zh-CN" altLang="en-US" dirty="0"/>
              <a:t>可重定位目标文件异同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4" y="2184400"/>
            <a:ext cx="5061198" cy="3334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24099"/>
            <a:ext cx="10515600" cy="38528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认识</a:t>
            </a:r>
            <a:r>
              <a:rPr lang="en-US" altLang="zh-CN" b="1" dirty="0"/>
              <a:t>ELF</a:t>
            </a:r>
            <a:r>
              <a:rPr lang="zh-CN" altLang="en-US" b="1" dirty="0"/>
              <a:t>文件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PA 2-2 – </a:t>
            </a:r>
            <a:r>
              <a:rPr lang="zh-CN" altLang="en-US" b="1" dirty="0">
                <a:solidFill>
                  <a:srgbClr val="C00000"/>
                </a:solidFill>
              </a:rPr>
              <a:t>程序的装载        </a:t>
            </a:r>
            <a:r>
              <a:rPr lang="en-US" altLang="zh-CN" b="1" dirty="0">
                <a:solidFill>
                  <a:srgbClr val="C00000"/>
                </a:solidFill>
              </a:rPr>
              <a:t>-&gt; ELF</a:t>
            </a:r>
            <a:r>
              <a:rPr lang="zh-CN" altLang="en-US" b="1" dirty="0">
                <a:solidFill>
                  <a:srgbClr val="C00000"/>
                </a:solidFill>
              </a:rPr>
              <a:t>文件程序头表的解析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/>
              <a:t>PA 2-3 – </a:t>
            </a:r>
            <a:r>
              <a:rPr lang="zh-CN" altLang="en-US" b="1" dirty="0"/>
              <a:t>调试器符号表解析 </a:t>
            </a:r>
            <a:r>
              <a:rPr lang="en-US" altLang="zh-CN" b="1" dirty="0"/>
              <a:t>–&gt; ELF</a:t>
            </a:r>
            <a:r>
              <a:rPr lang="zh-CN" altLang="en-US" b="1" dirty="0"/>
              <a:t>文件符号表的解析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79" y="1104955"/>
            <a:ext cx="12308792" cy="538347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原先的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54129-2B6C-42A6-A45B-17AF594CABF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205635" y="3796692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原先的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306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5955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6971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395" y="1694025"/>
            <a:ext cx="1912205" cy="142459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70582">
            <a:off x="4755433" y="2806126"/>
            <a:ext cx="2196792" cy="1122156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4191000" y="2705100"/>
            <a:ext cx="0" cy="1024103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175000" y="2039032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EIP</a:t>
            </a:r>
            <a:r>
              <a:rPr lang="zh-CN" altLang="en-US" sz="3200" dirty="0">
                <a:solidFill>
                  <a:srgbClr val="C00000"/>
                </a:solidFill>
              </a:rPr>
              <a:t>初始值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86967" y="1679631"/>
            <a:ext cx="27933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PA 2-1 </a:t>
            </a:r>
            <a:r>
              <a:rPr lang="zh-CN" altLang="en-US" sz="2800" dirty="0"/>
              <a:t>赋予模拟</a:t>
            </a:r>
            <a:r>
              <a:rPr lang="en-US" altLang="zh-CN" sz="2800" dirty="0"/>
              <a:t>CPU</a:t>
            </a:r>
            <a:r>
              <a:rPr lang="zh-CN" altLang="en-US" sz="2800" dirty="0"/>
              <a:t>解码并执行指令的能力</a:t>
            </a:r>
            <a:endParaRPr lang="zh-CN" altLang="en-US" sz="2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9358153" y="3875962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306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5955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+------------------+---+-----------------------------------------------------+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</a:t>
            </a:r>
            <a:r>
              <a:rPr lang="zh-CN" altLang="en-US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？？？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~     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+------------------+---+-----------------------------------------------------+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6971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358153" y="3867030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306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5955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0x100000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</a:t>
            </a:r>
            <a:r>
              <a:rPr lang="zh-CN" altLang="en-US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？？？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~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6971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404997" y="3093929"/>
            <a:ext cx="3807913" cy="1315233"/>
          </a:xfrm>
          <a:custGeom>
            <a:avLst/>
            <a:gdLst>
              <a:gd name="connsiteX0" fmla="*/ 0 w 3807913"/>
              <a:gd name="connsiteY0" fmla="*/ 1315233 h 1315233"/>
              <a:gd name="connsiteX1" fmla="*/ 0 w 3807913"/>
              <a:gd name="connsiteY1" fmla="*/ 0 h 1315233"/>
              <a:gd name="connsiteX2" fmla="*/ 3807913 w 3807913"/>
              <a:gd name="connsiteY2" fmla="*/ 0 h 1315233"/>
              <a:gd name="connsiteX3" fmla="*/ 3807913 w 3807913"/>
              <a:gd name="connsiteY3" fmla="*/ 713983 h 131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7913" h="1315233">
                <a:moveTo>
                  <a:pt x="0" y="1315233"/>
                </a:moveTo>
                <a:lnTo>
                  <a:pt x="0" y="0"/>
                </a:lnTo>
                <a:lnTo>
                  <a:pt x="3807913" y="0"/>
                </a:lnTo>
                <a:lnTo>
                  <a:pt x="3807913" y="713983"/>
                </a:lnTo>
              </a:path>
            </a:pathLst>
          </a:custGeom>
          <a:noFill/>
          <a:ln w="635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81400" y="2379578"/>
            <a:ext cx="2392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装载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58153" y="3867030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306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5955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0x100000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</a:t>
            </a:r>
            <a:r>
              <a:rPr lang="zh-CN" altLang="en-US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？？？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~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6971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404997" y="3093929"/>
            <a:ext cx="3807913" cy="1315233"/>
          </a:xfrm>
          <a:custGeom>
            <a:avLst/>
            <a:gdLst>
              <a:gd name="connsiteX0" fmla="*/ 0 w 3807913"/>
              <a:gd name="connsiteY0" fmla="*/ 1315233 h 1315233"/>
              <a:gd name="connsiteX1" fmla="*/ 0 w 3807913"/>
              <a:gd name="connsiteY1" fmla="*/ 0 h 1315233"/>
              <a:gd name="connsiteX2" fmla="*/ 3807913 w 3807913"/>
              <a:gd name="connsiteY2" fmla="*/ 0 h 1315233"/>
              <a:gd name="connsiteX3" fmla="*/ 3807913 w 3807913"/>
              <a:gd name="connsiteY3" fmla="*/ 713983 h 131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7913" h="1315233">
                <a:moveTo>
                  <a:pt x="0" y="1315233"/>
                </a:moveTo>
                <a:lnTo>
                  <a:pt x="0" y="0"/>
                </a:lnTo>
                <a:lnTo>
                  <a:pt x="3807913" y="0"/>
                </a:lnTo>
                <a:lnTo>
                  <a:pt x="3807913" y="713983"/>
                </a:lnTo>
              </a:path>
            </a:pathLst>
          </a:custGeom>
          <a:noFill/>
          <a:ln w="635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81400" y="2379578"/>
            <a:ext cx="2392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装载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37720"/>
            <a:ext cx="1446512" cy="9832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188" y="1484857"/>
            <a:ext cx="1130683" cy="1130683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4843188" y="1377863"/>
            <a:ext cx="2885371" cy="12376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4843188" y="1425698"/>
            <a:ext cx="2885371" cy="11336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358153" y="3867030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306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5955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0x100000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</a:t>
            </a:r>
            <a:r>
              <a:rPr lang="zh-CN" altLang="en-US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？？？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~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6971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404997" y="3093929"/>
            <a:ext cx="3807913" cy="1315233"/>
          </a:xfrm>
          <a:custGeom>
            <a:avLst/>
            <a:gdLst>
              <a:gd name="connsiteX0" fmla="*/ 0 w 3807913"/>
              <a:gd name="connsiteY0" fmla="*/ 1315233 h 1315233"/>
              <a:gd name="connsiteX1" fmla="*/ 0 w 3807913"/>
              <a:gd name="connsiteY1" fmla="*/ 0 h 1315233"/>
              <a:gd name="connsiteX2" fmla="*/ 3807913 w 3807913"/>
              <a:gd name="connsiteY2" fmla="*/ 0 h 1315233"/>
              <a:gd name="connsiteX3" fmla="*/ 3807913 w 3807913"/>
              <a:gd name="connsiteY3" fmla="*/ 713983 h 131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7913" h="1315233">
                <a:moveTo>
                  <a:pt x="0" y="1315233"/>
                </a:moveTo>
                <a:lnTo>
                  <a:pt x="0" y="0"/>
                </a:lnTo>
                <a:lnTo>
                  <a:pt x="3807913" y="0"/>
                </a:lnTo>
                <a:lnTo>
                  <a:pt x="3807913" y="713983"/>
                </a:lnTo>
              </a:path>
            </a:pathLst>
          </a:custGeom>
          <a:noFill/>
          <a:ln w="635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81400" y="2379578"/>
            <a:ext cx="2392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装载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396" y="1451421"/>
            <a:ext cx="1080393" cy="130832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65789" y="1540701"/>
            <a:ext cx="1099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操作系统</a:t>
            </a:r>
            <a:endParaRPr lang="zh-CN" altLang="en-US" sz="3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201097" y="1540701"/>
            <a:ext cx="124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>
                <a:solidFill>
                  <a:schemeClr val="accent6"/>
                </a:solidFill>
              </a:rPr>
              <a:t>√</a:t>
            </a:r>
            <a:endParaRPr lang="zh-CN" altLang="en-US" sz="8000" b="1" dirty="0">
              <a:solidFill>
                <a:schemeClr val="accent6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358153" y="3867030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306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5955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0x100000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Kernel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~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6971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404997" y="3093929"/>
            <a:ext cx="3807913" cy="1315233"/>
          </a:xfrm>
          <a:custGeom>
            <a:avLst/>
            <a:gdLst>
              <a:gd name="connsiteX0" fmla="*/ 0 w 3807913"/>
              <a:gd name="connsiteY0" fmla="*/ 1315233 h 1315233"/>
              <a:gd name="connsiteX1" fmla="*/ 0 w 3807913"/>
              <a:gd name="connsiteY1" fmla="*/ 0 h 1315233"/>
              <a:gd name="connsiteX2" fmla="*/ 3807913 w 3807913"/>
              <a:gd name="connsiteY2" fmla="*/ 0 h 1315233"/>
              <a:gd name="connsiteX3" fmla="*/ 3807913 w 3807913"/>
              <a:gd name="connsiteY3" fmla="*/ 713983 h 131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7913" h="1315233">
                <a:moveTo>
                  <a:pt x="0" y="1315233"/>
                </a:moveTo>
                <a:lnTo>
                  <a:pt x="0" y="0"/>
                </a:lnTo>
                <a:lnTo>
                  <a:pt x="3807913" y="0"/>
                </a:lnTo>
                <a:lnTo>
                  <a:pt x="3807913" y="713983"/>
                </a:lnTo>
              </a:path>
            </a:pathLst>
          </a:custGeom>
          <a:noFill/>
          <a:ln w="635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81400" y="2379578"/>
            <a:ext cx="2392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装载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396" y="1451421"/>
            <a:ext cx="1080393" cy="130832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65789" y="1540701"/>
            <a:ext cx="1099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操作系统</a:t>
            </a:r>
            <a:endParaRPr lang="zh-CN" altLang="en-US" sz="3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201097" y="1540701"/>
            <a:ext cx="124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>
                <a:solidFill>
                  <a:schemeClr val="accent6"/>
                </a:solidFill>
              </a:rPr>
              <a:t>√</a:t>
            </a:r>
            <a:endParaRPr lang="zh-CN" altLang="en-US" sz="8000" b="1" dirty="0">
              <a:solidFill>
                <a:schemeClr val="accent6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5035463" y="2759745"/>
            <a:ext cx="713985" cy="1849833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358153" y="3867030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85628" y="1898398"/>
            <a:ext cx="11658600" cy="104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dirty="0" err="1">
                <a:solidFill>
                  <a:srgbClr val="00B0F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F0"/>
                </a:solidFill>
                <a:latin typeface="Consolas" panose="020B0609020204030204" pitchFamily="49" charset="0"/>
              </a:rPr>
              <a:t>/bin/add    </a:t>
            </a: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50"/>
                </a:solidFill>
                <a:latin typeface="Consolas" panose="020B0609020204030204" pitchFamily="49" charset="0"/>
              </a:rPr>
              <a:t>/bin/</a:t>
            </a: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add.img</a:t>
            </a:r>
            <a:endParaRPr lang="zh-CN" altLang="en-US" sz="3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2750338" y="2950898"/>
            <a:ext cx="1072362" cy="1609788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5501158" y="3024888"/>
            <a:ext cx="1128242" cy="1563353"/>
          </a:xfrm>
          <a:prstGeom prst="straightConnector1">
            <a:avLst/>
          </a:prstGeom>
          <a:ln w="1270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649406" y="3145804"/>
            <a:ext cx="2227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直接拷贝</a:t>
            </a:r>
            <a:endParaRPr lang="zh-CN" altLang="en-US" sz="4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9447674" y="4065485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 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</a:t>
            </a:r>
            <a:r>
              <a:rPr lang="en-US" altLang="zh-CN" sz="2000" kern="1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Kernel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85628" y="1898398"/>
            <a:ext cx="11658600" cy="104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dirty="0" err="1">
                <a:solidFill>
                  <a:srgbClr val="00B0F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F0"/>
                </a:solidFill>
                <a:latin typeface="Consolas" panose="020B0609020204030204" pitchFamily="49" charset="0"/>
              </a:rPr>
              <a:t>/bin/add    </a:t>
            </a:r>
            <a:r>
              <a:rPr lang="en-US" altLang="zh-CN" sz="3600" dirty="0">
                <a:solidFill>
                  <a:srgbClr val="C00000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3600" dirty="0" err="1">
                <a:solidFill>
                  <a:srgbClr val="C00000"/>
                </a:solidFill>
                <a:latin typeface="Consolas" panose="020B0609020204030204" pitchFamily="49" charset="0"/>
              </a:rPr>
              <a:t>kernel.img</a:t>
            </a:r>
            <a:endParaRPr lang="zh-CN" altLang="en-US" sz="36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2750338" y="2950898"/>
            <a:ext cx="1072362" cy="1609788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5501158" y="3024888"/>
            <a:ext cx="1128242" cy="1563353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649406" y="3145804"/>
            <a:ext cx="2227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直接拷贝</a:t>
            </a:r>
            <a:endParaRPr lang="zh-CN" altLang="en-US" sz="40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158" y="4684429"/>
            <a:ext cx="389194" cy="47130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460464" y="4126576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21266"/>
            <a:ext cx="1269574" cy="1269574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47701" y="3586164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 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</a:t>
            </a:r>
            <a:r>
              <a:rPr lang="en-US" altLang="zh-CN" sz="2000" kern="1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Kernel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7011" y="5687741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395" y="1456031"/>
            <a:ext cx="1912205" cy="142459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70582">
            <a:off x="4755433" y="2568132"/>
            <a:ext cx="2196792" cy="1122156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>
            <a:off x="4191000" y="2792782"/>
            <a:ext cx="0" cy="1024103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75000" y="2126714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EIP</a:t>
            </a:r>
            <a:r>
              <a:rPr lang="zh-CN" altLang="en-US" sz="3200" dirty="0">
                <a:solidFill>
                  <a:srgbClr val="C00000"/>
                </a:solidFill>
              </a:rPr>
              <a:t>初始值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686966" y="1441637"/>
            <a:ext cx="2974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模拟</a:t>
            </a:r>
            <a:r>
              <a:rPr lang="en-US" altLang="zh-CN" sz="2800" dirty="0"/>
              <a:t>CPU</a:t>
            </a:r>
            <a:r>
              <a:rPr lang="zh-CN" altLang="en-US" sz="2800" dirty="0"/>
              <a:t>先开始执行</a:t>
            </a:r>
            <a:r>
              <a:rPr lang="en-US" altLang="zh-CN" sz="2800" dirty="0"/>
              <a:t>Kernel</a:t>
            </a:r>
            <a:r>
              <a:rPr lang="zh-CN" altLang="en-US" sz="2800" dirty="0"/>
              <a:t>的指令</a:t>
            </a:r>
            <a:endParaRPr lang="zh-CN" altLang="en-US" sz="28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635" y="4492096"/>
            <a:ext cx="389194" cy="47130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9466858" y="3852592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306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5955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0x100000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</a:t>
            </a:r>
            <a:r>
              <a:rPr lang="en-US" altLang="zh-CN" sz="2000" kern="1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Kernel 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~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6971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404997" y="3093929"/>
            <a:ext cx="3807913" cy="1315233"/>
          </a:xfrm>
          <a:custGeom>
            <a:avLst/>
            <a:gdLst>
              <a:gd name="connsiteX0" fmla="*/ 0 w 3807913"/>
              <a:gd name="connsiteY0" fmla="*/ 1315233 h 1315233"/>
              <a:gd name="connsiteX1" fmla="*/ 0 w 3807913"/>
              <a:gd name="connsiteY1" fmla="*/ 0 h 1315233"/>
              <a:gd name="connsiteX2" fmla="*/ 3807913 w 3807913"/>
              <a:gd name="connsiteY2" fmla="*/ 0 h 1315233"/>
              <a:gd name="connsiteX3" fmla="*/ 3807913 w 3807913"/>
              <a:gd name="connsiteY3" fmla="*/ 713983 h 131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7913" h="1315233">
                <a:moveTo>
                  <a:pt x="0" y="1315233"/>
                </a:moveTo>
                <a:lnTo>
                  <a:pt x="0" y="0"/>
                </a:lnTo>
                <a:lnTo>
                  <a:pt x="3807913" y="0"/>
                </a:lnTo>
                <a:lnTo>
                  <a:pt x="3807913" y="713983"/>
                </a:lnTo>
              </a:path>
            </a:pathLst>
          </a:custGeom>
          <a:noFill/>
          <a:ln w="635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404997" y="1731015"/>
            <a:ext cx="4516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由</a:t>
            </a:r>
            <a:r>
              <a:rPr lang="en-US" altLang="zh-CN" sz="3600" dirty="0">
                <a:solidFill>
                  <a:srgbClr val="C00000"/>
                </a:solidFill>
              </a:rPr>
              <a:t>Kernel</a:t>
            </a:r>
            <a:r>
              <a:rPr lang="zh-CN" altLang="en-US" sz="3600" dirty="0">
                <a:solidFill>
                  <a:srgbClr val="C00000"/>
                </a:solidFill>
              </a:rPr>
              <a:t>解析测试用例的</a:t>
            </a:r>
            <a:r>
              <a:rPr lang="en-US" altLang="zh-CN" sz="3600" dirty="0">
                <a:solidFill>
                  <a:srgbClr val="C00000"/>
                </a:solidFill>
              </a:rPr>
              <a:t>ELF</a:t>
            </a:r>
            <a:r>
              <a:rPr lang="zh-CN" altLang="en-US" sz="3600" dirty="0">
                <a:solidFill>
                  <a:srgbClr val="C00000"/>
                </a:solidFill>
              </a:rPr>
              <a:t>文件并装载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635" y="4492096"/>
            <a:ext cx="389194" cy="4713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466858" y="3852592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 2-2 </a:t>
            </a:r>
            <a:r>
              <a:rPr lang="zh-CN" altLang="en-US" dirty="0"/>
              <a:t>以后</a:t>
            </a:r>
            <a:r>
              <a:rPr lang="en-US" altLang="zh-CN" dirty="0"/>
              <a:t>NEMU</a:t>
            </a:r>
            <a:r>
              <a:rPr lang="zh-CN" altLang="en-US" dirty="0"/>
              <a:t>是怎么装载并运行程序的？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130660"/>
            <a:ext cx="1269574" cy="126957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47701" y="35955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0x100000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0x128000000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</a:t>
            </a:r>
            <a:r>
              <a:rPr lang="en-US" altLang="zh-CN" sz="2000" kern="1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Kernel 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~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7011" y="56971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6195164" y="2826231"/>
            <a:ext cx="0" cy="1024103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606452" y="2160163"/>
            <a:ext cx="3340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C00000"/>
                </a:solidFill>
              </a:rPr>
              <a:t>调整</a:t>
            </a:r>
            <a:r>
              <a:rPr lang="en-US" altLang="zh-CN" sz="3200" dirty="0">
                <a:solidFill>
                  <a:srgbClr val="C00000"/>
                </a:solidFill>
              </a:rPr>
              <a:t>EIP</a:t>
            </a:r>
            <a:r>
              <a:rPr lang="zh-CN" altLang="en-US" sz="3200" dirty="0">
                <a:solidFill>
                  <a:srgbClr val="C00000"/>
                </a:solidFill>
              </a:rPr>
              <a:t>进行跳转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426" y="1289804"/>
            <a:ext cx="1912205" cy="142459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70582">
            <a:off x="6387464" y="2401905"/>
            <a:ext cx="2196792" cy="1122156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639417" y="2693864"/>
            <a:ext cx="2974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模拟</a:t>
            </a:r>
            <a:r>
              <a:rPr lang="en-US" altLang="zh-CN" sz="2800" dirty="0"/>
              <a:t>CPU</a:t>
            </a:r>
            <a:r>
              <a:rPr lang="zh-CN" altLang="en-US" sz="2800" dirty="0"/>
              <a:t>开始执行测试用例的指令</a:t>
            </a:r>
            <a:endParaRPr lang="zh-CN" altLang="en-US" sz="28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635" y="4492096"/>
            <a:ext cx="389194" cy="47130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466858" y="3852592"/>
            <a:ext cx="1811926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0x7FFFFFF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要点梳理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65550" y="1348509"/>
            <a:ext cx="8007350" cy="4455391"/>
          </a:xfr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现阶段哪些文件是待装载的</a:t>
            </a:r>
            <a:r>
              <a:rPr lang="en-US" altLang="zh-CN" dirty="0"/>
              <a:t>ELF</a:t>
            </a:r>
            <a:r>
              <a:rPr lang="zh-CN" altLang="en-US" dirty="0"/>
              <a:t>文件？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ELF</a:t>
            </a:r>
            <a:r>
              <a:rPr lang="zh-CN" altLang="en-US" dirty="0"/>
              <a:t>文件是由谁装载的？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现阶段在</a:t>
            </a:r>
            <a:r>
              <a:rPr lang="en-US" altLang="zh-CN" dirty="0"/>
              <a:t>NEMU</a:t>
            </a:r>
            <a:r>
              <a:rPr lang="zh-CN" altLang="en-US" dirty="0"/>
              <a:t>启动后待装载的</a:t>
            </a:r>
            <a:r>
              <a:rPr lang="en-US" altLang="zh-CN" dirty="0"/>
              <a:t>ELF</a:t>
            </a:r>
            <a:r>
              <a:rPr lang="zh-CN" altLang="en-US" dirty="0"/>
              <a:t>文件位于何处？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NEMU</a:t>
            </a:r>
            <a:r>
              <a:rPr lang="zh-CN" altLang="en-US" dirty="0"/>
              <a:t>开机后执行的第一条指令是哪个地址？是哪个软件的指令？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ELF</a:t>
            </a:r>
            <a:r>
              <a:rPr lang="zh-CN" altLang="en-US" dirty="0"/>
              <a:t>文件被装载到哪个地址？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为了保证上述装载和执行地址的正确，需要修改</a:t>
            </a:r>
            <a:r>
              <a:rPr lang="en-US" altLang="zh-CN" dirty="0" err="1"/>
              <a:t>Makefile</a:t>
            </a:r>
            <a:r>
              <a:rPr lang="zh-CN" altLang="en-US" dirty="0"/>
              <a:t>（见后文）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1702695"/>
            <a:ext cx="3843730" cy="16056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如何实现对</a:t>
            </a:r>
            <a:r>
              <a:rPr lang="en-US" altLang="zh-CN" b="1" dirty="0"/>
              <a:t>ELF</a:t>
            </a:r>
            <a:r>
              <a:rPr lang="zh-CN" altLang="en-US" b="1" dirty="0"/>
              <a:t>文件的装载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如何在</a:t>
            </a:r>
            <a:r>
              <a:rPr lang="en-US" altLang="zh-CN" b="1" dirty="0"/>
              <a:t>Kernel</a:t>
            </a:r>
            <a:r>
              <a:rPr lang="zh-CN" altLang="en-US" b="1" dirty="0"/>
              <a:t>中加入这一功能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如何实现对</a:t>
            </a:r>
            <a:r>
              <a:rPr lang="en-US" altLang="zh-CN" b="1" dirty="0">
                <a:solidFill>
                  <a:srgbClr val="C00000"/>
                </a:solidFill>
              </a:rPr>
              <a:t>ELF</a:t>
            </a:r>
            <a:r>
              <a:rPr lang="zh-CN" altLang="en-US" b="1" dirty="0">
                <a:solidFill>
                  <a:srgbClr val="C00000"/>
                </a:solidFill>
              </a:rPr>
              <a:t>文件的装载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b="1" dirty="0"/>
              <a:t>如何在</a:t>
            </a:r>
            <a:r>
              <a:rPr lang="en-US" altLang="zh-CN" b="1" dirty="0"/>
              <a:t>Kernel</a:t>
            </a:r>
            <a:r>
              <a:rPr lang="zh-CN" altLang="en-US" b="1" dirty="0"/>
              <a:t>中加入这一功能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装载程序的实现：解析程序头表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3095" y="732127"/>
            <a:ext cx="2399512" cy="1576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矩形 7"/>
          <p:cNvSpPr/>
          <p:nvPr/>
        </p:nvSpPr>
        <p:spPr>
          <a:xfrm>
            <a:off x="457200" y="2852879"/>
            <a:ext cx="11074400" cy="34778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Program Headers: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Type           Offset   </a:t>
            </a:r>
            <a:r>
              <a:rPr lang="en-US" altLang="zh-CN" sz="2000" dirty="0" err="1">
                <a:latin typeface="Consolas" panose="020B0609020204030204" pitchFamily="49" charset="0"/>
              </a:rPr>
              <a:t>VirtAddr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PhysAddr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FileSiz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MemSiz</a:t>
            </a: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en-US" altLang="zh-CN" sz="2000" dirty="0" err="1">
                <a:latin typeface="Consolas" panose="020B0609020204030204" pitchFamily="49" charset="0"/>
              </a:rPr>
              <a:t>Flg</a:t>
            </a:r>
            <a:r>
              <a:rPr lang="en-US" altLang="zh-CN" sz="2000" dirty="0">
                <a:latin typeface="Consolas" panose="020B0609020204030204" pitchFamily="49" charset="0"/>
              </a:rPr>
              <a:t> Align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0x001000 0x00030000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0x00030000</a:t>
            </a:r>
            <a:r>
              <a:rPr lang="en-US" altLang="zh-CN" sz="2000" dirty="0">
                <a:latin typeface="Consolas" panose="020B0609020204030204" pitchFamily="49" charset="0"/>
              </a:rPr>
              <a:t> 0x00154 </a:t>
            </a:r>
            <a:r>
              <a:rPr lang="en-US" altLang="zh-CN" sz="2000" dirty="0" err="1">
                <a:latin typeface="Consolas" panose="020B0609020204030204" pitchFamily="49" charset="0"/>
              </a:rPr>
              <a:t>0x00154</a:t>
            </a:r>
            <a:r>
              <a:rPr lang="en-US" altLang="zh-CN" sz="2000" dirty="0">
                <a:latin typeface="Consolas" panose="020B0609020204030204" pitchFamily="49" charset="0"/>
              </a:rPr>
              <a:t> R E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0x002000 0x00032000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0x00032000</a:t>
            </a:r>
            <a:r>
              <a:rPr lang="en-US" altLang="zh-CN" sz="2000" dirty="0">
                <a:latin typeface="Consolas" panose="020B0609020204030204" pitchFamily="49" charset="0"/>
              </a:rPr>
              <a:t> 0x00140 </a:t>
            </a:r>
            <a:r>
              <a:rPr lang="en-US" altLang="zh-CN" sz="2000" dirty="0" err="1">
                <a:latin typeface="Consolas" panose="020B0609020204030204" pitchFamily="49" charset="0"/>
              </a:rPr>
              <a:t>0x00140</a:t>
            </a:r>
            <a:r>
              <a:rPr lang="en-US" altLang="zh-CN" sz="2000" dirty="0">
                <a:latin typeface="Consolas" panose="020B0609020204030204" pitchFamily="49" charset="0"/>
              </a:rPr>
              <a:t> RW 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GNU_STACK      0x000000 0x00000000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0x00000000</a:t>
            </a:r>
            <a:r>
              <a:rPr lang="en-US" altLang="zh-CN" sz="2000" dirty="0">
                <a:latin typeface="Consolas" panose="020B0609020204030204" pitchFamily="49" charset="0"/>
              </a:rPr>
              <a:t> 0x00000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</a:t>
            </a:r>
            <a:r>
              <a:rPr lang="en-US" altLang="zh-CN" sz="2000" dirty="0">
                <a:latin typeface="Consolas" panose="020B0609020204030204" pitchFamily="49" charset="0"/>
              </a:rPr>
              <a:t> RWE 0x10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Section to Segment mapping: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Segment Sections...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00     .text .</a:t>
            </a:r>
            <a:r>
              <a:rPr lang="en-US" altLang="zh-CN" sz="2000" dirty="0" err="1">
                <a:latin typeface="Consolas" panose="020B0609020204030204" pitchFamily="49" charset="0"/>
              </a:rPr>
              <a:t>eh_frame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01     .</a:t>
            </a:r>
            <a:r>
              <a:rPr lang="en-US" altLang="zh-CN" sz="2000" dirty="0" err="1">
                <a:latin typeface="Consolas" panose="020B0609020204030204" pitchFamily="49" charset="0"/>
              </a:rPr>
              <a:t>got.plt</a:t>
            </a:r>
            <a:r>
              <a:rPr lang="en-US" altLang="zh-CN" sz="2000" dirty="0">
                <a:latin typeface="Consolas" panose="020B0609020204030204" pitchFamily="49" charset="0"/>
              </a:rPr>
              <a:t> .data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02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60835" y="5649858"/>
            <a:ext cx="398487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readelf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–l filename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7200" y="1146852"/>
            <a:ext cx="7582688" cy="1583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文件中的哪一部分（节）</a:t>
            </a:r>
            <a:endParaRPr lang="en-US" altLang="zh-CN" sz="3200" dirty="0"/>
          </a:p>
          <a:p>
            <a:pPr algn="ctr"/>
            <a:r>
              <a:rPr lang="zh-CN" altLang="en-US" sz="3200" dirty="0"/>
              <a:t>搬到内存中的哪个位置（段）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装载程序的实现：解析程序头表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7200" y="2852879"/>
            <a:ext cx="11074400" cy="34778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Program Headers: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Type           Offset   </a:t>
            </a:r>
            <a:r>
              <a:rPr lang="en-US" altLang="zh-CN" sz="2000" dirty="0" err="1">
                <a:latin typeface="Consolas" panose="020B0609020204030204" pitchFamily="49" charset="0"/>
              </a:rPr>
              <a:t>VirtAddr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PhysAddr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FileSiz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MemSiz</a:t>
            </a: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en-US" altLang="zh-CN" sz="2000" dirty="0" err="1">
                <a:latin typeface="Consolas" panose="020B0609020204030204" pitchFamily="49" charset="0"/>
              </a:rPr>
              <a:t>Flg</a:t>
            </a:r>
            <a:r>
              <a:rPr lang="en-US" altLang="zh-CN" sz="2000" dirty="0">
                <a:latin typeface="Consolas" panose="020B0609020204030204" pitchFamily="49" charset="0"/>
              </a:rPr>
              <a:t> Align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0x001000 0x00030000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0x00030000</a:t>
            </a:r>
            <a:r>
              <a:rPr lang="en-US" altLang="zh-CN" sz="2000" dirty="0">
                <a:latin typeface="Consolas" panose="020B0609020204030204" pitchFamily="49" charset="0"/>
              </a:rPr>
              <a:t> 0x00154 </a:t>
            </a:r>
            <a:r>
              <a:rPr lang="en-US" altLang="zh-CN" sz="2000" dirty="0" err="1">
                <a:latin typeface="Consolas" panose="020B0609020204030204" pitchFamily="49" charset="0"/>
              </a:rPr>
              <a:t>0x00154</a:t>
            </a:r>
            <a:r>
              <a:rPr lang="en-US" altLang="zh-CN" sz="2000" dirty="0">
                <a:latin typeface="Consolas" panose="020B0609020204030204" pitchFamily="49" charset="0"/>
              </a:rPr>
              <a:t> R E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0x002000 0x00032000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0x00032000</a:t>
            </a:r>
            <a:r>
              <a:rPr lang="en-US" altLang="zh-CN" sz="2000" dirty="0">
                <a:latin typeface="Consolas" panose="020B0609020204030204" pitchFamily="49" charset="0"/>
              </a:rPr>
              <a:t> 0x00140 </a:t>
            </a:r>
            <a:r>
              <a:rPr lang="en-US" altLang="zh-CN" sz="2000" dirty="0" err="1">
                <a:latin typeface="Consolas" panose="020B0609020204030204" pitchFamily="49" charset="0"/>
              </a:rPr>
              <a:t>0x00140</a:t>
            </a:r>
            <a:r>
              <a:rPr lang="en-US" altLang="zh-CN" sz="2000" dirty="0">
                <a:latin typeface="Consolas" panose="020B0609020204030204" pitchFamily="49" charset="0"/>
              </a:rPr>
              <a:t> RW 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GNU_STACK      0x000000 0x00000000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0x00000000</a:t>
            </a:r>
            <a:r>
              <a:rPr lang="en-US" altLang="zh-CN" sz="2000" dirty="0">
                <a:latin typeface="Consolas" panose="020B0609020204030204" pitchFamily="49" charset="0"/>
              </a:rPr>
              <a:t> 0x00000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</a:t>
            </a:r>
            <a:r>
              <a:rPr lang="en-US" altLang="zh-CN" sz="2000" dirty="0">
                <a:latin typeface="Consolas" panose="020B0609020204030204" pitchFamily="49" charset="0"/>
              </a:rPr>
              <a:t> RWE 0x10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Section to Segment mapping: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Segment Sections...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00     .text .</a:t>
            </a:r>
            <a:r>
              <a:rPr lang="en-US" altLang="zh-CN" sz="2000" dirty="0" err="1">
                <a:latin typeface="Consolas" panose="020B0609020204030204" pitchFamily="49" charset="0"/>
              </a:rPr>
              <a:t>eh_frame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01     .</a:t>
            </a:r>
            <a:r>
              <a:rPr lang="en-US" altLang="zh-CN" sz="2000" dirty="0" err="1">
                <a:latin typeface="Consolas" panose="020B0609020204030204" pitchFamily="49" charset="0"/>
              </a:rPr>
              <a:t>got.plt</a:t>
            </a:r>
            <a:r>
              <a:rPr lang="en-US" altLang="zh-CN" sz="2000" dirty="0">
                <a:latin typeface="Consolas" panose="020B0609020204030204" pitchFamily="49" charset="0"/>
              </a:rPr>
              <a:t> .data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02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60835" y="5649858"/>
            <a:ext cx="398487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readelf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–l filename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2269" y="3185962"/>
            <a:ext cx="837398" cy="3561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12269" y="3542097"/>
            <a:ext cx="837398" cy="5871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15754" y="1498950"/>
            <a:ext cx="613129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i="1" dirty="0"/>
              <a:t>Type</a:t>
            </a:r>
            <a:r>
              <a:rPr lang="zh-CN" altLang="en-US" sz="2800" i="1" dirty="0"/>
              <a:t>指出</a:t>
            </a:r>
            <a:r>
              <a:rPr lang="en-US" altLang="zh-CN" sz="2800" i="1" dirty="0"/>
              <a:t>ELF</a:t>
            </a:r>
            <a:r>
              <a:rPr lang="zh-CN" altLang="en-US" sz="2800" i="1" dirty="0"/>
              <a:t>文件中节的类型，</a:t>
            </a:r>
            <a:r>
              <a:rPr lang="en-US" altLang="zh-CN" sz="2800" i="1" dirty="0"/>
              <a:t>Type</a:t>
            </a:r>
            <a:r>
              <a:rPr lang="zh-CN" altLang="en-US" sz="2800" i="1" dirty="0"/>
              <a:t>为</a:t>
            </a:r>
            <a:r>
              <a:rPr lang="en-US" altLang="zh-CN" sz="2800" i="1" dirty="0"/>
              <a:t>LOAD</a:t>
            </a:r>
            <a:r>
              <a:rPr lang="zh-CN" altLang="en-US" sz="2800" i="1" dirty="0"/>
              <a:t>表示需要装载</a:t>
            </a:r>
            <a:endParaRPr lang="zh-CN" altLang="en-US" sz="2800" i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装载程序的实现：解析程序头表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7200" y="2852879"/>
            <a:ext cx="11074400" cy="34778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Program Headers: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Type           Offset   </a:t>
            </a:r>
            <a:r>
              <a:rPr lang="en-US" altLang="zh-CN" sz="2000" dirty="0" err="1">
                <a:latin typeface="Consolas" panose="020B0609020204030204" pitchFamily="49" charset="0"/>
              </a:rPr>
              <a:t>VirtAddr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PhysAddr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FileSiz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MemSiz</a:t>
            </a: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en-US" altLang="zh-CN" sz="2000" dirty="0" err="1">
                <a:latin typeface="Consolas" panose="020B0609020204030204" pitchFamily="49" charset="0"/>
              </a:rPr>
              <a:t>Flg</a:t>
            </a:r>
            <a:r>
              <a:rPr lang="en-US" altLang="zh-CN" sz="2000" dirty="0">
                <a:latin typeface="Consolas" panose="020B0609020204030204" pitchFamily="49" charset="0"/>
              </a:rPr>
              <a:t> Align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0x001000 0x00030000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0x00030000</a:t>
            </a:r>
            <a:r>
              <a:rPr lang="en-US" altLang="zh-CN" sz="2000" dirty="0">
                <a:latin typeface="Consolas" panose="020B0609020204030204" pitchFamily="49" charset="0"/>
              </a:rPr>
              <a:t> 0x00154 </a:t>
            </a:r>
            <a:r>
              <a:rPr lang="en-US" altLang="zh-CN" sz="2000" dirty="0" err="1">
                <a:latin typeface="Consolas" panose="020B0609020204030204" pitchFamily="49" charset="0"/>
              </a:rPr>
              <a:t>0x00154</a:t>
            </a:r>
            <a:r>
              <a:rPr lang="en-US" altLang="zh-CN" sz="2000" dirty="0">
                <a:latin typeface="Consolas" panose="020B0609020204030204" pitchFamily="49" charset="0"/>
              </a:rPr>
              <a:t> R E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0x002000 0x00032000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0x00032000</a:t>
            </a:r>
            <a:r>
              <a:rPr lang="en-US" altLang="zh-CN" sz="2000" dirty="0">
                <a:latin typeface="Consolas" panose="020B0609020204030204" pitchFamily="49" charset="0"/>
              </a:rPr>
              <a:t> 0x00140 </a:t>
            </a:r>
            <a:r>
              <a:rPr lang="en-US" altLang="zh-CN" sz="2000" dirty="0" err="1">
                <a:latin typeface="Consolas" panose="020B0609020204030204" pitchFamily="49" charset="0"/>
              </a:rPr>
              <a:t>0x00140</a:t>
            </a:r>
            <a:r>
              <a:rPr lang="en-US" altLang="zh-CN" sz="2000" dirty="0">
                <a:latin typeface="Consolas" panose="020B0609020204030204" pitchFamily="49" charset="0"/>
              </a:rPr>
              <a:t> RW 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GNU_STACK      0x000000 0x00000000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0x00000000</a:t>
            </a:r>
            <a:r>
              <a:rPr lang="en-US" altLang="zh-CN" sz="2000" dirty="0">
                <a:latin typeface="Consolas" panose="020B0609020204030204" pitchFamily="49" charset="0"/>
              </a:rPr>
              <a:t> 0x00000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</a:t>
            </a:r>
            <a:r>
              <a:rPr lang="en-US" altLang="zh-CN" sz="2000" dirty="0">
                <a:latin typeface="Consolas" panose="020B0609020204030204" pitchFamily="49" charset="0"/>
              </a:rPr>
              <a:t> RWE 0x10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Section to Segment mapping: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Segment Sections...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00     .text .</a:t>
            </a:r>
            <a:r>
              <a:rPr lang="en-US" altLang="zh-CN" sz="2000" dirty="0" err="1">
                <a:latin typeface="Consolas" panose="020B0609020204030204" pitchFamily="49" charset="0"/>
              </a:rPr>
              <a:t>eh_frame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01     .</a:t>
            </a:r>
            <a:r>
              <a:rPr lang="en-US" altLang="zh-CN" sz="2000" dirty="0" err="1">
                <a:latin typeface="Consolas" panose="020B0609020204030204" pitchFamily="49" charset="0"/>
              </a:rPr>
              <a:t>got.plt</a:t>
            </a:r>
            <a:r>
              <a:rPr lang="en-US" altLang="zh-CN" sz="2000" dirty="0">
                <a:latin typeface="Consolas" panose="020B0609020204030204" pitchFamily="49" charset="0"/>
              </a:rPr>
              <a:t> .data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02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60835" y="5649858"/>
            <a:ext cx="398487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readelf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–l filename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68328" y="3147461"/>
            <a:ext cx="986122" cy="3561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15754" y="1498950"/>
            <a:ext cx="9364846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i="1" dirty="0"/>
              <a:t>若</a:t>
            </a:r>
            <a:r>
              <a:rPr lang="en-US" altLang="zh-CN" sz="2800" i="1" dirty="0"/>
              <a:t>Type</a:t>
            </a:r>
            <a:r>
              <a:rPr lang="zh-CN" altLang="en-US" sz="2800" i="1" dirty="0"/>
              <a:t>为</a:t>
            </a:r>
            <a:r>
              <a:rPr lang="en-US" altLang="zh-CN" sz="2800" i="1" dirty="0"/>
              <a:t>LOAD</a:t>
            </a:r>
            <a:r>
              <a:rPr lang="zh-CN" altLang="en-US" sz="2800" i="1" dirty="0"/>
              <a:t>，则</a:t>
            </a:r>
            <a:r>
              <a:rPr lang="en-US" altLang="zh-CN" sz="2800" i="1" dirty="0"/>
              <a:t>ELF</a:t>
            </a:r>
            <a:r>
              <a:rPr lang="zh-CN" altLang="en-US" sz="2800" i="1" dirty="0"/>
              <a:t>文件中从文件</a:t>
            </a:r>
            <a:r>
              <a:rPr lang="en-US" altLang="zh-CN" sz="2800" i="1" dirty="0"/>
              <a:t>Offset</a:t>
            </a:r>
            <a:r>
              <a:rPr lang="zh-CN" altLang="en-US" sz="2800" i="1" dirty="0"/>
              <a:t>开始位置，连续</a:t>
            </a:r>
            <a:r>
              <a:rPr lang="en-US" altLang="zh-CN" sz="2800" i="1" dirty="0" err="1"/>
              <a:t>FileSiz</a:t>
            </a:r>
            <a:r>
              <a:rPr lang="zh-CN" altLang="en-US" sz="2800" i="1" dirty="0"/>
              <a:t>个字节的内容需要被装载</a:t>
            </a:r>
            <a:endParaRPr lang="zh-CN" altLang="en-US" sz="2800" i="1" dirty="0"/>
          </a:p>
        </p:txBody>
      </p:sp>
      <p:sp>
        <p:nvSpPr>
          <p:cNvPr id="13" name="矩形 12"/>
          <p:cNvSpPr/>
          <p:nvPr/>
        </p:nvSpPr>
        <p:spPr>
          <a:xfrm>
            <a:off x="7167277" y="3147461"/>
            <a:ext cx="1130055" cy="3561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装载程序的实现：解析程序头表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7200" y="2852879"/>
            <a:ext cx="11074400" cy="34778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Program Headers: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Type           Offset   </a:t>
            </a:r>
            <a:r>
              <a:rPr lang="en-US" altLang="zh-CN" sz="2000" dirty="0" err="1">
                <a:latin typeface="Consolas" panose="020B0609020204030204" pitchFamily="49" charset="0"/>
              </a:rPr>
              <a:t>VirtAddr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PhysAddr</a:t>
            </a: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FileSiz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MemSiz</a:t>
            </a: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en-US" altLang="zh-CN" sz="2000" dirty="0" err="1">
                <a:latin typeface="Consolas" panose="020B0609020204030204" pitchFamily="49" charset="0"/>
              </a:rPr>
              <a:t>Flg</a:t>
            </a:r>
            <a:r>
              <a:rPr lang="en-US" altLang="zh-CN" sz="2000" dirty="0">
                <a:latin typeface="Consolas" panose="020B0609020204030204" pitchFamily="49" charset="0"/>
              </a:rPr>
              <a:t> Align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0x001000 0x00030000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0x00030000</a:t>
            </a:r>
            <a:r>
              <a:rPr lang="en-US" altLang="zh-CN" sz="2000" dirty="0">
                <a:latin typeface="Consolas" panose="020B0609020204030204" pitchFamily="49" charset="0"/>
              </a:rPr>
              <a:t> 0x00154 </a:t>
            </a:r>
            <a:r>
              <a:rPr lang="en-US" altLang="zh-CN" sz="2000" dirty="0" err="1">
                <a:latin typeface="Consolas" panose="020B0609020204030204" pitchFamily="49" charset="0"/>
              </a:rPr>
              <a:t>0x00154</a:t>
            </a:r>
            <a:r>
              <a:rPr lang="en-US" altLang="zh-CN" sz="2000" dirty="0">
                <a:latin typeface="Consolas" panose="020B0609020204030204" pitchFamily="49" charset="0"/>
              </a:rPr>
              <a:t> R E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LOAD           0x002000 0x00032000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0x00032000</a:t>
            </a:r>
            <a:r>
              <a:rPr lang="en-US" altLang="zh-CN" sz="2000" dirty="0">
                <a:latin typeface="Consolas" panose="020B0609020204030204" pitchFamily="49" charset="0"/>
              </a:rPr>
              <a:t> 0x00140 </a:t>
            </a:r>
            <a:r>
              <a:rPr lang="en-US" altLang="zh-CN" sz="2000" dirty="0" err="1">
                <a:latin typeface="Consolas" panose="020B0609020204030204" pitchFamily="49" charset="0"/>
              </a:rPr>
              <a:t>0x00140</a:t>
            </a:r>
            <a:r>
              <a:rPr lang="en-US" altLang="zh-CN" sz="2000" dirty="0">
                <a:latin typeface="Consolas" panose="020B0609020204030204" pitchFamily="49" charset="0"/>
              </a:rPr>
              <a:t> RW  0x1000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GNU_STACK      0x000000 0x00000000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0x00000000</a:t>
            </a:r>
            <a:r>
              <a:rPr lang="en-US" altLang="zh-CN" sz="2000" dirty="0">
                <a:latin typeface="Consolas" panose="020B0609020204030204" pitchFamily="49" charset="0"/>
              </a:rPr>
              <a:t> 0x00000 </a:t>
            </a:r>
            <a:r>
              <a:rPr lang="en-US" altLang="zh-CN" sz="2000" dirty="0" err="1">
                <a:latin typeface="Consolas" panose="020B0609020204030204" pitchFamily="49" charset="0"/>
              </a:rPr>
              <a:t>0x00000</a:t>
            </a:r>
            <a:r>
              <a:rPr lang="en-US" altLang="zh-CN" sz="2000" dirty="0">
                <a:latin typeface="Consolas" panose="020B0609020204030204" pitchFamily="49" charset="0"/>
              </a:rPr>
              <a:t> RWE 0x10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Section to Segment mapping: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Segment Sections...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00     .text .</a:t>
            </a:r>
            <a:r>
              <a:rPr lang="en-US" altLang="zh-CN" sz="2000" dirty="0" err="1">
                <a:latin typeface="Consolas" panose="020B0609020204030204" pitchFamily="49" charset="0"/>
              </a:rPr>
              <a:t>eh_frame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01     .</a:t>
            </a:r>
            <a:r>
              <a:rPr lang="en-US" altLang="zh-CN" sz="2000" dirty="0" err="1">
                <a:latin typeface="Consolas" panose="020B0609020204030204" pitchFamily="49" charset="0"/>
              </a:rPr>
              <a:t>got.plt</a:t>
            </a:r>
            <a:r>
              <a:rPr lang="en-US" altLang="zh-CN" sz="2000" dirty="0">
                <a:latin typeface="Consolas" panose="020B0609020204030204" pitchFamily="49" charset="0"/>
              </a:rPr>
              <a:t> .data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   02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60835" y="5649858"/>
            <a:ext cx="398487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readelf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–l filename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12170" y="3162839"/>
            <a:ext cx="1374230" cy="3561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7200" y="1989211"/>
            <a:ext cx="936484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i="1" dirty="0"/>
              <a:t>装载到内存</a:t>
            </a:r>
            <a:r>
              <a:rPr lang="en-US" altLang="zh-CN" sz="2800" i="1" dirty="0" err="1"/>
              <a:t>VirtAddr</a:t>
            </a:r>
            <a:r>
              <a:rPr lang="zh-CN" altLang="en-US" sz="2800" i="1" dirty="0"/>
              <a:t>开始，连续</a:t>
            </a:r>
            <a:r>
              <a:rPr lang="en-US" altLang="zh-CN" sz="2800" i="1" dirty="0" err="1"/>
              <a:t>MemSiz</a:t>
            </a:r>
            <a:r>
              <a:rPr lang="zh-CN" altLang="en-US" sz="2800" i="1" dirty="0"/>
              <a:t>个字节的区域中</a:t>
            </a:r>
            <a:endParaRPr lang="zh-CN" altLang="en-US" sz="2800" i="1" dirty="0"/>
          </a:p>
        </p:txBody>
      </p:sp>
      <p:sp>
        <p:nvSpPr>
          <p:cNvPr id="13" name="矩形 12"/>
          <p:cNvSpPr/>
          <p:nvPr/>
        </p:nvSpPr>
        <p:spPr>
          <a:xfrm>
            <a:off x="8310277" y="3162839"/>
            <a:ext cx="1036923" cy="3561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86400" y="1241130"/>
            <a:ext cx="433564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800" i="1" dirty="0" err="1"/>
              <a:t>MemSiz</a:t>
            </a:r>
            <a:r>
              <a:rPr lang="zh-CN" altLang="en-US" sz="2800" i="1" dirty="0"/>
              <a:t>可能大于</a:t>
            </a:r>
            <a:r>
              <a:rPr lang="en-US" altLang="zh-CN" sz="2800" i="1" dirty="0" err="1"/>
              <a:t>FileSiz</a:t>
            </a:r>
            <a:endParaRPr lang="zh-CN" altLang="en-US" sz="28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装载程序的实现：解析程序头表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57DE5-7ACC-43AA-9252-FF8FD3D025E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52950" y="6481043"/>
            <a:ext cx="3086100" cy="365125"/>
          </a:xfrm>
        </p:spPr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923469" y="1463443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6" name="连接符: 肘形 15"/>
          <p:cNvCxnSpPr/>
          <p:nvPr/>
        </p:nvCxnSpPr>
        <p:spPr>
          <a:xfrm rot="10800000" flipV="1">
            <a:off x="5902133" y="1652016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/>
          <p:cNvCxnSpPr/>
          <p:nvPr/>
        </p:nvCxnSpPr>
        <p:spPr>
          <a:xfrm rot="10800000" flipV="1">
            <a:off x="5902133" y="1652016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052217" y="16223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8" name="连接符: 肘形 27"/>
          <p:cNvCxnSpPr/>
          <p:nvPr/>
        </p:nvCxnSpPr>
        <p:spPr>
          <a:xfrm flipV="1">
            <a:off x="9588672" y="5343559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/>
          <p:nvPr/>
        </p:nvCxnSpPr>
        <p:spPr>
          <a:xfrm flipV="1">
            <a:off x="9588672" y="3120619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/>
          <p:cNvCxnSpPr/>
          <p:nvPr/>
        </p:nvCxnSpPr>
        <p:spPr>
          <a:xfrm flipH="1" flipV="1">
            <a:off x="9581372" y="2729979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/>
          <p:cNvCxnSpPr/>
          <p:nvPr/>
        </p:nvCxnSpPr>
        <p:spPr>
          <a:xfrm flipV="1">
            <a:off x="9588672" y="2376153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9905561" y="535563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23541" y="5471563"/>
            <a:ext cx="2625090" cy="441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</a:t>
            </a:r>
            <a:endParaRPr lang="zh-CN" altLang="en-US" dirty="0"/>
          </a:p>
        </p:txBody>
      </p:sp>
      <p:cxnSp>
        <p:nvCxnSpPr>
          <p:cNvPr id="38" name="直接箭头连接符 37"/>
          <p:cNvCxnSpPr/>
          <p:nvPr/>
        </p:nvCxnSpPr>
        <p:spPr>
          <a:xfrm flipH="1">
            <a:off x="2644140" y="2747558"/>
            <a:ext cx="3352800" cy="269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3970020" y="3451860"/>
            <a:ext cx="2057400" cy="1988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3289636" y="3659777"/>
            <a:ext cx="1099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LOAD</a:t>
            </a:r>
            <a:endParaRPr lang="zh-CN" altLang="en-US" sz="2800" dirty="0"/>
          </a:p>
        </p:txBody>
      </p:sp>
      <p:sp>
        <p:nvSpPr>
          <p:cNvPr id="46" name="文本框 45"/>
          <p:cNvSpPr txBox="1"/>
          <p:nvPr/>
        </p:nvSpPr>
        <p:spPr>
          <a:xfrm>
            <a:off x="1667915" y="250009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7030A0"/>
                </a:solidFill>
              </a:rPr>
              <a:t>程序头表</a:t>
            </a:r>
            <a:endParaRPr lang="zh-CN" altLang="en-US" sz="3200" dirty="0">
              <a:solidFill>
                <a:srgbClr val="7030A0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565630" y="3594933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7818120" y="4328161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7774930" y="44665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426511" y="4891388"/>
            <a:ext cx="1099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LOAD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装载</a:t>
            </a:r>
            <a:r>
              <a:rPr lang="en-US" altLang="zh-CN" dirty="0"/>
              <a:t>ELF</a:t>
            </a:r>
            <a:r>
              <a:rPr lang="zh-CN" altLang="en-US" dirty="0"/>
              <a:t>可执行文件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所谓装载</a:t>
            </a:r>
            <a:r>
              <a:rPr lang="en-US" altLang="zh-CN" sz="3200" dirty="0"/>
              <a:t>ELF</a:t>
            </a:r>
            <a:r>
              <a:rPr lang="zh-CN" altLang="en-US" sz="3200" dirty="0"/>
              <a:t>可执行文件，就是把程序头表中，</a:t>
            </a:r>
            <a:r>
              <a:rPr lang="en-US" altLang="zh-CN" sz="3200" dirty="0"/>
              <a:t>Type</a:t>
            </a:r>
            <a:r>
              <a:rPr lang="zh-CN" altLang="en-US" sz="3200" dirty="0"/>
              <a:t>为</a:t>
            </a:r>
            <a:r>
              <a:rPr lang="en-US" altLang="zh-CN" sz="3200" dirty="0"/>
              <a:t>LOAD</a:t>
            </a:r>
            <a:r>
              <a:rPr lang="zh-CN" altLang="en-US" sz="3200" dirty="0"/>
              <a:t>类型的项目，把</a:t>
            </a:r>
            <a:r>
              <a:rPr lang="en-US" altLang="zh-CN" sz="3200" dirty="0"/>
              <a:t>ELF</a:t>
            </a:r>
            <a:r>
              <a:rPr lang="zh-CN" altLang="en-US" sz="3200" dirty="0"/>
              <a:t>文件中从</a:t>
            </a:r>
            <a:r>
              <a:rPr lang="en-US" altLang="zh-CN" sz="3200" dirty="0"/>
              <a:t>Offset</a:t>
            </a:r>
            <a:r>
              <a:rPr lang="zh-CN" altLang="en-US" sz="3200" dirty="0"/>
              <a:t>开始的</a:t>
            </a:r>
            <a:r>
              <a:rPr lang="en-US" altLang="zh-CN" sz="3200" dirty="0" err="1"/>
              <a:t>FileSiz</a:t>
            </a:r>
            <a:r>
              <a:rPr lang="zh-CN" altLang="en-US" sz="3200" dirty="0"/>
              <a:t>字节的内容，拷贝到内存</a:t>
            </a:r>
            <a:r>
              <a:rPr lang="en-US" altLang="zh-CN" sz="3200" dirty="0" err="1"/>
              <a:t>VirtAddr</a:t>
            </a:r>
            <a:r>
              <a:rPr lang="zh-CN" altLang="en-US" sz="3200" dirty="0"/>
              <a:t>开始的</a:t>
            </a:r>
            <a:r>
              <a:rPr lang="en-US" altLang="zh-CN" sz="3200" dirty="0" err="1"/>
              <a:t>MemSiz</a:t>
            </a:r>
            <a:r>
              <a:rPr lang="zh-CN" altLang="en-US" sz="3200" dirty="0"/>
              <a:t>大小的区域中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有时候</a:t>
            </a:r>
            <a:r>
              <a:rPr lang="en-US" altLang="zh-CN" sz="3200" dirty="0" err="1"/>
              <a:t>MemSiz</a:t>
            </a:r>
            <a:r>
              <a:rPr lang="zh-CN" altLang="en-US" sz="3200" dirty="0"/>
              <a:t>比</a:t>
            </a:r>
            <a:r>
              <a:rPr lang="en-US" altLang="zh-CN" sz="3200" dirty="0" err="1"/>
              <a:t>FileSiz</a:t>
            </a:r>
            <a:r>
              <a:rPr lang="zh-CN" altLang="en-US" sz="3200" dirty="0"/>
              <a:t>大？把内存中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            </a:t>
            </a:r>
            <a:r>
              <a:rPr lang="en-US" altLang="zh-CN" sz="3200" dirty="0" err="1"/>
              <a:t>VirtAddr</a:t>
            </a:r>
            <a:r>
              <a:rPr lang="en-US" altLang="zh-CN" sz="3200" dirty="0"/>
              <a:t> + [</a:t>
            </a:r>
            <a:r>
              <a:rPr lang="en-US" altLang="zh-CN" sz="3200" dirty="0" err="1"/>
              <a:t>FileSiz</a:t>
            </a:r>
            <a:r>
              <a:rPr lang="en-US" altLang="zh-CN" sz="3200" dirty="0"/>
              <a:t>, </a:t>
            </a:r>
            <a:r>
              <a:rPr lang="en-US" altLang="zh-CN" sz="3200" dirty="0" err="1"/>
              <a:t>MemSiz</a:t>
            </a:r>
            <a:r>
              <a:rPr lang="en-US" altLang="zh-CN" sz="3200" dirty="0"/>
              <a:t>]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 </a:t>
            </a:r>
            <a:r>
              <a:rPr lang="zh-CN" altLang="en-US" sz="3200" dirty="0"/>
              <a:t>的区域清零</a:t>
            </a:r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EB58-DFA7-4E76-8ECF-2EBC32A0890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26275" y="0"/>
            <a:ext cx="8536930" cy="65556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+-------+---------------+-----------------------+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|       |...............|                       |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|       |...............|                       |  ELF file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|       |...............|                       |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+-------+---------------+-----------------------+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0       ^               |        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|&lt;------+------&gt;| 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|       |       |       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|       |                      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|       +----------------------------+ 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|                                    | 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Type       |   Offset    </a:t>
            </a:r>
            <a:r>
              <a:rPr lang="en-US" altLang="zh-CN" sz="1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VirtAddr</a:t>
            </a:r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</a:t>
            </a:r>
            <a:r>
              <a:rPr lang="en-US" altLang="zh-CN" sz="1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PhysAddr</a:t>
            </a:r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|</a:t>
            </a:r>
            <a:r>
              <a:rPr lang="en-US" altLang="zh-CN" sz="1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FileSiz</a:t>
            </a:r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</a:t>
            </a:r>
            <a:r>
              <a:rPr lang="en-US" altLang="zh-CN" sz="1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MemSiz</a:t>
            </a:r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</a:t>
            </a:r>
            <a:r>
              <a:rPr lang="en-US" altLang="zh-CN" sz="1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Flg</a:t>
            </a:r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Align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LOAD       +-- 0x001000  0x00100000  </a:t>
            </a:r>
            <a:r>
              <a:rPr lang="en-US" altLang="zh-CN" sz="1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0x00100000</a:t>
            </a:r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+0x1d600  0x27240  RWE  0x1000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                    |       |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+-------------------+       |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|                           |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|     |           |         | 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|     |           |         |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|     +-----------+ ---     |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|     |</a:t>
            </a:r>
            <a:r>
              <a:rPr lang="en-US" altLang="zh-CN" sz="14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00000000000</a:t>
            </a:r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^      |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| --- |</a:t>
            </a:r>
            <a:r>
              <a:rPr lang="en-US" altLang="zh-CN" sz="14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00000000000</a:t>
            </a:r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|      |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|  ^  |...........|  |      |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|  |  |...........|  +------+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+--+  |...........|  | 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   |  |...........|  |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|      v  |...........|  v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+-------&gt; +-----------+ ---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          |           | 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          |           |    </a:t>
            </a:r>
            <a:endParaRPr lang="zh-CN" altLang="zh-CN" sz="1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685800" algn="just"/>
            <a:r>
              <a:rPr lang="en-US" altLang="zh-CN" sz="1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             Memory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7167968" y="3960692"/>
            <a:ext cx="2628990" cy="6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这一块到底是什么，能尝试找出个例子吗？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67205" y="61190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低地址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267205" y="35913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高地址</a:t>
            </a:r>
            <a:endParaRPr lang="zh-CN" altLang="en-US" dirty="0"/>
          </a:p>
        </p:txBody>
      </p:sp>
      <p:cxnSp>
        <p:nvCxnSpPr>
          <p:cNvPr id="12" name="直接箭头连接符 11"/>
          <p:cNvCxnSpPr>
            <a:stCxn id="9" idx="0"/>
            <a:endCxn id="10" idx="2"/>
          </p:cNvCxnSpPr>
          <p:nvPr/>
        </p:nvCxnSpPr>
        <p:spPr>
          <a:xfrm flipV="1">
            <a:off x="4705787" y="3960692"/>
            <a:ext cx="0" cy="2158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826275" y="9644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文件开头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296910" y="9644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文件末尾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101809" y="24127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程序头表项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完整的装载逻辑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3" y="1574512"/>
            <a:ext cx="2025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loader</a:t>
            </a:r>
            <a:r>
              <a:rPr lang="zh-CN" altLang="en-US" sz="2800" dirty="0"/>
              <a:t>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3255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zh-CN" altLang="en-US" sz="2000" dirty="0"/>
              <a:t>输出：程序入口地址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5299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读入</a:t>
            </a:r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程序入口地址 </a:t>
            </a:r>
            <a:r>
              <a:rPr lang="en-US" altLang="zh-CN" dirty="0"/>
              <a:t>= entry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定位程序头表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for </a:t>
            </a:r>
            <a:r>
              <a:rPr lang="zh-CN" altLang="en-US" dirty="0"/>
              <a:t>程序头表中的每一项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if Type == Load then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        </a:t>
            </a:r>
            <a:r>
              <a:rPr lang="zh-CN" altLang="en-US" dirty="0"/>
              <a:t>执行装载到内存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end if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end for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return </a:t>
            </a:r>
            <a:r>
              <a:rPr lang="zh-CN" altLang="en-US" dirty="0"/>
              <a:t>程序入口地址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完整的装载逻辑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3" y="1574512"/>
            <a:ext cx="2025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loader</a:t>
            </a:r>
            <a:r>
              <a:rPr lang="zh-CN" altLang="en-US" sz="2800" dirty="0"/>
              <a:t>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3255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zh-CN" altLang="en-US" sz="2000" dirty="0"/>
              <a:t>输出：程序入口地址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5299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C00000"/>
                </a:solidFill>
              </a:rPr>
              <a:t>读入</a:t>
            </a:r>
            <a:r>
              <a:rPr lang="en-US" altLang="zh-CN" b="1" dirty="0">
                <a:solidFill>
                  <a:srgbClr val="C00000"/>
                </a:solidFill>
              </a:rPr>
              <a:t>ELF</a:t>
            </a:r>
            <a:r>
              <a:rPr lang="zh-CN" altLang="en-US" b="1" dirty="0">
                <a:solidFill>
                  <a:srgbClr val="C00000"/>
                </a:solidFill>
              </a:rPr>
              <a:t>头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C00000"/>
                </a:solidFill>
              </a:rPr>
              <a:t>程序入口地址 </a:t>
            </a:r>
            <a:r>
              <a:rPr lang="en-US" altLang="zh-CN" b="1" dirty="0">
                <a:solidFill>
                  <a:srgbClr val="C00000"/>
                </a:solidFill>
              </a:rPr>
              <a:t>= entry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C00000"/>
                </a:solidFill>
              </a:rPr>
              <a:t>定位程序头表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/>
              <a:t>for </a:t>
            </a:r>
            <a:r>
              <a:rPr lang="zh-CN" altLang="en-US" dirty="0"/>
              <a:t>程序头表中的每一项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if Type == Load then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        </a:t>
            </a:r>
            <a:r>
              <a:rPr lang="zh-CN" altLang="en-US" dirty="0"/>
              <a:t>执行装载到内存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end if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end for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return </a:t>
            </a:r>
            <a:r>
              <a:rPr lang="zh-CN" altLang="en-US" b="1" dirty="0">
                <a:solidFill>
                  <a:srgbClr val="C00000"/>
                </a:solidFill>
              </a:rPr>
              <a:t>程序入口地址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6379" y="474759"/>
            <a:ext cx="6221551" cy="4616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</a:rPr>
              <a:t>ELF Header: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Magic:   7f 45 4c 46 01 01 01 00 00 00 00 00 00 00 00 00 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Class:                             ELF32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Data:                              2's complement, little endian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Version:                           1 (current)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OS/ABI:                            UNIX - System V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ABI Version:                       0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Type:                              EXEC (Executable file)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Machine:                           Intel 80386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Version:                           0x1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Entry point address:               0x30000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Start of program headers:          52 (bytes into file)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Start of section headers:          18276 (bytes into file)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Flags:                             0x0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Size of this header:               52 (bytes)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Size of program headers:           32 (bytes)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Number of program headers:         3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Size of section headers:           40 (bytes)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Number of section headers:         15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  Section header string table index: 14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28281" y="797924"/>
            <a:ext cx="457148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#define EI_NIDENT 16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typedef struct {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unsigned char e_ident[EI_NIDENT];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uint16_t      e_type;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uint16_t      e_machine;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uint32_t      e_version;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ElfN_Addr     e_entry;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ElfN_Off      e_phoff;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ElfN_Off      e_shoff;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uint32_t      e_flags;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uint16_t      e_ehsize;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uint16_t      e_phentsize;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uint16_t      e_phnum;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uint16_t      e_shentsize;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uint16_t      e_shnum;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       uint16_t      e_shstrndx;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chemeClr val="dk1"/>
                </a:solidFill>
                <a:latin typeface="Consolas" panose="020B0609020204030204" pitchFamily="49" charset="0"/>
              </a:rPr>
              <a:t>} ElfN_Ehdr;</a:t>
            </a:r>
            <a:endParaRPr lang="zh-CN" altLang="en-US" sz="1400" dirty="0">
              <a:solidFill>
                <a:schemeClr val="dk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8645" y="5404578"/>
            <a:ext cx="738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头，它位于整个</a:t>
            </a:r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文件最开始的地方。在</a:t>
            </a:r>
            <a:r>
              <a:rPr lang="en-US" altLang="zh-CN" dirty="0">
                <a:solidFill>
                  <a:srgbClr val="C00000"/>
                </a:solidFill>
              </a:rPr>
              <a:t>32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r>
              <a:rPr lang="en-US" altLang="zh-CN" dirty="0">
                <a:solidFill>
                  <a:srgbClr val="C00000"/>
                </a:solidFill>
              </a:rPr>
              <a:t>Linux</a:t>
            </a:r>
            <a:r>
              <a:rPr lang="zh-CN" altLang="en-US" dirty="0">
                <a:solidFill>
                  <a:srgbClr val="C00000"/>
                </a:solidFill>
              </a:rPr>
              <a:t>系统中，</a:t>
            </a:r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r>
              <a:rPr lang="zh-CN" altLang="en-US" dirty="0">
                <a:solidFill>
                  <a:srgbClr val="C00000"/>
                </a:solidFill>
              </a:rPr>
              <a:t>头文件中的</a:t>
            </a:r>
            <a:r>
              <a:rPr lang="en-US" altLang="zh-CN" dirty="0">
                <a:solidFill>
                  <a:srgbClr val="C00000"/>
                </a:solidFill>
              </a:rPr>
              <a:t>Elf32_Ehdr</a:t>
            </a:r>
            <a:r>
              <a:rPr lang="zh-CN" altLang="en-US" dirty="0">
                <a:solidFill>
                  <a:srgbClr val="C00000"/>
                </a:solidFill>
              </a:rPr>
              <a:t>数据结构与之对应。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78645" y="1605290"/>
            <a:ext cx="5375910" cy="34778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ELF Header: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Magic:   7f 45 4c 46 01 01 01 00 00 00 00 00 00 00 00 00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Class:                             ELF32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Data:                              2's complement, little endian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Version:                           1 (current)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OS/ABI:                            UNIX - System V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ABI Version:                       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Type:                              EXEC (Executable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Machine:                           Intel 80386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Version:                           0x1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Entry point address:               0x30000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Start of program headers:          52 (bytes into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Start of section headers:          18276 (bytes into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Flags:                             0x0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this header:               52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program headers:           32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Number of program headers:         3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section headers:           40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Number of section headers:         15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Section header string table index: 14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61285" y="1636066"/>
            <a:ext cx="2806700" cy="341632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200" dirty="0"/>
              <a:t>#define EI_NIDENT 16</a:t>
            </a:r>
            <a:endParaRPr lang="zh-CN" altLang="en-US" sz="1200" dirty="0"/>
          </a:p>
          <a:p>
            <a:endParaRPr lang="zh-CN" altLang="en-US" sz="1200" dirty="0"/>
          </a:p>
          <a:p>
            <a:r>
              <a:rPr lang="zh-CN" altLang="en-US" sz="1200" dirty="0"/>
              <a:t>typedef struct {</a:t>
            </a:r>
            <a:endParaRPr lang="zh-CN" altLang="en-US" sz="1200" dirty="0"/>
          </a:p>
          <a:p>
            <a:r>
              <a:rPr lang="zh-CN" altLang="en-US" sz="1200" dirty="0"/>
              <a:t>       unsigned char e_ident[EI_NIDENT];</a:t>
            </a:r>
            <a:endParaRPr lang="zh-CN" altLang="en-US" sz="1200" dirty="0"/>
          </a:p>
          <a:p>
            <a:r>
              <a:rPr lang="zh-CN" altLang="en-US" sz="1200" dirty="0"/>
              <a:t>       uint16_t      e_type;</a:t>
            </a:r>
            <a:endParaRPr lang="zh-CN" altLang="en-US" sz="1200" dirty="0"/>
          </a:p>
          <a:p>
            <a:r>
              <a:rPr lang="zh-CN" altLang="en-US" sz="1200" dirty="0"/>
              <a:t>       uint16_t      e_machine;</a:t>
            </a:r>
            <a:endParaRPr lang="zh-CN" altLang="en-US" sz="1200" dirty="0"/>
          </a:p>
          <a:p>
            <a:r>
              <a:rPr lang="zh-CN" altLang="en-US" sz="1200" dirty="0"/>
              <a:t>       uint32_t      e_version;</a:t>
            </a:r>
            <a:endParaRPr lang="zh-CN" altLang="en-US" sz="1200" dirty="0"/>
          </a:p>
          <a:p>
            <a:r>
              <a:rPr lang="zh-CN" altLang="en-US" sz="1200" dirty="0"/>
              <a:t>       ElfN_Addr     e_entry;</a:t>
            </a:r>
            <a:endParaRPr lang="zh-CN" altLang="en-US" sz="1200" dirty="0"/>
          </a:p>
          <a:p>
            <a:r>
              <a:rPr lang="zh-CN" altLang="en-US" sz="1200" dirty="0"/>
              <a:t>       ElfN_Off      e_phoff;</a:t>
            </a:r>
            <a:endParaRPr lang="zh-CN" altLang="en-US" sz="1200" dirty="0"/>
          </a:p>
          <a:p>
            <a:r>
              <a:rPr lang="zh-CN" altLang="en-US" sz="1200" dirty="0"/>
              <a:t>       ElfN_Off      e_shoff;</a:t>
            </a:r>
            <a:endParaRPr lang="zh-CN" altLang="en-US" sz="1200" dirty="0"/>
          </a:p>
          <a:p>
            <a:r>
              <a:rPr lang="zh-CN" altLang="en-US" sz="1200" dirty="0"/>
              <a:t>       uint32_t      e_flags;</a:t>
            </a:r>
            <a:endParaRPr lang="zh-CN" altLang="en-US" sz="1200" dirty="0"/>
          </a:p>
          <a:p>
            <a:r>
              <a:rPr lang="zh-CN" altLang="en-US" sz="1200" dirty="0"/>
              <a:t>       uint16_t      e_ehsize;</a:t>
            </a:r>
            <a:endParaRPr lang="zh-CN" altLang="en-US" sz="1200" dirty="0"/>
          </a:p>
          <a:p>
            <a:r>
              <a:rPr lang="zh-CN" altLang="en-US" sz="1200" dirty="0"/>
              <a:t>       uint16_t      e_phentsize;</a:t>
            </a:r>
            <a:endParaRPr lang="zh-CN" altLang="en-US" sz="1200" dirty="0"/>
          </a:p>
          <a:p>
            <a:r>
              <a:rPr lang="zh-CN" altLang="en-US" sz="1200" dirty="0"/>
              <a:t>       uint16_t      e_phnum;</a:t>
            </a:r>
            <a:endParaRPr lang="zh-CN" altLang="en-US" sz="1200" dirty="0"/>
          </a:p>
          <a:p>
            <a:r>
              <a:rPr lang="zh-CN" altLang="en-US" sz="1200" dirty="0"/>
              <a:t>       uint16_t      e_shentsize;</a:t>
            </a:r>
            <a:endParaRPr lang="zh-CN" altLang="en-US" sz="1200" dirty="0"/>
          </a:p>
          <a:p>
            <a:r>
              <a:rPr lang="zh-CN" altLang="en-US" sz="1200" dirty="0"/>
              <a:t>       uint16_t      e_shnum;</a:t>
            </a:r>
            <a:endParaRPr lang="zh-CN" altLang="en-US" sz="1200" dirty="0"/>
          </a:p>
          <a:p>
            <a:r>
              <a:rPr lang="zh-CN" altLang="en-US" sz="1200" dirty="0"/>
              <a:t>       uint16_t      e_shstrndx;</a:t>
            </a:r>
            <a:endParaRPr lang="zh-CN" altLang="en-US" sz="1200" dirty="0"/>
          </a:p>
          <a:p>
            <a:r>
              <a:rPr lang="zh-CN" altLang="en-US" sz="1200" dirty="0"/>
              <a:t>} ElfN_Ehdr;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978645" y="5404578"/>
            <a:ext cx="738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头，它位于整个</a:t>
            </a:r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文件最开始的地方。在</a:t>
            </a:r>
            <a:r>
              <a:rPr lang="en-US" altLang="zh-CN" dirty="0">
                <a:solidFill>
                  <a:srgbClr val="C00000"/>
                </a:solidFill>
              </a:rPr>
              <a:t>32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r>
              <a:rPr lang="en-US" altLang="zh-CN" dirty="0">
                <a:solidFill>
                  <a:srgbClr val="C00000"/>
                </a:solidFill>
              </a:rPr>
              <a:t>Linux</a:t>
            </a:r>
            <a:r>
              <a:rPr lang="zh-CN" altLang="en-US" dirty="0">
                <a:solidFill>
                  <a:srgbClr val="C00000"/>
                </a:solidFill>
              </a:rPr>
              <a:t>系统中，</a:t>
            </a:r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r>
              <a:rPr lang="zh-CN" altLang="en-US" dirty="0">
                <a:solidFill>
                  <a:srgbClr val="C00000"/>
                </a:solidFill>
              </a:rPr>
              <a:t>头文件中的</a:t>
            </a:r>
            <a:r>
              <a:rPr lang="en-US" altLang="zh-CN" dirty="0">
                <a:solidFill>
                  <a:srgbClr val="C00000"/>
                </a:solidFill>
              </a:rPr>
              <a:t>Elf32_Ehdr</a:t>
            </a:r>
            <a:r>
              <a:rPr lang="zh-CN" altLang="en-US" dirty="0">
                <a:solidFill>
                  <a:srgbClr val="C00000"/>
                </a:solidFill>
              </a:rPr>
              <a:t>数据结构与之对应。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4470400" y="3064933"/>
            <a:ext cx="2667000" cy="35560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223933" y="2667000"/>
            <a:ext cx="113062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入口地址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78645" y="1605290"/>
            <a:ext cx="5375910" cy="34778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ELF Header: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Magic:   7f 45 4c 46 01 01 01 00 00 00 00 00 00 00 00 00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Class:                             ELF32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Data:                              2's complement, little endian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Version:                           1 (current)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OS/ABI:                            UNIX - System V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ABI Version:                       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Type:                              EXEC (Executable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Machine:                           Intel 80386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Version:                           0x1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Entry point address:               0x30000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Start of program headers:          52 (bytes into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Start of section headers:          18276 (bytes into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Flags:                             0x0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this header:               52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program headers:           32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Number of program headers:         3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section headers:           40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Number of section headers:         15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Section header string table index: 14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61285" y="1636066"/>
            <a:ext cx="280670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200" dirty="0"/>
              <a:t>#define EI_NIDENT 16</a:t>
            </a:r>
            <a:endParaRPr lang="zh-CN" altLang="en-US" sz="1200" dirty="0"/>
          </a:p>
          <a:p>
            <a:endParaRPr lang="zh-CN" altLang="en-US" sz="1200" dirty="0"/>
          </a:p>
          <a:p>
            <a:r>
              <a:rPr lang="zh-CN" altLang="en-US" sz="1200" dirty="0"/>
              <a:t>typedef struct {</a:t>
            </a:r>
            <a:endParaRPr lang="zh-CN" altLang="en-US" sz="1200" dirty="0"/>
          </a:p>
          <a:p>
            <a:r>
              <a:rPr lang="zh-CN" altLang="en-US" sz="1200" dirty="0"/>
              <a:t>       unsigned char e_ident[EI_NIDENT];</a:t>
            </a:r>
            <a:endParaRPr lang="zh-CN" altLang="en-US" sz="1200" dirty="0"/>
          </a:p>
          <a:p>
            <a:r>
              <a:rPr lang="zh-CN" altLang="en-US" sz="1200" dirty="0"/>
              <a:t>       uint16_t      e_type;</a:t>
            </a:r>
            <a:endParaRPr lang="zh-CN" altLang="en-US" sz="1200" dirty="0"/>
          </a:p>
          <a:p>
            <a:r>
              <a:rPr lang="zh-CN" altLang="en-US" sz="1200" dirty="0"/>
              <a:t>       uint16_t      e_machine;</a:t>
            </a:r>
            <a:endParaRPr lang="zh-CN" altLang="en-US" sz="1200" dirty="0"/>
          </a:p>
          <a:p>
            <a:r>
              <a:rPr lang="zh-CN" altLang="en-US" sz="1200" dirty="0"/>
              <a:t>       uint32_t      e_version;</a:t>
            </a:r>
            <a:endParaRPr lang="zh-CN" altLang="en-US" sz="1200" dirty="0"/>
          </a:p>
          <a:p>
            <a:r>
              <a:rPr lang="zh-CN" altLang="en-US" sz="1200" dirty="0"/>
              <a:t>       ElfN_Addr     e_entry;</a:t>
            </a:r>
            <a:endParaRPr lang="zh-CN" altLang="en-US" sz="1200" dirty="0"/>
          </a:p>
          <a:p>
            <a:r>
              <a:rPr lang="zh-CN" altLang="en-US" sz="1200" dirty="0"/>
              <a:t>       ElfN_Off      e_phoff;</a:t>
            </a:r>
            <a:endParaRPr lang="zh-CN" altLang="en-US" sz="1200" dirty="0"/>
          </a:p>
          <a:p>
            <a:r>
              <a:rPr lang="zh-CN" altLang="en-US" sz="1200" dirty="0"/>
              <a:t>       ElfN_Off      e_shoff;</a:t>
            </a:r>
            <a:endParaRPr lang="zh-CN" altLang="en-US" sz="1200" dirty="0"/>
          </a:p>
          <a:p>
            <a:r>
              <a:rPr lang="zh-CN" altLang="en-US" sz="1200" dirty="0"/>
              <a:t>       uint32_t      e_flags;</a:t>
            </a:r>
            <a:endParaRPr lang="zh-CN" altLang="en-US" sz="1200" dirty="0"/>
          </a:p>
          <a:p>
            <a:r>
              <a:rPr lang="zh-CN" altLang="en-US" sz="1200" dirty="0"/>
              <a:t>       uint16_t      e_ehsize;</a:t>
            </a:r>
            <a:endParaRPr lang="zh-CN" altLang="en-US" sz="1200" dirty="0"/>
          </a:p>
          <a:p>
            <a:r>
              <a:rPr lang="zh-CN" altLang="en-US" sz="1200" dirty="0"/>
              <a:t>       uint16_t      e_phentsize;</a:t>
            </a:r>
            <a:endParaRPr lang="zh-CN" altLang="en-US" sz="1200" dirty="0"/>
          </a:p>
          <a:p>
            <a:r>
              <a:rPr lang="zh-CN" altLang="en-US" sz="1200" dirty="0"/>
              <a:t>       uint16_t      e_phnum;</a:t>
            </a:r>
            <a:endParaRPr lang="zh-CN" altLang="en-US" sz="1200" dirty="0"/>
          </a:p>
          <a:p>
            <a:r>
              <a:rPr lang="zh-CN" altLang="en-US" sz="1200" dirty="0"/>
              <a:t>       uint16_t      e_shentsize;</a:t>
            </a:r>
            <a:endParaRPr lang="zh-CN" altLang="en-US" sz="1200" dirty="0"/>
          </a:p>
          <a:p>
            <a:r>
              <a:rPr lang="zh-CN" altLang="en-US" sz="1200" dirty="0"/>
              <a:t>       uint16_t      e_shnum;</a:t>
            </a:r>
            <a:endParaRPr lang="zh-CN" altLang="en-US" sz="1200" dirty="0"/>
          </a:p>
          <a:p>
            <a:r>
              <a:rPr lang="zh-CN" altLang="en-US" sz="1200" dirty="0"/>
              <a:t>       uint16_t      e_shstrndx;</a:t>
            </a:r>
            <a:endParaRPr lang="zh-CN" altLang="en-US" sz="1200" dirty="0"/>
          </a:p>
          <a:p>
            <a:r>
              <a:rPr lang="zh-CN" altLang="en-US" sz="1200" dirty="0"/>
              <a:t>} Elf</a:t>
            </a:r>
            <a:r>
              <a:rPr lang="en-US" altLang="zh-CN" sz="1200"/>
              <a:t>32</a:t>
            </a:r>
            <a:r>
              <a:rPr lang="zh-CN" altLang="en-US" sz="1200"/>
              <a:t>_</a:t>
            </a:r>
            <a:r>
              <a:rPr lang="zh-CN" altLang="en-US" sz="1200" dirty="0"/>
              <a:t>Ehdr;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978645" y="5404578"/>
            <a:ext cx="738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头，它位于整个</a:t>
            </a:r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文件最开始的地方。在</a:t>
            </a:r>
            <a:r>
              <a:rPr lang="en-US" altLang="zh-CN" dirty="0">
                <a:solidFill>
                  <a:srgbClr val="C00000"/>
                </a:solidFill>
              </a:rPr>
              <a:t>32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r>
              <a:rPr lang="en-US" altLang="zh-CN" dirty="0">
                <a:solidFill>
                  <a:srgbClr val="C00000"/>
                </a:solidFill>
              </a:rPr>
              <a:t>Linux</a:t>
            </a:r>
            <a:r>
              <a:rPr lang="zh-CN" altLang="en-US" dirty="0">
                <a:solidFill>
                  <a:srgbClr val="C00000"/>
                </a:solidFill>
              </a:rPr>
              <a:t>系统中，</a:t>
            </a:r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r>
              <a:rPr lang="zh-CN" altLang="en-US" dirty="0">
                <a:solidFill>
                  <a:srgbClr val="C00000"/>
                </a:solidFill>
              </a:rPr>
              <a:t>头文件中的</a:t>
            </a:r>
            <a:r>
              <a:rPr lang="en-US" altLang="zh-CN" dirty="0">
                <a:solidFill>
                  <a:srgbClr val="C00000"/>
                </a:solidFill>
              </a:rPr>
              <a:t>Elf32_Ehdr</a:t>
            </a:r>
            <a:r>
              <a:rPr lang="zh-CN" altLang="en-US" dirty="0">
                <a:solidFill>
                  <a:srgbClr val="C00000"/>
                </a:solidFill>
              </a:rPr>
              <a:t>数据结构与之对应。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5469467" y="3259667"/>
            <a:ext cx="1710266" cy="27093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828590" y="3736320"/>
            <a:ext cx="17793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程序头表位置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4114800" y="4174067"/>
            <a:ext cx="3064933" cy="24553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011" y="1254622"/>
            <a:ext cx="12043978" cy="507831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uint32_t loader() {	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Elf32_Ehdr *elf;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Elf32_Phdr *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, *</a:t>
            </a:r>
            <a:r>
              <a:rPr lang="en-US" altLang="zh-CN" dirty="0" err="1">
                <a:latin typeface="Consolas" panose="020B0609020204030204" pitchFamily="49" charset="0"/>
              </a:rPr>
              <a:t>eph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#ifdef HAS_DEVICE_IDE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… // </a:t>
            </a:r>
            <a:r>
              <a:rPr lang="zh-CN" altLang="en-US" dirty="0">
                <a:latin typeface="Consolas" panose="020B0609020204030204" pitchFamily="49" charset="0"/>
              </a:rPr>
              <a:t>没有模拟硬盘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#else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 = (void *)0x0;    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       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模拟内存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0x0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处是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RAM Disk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，存放的就是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testcase ELF file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，最开始的部分是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头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Log("ELF loading from ram disk.");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</a:t>
            </a:r>
            <a:r>
              <a:rPr lang="en-US" altLang="zh-CN" dirty="0" err="1">
                <a:latin typeface="Consolas" panose="020B0609020204030204" pitchFamily="49" charset="0"/>
              </a:rPr>
              <a:t>endif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 = (void *)elf + elf-&gt;</a:t>
            </a:r>
            <a:r>
              <a:rPr lang="en-US" altLang="zh-CN" dirty="0" err="1">
                <a:latin typeface="Consolas" panose="020B0609020204030204" pitchFamily="49" charset="0"/>
              </a:rPr>
              <a:t>e_phoff</a:t>
            </a:r>
            <a:r>
              <a:rPr lang="en-US" altLang="zh-CN" dirty="0">
                <a:latin typeface="Consolas" panose="020B0609020204030204" pitchFamily="49" charset="0"/>
              </a:rPr>
              <a:t>; 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找到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文件中的程序头表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...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>
                <a:latin typeface="Consolas" panose="020B0609020204030204" pitchFamily="49" charset="0"/>
              </a:rPr>
              <a:t>volatile uint32_t entry = elf-&gt;</a:t>
            </a:r>
            <a:r>
              <a:rPr lang="en-US" altLang="zh-CN" dirty="0" err="1">
                <a:latin typeface="Consolas" panose="020B0609020204030204" pitchFamily="49" charset="0"/>
              </a:rPr>
              <a:t>e_entry</a:t>
            </a:r>
            <a:r>
              <a:rPr lang="en-US" altLang="zh-CN" dirty="0">
                <a:latin typeface="Consolas" panose="020B0609020204030204" pitchFamily="49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头文件中指出的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起始地址，应该是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0x60000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return entry;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起始地址，在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后面执行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((void(*)(void))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eip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)();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21433" y="1257058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/elf/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elf.c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011" y="1254622"/>
            <a:ext cx="12043978" cy="507831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uint32_t loader() {	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Elf32_Ehdr *elf;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Elf32_Phdr *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#ifdef HAS_DEVICE_IDE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…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没有模拟硬盘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#else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 = (void *)0x0;    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       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模拟内存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0x0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处是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RAM Disk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，存放的就是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testcase ELF file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，最开始的部分是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头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Log("ELF loading from ram disk.");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endif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= (void *)elf + elf-&gt;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e_phoff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 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找到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文件中的程序头表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...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volatile uint32_t entry = elf-&gt;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e_entry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头文件中指出的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起始地址，应该是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0x60000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return entry;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起始地址，在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后面执行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((void(*)(void))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eip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)();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21433" y="1257058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/elf/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elf.c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33"/>
          <a:stretch>
            <a:fillRect/>
          </a:stretch>
        </p:blipFill>
        <p:spPr>
          <a:xfrm>
            <a:off x="4380572" y="2119635"/>
            <a:ext cx="6098242" cy="1185259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1" name="直接箭头连接符 10"/>
          <p:cNvCxnSpPr/>
          <p:nvPr/>
        </p:nvCxnSpPr>
        <p:spPr>
          <a:xfrm flipV="1">
            <a:off x="3429000" y="2984938"/>
            <a:ext cx="1216572" cy="31995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9403358" y="2233342"/>
            <a:ext cx="1075456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altLang="zh-CN" sz="1400" dirty="0"/>
              <a:t>0x7FFFFFF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011" y="1254622"/>
            <a:ext cx="12043978" cy="507831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uint32_t loader() {	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Elf32_Ehdr *elf;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Elf32_Phdr *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#ifdef HAS_DEVICE_IDE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…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没有模拟硬盘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#else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 = (void *)0x0;    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       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模拟内存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0x0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处是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RAM Disk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，存放的就是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testcase ELF file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，最开始的部分是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头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Log("ELF loading from ram disk.");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endif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= (void *)elf + elf-&gt;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e_phoff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 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找到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文件中的程序头表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...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volatile uint32_t entry = elf-&gt;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e_entry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头文件中指出的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起始地址，应该是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0x60000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return entry;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起始地址，在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后面执行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((void(*)(void))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eip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)();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21433" y="1257058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/elf/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elf.c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33"/>
          <a:stretch>
            <a:fillRect/>
          </a:stretch>
        </p:blipFill>
        <p:spPr>
          <a:xfrm>
            <a:off x="4380572" y="2119635"/>
            <a:ext cx="6098242" cy="1185259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1" name="直接箭头连接符 10"/>
          <p:cNvCxnSpPr/>
          <p:nvPr/>
        </p:nvCxnSpPr>
        <p:spPr>
          <a:xfrm flipV="1">
            <a:off x="3429000" y="2984938"/>
            <a:ext cx="1216572" cy="31995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9403358" y="2233342"/>
            <a:ext cx="1075456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altLang="zh-CN" sz="1400" dirty="0"/>
              <a:t>0x7FFFFFF</a:t>
            </a:r>
            <a:endParaRPr lang="zh-CN" altLang="en-US" sz="1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220924" y="3966002"/>
            <a:ext cx="2963668" cy="195244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  <p:cxnSp>
        <p:nvCxnSpPr>
          <p:cNvPr id="13" name="直接连接符 12"/>
          <p:cNvCxnSpPr/>
          <p:nvPr/>
        </p:nvCxnSpPr>
        <p:spPr>
          <a:xfrm flipH="1">
            <a:off x="4724400" y="2984938"/>
            <a:ext cx="9525" cy="4754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143625" y="2984938"/>
            <a:ext cx="535355" cy="4754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724400" y="2590800"/>
            <a:ext cx="1419225" cy="394138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011" y="1254622"/>
            <a:ext cx="12043978" cy="507831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uint32_t loader() {	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Elf32_Ehdr *elf;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Elf32_Phdr *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#ifdef HAS_DEVICE_IDE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…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没有模拟硬盘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#else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 = (void *)0x0;    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       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模拟内存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0x0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处是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RAM Disk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，存放的就是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testcase ELF file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，最开始的部分是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头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Log("ELF loading from ram disk.");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endif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= (void *)elf + elf-&gt;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e_phoff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 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找到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文件中的程序头表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...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volatile uint32_t entry = elf-&gt;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e_entry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头文件中指出的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起始地址，应该是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0x60000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	return entry; //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起始地址，在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后面执行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((void(*)(void))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eip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)();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21433" y="1257058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/elf/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elf.c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33"/>
          <a:stretch>
            <a:fillRect/>
          </a:stretch>
        </p:blipFill>
        <p:spPr>
          <a:xfrm>
            <a:off x="4380572" y="2119635"/>
            <a:ext cx="6098242" cy="1185259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1" name="直接箭头连接符 10"/>
          <p:cNvCxnSpPr/>
          <p:nvPr/>
        </p:nvCxnSpPr>
        <p:spPr>
          <a:xfrm flipV="1">
            <a:off x="3429000" y="2984938"/>
            <a:ext cx="1216572" cy="31995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9403358" y="2233342"/>
            <a:ext cx="1075456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altLang="zh-CN" sz="1400" dirty="0"/>
              <a:t>0x7FFFFFF</a:t>
            </a:r>
            <a:endParaRPr lang="zh-CN" altLang="en-US" sz="1400" dirty="0"/>
          </a:p>
        </p:txBody>
      </p:sp>
      <p:sp>
        <p:nvSpPr>
          <p:cNvPr id="3" name="矩形 2"/>
          <p:cNvSpPr/>
          <p:nvPr/>
        </p:nvSpPr>
        <p:spPr>
          <a:xfrm>
            <a:off x="1302136" y="3774728"/>
            <a:ext cx="10547350" cy="3059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dirty="0"/>
              <a:t>要点：</a:t>
            </a:r>
            <a:endParaRPr lang="en-US" altLang="zh-CN" sz="3200" dirty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Kernel</a:t>
            </a:r>
            <a:r>
              <a:rPr lang="zh-CN" altLang="en-US" sz="2400" dirty="0"/>
              <a:t>中访问变量语句编译后对应什么指令？</a:t>
            </a:r>
            <a:endParaRPr lang="en-US" altLang="zh-CN" sz="2400" dirty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这条指令由谁执行？访问的地址是多少？</a:t>
            </a:r>
            <a:endParaRPr lang="en-US" altLang="zh-CN" sz="2400" dirty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指令中的地址如何转换成对</a:t>
            </a:r>
            <a:r>
              <a:rPr lang="en-US" altLang="zh-CN" sz="2400" dirty="0" err="1"/>
              <a:t>hw_mem</a:t>
            </a:r>
            <a:r>
              <a:rPr lang="en-US" altLang="zh-CN" sz="2400" dirty="0"/>
              <a:t>[]</a:t>
            </a:r>
            <a:r>
              <a:rPr lang="zh-CN" altLang="en-US" sz="2400" dirty="0"/>
              <a:t>的访问的？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完整的装载逻辑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3" y="1574512"/>
            <a:ext cx="2025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loader</a:t>
            </a:r>
            <a:r>
              <a:rPr lang="zh-CN" altLang="en-US" sz="2800" dirty="0"/>
              <a:t>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3255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zh-CN" altLang="en-US" sz="2000" dirty="0"/>
              <a:t>输出：程序入口地址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5299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读入</a:t>
            </a:r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程序入口地址 </a:t>
            </a:r>
            <a:r>
              <a:rPr lang="en-US" altLang="zh-CN" dirty="0"/>
              <a:t>= entry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C00000"/>
                </a:solidFill>
              </a:rPr>
              <a:t>定位程序头表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for </a:t>
            </a:r>
            <a:r>
              <a:rPr lang="zh-CN" altLang="en-US" b="1" dirty="0">
                <a:solidFill>
                  <a:srgbClr val="C00000"/>
                </a:solidFill>
              </a:rPr>
              <a:t>程序头表中的每一项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if Type == Load then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        </a:t>
            </a:r>
            <a:r>
              <a:rPr lang="zh-CN" altLang="en-US" b="1" dirty="0">
                <a:solidFill>
                  <a:srgbClr val="C00000"/>
                </a:solidFill>
              </a:rPr>
              <a:t>执行装载到内存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end if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end for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/>
              <a:t>return </a:t>
            </a:r>
            <a:r>
              <a:rPr lang="zh-CN" altLang="en-US" dirty="0"/>
              <a:t>程序入口地址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程序头表的编程解析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011" y="1254622"/>
            <a:ext cx="12043978" cy="507831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uint32_t loader() {	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Elf32_Ehdr *elf;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Elf32_Phdr *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, *</a:t>
            </a:r>
            <a:r>
              <a:rPr lang="en-US" altLang="zh-CN" dirty="0" err="1">
                <a:latin typeface="Consolas" panose="020B0609020204030204" pitchFamily="49" charset="0"/>
              </a:rPr>
              <a:t>eph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#ifdef HAS_DEVICE_IDE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… // </a:t>
            </a:r>
            <a:r>
              <a:rPr lang="zh-CN" altLang="en-US" dirty="0">
                <a:latin typeface="Consolas" panose="020B0609020204030204" pitchFamily="49" charset="0"/>
              </a:rPr>
              <a:t>没有模拟硬盘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#else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elf = (void *)0x0;    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       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模拟内存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0x0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处是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RAM Disk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，存放的就是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testcase ELF file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，最开始的部分是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头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Log("ELF loading from ram disk.");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</a:t>
            </a:r>
            <a:r>
              <a:rPr lang="en-US" altLang="zh-CN" dirty="0" err="1">
                <a:latin typeface="Consolas" panose="020B0609020204030204" pitchFamily="49" charset="0"/>
              </a:rPr>
              <a:t>endif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 = (void *)elf + elf-&gt;</a:t>
            </a:r>
            <a:r>
              <a:rPr lang="en-US" altLang="zh-CN" dirty="0" err="1">
                <a:latin typeface="Consolas" panose="020B0609020204030204" pitchFamily="49" charset="0"/>
              </a:rPr>
              <a:t>e_phoff</a:t>
            </a:r>
            <a:r>
              <a:rPr lang="en-US" altLang="zh-CN" dirty="0">
                <a:latin typeface="Consolas" panose="020B0609020204030204" pitchFamily="49" charset="0"/>
              </a:rPr>
              <a:t>; 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找到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文件中的程序头表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...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>
                <a:latin typeface="Consolas" panose="020B0609020204030204" pitchFamily="49" charset="0"/>
              </a:rPr>
              <a:t>volatile uint32_t entry = elf-&gt;</a:t>
            </a:r>
            <a:r>
              <a:rPr lang="en-US" altLang="zh-CN" dirty="0" err="1">
                <a:latin typeface="Consolas" panose="020B0609020204030204" pitchFamily="49" charset="0"/>
              </a:rPr>
              <a:t>e_entry</a:t>
            </a:r>
            <a:r>
              <a:rPr lang="en-US" altLang="zh-CN" dirty="0">
                <a:latin typeface="Consolas" panose="020B0609020204030204" pitchFamily="49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头文件中指出的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起始地址，应该是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0x60000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return entry;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起始地址，在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后面执行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((void(*)(void))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eip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)();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21433" y="1257058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/elf/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elf.c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2500" y="4292600"/>
            <a:ext cx="7556500" cy="104140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52500" y="1813356"/>
            <a:ext cx="7556500" cy="371044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程序头表的编程解析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66211" y="1334333"/>
            <a:ext cx="9690272" cy="313932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Program Headers: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Type           Offset   </a:t>
            </a:r>
            <a:r>
              <a:rPr lang="en-US" altLang="zh-CN" dirty="0" err="1">
                <a:latin typeface="Consolas" panose="020B0609020204030204" pitchFamily="49" charset="0"/>
              </a:rPr>
              <a:t>VirtAddr</a:t>
            </a:r>
            <a:r>
              <a:rPr lang="en-US" altLang="zh-CN" dirty="0">
                <a:latin typeface="Consolas" panose="020B0609020204030204" pitchFamily="49" charset="0"/>
              </a:rPr>
              <a:t>   </a:t>
            </a:r>
            <a:r>
              <a:rPr lang="en-US" altLang="zh-CN" dirty="0" err="1">
                <a:latin typeface="Consolas" panose="020B0609020204030204" pitchFamily="49" charset="0"/>
              </a:rPr>
              <a:t>PhysAddr</a:t>
            </a:r>
            <a:r>
              <a:rPr lang="en-US" altLang="zh-CN" dirty="0">
                <a:latin typeface="Consolas" panose="020B0609020204030204" pitchFamily="49" charset="0"/>
              </a:rPr>
              <a:t>   </a:t>
            </a:r>
            <a:r>
              <a:rPr lang="en-US" altLang="zh-CN" dirty="0" err="1">
                <a:latin typeface="Consolas" panose="020B0609020204030204" pitchFamily="49" charset="0"/>
              </a:rPr>
              <a:t>FileSiz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MemSiz</a:t>
            </a:r>
            <a:r>
              <a:rPr lang="en-US" altLang="zh-CN" dirty="0"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latin typeface="Consolas" panose="020B0609020204030204" pitchFamily="49" charset="0"/>
              </a:rPr>
              <a:t>Flg</a:t>
            </a:r>
            <a:r>
              <a:rPr lang="en-US" altLang="zh-CN" dirty="0">
                <a:latin typeface="Consolas" panose="020B0609020204030204" pitchFamily="49" charset="0"/>
              </a:rPr>
              <a:t> Align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LOAD           0x001000 0x00030000 </a:t>
            </a:r>
            <a:r>
              <a:rPr lang="en-US" altLang="zh-CN" dirty="0" err="1">
                <a:latin typeface="Consolas" panose="020B0609020204030204" pitchFamily="49" charset="0"/>
              </a:rPr>
              <a:t>0x00030000</a:t>
            </a:r>
            <a:r>
              <a:rPr lang="en-US" altLang="zh-CN" dirty="0">
                <a:latin typeface="Consolas" panose="020B0609020204030204" pitchFamily="49" charset="0"/>
              </a:rPr>
              <a:t> 0x00154 </a:t>
            </a:r>
            <a:r>
              <a:rPr lang="en-US" altLang="zh-CN" dirty="0" err="1">
                <a:latin typeface="Consolas" panose="020B0609020204030204" pitchFamily="49" charset="0"/>
              </a:rPr>
              <a:t>0x00154</a:t>
            </a:r>
            <a:r>
              <a:rPr lang="en-US" altLang="zh-CN" dirty="0">
                <a:latin typeface="Consolas" panose="020B0609020204030204" pitchFamily="49" charset="0"/>
              </a:rPr>
              <a:t> R E 0x1000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LOAD           0x002000 0x00032000 </a:t>
            </a:r>
            <a:r>
              <a:rPr lang="en-US" altLang="zh-CN" dirty="0" err="1">
                <a:latin typeface="Consolas" panose="020B0609020204030204" pitchFamily="49" charset="0"/>
              </a:rPr>
              <a:t>0x00032000</a:t>
            </a:r>
            <a:r>
              <a:rPr lang="en-US" altLang="zh-CN" dirty="0">
                <a:latin typeface="Consolas" panose="020B0609020204030204" pitchFamily="49" charset="0"/>
              </a:rPr>
              <a:t> 0x00140 </a:t>
            </a:r>
            <a:r>
              <a:rPr lang="en-US" altLang="zh-CN" dirty="0" err="1">
                <a:latin typeface="Consolas" panose="020B0609020204030204" pitchFamily="49" charset="0"/>
              </a:rPr>
              <a:t>0x00140</a:t>
            </a:r>
            <a:r>
              <a:rPr lang="en-US" altLang="zh-CN" dirty="0">
                <a:latin typeface="Consolas" panose="020B0609020204030204" pitchFamily="49" charset="0"/>
              </a:rPr>
              <a:t> RW  0x1000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GNU_STACK      0x000000 0x00000000 </a:t>
            </a:r>
            <a:r>
              <a:rPr lang="en-US" altLang="zh-CN" dirty="0" err="1">
                <a:latin typeface="Consolas" panose="020B0609020204030204" pitchFamily="49" charset="0"/>
              </a:rPr>
              <a:t>0x00000000</a:t>
            </a:r>
            <a:r>
              <a:rPr lang="en-US" altLang="zh-CN" dirty="0">
                <a:latin typeface="Consolas" panose="020B0609020204030204" pitchFamily="49" charset="0"/>
              </a:rPr>
              <a:t> 0x00000 </a:t>
            </a:r>
            <a:r>
              <a:rPr lang="en-US" altLang="zh-CN" dirty="0" err="1">
                <a:latin typeface="Consolas" panose="020B0609020204030204" pitchFamily="49" charset="0"/>
              </a:rPr>
              <a:t>0x00000</a:t>
            </a:r>
            <a:r>
              <a:rPr lang="en-US" altLang="zh-CN" dirty="0">
                <a:latin typeface="Consolas" panose="020B0609020204030204" pitchFamily="49" charset="0"/>
              </a:rPr>
              <a:t> RWE 0x10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Section to Segment mapping: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Segment Sections...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00     .text .</a:t>
            </a:r>
            <a:r>
              <a:rPr lang="en-US" altLang="zh-CN" dirty="0" err="1">
                <a:latin typeface="Consolas" panose="020B0609020204030204" pitchFamily="49" charset="0"/>
              </a:rPr>
              <a:t>eh_frame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01     .</a:t>
            </a:r>
            <a:r>
              <a:rPr lang="en-US" altLang="zh-CN" dirty="0" err="1">
                <a:latin typeface="Consolas" panose="020B0609020204030204" pitchFamily="49" charset="0"/>
              </a:rPr>
              <a:t>got.plt</a:t>
            </a:r>
            <a:r>
              <a:rPr lang="en-US" altLang="zh-CN" dirty="0">
                <a:latin typeface="Consolas" panose="020B0609020204030204" pitchFamily="49" charset="0"/>
              </a:rPr>
              <a:t> .data 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02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64500" y="3462519"/>
            <a:ext cx="3606166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typedef struct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uint32_t   </a:t>
            </a:r>
            <a:r>
              <a:rPr lang="en-US" altLang="zh-CN" dirty="0" err="1">
                <a:latin typeface="Consolas" panose="020B0609020204030204" pitchFamily="49" charset="0"/>
              </a:rPr>
              <a:t>p_type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Elf32_Off  </a:t>
            </a:r>
            <a:r>
              <a:rPr lang="en-US" altLang="zh-CN" dirty="0" err="1">
                <a:latin typeface="Consolas" panose="020B0609020204030204" pitchFamily="49" charset="0"/>
              </a:rPr>
              <a:t>p_offset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Elf32_Addr </a:t>
            </a:r>
            <a:r>
              <a:rPr lang="en-US" altLang="zh-CN" dirty="0" err="1">
                <a:latin typeface="Consolas" panose="020B0609020204030204" pitchFamily="49" charset="0"/>
              </a:rPr>
              <a:t>p_vaddr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Elf32_Addr </a:t>
            </a:r>
            <a:r>
              <a:rPr lang="en-US" altLang="zh-CN" dirty="0" err="1">
                <a:latin typeface="Consolas" panose="020B0609020204030204" pitchFamily="49" charset="0"/>
              </a:rPr>
              <a:t>p_paddr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uint32_t   </a:t>
            </a:r>
            <a:r>
              <a:rPr lang="en-US" altLang="zh-CN" dirty="0" err="1">
                <a:latin typeface="Consolas" panose="020B0609020204030204" pitchFamily="49" charset="0"/>
              </a:rPr>
              <a:t>p_filesz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uint32_t   </a:t>
            </a:r>
            <a:r>
              <a:rPr lang="en-US" altLang="zh-CN" dirty="0" err="1">
                <a:latin typeface="Consolas" panose="020B0609020204030204" pitchFamily="49" charset="0"/>
              </a:rPr>
              <a:t>p_memsz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uint32_t   </a:t>
            </a:r>
            <a:r>
              <a:rPr lang="en-US" altLang="zh-CN" dirty="0" err="1">
                <a:latin typeface="Consolas" panose="020B0609020204030204" pitchFamily="49" charset="0"/>
              </a:rPr>
              <a:t>p_flags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uint32_t   </a:t>
            </a:r>
            <a:r>
              <a:rPr lang="en-US" altLang="zh-CN" dirty="0" err="1">
                <a:latin typeface="Consolas" panose="020B0609020204030204" pitchFamily="49" charset="0"/>
              </a:rPr>
              <a:t>p_align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 Elf32_Phdr;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6211" y="4637243"/>
            <a:ext cx="31325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Elf32_Phdr</a:t>
            </a:r>
            <a:r>
              <a:rPr lang="zh-CN" altLang="en-US" sz="2000" dirty="0">
                <a:solidFill>
                  <a:srgbClr val="C00000"/>
                </a:solidFill>
              </a:rPr>
              <a:t>类型的一个数组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Elf32_Phdr</a:t>
            </a:r>
            <a:r>
              <a:rPr lang="zh-CN" altLang="en-US" sz="2000" dirty="0">
                <a:solidFill>
                  <a:srgbClr val="C00000"/>
                </a:solidFill>
              </a:rPr>
              <a:t>定义在</a:t>
            </a:r>
            <a:r>
              <a:rPr lang="en-US" altLang="zh-CN" sz="2000" dirty="0">
                <a:solidFill>
                  <a:srgbClr val="C00000"/>
                </a:solidFill>
              </a:rPr>
              <a:t>&lt;</a:t>
            </a:r>
            <a:r>
              <a:rPr lang="en-US" altLang="zh-CN" sz="2000" dirty="0" err="1">
                <a:solidFill>
                  <a:srgbClr val="C00000"/>
                </a:solidFill>
              </a:rPr>
              <a:t>elf.h</a:t>
            </a:r>
            <a:r>
              <a:rPr lang="en-US" altLang="zh-CN" sz="2000" dirty="0">
                <a:solidFill>
                  <a:srgbClr val="C00000"/>
                </a:solidFill>
              </a:rPr>
              <a:t>&gt;</a:t>
            </a:r>
            <a:endParaRPr lang="zh-CN" altLang="en-US" sz="2000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577516" y="2213811"/>
            <a:ext cx="916806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9837855" y="2266666"/>
            <a:ext cx="565484" cy="1143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5726"/>
            <a:ext cx="10515600" cy="734002"/>
          </a:xfrm>
        </p:spPr>
        <p:txBody>
          <a:bodyPr/>
          <a:lstStyle/>
          <a:p>
            <a:r>
              <a:rPr lang="zh-CN" altLang="en-US" dirty="0"/>
              <a:t>程序头表的编程解析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92100" y="759281"/>
            <a:ext cx="11607799" cy="590931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uint32_t loader()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...	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/* Load each program segment */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 = (void *)elf + elf-&gt;</a:t>
            </a:r>
            <a:r>
              <a:rPr lang="en-US" altLang="zh-CN" dirty="0" err="1">
                <a:latin typeface="Consolas" panose="020B0609020204030204" pitchFamily="49" charset="0"/>
              </a:rPr>
              <a:t>e_phoff</a:t>
            </a:r>
            <a:r>
              <a:rPr lang="en-US" altLang="zh-CN" dirty="0">
                <a:latin typeface="Consolas" panose="020B0609020204030204" pitchFamily="49" charset="0"/>
              </a:rPr>
              <a:t>; 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找到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文件中的程序头表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eph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 + elf-&gt;</a:t>
            </a:r>
            <a:r>
              <a:rPr lang="en-US" altLang="zh-CN" dirty="0" err="1">
                <a:latin typeface="Consolas" panose="020B0609020204030204" pitchFamily="49" charset="0"/>
              </a:rPr>
              <a:t>e_phnum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for(; 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 &lt; </a:t>
            </a:r>
            <a:r>
              <a:rPr lang="en-US" altLang="zh-CN" dirty="0" err="1">
                <a:latin typeface="Consolas" panose="020B0609020204030204" pitchFamily="49" charset="0"/>
              </a:rPr>
              <a:t>eph</a:t>
            </a:r>
            <a:r>
              <a:rPr lang="en-US" altLang="zh-CN" dirty="0">
                <a:latin typeface="Consolas" panose="020B0609020204030204" pitchFamily="49" charset="0"/>
              </a:rPr>
              <a:t>; 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 ++) {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扫描程序头表中的各个表项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if(</a:t>
            </a:r>
            <a:r>
              <a:rPr lang="en-US" altLang="zh-CN" dirty="0" err="1">
                <a:latin typeface="Consolas" panose="020B0609020204030204" pitchFamily="49" charset="0"/>
              </a:rPr>
              <a:t>ph</a:t>
            </a:r>
            <a:r>
              <a:rPr lang="en-US" altLang="zh-CN" dirty="0">
                <a:latin typeface="Consolas" panose="020B0609020204030204" pitchFamily="49" charset="0"/>
              </a:rPr>
              <a:t>-&gt;</a:t>
            </a:r>
            <a:r>
              <a:rPr lang="en-US" altLang="zh-CN" dirty="0" err="1">
                <a:latin typeface="Consolas" panose="020B0609020204030204" pitchFamily="49" charset="0"/>
              </a:rPr>
              <a:t>p_type</a:t>
            </a:r>
            <a:r>
              <a:rPr lang="en-US" altLang="zh-CN" dirty="0">
                <a:latin typeface="Consolas" panose="020B0609020204030204" pitchFamily="49" charset="0"/>
              </a:rPr>
              <a:t> == PT_LOAD) {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如果类型是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LOAD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，那么就去装载吧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	panic("Please implement the loader");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/* TODO: copy the segment from the ELF file to its proper memory area */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		/* TODO: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zeror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the memory area [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file_sz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mem_sz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) */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	#ifdef IA32_PAGE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				… // </a:t>
            </a:r>
            <a:r>
              <a:rPr lang="zh-CN" altLang="en-US" dirty="0">
                <a:latin typeface="Consolas" panose="020B0609020204030204" pitchFamily="49" charset="0"/>
              </a:rPr>
              <a:t>没有开启分页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	#endif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}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}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...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71846" y="296508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/elf/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elf.c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66800" y="1518683"/>
            <a:ext cx="10541000" cy="455191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01236" y="156275"/>
            <a:ext cx="10712696" cy="65556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uint32_t loader() {	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Elf32_Ehdr *elf;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Elf32_Phdr *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, *</a:t>
            </a:r>
            <a:r>
              <a:rPr lang="en-US" altLang="zh-CN" sz="1400" dirty="0" err="1">
                <a:latin typeface="Consolas" panose="020B0609020204030204" pitchFamily="49" charset="0"/>
              </a:rPr>
              <a:t>eph</a:t>
            </a:r>
            <a:r>
              <a:rPr lang="en-US" altLang="zh-CN" sz="1400" dirty="0">
                <a:latin typeface="Consolas" panose="020B0609020204030204" pitchFamily="49" charset="0"/>
              </a:rPr>
              <a:t>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#ifdef HAS_DEVICE_IDE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… // </a:t>
            </a:r>
            <a:r>
              <a:rPr lang="zh-CN" altLang="en-US" sz="1400" dirty="0">
                <a:latin typeface="Consolas" panose="020B0609020204030204" pitchFamily="49" charset="0"/>
              </a:rPr>
              <a:t>没有模拟硬盘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#else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elf = (void *)0x0;  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模拟内存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0x0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处是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RAM Disk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，存放的就是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testcase ELF file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，最开始的部分是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头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Log("ELF loading from ram disk.");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#endif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/* Load each program segment */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 = (void *)elf + elf-&gt;</a:t>
            </a:r>
            <a:r>
              <a:rPr lang="en-US" altLang="zh-CN" sz="1400" dirty="0" err="1">
                <a:latin typeface="Consolas" panose="020B0609020204030204" pitchFamily="49" charset="0"/>
              </a:rPr>
              <a:t>e_phoff</a:t>
            </a:r>
            <a:r>
              <a:rPr lang="en-US" altLang="zh-CN" sz="1400" dirty="0">
                <a:latin typeface="Consolas" panose="020B0609020204030204" pitchFamily="49" charset="0"/>
              </a:rPr>
              <a:t>;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找到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文件中的程序头表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latin typeface="Consolas" panose="020B0609020204030204" pitchFamily="49" charset="0"/>
              </a:rPr>
              <a:t>eph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 + elf-&gt;</a:t>
            </a:r>
            <a:r>
              <a:rPr lang="en-US" altLang="zh-CN" sz="1400" dirty="0" err="1">
                <a:latin typeface="Consolas" panose="020B0609020204030204" pitchFamily="49" charset="0"/>
              </a:rPr>
              <a:t>e_phnum</a:t>
            </a:r>
            <a:r>
              <a:rPr lang="en-US" altLang="zh-CN" sz="1400" dirty="0">
                <a:latin typeface="Consolas" panose="020B0609020204030204" pitchFamily="49" charset="0"/>
              </a:rPr>
              <a:t>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for(; 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eph</a:t>
            </a:r>
            <a:r>
              <a:rPr lang="en-US" altLang="zh-CN" sz="1400" dirty="0">
                <a:latin typeface="Consolas" panose="020B0609020204030204" pitchFamily="49" charset="0"/>
              </a:rPr>
              <a:t>; 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 ++) {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扫描程序头表中的各个表项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	if(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-&gt;</a:t>
            </a:r>
            <a:r>
              <a:rPr lang="en-US" altLang="zh-CN" sz="1400" dirty="0" err="1">
                <a:latin typeface="Consolas" panose="020B0609020204030204" pitchFamily="49" charset="0"/>
              </a:rPr>
              <a:t>p_type</a:t>
            </a:r>
            <a:r>
              <a:rPr lang="en-US" altLang="zh-CN" sz="1400" dirty="0">
                <a:latin typeface="Consolas" panose="020B0609020204030204" pitchFamily="49" charset="0"/>
              </a:rPr>
              <a:t> == PT_LOAD) {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如果类型是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LOAD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，那么就去装载吧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		panic("Please implement the loader");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	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	/* TODO: copy the segment from the ELF file to its proper memory area */</a:t>
            </a:r>
            <a:endParaRPr lang="en-US" altLang="zh-CN" sz="1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			/* TODO: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zeror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the memory area [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file_sz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mem_sz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) */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lvl="6"/>
            <a:r>
              <a:rPr lang="en-US" altLang="zh-CN" sz="1400" dirty="0">
                <a:latin typeface="Consolas" panose="020B0609020204030204" pitchFamily="49" charset="0"/>
              </a:rPr>
              <a:t>#ifdef IA32_PAGE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lvl="7"/>
            <a:r>
              <a:rPr lang="en-US" altLang="zh-CN" sz="1400" dirty="0">
                <a:latin typeface="Consolas" panose="020B0609020204030204" pitchFamily="49" charset="0"/>
              </a:rPr>
              <a:t>… // </a:t>
            </a:r>
            <a:r>
              <a:rPr lang="zh-CN" altLang="en-US" sz="1400" dirty="0">
                <a:latin typeface="Consolas" panose="020B0609020204030204" pitchFamily="49" charset="0"/>
              </a:rPr>
              <a:t>没有开启分页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lvl="6"/>
            <a:r>
              <a:rPr lang="en-US" altLang="zh-CN" sz="1400" dirty="0">
                <a:latin typeface="Consolas" panose="020B0609020204030204" pitchFamily="49" charset="0"/>
              </a:rPr>
              <a:t>#endif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	}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}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volatile uint32_t entry = elf-&gt;</a:t>
            </a:r>
            <a:r>
              <a:rPr lang="en-US" altLang="zh-CN" sz="1400" dirty="0" err="1">
                <a:latin typeface="Consolas" panose="020B0609020204030204" pitchFamily="49" charset="0"/>
              </a:rPr>
              <a:t>e_entry</a:t>
            </a:r>
            <a:r>
              <a:rPr lang="en-US" altLang="zh-CN" sz="1400" dirty="0">
                <a:latin typeface="Consolas" panose="020B0609020204030204" pitchFamily="49" charset="0"/>
              </a:rPr>
              <a:t>;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头文件中指出的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起始地址，应该是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0x60000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… //</a:t>
            </a:r>
            <a:r>
              <a:rPr lang="zh-CN" altLang="en-US" sz="1400" dirty="0">
                <a:latin typeface="Consolas" panose="020B0609020204030204" pitchFamily="49" charset="0"/>
              </a:rPr>
              <a:t>现在不管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return entry;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起始地址，在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init_cond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后面执行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((void(*)(void))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eip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)();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32550" y="269085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/elf/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elf.c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如何实现对</a:t>
            </a:r>
            <a:r>
              <a:rPr lang="en-US" altLang="zh-CN" b="1" dirty="0"/>
              <a:t>ELF</a:t>
            </a:r>
            <a:r>
              <a:rPr lang="zh-CN" altLang="en-US" b="1" dirty="0"/>
              <a:t>文件的装载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如何在</a:t>
            </a:r>
            <a:r>
              <a:rPr lang="en-US" altLang="zh-CN" b="1" dirty="0">
                <a:solidFill>
                  <a:srgbClr val="C00000"/>
                </a:solidFill>
              </a:rPr>
              <a:t>Kernel</a:t>
            </a:r>
            <a:r>
              <a:rPr lang="zh-CN" altLang="en-US" b="1" dirty="0">
                <a:solidFill>
                  <a:srgbClr val="C00000"/>
                </a:solidFill>
              </a:rPr>
              <a:t>中加入这一功能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</a:t>
            </a:r>
            <a:r>
              <a:rPr lang="zh-CN" altLang="en-US" dirty="0"/>
              <a:t>执行</a:t>
            </a:r>
            <a:r>
              <a:rPr lang="en-US" altLang="zh-CN" dirty="0"/>
              <a:t>loader()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Kernel</a:t>
            </a:r>
            <a:r>
              <a:rPr lang="zh-CN" altLang="en-US" dirty="0"/>
              <a:t>的行为</a:t>
            </a:r>
            <a:endParaRPr lang="en-US" altLang="zh-CN" dirty="0"/>
          </a:p>
          <a:p>
            <a:pPr lvl="1"/>
            <a:r>
              <a:rPr lang="zh-CN" altLang="en-US" dirty="0"/>
              <a:t>从</a:t>
            </a:r>
            <a:r>
              <a:rPr lang="en-US" altLang="zh-CN" dirty="0"/>
              <a:t>kernel/start/</a:t>
            </a:r>
            <a:r>
              <a:rPr lang="en-US" altLang="zh-CN" dirty="0" err="1"/>
              <a:t>start.S</a:t>
            </a:r>
            <a:r>
              <a:rPr lang="zh-CN" altLang="en-US" dirty="0"/>
              <a:t>开始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98FE7-DD62-46F4-AB87-F8DF79D82F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21917" y="3016118"/>
            <a:ext cx="992415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</a:t>
            </a:r>
            <a:r>
              <a:rPr lang="en-US" altLang="zh-CN" dirty="0" err="1">
                <a:latin typeface="Consolas" panose="020B0609020204030204" pitchFamily="49" charset="0"/>
              </a:rPr>
              <a:t>ifndef</a:t>
            </a:r>
            <a:r>
              <a:rPr lang="en-US" altLang="zh-CN" dirty="0">
                <a:latin typeface="Consolas" panose="020B0609020204030204" pitchFamily="49" charset="0"/>
              </a:rPr>
              <a:t> IA32_SEG    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没在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include/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config.h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中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define IA32_SEG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，因此编译这个分支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.</a:t>
            </a:r>
            <a:r>
              <a:rPr lang="en-US" altLang="zh-CN" dirty="0" err="1">
                <a:latin typeface="Consolas" panose="020B0609020204030204" pitchFamily="49" charset="0"/>
              </a:rPr>
              <a:t>globl</a:t>
            </a:r>
            <a:r>
              <a:rPr lang="en-US" altLang="zh-CN" dirty="0">
                <a:latin typeface="Consolas" panose="020B0609020204030204" pitchFamily="49" charset="0"/>
              </a:rPr>
              <a:t> start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start: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</a:t>
            </a:r>
            <a:r>
              <a:rPr lang="en-US" altLang="zh-CN" dirty="0" err="1">
                <a:latin typeface="Consolas" panose="020B0609020204030204" pitchFamily="49" charset="0"/>
              </a:rPr>
              <a:t>jmp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init</a:t>
            </a:r>
            <a:r>
              <a:rPr lang="en-US" altLang="zh-CN" dirty="0">
                <a:latin typeface="Consolas" panose="020B0609020204030204" pitchFamily="49" charset="0"/>
              </a:rPr>
              <a:t>				# never return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40118" y="5374299"/>
            <a:ext cx="30059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</a:rPr>
              <a:t>kernel/start/</a:t>
            </a:r>
            <a:r>
              <a:rPr lang="en-US" altLang="zh-CN" sz="2800" dirty="0" err="1">
                <a:solidFill>
                  <a:schemeClr val="accent5"/>
                </a:solidFill>
              </a:rPr>
              <a:t>start.S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</a:t>
            </a:r>
            <a:r>
              <a:rPr lang="zh-CN" altLang="en-US" dirty="0"/>
              <a:t>执行</a:t>
            </a:r>
            <a:r>
              <a:rPr lang="en-US" altLang="zh-CN" dirty="0"/>
              <a:t>loader()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24267"/>
            <a:ext cx="10515600" cy="1026829"/>
          </a:xfrm>
        </p:spPr>
        <p:txBody>
          <a:bodyPr/>
          <a:lstStyle/>
          <a:p>
            <a:r>
              <a:rPr lang="en-US" altLang="zh-CN" dirty="0"/>
              <a:t>Kernel</a:t>
            </a:r>
            <a:r>
              <a:rPr lang="zh-CN" altLang="en-US" dirty="0"/>
              <a:t>的行为</a:t>
            </a:r>
            <a:endParaRPr lang="en-US" altLang="zh-CN" dirty="0"/>
          </a:p>
          <a:p>
            <a:pPr lvl="1"/>
            <a:r>
              <a:rPr lang="zh-CN" altLang="en-US" dirty="0"/>
              <a:t>转到了</a:t>
            </a:r>
            <a:r>
              <a:rPr lang="en-US" altLang="zh-CN" dirty="0"/>
              <a:t>kernel/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main.c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A1643-F4B2-4D48-9556-4FDA83A3F1A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83983" y="1989154"/>
            <a:ext cx="9850164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init</a:t>
            </a:r>
            <a:r>
              <a:rPr lang="en-US" altLang="zh-CN" dirty="0">
                <a:latin typeface="Consolas" panose="020B0609020204030204" pitchFamily="49" charset="0"/>
              </a:rPr>
              <a:t>()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#ifdef IA32_PAGE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...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#endif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/* Jump to </a:t>
            </a:r>
            <a:r>
              <a:rPr lang="en-US" altLang="zh-CN" dirty="0" err="1"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latin typeface="Consolas" panose="020B0609020204030204" pitchFamily="49" charset="0"/>
              </a:rPr>
              <a:t>() to continue initialization. */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// need to plus the offset 0xc0000000 if using gcc-6, strange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#ifdef IA32_PAGE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asm</a:t>
            </a:r>
            <a:r>
              <a:rPr lang="en-US" altLang="zh-CN" dirty="0">
                <a:latin typeface="Consolas" panose="020B0609020204030204" pitchFamily="49" charset="0"/>
              </a:rPr>
              <a:t> volatile("</a:t>
            </a:r>
            <a:r>
              <a:rPr lang="en-US" altLang="zh-CN" dirty="0" err="1">
                <a:latin typeface="Consolas" panose="020B0609020204030204" pitchFamily="49" charset="0"/>
              </a:rPr>
              <a:t>jmp</a:t>
            </a:r>
            <a:r>
              <a:rPr lang="en-US" altLang="zh-CN" dirty="0">
                <a:latin typeface="Consolas" panose="020B0609020204030204" pitchFamily="49" charset="0"/>
              </a:rPr>
              <a:t> *%0" : : "r"(</a:t>
            </a:r>
            <a:r>
              <a:rPr lang="en-US" altLang="zh-CN" dirty="0" err="1"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latin typeface="Consolas" panose="020B0609020204030204" pitchFamily="49" charset="0"/>
              </a:rPr>
              <a:t> + 0xc0000000));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#else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asm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volatile(“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jmp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*%0” : : “r”(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)); 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就执行了这一句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#endif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/* Should never reach here. */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nemu_assert</a:t>
            </a:r>
            <a:r>
              <a:rPr lang="en-US" altLang="zh-CN" dirty="0">
                <a:latin typeface="Consolas" panose="020B0609020204030204" pitchFamily="49" charset="0"/>
              </a:rPr>
              <a:t>(0);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12541" y="1376071"/>
            <a:ext cx="28216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</a:rPr>
              <a:t>main.c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</a:t>
            </a:r>
            <a:r>
              <a:rPr lang="zh-CN" altLang="en-US" dirty="0"/>
              <a:t>执行</a:t>
            </a:r>
            <a:r>
              <a:rPr lang="en-US" altLang="zh-CN" dirty="0"/>
              <a:t>loader()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0594B-D838-444B-A8DA-DD2EA928ACE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53563" y="1099128"/>
            <a:ext cx="9923736" cy="563231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init_cond</a:t>
            </a:r>
            <a:r>
              <a:rPr lang="en-US" altLang="zh-CN" dirty="0">
                <a:latin typeface="Consolas" panose="020B0609020204030204" pitchFamily="49" charset="0"/>
              </a:rPr>
              <a:t>()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… //</a:t>
            </a:r>
            <a:r>
              <a:rPr lang="zh-CN" altLang="en-US" dirty="0">
                <a:latin typeface="Consolas" panose="020B0609020204030204" pitchFamily="49" charset="0"/>
              </a:rPr>
              <a:t>前面全跳过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/* Output a welcome message.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 * Note that the output is actually performed only when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 * the serial port is available in NEMU.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 */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Log(“Hello, NEMU world!”);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输出一下子，其工作原理直到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PA 4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才去弄明白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… //</a:t>
            </a:r>
            <a:r>
              <a:rPr lang="zh-CN" altLang="en-US" dirty="0">
                <a:latin typeface="Consolas" panose="020B0609020204030204" pitchFamily="49" charset="0"/>
              </a:rPr>
              <a:t>中间全跳过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/* Load the program. */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uint32_t </a:t>
            </a:r>
            <a:r>
              <a:rPr lang="en-US" altLang="zh-CN" dirty="0" err="1">
                <a:latin typeface="Consolas" panose="020B0609020204030204" pitchFamily="49" charset="0"/>
              </a:rPr>
              <a:t>eip</a:t>
            </a:r>
            <a:r>
              <a:rPr lang="en-US" altLang="zh-CN" dirty="0">
                <a:latin typeface="Consolas" panose="020B0609020204030204" pitchFamily="49" charset="0"/>
              </a:rPr>
              <a:t> = loader();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装载测试用例，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PA 2-2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就是要实现这个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… //</a:t>
            </a:r>
            <a:r>
              <a:rPr lang="zh-CN" altLang="en-US" dirty="0">
                <a:latin typeface="Consolas" panose="020B0609020204030204" pitchFamily="49" charset="0"/>
              </a:rPr>
              <a:t>中间全跳过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/* Here we go! */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((void(*)(void))</a:t>
            </a:r>
            <a:r>
              <a:rPr lang="en-US" altLang="zh-CN" dirty="0" err="1">
                <a:latin typeface="Consolas" panose="020B0609020204030204" pitchFamily="49" charset="0"/>
              </a:rPr>
              <a:t>eip</a:t>
            </a:r>
            <a:r>
              <a:rPr lang="en-US" altLang="zh-CN" dirty="0">
                <a:latin typeface="Consolas" panose="020B0609020204030204" pitchFamily="49" charset="0"/>
              </a:rPr>
              <a:t>)();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包装成函数指针，跑去执行测试用例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497970" y="575908"/>
            <a:ext cx="28216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</a:rPr>
              <a:t>main.c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01236" y="156275"/>
            <a:ext cx="10712696" cy="65556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uint32_t loader() {	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Elf32_Ehdr *elf;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Elf32_Phdr *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, *</a:t>
            </a:r>
            <a:r>
              <a:rPr lang="en-US" altLang="zh-CN" sz="1400" dirty="0" err="1">
                <a:latin typeface="Consolas" panose="020B0609020204030204" pitchFamily="49" charset="0"/>
              </a:rPr>
              <a:t>eph</a:t>
            </a:r>
            <a:r>
              <a:rPr lang="en-US" altLang="zh-CN" sz="1400" dirty="0">
                <a:latin typeface="Consolas" panose="020B0609020204030204" pitchFamily="49" charset="0"/>
              </a:rPr>
              <a:t>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#ifdef HAS_DEVICE_IDE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… // </a:t>
            </a:r>
            <a:r>
              <a:rPr lang="zh-CN" altLang="en-US" sz="1400" dirty="0">
                <a:latin typeface="Consolas" panose="020B0609020204030204" pitchFamily="49" charset="0"/>
              </a:rPr>
              <a:t>没有模拟硬盘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#else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elf = (void *)0x0;  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模拟内存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0x0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处是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RAM Disk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，存放的就是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testcase ELF file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，最开始的部分是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头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Log("ELF loading from ram disk.");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#endif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/* Load each program segment */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 = (void *)elf + elf-&gt;</a:t>
            </a:r>
            <a:r>
              <a:rPr lang="en-US" altLang="zh-CN" sz="1400" dirty="0" err="1">
                <a:latin typeface="Consolas" panose="020B0609020204030204" pitchFamily="49" charset="0"/>
              </a:rPr>
              <a:t>e_phoff</a:t>
            </a:r>
            <a:r>
              <a:rPr lang="en-US" altLang="zh-CN" sz="1400" dirty="0">
                <a:latin typeface="Consolas" panose="020B0609020204030204" pitchFamily="49" charset="0"/>
              </a:rPr>
              <a:t>;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找到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ELF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文件中的程序头表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latin typeface="Consolas" panose="020B0609020204030204" pitchFamily="49" charset="0"/>
              </a:rPr>
              <a:t>eph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 + elf-&gt;</a:t>
            </a:r>
            <a:r>
              <a:rPr lang="en-US" altLang="zh-CN" sz="1400" dirty="0" err="1">
                <a:latin typeface="Consolas" panose="020B0609020204030204" pitchFamily="49" charset="0"/>
              </a:rPr>
              <a:t>e_phnum</a:t>
            </a:r>
            <a:r>
              <a:rPr lang="en-US" altLang="zh-CN" sz="1400" dirty="0">
                <a:latin typeface="Consolas" panose="020B0609020204030204" pitchFamily="49" charset="0"/>
              </a:rPr>
              <a:t>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for(; 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eph</a:t>
            </a:r>
            <a:r>
              <a:rPr lang="en-US" altLang="zh-CN" sz="1400" dirty="0">
                <a:latin typeface="Consolas" panose="020B0609020204030204" pitchFamily="49" charset="0"/>
              </a:rPr>
              <a:t>; 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 ++) {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扫描程序头表中的各个表项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	if(</a:t>
            </a:r>
            <a:r>
              <a:rPr lang="en-US" altLang="zh-CN" sz="1400" dirty="0" err="1">
                <a:latin typeface="Consolas" panose="020B0609020204030204" pitchFamily="49" charset="0"/>
              </a:rPr>
              <a:t>ph</a:t>
            </a:r>
            <a:r>
              <a:rPr lang="en-US" altLang="zh-CN" sz="1400" dirty="0">
                <a:latin typeface="Consolas" panose="020B0609020204030204" pitchFamily="49" charset="0"/>
              </a:rPr>
              <a:t>-&gt;</a:t>
            </a:r>
            <a:r>
              <a:rPr lang="en-US" altLang="zh-CN" sz="1400" dirty="0" err="1">
                <a:latin typeface="Consolas" panose="020B0609020204030204" pitchFamily="49" charset="0"/>
              </a:rPr>
              <a:t>p_type</a:t>
            </a:r>
            <a:r>
              <a:rPr lang="en-US" altLang="zh-CN" sz="1400" dirty="0">
                <a:latin typeface="Consolas" panose="020B0609020204030204" pitchFamily="49" charset="0"/>
              </a:rPr>
              <a:t> == PT_LOAD) {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如果类型是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LOAD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，那么就去装载吧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		panic("Please implement the loader");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	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	/* TODO: copy the segment from the ELF file to its proper memory area */</a:t>
            </a:r>
            <a:endParaRPr lang="en-US" altLang="zh-CN" sz="1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			/* TODO: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zeror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the memory area [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file_sz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mem_sz</a:t>
            </a:r>
            <a:r>
              <a:rPr lang="en-US" altLang="zh-CN" sz="1400" dirty="0">
                <a:solidFill>
                  <a:srgbClr val="0070C0"/>
                </a:solidFill>
                <a:latin typeface="Consolas" panose="020B0609020204030204" pitchFamily="49" charset="0"/>
              </a:rPr>
              <a:t>) */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lvl="6"/>
            <a:r>
              <a:rPr lang="en-US" altLang="zh-CN" sz="1400" dirty="0">
                <a:latin typeface="Consolas" panose="020B0609020204030204" pitchFamily="49" charset="0"/>
              </a:rPr>
              <a:t>#ifdef IA32_PAGE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lvl="7"/>
            <a:r>
              <a:rPr lang="en-US" altLang="zh-CN" sz="1400" dirty="0">
                <a:latin typeface="Consolas" panose="020B0609020204030204" pitchFamily="49" charset="0"/>
              </a:rPr>
              <a:t>… // </a:t>
            </a:r>
            <a:r>
              <a:rPr lang="zh-CN" altLang="en-US" sz="1400" dirty="0">
                <a:latin typeface="Consolas" panose="020B0609020204030204" pitchFamily="49" charset="0"/>
              </a:rPr>
              <a:t>没有开启分页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pPr lvl="6"/>
            <a:r>
              <a:rPr lang="en-US" altLang="zh-CN" sz="1400" dirty="0">
                <a:latin typeface="Consolas" panose="020B0609020204030204" pitchFamily="49" charset="0"/>
              </a:rPr>
              <a:t>#endif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	}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}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volatile uint32_t entry = elf-&gt;</a:t>
            </a:r>
            <a:r>
              <a:rPr lang="en-US" altLang="zh-CN" sz="1400" dirty="0" err="1">
                <a:latin typeface="Consolas" panose="020B0609020204030204" pitchFamily="49" charset="0"/>
              </a:rPr>
              <a:t>e_entry</a:t>
            </a:r>
            <a:r>
              <a:rPr lang="en-US" altLang="zh-CN" sz="1400" dirty="0">
                <a:latin typeface="Consolas" panose="020B0609020204030204" pitchFamily="49" charset="0"/>
              </a:rPr>
              <a:t>;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头文件中指出的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起始地址，应该是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0x60000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… //</a:t>
            </a:r>
            <a:r>
              <a:rPr lang="zh-CN" altLang="en-US" sz="1400" dirty="0">
                <a:latin typeface="Consolas" panose="020B0609020204030204" pitchFamily="49" charset="0"/>
              </a:rPr>
              <a:t>现在不管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	return entry;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testcase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起始地址，在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init_cond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后面执行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((void(*)(void))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eip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)();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32550" y="269085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/elf/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elf.c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执行命令的改变，加入</a:t>
            </a:r>
            <a:r>
              <a:rPr lang="en-US" altLang="zh-CN" dirty="0"/>
              <a:t>Kernel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82CC-2217-40F1-9CC2-CEA8055E774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4390" y="5025210"/>
            <a:ext cx="69940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run-kernel: </a:t>
            </a:r>
            <a:r>
              <a:rPr lang="en-US" altLang="zh-CN" sz="2800" dirty="0" err="1"/>
              <a:t>nemu</a:t>
            </a:r>
            <a:endParaRPr lang="en-US" altLang="zh-CN" sz="2800" dirty="0"/>
          </a:p>
          <a:p>
            <a:r>
              <a:rPr lang="en-US" altLang="zh-CN" sz="2800" dirty="0"/>
              <a:t>        $(call </a:t>
            </a:r>
            <a:r>
              <a:rPr lang="en-US" altLang="zh-CN" sz="2800" dirty="0" err="1"/>
              <a:t>git_commit</a:t>
            </a:r>
            <a:r>
              <a:rPr lang="en-US" altLang="zh-CN" sz="2800" dirty="0"/>
              <a:t>, "run-kernel")</a:t>
            </a:r>
            <a:endParaRPr lang="en-US" altLang="zh-CN" sz="2800" dirty="0"/>
          </a:p>
          <a:p>
            <a:r>
              <a:rPr lang="en-US" altLang="zh-CN" sz="2800" dirty="0"/>
              <a:t>        ./</a:t>
            </a:r>
            <a:r>
              <a:rPr lang="en-US" altLang="zh-CN" sz="2800" dirty="0" err="1"/>
              <a:t>nemu</a:t>
            </a:r>
            <a:r>
              <a:rPr lang="en-US" altLang="zh-CN" sz="2800" dirty="0"/>
              <a:t>/</a:t>
            </a:r>
            <a:r>
              <a:rPr lang="en-US" altLang="zh-CN" sz="2800" dirty="0" err="1"/>
              <a:t>nemu</a:t>
            </a:r>
            <a:r>
              <a:rPr lang="en-US" altLang="zh-CN" sz="2800" dirty="0"/>
              <a:t> --kernel --</a:t>
            </a:r>
            <a:r>
              <a:rPr lang="en-US" altLang="zh-CN" sz="2800" dirty="0" err="1"/>
              <a:t>testcase</a:t>
            </a:r>
            <a:r>
              <a:rPr lang="en-US" altLang="zh-CN" sz="2800" dirty="0"/>
              <a:t> add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126645" y="3806396"/>
            <a:ext cx="6042578" cy="12003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3600" dirty="0"/>
              <a:t>$ make run-kernel</a:t>
            </a:r>
            <a:endParaRPr lang="en-US" altLang="zh-CN" sz="3600" dirty="0"/>
          </a:p>
          <a:p>
            <a:r>
              <a:rPr lang="en-US" altLang="zh-CN" sz="3600" dirty="0"/>
              <a:t>$ make test_pa-2-2</a:t>
            </a:r>
            <a:endParaRPr lang="zh-CN" altLang="en-US" sz="36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138" y="4235878"/>
            <a:ext cx="6222124" cy="243511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2503" y="1537390"/>
            <a:ext cx="113217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修改</a:t>
            </a:r>
            <a:r>
              <a:rPr lang="en-US" altLang="zh-CN" sz="3200" dirty="0" err="1"/>
              <a:t>testcase</a:t>
            </a:r>
            <a:r>
              <a:rPr lang="en-US" altLang="zh-CN" sz="3200" dirty="0"/>
              <a:t>/</a:t>
            </a:r>
            <a:r>
              <a:rPr lang="en-US" altLang="zh-CN" sz="3200" dirty="0" err="1"/>
              <a:t>Makefile</a:t>
            </a:r>
            <a:r>
              <a:rPr lang="zh-CN" altLang="en-US" sz="3200" dirty="0"/>
              <a:t>中的链接选项，</a:t>
            </a:r>
            <a:r>
              <a:rPr lang="en-US" altLang="zh-CN" sz="3200" dirty="0"/>
              <a:t>make clean</a:t>
            </a:r>
            <a:r>
              <a:rPr lang="zh-CN" altLang="en-US" sz="3200" dirty="0"/>
              <a:t>后重新编译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>
                <a:solidFill>
                  <a:schemeClr val="accent5"/>
                </a:solidFill>
              </a:rPr>
              <a:t>#LDFLAGS := -m elf_i386 -e start -</a:t>
            </a:r>
            <a:r>
              <a:rPr lang="en-US" altLang="zh-CN" sz="3200" dirty="0" err="1">
                <a:solidFill>
                  <a:schemeClr val="accent5"/>
                </a:solidFill>
              </a:rPr>
              <a:t>Ttext</a:t>
            </a:r>
            <a:r>
              <a:rPr lang="en-US" altLang="zh-CN" sz="3200" dirty="0">
                <a:solidFill>
                  <a:schemeClr val="accent5"/>
                </a:solidFill>
              </a:rPr>
              <a:t>=0x30000</a:t>
            </a:r>
            <a:endParaRPr lang="en-US" altLang="zh-CN" sz="3200" dirty="0">
              <a:solidFill>
                <a:schemeClr val="accent5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LDFLAGS := -m elf_i386 -e start -</a:t>
            </a:r>
            <a:r>
              <a:rPr lang="en-US" altLang="zh-CN" sz="3200" dirty="0" err="1">
                <a:solidFill>
                  <a:srgbClr val="C00000"/>
                </a:solidFill>
              </a:rPr>
              <a:t>Ttext</a:t>
            </a:r>
            <a:r>
              <a:rPr lang="en-US" altLang="zh-CN" sz="3200" dirty="0">
                <a:solidFill>
                  <a:srgbClr val="C00000"/>
                </a:solidFill>
              </a:rPr>
              <a:t>=0x100000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028719" y="5208266"/>
            <a:ext cx="971002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altLang="zh-CN" sz="1400" dirty="0"/>
              <a:t>0x7FFFFFF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2-2 </a:t>
            </a:r>
            <a:r>
              <a:rPr lang="zh-CN" altLang="en-US" dirty="0"/>
              <a:t>执行成功的标志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</a:t>
            </a:r>
            <a:r>
              <a:rPr lang="en-US" altLang="zh-CN" dirty="0"/>
              <a:t>loader()</a:t>
            </a:r>
            <a:r>
              <a:rPr lang="zh-CN" altLang="en-US" dirty="0"/>
              <a:t>实现正确，且指令实现都正确</a:t>
            </a:r>
            <a:endParaRPr lang="en-US" altLang="zh-CN" dirty="0"/>
          </a:p>
          <a:p>
            <a:pPr lvl="1"/>
            <a:r>
              <a:rPr lang="zh-CN" altLang="en-US" dirty="0"/>
              <a:t>执行</a:t>
            </a:r>
            <a:r>
              <a:rPr lang="en-US" altLang="zh-CN" dirty="0"/>
              <a:t>make run-kernel</a:t>
            </a:r>
            <a:r>
              <a:rPr lang="zh-CN" altLang="en-US" dirty="0"/>
              <a:t>或</a:t>
            </a:r>
            <a:r>
              <a:rPr lang="en-US" altLang="zh-CN" dirty="0"/>
              <a:t>make test_pa-2-2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ABC9F-FF67-4DDA-B051-F87E9AE5C96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22704" y="6124773"/>
            <a:ext cx="437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除了</a:t>
            </a:r>
            <a:r>
              <a:rPr lang="en-US" altLang="zh-CN" dirty="0"/>
              <a:t>test-float</a:t>
            </a:r>
            <a:r>
              <a:rPr lang="zh-CN" altLang="en-US" dirty="0"/>
              <a:t>，其它都是</a:t>
            </a:r>
            <a:r>
              <a:rPr lang="en-US" altLang="zh-CN" dirty="0"/>
              <a:t>HIT GOOD TRAP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516379" y="2217420"/>
            <a:ext cx="9776461" cy="39703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1200" dirty="0">
                <a:latin typeface="Consolas" panose="020B0609020204030204" pitchFamily="49" charset="0"/>
              </a:rPr>
              <a:t>icspa-public</a:t>
            </a:r>
            <a:r>
              <a:rPr lang="en-US" altLang="zh-CN" sz="1200" dirty="0">
                <a:latin typeface="Consolas" panose="020B0609020204030204" pitchFamily="49" charset="0"/>
              </a:rPr>
              <a:t>$ make clean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icspa-public</a:t>
            </a:r>
            <a:r>
              <a:rPr lang="en-US" altLang="zh-CN" sz="1200" dirty="0">
                <a:latin typeface="Consolas" panose="020B0609020204030204" pitchFamily="49" charset="0"/>
              </a:rPr>
              <a:t>$ make test_pa-2-2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...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./</a:t>
            </a:r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/</a:t>
            </a:r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 --</a:t>
            </a:r>
            <a:r>
              <a:rPr lang="en-US" altLang="zh-CN" sz="1200" dirty="0" err="1">
                <a:latin typeface="Consolas" panose="020B0609020204030204" pitchFamily="49" charset="0"/>
              </a:rPr>
              <a:t>autorun</a:t>
            </a:r>
            <a:r>
              <a:rPr lang="en-US" altLang="zh-CN" sz="1200" dirty="0">
                <a:latin typeface="Consolas" panose="020B0609020204030204" pitchFamily="49" charset="0"/>
              </a:rPr>
              <a:t> --</a:t>
            </a:r>
            <a:r>
              <a:rPr lang="en-US" altLang="zh-CN" sz="1200" dirty="0" err="1">
                <a:latin typeface="Consolas" panose="020B0609020204030204" pitchFamily="49" charset="0"/>
              </a:rPr>
              <a:t>testcase</a:t>
            </a:r>
            <a:r>
              <a:rPr lang="en-US" altLang="zh-CN" sz="1200" dirty="0">
                <a:latin typeface="Consolas" panose="020B0609020204030204" pitchFamily="49" charset="0"/>
              </a:rPr>
              <a:t> string --kernel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200" dirty="0" err="1">
                <a:latin typeface="Consolas" panose="020B0609020204030204" pitchFamily="49" charset="0"/>
              </a:rPr>
              <a:t>img</a:t>
            </a:r>
            <a:r>
              <a:rPr lang="en-US" altLang="zh-CN" sz="1200" dirty="0">
                <a:latin typeface="Consolas" panose="020B0609020204030204" pitchFamily="49" charset="0"/>
              </a:rPr>
              <a:t>: ./kernel/</a:t>
            </a:r>
            <a:r>
              <a:rPr lang="en-US" altLang="zh-CN" sz="1200" dirty="0" err="1">
                <a:latin typeface="Consolas" panose="020B0609020204030204" pitchFamily="49" charset="0"/>
              </a:rPr>
              <a:t>kernel.img</a:t>
            </a:r>
            <a:r>
              <a:rPr lang="en-US" altLang="zh-CN" sz="1200" dirty="0">
                <a:latin typeface="Consolas" panose="020B0609020204030204" pitchFamily="49" charset="0"/>
              </a:rPr>
              <a:t>  elf: ./</a:t>
            </a:r>
            <a:r>
              <a:rPr lang="en-US" altLang="zh-CN" sz="1200" dirty="0" err="1">
                <a:latin typeface="Consolas" panose="020B0609020204030204" pitchFamily="49" charset="0"/>
              </a:rPr>
              <a:t>testcase</a:t>
            </a:r>
            <a:r>
              <a:rPr lang="en-US" altLang="zh-CN" sz="1200" dirty="0">
                <a:latin typeface="Consolas" panose="020B0609020204030204" pitchFamily="49" charset="0"/>
              </a:rPr>
              <a:t>/bin/string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</a:rPr>
              <a:t> trap output: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rgbClr val="CC00CC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/main.c,82,init_cond] {kernel} Hello, NEMU world!</a:t>
            </a:r>
            <a:endParaRPr lang="en-US" altLang="zh-CN" sz="1200" dirty="0">
              <a:solidFill>
                <a:srgbClr val="CC00CC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</a:rPr>
              <a:t> trap output: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rgbClr val="CC00CC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/elf/elf.c,30,loader] {kernel} ELF loading from ram disk.</a:t>
            </a:r>
            <a:endParaRPr lang="en-US" altLang="zh-CN" sz="1200" dirty="0">
              <a:solidFill>
                <a:srgbClr val="CC00CC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: HIT </a:t>
            </a:r>
            <a:r>
              <a:rPr lang="en-US" altLang="zh-CN" sz="1200" dirty="0">
                <a:solidFill>
                  <a:srgbClr val="00B050"/>
                </a:solidFill>
                <a:latin typeface="Consolas" panose="020B0609020204030204" pitchFamily="49" charset="0"/>
              </a:rPr>
              <a:t>GOOD</a:t>
            </a:r>
            <a:r>
              <a:rPr lang="en-US" altLang="zh-CN" sz="1200" dirty="0">
                <a:latin typeface="Consolas" panose="020B0609020204030204" pitchFamily="49" charset="0"/>
              </a:rPr>
              <a:t> TRAP at </a:t>
            </a:r>
            <a:r>
              <a:rPr lang="en-US" altLang="zh-CN" sz="1200" dirty="0" err="1">
                <a:latin typeface="Consolas" panose="020B0609020204030204" pitchFamily="49" charset="0"/>
              </a:rPr>
              <a:t>eip</a:t>
            </a:r>
            <a:r>
              <a:rPr lang="en-US" altLang="zh-CN" sz="1200" dirty="0">
                <a:latin typeface="Consolas" panose="020B0609020204030204" pitchFamily="49" charset="0"/>
              </a:rPr>
              <a:t> = 0x0010016a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NEMU2 terminated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./</a:t>
            </a:r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/</a:t>
            </a:r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 --</a:t>
            </a:r>
            <a:r>
              <a:rPr lang="en-US" altLang="zh-CN" sz="1200" dirty="0" err="1">
                <a:latin typeface="Consolas" panose="020B0609020204030204" pitchFamily="49" charset="0"/>
              </a:rPr>
              <a:t>autorun</a:t>
            </a:r>
            <a:r>
              <a:rPr lang="en-US" altLang="zh-CN" sz="1200" dirty="0">
                <a:latin typeface="Consolas" panose="020B0609020204030204" pitchFamily="49" charset="0"/>
              </a:rPr>
              <a:t> --</a:t>
            </a:r>
            <a:r>
              <a:rPr lang="en-US" altLang="zh-CN" sz="1200" dirty="0" err="1">
                <a:latin typeface="Consolas" panose="020B0609020204030204" pitchFamily="49" charset="0"/>
              </a:rPr>
              <a:t>testcase</a:t>
            </a:r>
            <a:r>
              <a:rPr lang="en-US" altLang="zh-CN" sz="1200" dirty="0">
                <a:latin typeface="Consolas" panose="020B0609020204030204" pitchFamily="49" charset="0"/>
              </a:rPr>
              <a:t> hello-</a:t>
            </a:r>
            <a:r>
              <a:rPr lang="en-US" altLang="zh-CN" sz="1200" dirty="0" err="1">
                <a:latin typeface="Consolas" panose="020B0609020204030204" pitchFamily="49" charset="0"/>
              </a:rPr>
              <a:t>str</a:t>
            </a:r>
            <a:r>
              <a:rPr lang="en-US" altLang="zh-CN" sz="1200" dirty="0">
                <a:latin typeface="Consolas" panose="020B0609020204030204" pitchFamily="49" charset="0"/>
              </a:rPr>
              <a:t>  --kernel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200" dirty="0" err="1">
                <a:latin typeface="Consolas" panose="020B0609020204030204" pitchFamily="49" charset="0"/>
              </a:rPr>
              <a:t>img</a:t>
            </a:r>
            <a:r>
              <a:rPr lang="en-US" altLang="zh-CN" sz="1200" dirty="0">
                <a:latin typeface="Consolas" panose="020B0609020204030204" pitchFamily="49" charset="0"/>
              </a:rPr>
              <a:t>: ./kernel/</a:t>
            </a:r>
            <a:r>
              <a:rPr lang="en-US" altLang="zh-CN" sz="1200" dirty="0" err="1">
                <a:latin typeface="Consolas" panose="020B0609020204030204" pitchFamily="49" charset="0"/>
              </a:rPr>
              <a:t>kernel.img</a:t>
            </a:r>
            <a:r>
              <a:rPr lang="en-US" altLang="zh-CN" sz="1200" dirty="0">
                <a:latin typeface="Consolas" panose="020B0609020204030204" pitchFamily="49" charset="0"/>
              </a:rPr>
              <a:t>  elf: ./</a:t>
            </a:r>
            <a:r>
              <a:rPr lang="en-US" altLang="zh-CN" sz="1200" dirty="0" err="1">
                <a:latin typeface="Consolas" panose="020B0609020204030204" pitchFamily="49" charset="0"/>
              </a:rPr>
              <a:t>testcase</a:t>
            </a:r>
            <a:r>
              <a:rPr lang="en-US" altLang="zh-CN" sz="1200" dirty="0">
                <a:latin typeface="Consolas" panose="020B0609020204030204" pitchFamily="49" charset="0"/>
              </a:rPr>
              <a:t>/bin/hello-</a:t>
            </a:r>
            <a:r>
              <a:rPr lang="en-US" altLang="zh-CN" sz="1200" dirty="0" err="1">
                <a:latin typeface="Consolas" panose="020B0609020204030204" pitchFamily="49" charset="0"/>
              </a:rPr>
              <a:t>str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</a:rPr>
              <a:t> trap output: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rgbClr val="CC00CC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/main.c,82,init_cond] {kernel} Hello, NEMU world!</a:t>
            </a:r>
            <a:endParaRPr lang="en-US" altLang="zh-CN" sz="1200" dirty="0">
              <a:solidFill>
                <a:srgbClr val="CC00CC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</a:rPr>
              <a:t> trap output: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rgbClr val="CC00CC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/elf/elf.c,30,loader] {kernel} ELF loading from ram disk.</a:t>
            </a:r>
            <a:endParaRPr lang="en-US" altLang="zh-CN" sz="1200" dirty="0">
              <a:solidFill>
                <a:srgbClr val="CC00CC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: HIT </a:t>
            </a:r>
            <a:r>
              <a:rPr lang="en-US" altLang="zh-CN" sz="1200" dirty="0">
                <a:solidFill>
                  <a:srgbClr val="00B050"/>
                </a:solidFill>
                <a:latin typeface="Consolas" panose="020B0609020204030204" pitchFamily="49" charset="0"/>
              </a:rPr>
              <a:t>GOOD</a:t>
            </a:r>
            <a:r>
              <a:rPr lang="en-US" altLang="zh-CN" sz="1200" dirty="0">
                <a:latin typeface="Consolas" panose="020B0609020204030204" pitchFamily="49" charset="0"/>
              </a:rPr>
              <a:t> TRAP at </a:t>
            </a:r>
            <a:r>
              <a:rPr lang="en-US" altLang="zh-CN" sz="1200" dirty="0" err="1">
                <a:latin typeface="Consolas" panose="020B0609020204030204" pitchFamily="49" charset="0"/>
              </a:rPr>
              <a:t>eip</a:t>
            </a:r>
            <a:r>
              <a:rPr lang="en-US" altLang="zh-CN" sz="1200" dirty="0">
                <a:latin typeface="Consolas" panose="020B0609020204030204" pitchFamily="49" charset="0"/>
              </a:rPr>
              <a:t> = 0x00100105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NEMU2 terminated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./</a:t>
            </a:r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/</a:t>
            </a:r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 --</a:t>
            </a:r>
            <a:r>
              <a:rPr lang="en-US" altLang="zh-CN" sz="1200" dirty="0" err="1">
                <a:latin typeface="Consolas" panose="020B0609020204030204" pitchFamily="49" charset="0"/>
              </a:rPr>
              <a:t>autorun</a:t>
            </a:r>
            <a:r>
              <a:rPr lang="en-US" altLang="zh-CN" sz="1200" dirty="0">
                <a:latin typeface="Consolas" panose="020B0609020204030204" pitchFamily="49" charset="0"/>
              </a:rPr>
              <a:t> --</a:t>
            </a:r>
            <a:r>
              <a:rPr lang="en-US" altLang="zh-CN" sz="1200" dirty="0" err="1">
                <a:latin typeface="Consolas" panose="020B0609020204030204" pitchFamily="49" charset="0"/>
              </a:rPr>
              <a:t>testcase</a:t>
            </a:r>
            <a:r>
              <a:rPr lang="en-US" altLang="zh-CN" sz="1200" dirty="0">
                <a:latin typeface="Consolas" panose="020B0609020204030204" pitchFamily="49" charset="0"/>
              </a:rPr>
              <a:t> test-float --kernel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200" dirty="0" err="1">
                <a:latin typeface="Consolas" panose="020B0609020204030204" pitchFamily="49" charset="0"/>
              </a:rPr>
              <a:t>img</a:t>
            </a:r>
            <a:r>
              <a:rPr lang="en-US" altLang="zh-CN" sz="1200" dirty="0">
                <a:latin typeface="Consolas" panose="020B0609020204030204" pitchFamily="49" charset="0"/>
              </a:rPr>
              <a:t>: ./kernel/</a:t>
            </a:r>
            <a:r>
              <a:rPr lang="en-US" altLang="zh-CN" sz="1200" dirty="0" err="1">
                <a:latin typeface="Consolas" panose="020B0609020204030204" pitchFamily="49" charset="0"/>
              </a:rPr>
              <a:t>kernel.img</a:t>
            </a:r>
            <a:r>
              <a:rPr lang="en-US" altLang="zh-CN" sz="1200" dirty="0">
                <a:latin typeface="Consolas" panose="020B0609020204030204" pitchFamily="49" charset="0"/>
              </a:rPr>
              <a:t>  elf: ./</a:t>
            </a:r>
            <a:r>
              <a:rPr lang="en-US" altLang="zh-CN" sz="1200" dirty="0" err="1">
                <a:latin typeface="Consolas" panose="020B0609020204030204" pitchFamily="49" charset="0"/>
              </a:rPr>
              <a:t>testcase</a:t>
            </a:r>
            <a:r>
              <a:rPr lang="en-US" altLang="zh-CN" sz="1200" dirty="0">
                <a:latin typeface="Consolas" panose="020B0609020204030204" pitchFamily="49" charset="0"/>
              </a:rPr>
              <a:t>/bin/test-float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</a:rPr>
              <a:t> trap output: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rgbClr val="CC00CC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/main.c,82,init_cond] {kernel} Hello, NEMU world!</a:t>
            </a:r>
            <a:endParaRPr lang="en-US" altLang="zh-CN" sz="1200" dirty="0">
              <a:solidFill>
                <a:srgbClr val="CC00CC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</a:rPr>
              <a:t> trap output: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rgbClr val="CC00CC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1200" dirty="0">
                <a:solidFill>
                  <a:srgbClr val="CC00CC"/>
                </a:solidFill>
                <a:latin typeface="Consolas" panose="020B0609020204030204" pitchFamily="49" charset="0"/>
              </a:rPr>
              <a:t>/elf/elf.c,30,loader] {kernel} ELF loading from ram disk.</a:t>
            </a:r>
            <a:endParaRPr lang="en-US" altLang="zh-CN" sz="1200" dirty="0">
              <a:solidFill>
                <a:srgbClr val="CC00CC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 err="1">
                <a:latin typeface="Consolas" panose="020B0609020204030204" pitchFamily="49" charset="0"/>
              </a:rPr>
              <a:t>nemu</a:t>
            </a:r>
            <a:r>
              <a:rPr lang="en-US" altLang="zh-CN" sz="1200" dirty="0">
                <a:latin typeface="Consolas" panose="020B0609020204030204" pitchFamily="49" charset="0"/>
              </a:rPr>
              <a:t>: HIT </a:t>
            </a:r>
            <a:r>
              <a:rPr lang="en-US" altLang="zh-CN" sz="1200" dirty="0">
                <a:solidFill>
                  <a:srgbClr val="C00000"/>
                </a:solidFill>
                <a:latin typeface="Consolas" panose="020B0609020204030204" pitchFamily="49" charset="0"/>
              </a:rPr>
              <a:t>BAD</a:t>
            </a:r>
            <a:r>
              <a:rPr lang="en-US" altLang="zh-CN" sz="1200" dirty="0">
                <a:latin typeface="Consolas" panose="020B0609020204030204" pitchFamily="49" charset="0"/>
              </a:rPr>
              <a:t> TRAP at </a:t>
            </a:r>
            <a:r>
              <a:rPr lang="en-US" altLang="zh-CN" sz="1200" dirty="0" err="1">
                <a:latin typeface="Consolas" panose="020B0609020204030204" pitchFamily="49" charset="0"/>
              </a:rPr>
              <a:t>eip</a:t>
            </a:r>
            <a:r>
              <a:rPr lang="en-US" altLang="zh-CN" sz="1200" dirty="0">
                <a:latin typeface="Consolas" panose="020B0609020204030204" pitchFamily="49" charset="0"/>
              </a:rPr>
              <a:t> = 0x001000c8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NEMU2 terminated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实用小贴士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如果使用</a:t>
            </a:r>
            <a:r>
              <a:rPr lang="en-US" altLang="zh-CN" dirty="0"/>
              <a:t>make test</a:t>
            </a:r>
            <a:r>
              <a:rPr lang="zh-CN" altLang="en-US" dirty="0"/>
              <a:t>系列命令</a:t>
            </a:r>
            <a:endParaRPr lang="en-US" altLang="zh-CN" dirty="0"/>
          </a:p>
          <a:p>
            <a:pPr lvl="1"/>
            <a:r>
              <a:rPr lang="zh-CN" altLang="en-US" dirty="0"/>
              <a:t>不会进入交互界面，调试有困难</a:t>
            </a:r>
            <a:endParaRPr lang="en-US" altLang="zh-CN" dirty="0"/>
          </a:p>
          <a:p>
            <a:pPr lvl="1"/>
            <a:r>
              <a:rPr lang="zh-CN" altLang="en-US" dirty="0"/>
              <a:t>可以使用</a:t>
            </a:r>
            <a:r>
              <a:rPr lang="en-US" altLang="zh-CN" dirty="0"/>
              <a:t>BREAK_POINT</a:t>
            </a:r>
            <a:r>
              <a:rPr lang="zh-CN" altLang="en-US" dirty="0"/>
              <a:t>宏强制进入交互模式</a:t>
            </a:r>
            <a:endParaRPr lang="en-US" altLang="zh-CN" dirty="0"/>
          </a:p>
          <a:p>
            <a:pPr lvl="1"/>
            <a:r>
              <a:rPr lang="zh-CN" altLang="en-US" dirty="0"/>
              <a:t>参考群里的</a:t>
            </a:r>
            <a:r>
              <a:rPr lang="en-US" altLang="zh-CN" dirty="0" err="1"/>
              <a:t>ui.c</a:t>
            </a:r>
            <a:r>
              <a:rPr lang="zh-CN" altLang="en-US" dirty="0"/>
              <a:t>，实现简易的</a:t>
            </a:r>
            <a:r>
              <a:rPr lang="en-US" altLang="zh-CN" dirty="0"/>
              <a:t>x</a:t>
            </a:r>
            <a:r>
              <a:rPr lang="zh-CN" altLang="en-US" dirty="0"/>
              <a:t>扫描内存命令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ADA6-2276-4725-903B-BE1A9D6638E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23868" y="3360819"/>
            <a:ext cx="6944264" cy="156966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#ifndef IA32_SEG</a:t>
            </a:r>
            <a:endParaRPr lang="zh-CN" altLang="en-US" sz="1600" dirty="0"/>
          </a:p>
          <a:p>
            <a:endParaRPr lang="zh-CN" altLang="en-US" sz="1600" dirty="0"/>
          </a:p>
          <a:p>
            <a:r>
              <a:rPr lang="zh-CN" altLang="en-US" sz="1600" dirty="0"/>
              <a:t>	.globl start</a:t>
            </a:r>
            <a:endParaRPr lang="zh-CN" altLang="en-US" sz="1600" dirty="0"/>
          </a:p>
          <a:p>
            <a:r>
              <a:rPr lang="zh-CN" altLang="en-US" sz="1600" dirty="0"/>
              <a:t>	start:</a:t>
            </a:r>
            <a:endParaRPr lang="zh-CN" altLang="en-US" sz="1600" dirty="0"/>
          </a:p>
          <a:p>
            <a:r>
              <a:rPr lang="zh-CN" altLang="en-US" sz="1600" dirty="0">
                <a:solidFill>
                  <a:srgbClr val="FF0000"/>
                </a:solidFill>
              </a:rPr>
              <a:t>		BREAK_POINT </a:t>
            </a:r>
            <a:r>
              <a:rPr lang="en-US" altLang="zh-CN" sz="1600" dirty="0">
                <a:solidFill>
                  <a:srgbClr val="FF0000"/>
                </a:solidFill>
              </a:rPr>
              <a:t>#</a:t>
            </a:r>
            <a:r>
              <a:rPr lang="zh-CN" altLang="en-US" sz="1600" dirty="0">
                <a:solidFill>
                  <a:srgbClr val="FF0000"/>
                </a:solidFill>
              </a:rPr>
              <a:t>每次一进</a:t>
            </a:r>
            <a:r>
              <a:rPr lang="en-US" altLang="zh-CN" sz="1600" dirty="0">
                <a:solidFill>
                  <a:srgbClr val="FF0000"/>
                </a:solidFill>
              </a:rPr>
              <a:t>Kernel</a:t>
            </a:r>
            <a:r>
              <a:rPr lang="zh-CN" altLang="en-US" sz="1600" dirty="0">
                <a:solidFill>
                  <a:srgbClr val="FF0000"/>
                </a:solidFill>
              </a:rPr>
              <a:t>就</a:t>
            </a:r>
            <a:r>
              <a:rPr lang="en-US" altLang="zh-CN" sz="1600" dirty="0">
                <a:solidFill>
                  <a:srgbClr val="FF0000"/>
                </a:solidFill>
              </a:rPr>
              <a:t>break</a:t>
            </a:r>
            <a:r>
              <a:rPr lang="zh-CN" altLang="en-US" sz="1600" dirty="0">
                <a:solidFill>
                  <a:srgbClr val="FF0000"/>
                </a:solidFill>
              </a:rPr>
              <a:t>，进入交互模式</a:t>
            </a:r>
            <a:endParaRPr lang="zh-CN" altLang="en-US" sz="1600" dirty="0">
              <a:solidFill>
                <a:srgbClr val="FF0000"/>
              </a:solidFill>
            </a:endParaRPr>
          </a:p>
          <a:p>
            <a:r>
              <a:rPr lang="zh-CN" altLang="en-US" sz="1600" dirty="0"/>
              <a:t>		jmp init				# never return</a:t>
            </a:r>
            <a:endParaRPr lang="zh-CN" altLang="en-US" sz="1600" dirty="0"/>
          </a:p>
        </p:txBody>
      </p:sp>
      <p:sp>
        <p:nvSpPr>
          <p:cNvPr id="7" name="任意多边形 6"/>
          <p:cNvSpPr/>
          <p:nvPr/>
        </p:nvSpPr>
        <p:spPr>
          <a:xfrm>
            <a:off x="6256020" y="2324224"/>
            <a:ext cx="2305728" cy="2011556"/>
          </a:xfrm>
          <a:custGeom>
            <a:avLst/>
            <a:gdLst>
              <a:gd name="connsiteX0" fmla="*/ 1165860 w 2305728"/>
              <a:gd name="connsiteY0" fmla="*/ 68456 h 2270636"/>
              <a:gd name="connsiteX1" fmla="*/ 2270760 w 2305728"/>
              <a:gd name="connsiteY1" fmla="*/ 274196 h 2270636"/>
              <a:gd name="connsiteX2" fmla="*/ 0 w 2305728"/>
              <a:gd name="connsiteY2" fmla="*/ 2270636 h 227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728" h="2270636">
                <a:moveTo>
                  <a:pt x="1165860" y="68456"/>
                </a:moveTo>
                <a:cubicBezTo>
                  <a:pt x="1815465" y="-12189"/>
                  <a:pt x="2465070" y="-92834"/>
                  <a:pt x="2270760" y="274196"/>
                </a:cubicBezTo>
                <a:cubicBezTo>
                  <a:pt x="2076450" y="641226"/>
                  <a:pt x="1038225" y="1455931"/>
                  <a:pt x="0" y="2270636"/>
                </a:cubicBezTo>
              </a:path>
            </a:pathLst>
          </a:custGeom>
          <a:noFill/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9800" y="2653317"/>
            <a:ext cx="7772400" cy="856646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zh-CN" sz="2400" dirty="0"/>
            </a:br>
            <a:br>
              <a:rPr lang="en-US" altLang="zh-CN" sz="3600" dirty="0"/>
            </a:br>
            <a:r>
              <a:rPr lang="zh-CN" altLang="en-US" sz="3600" dirty="0"/>
              <a:t>祝大家学习快乐，身心健康！</a:t>
            </a:r>
            <a:endParaRPr lang="zh-CN" altLang="en-US" sz="3600" dirty="0"/>
          </a:p>
        </p:txBody>
      </p:sp>
      <p:sp>
        <p:nvSpPr>
          <p:cNvPr id="5" name="矩形 4"/>
          <p:cNvSpPr/>
          <p:nvPr/>
        </p:nvSpPr>
        <p:spPr>
          <a:xfrm>
            <a:off x="2209801" y="2468651"/>
            <a:ext cx="1829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 2-2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到此结束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E2DE-2295-40D8-906F-3B20C2EAC19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2209800" y="3723005"/>
            <a:ext cx="8321566" cy="1442720"/>
          </a:xfrm>
        </p:spPr>
        <p:txBody>
          <a:bodyPr/>
          <a:lstStyle/>
          <a:p>
            <a:pPr algn="l"/>
            <a:r>
              <a:rPr lang="en-US" altLang="zh-CN" dirty="0"/>
              <a:t>PA 2-2 </a:t>
            </a:r>
            <a:r>
              <a:rPr lang="zh-CN" altLang="en-US" dirty="0"/>
              <a:t>截止时间 </a:t>
            </a: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26</a:t>
            </a:r>
            <a:r>
              <a:rPr lang="zh-CN" altLang="en-US" dirty="0"/>
              <a:t>日（周日）</a:t>
            </a:r>
            <a:r>
              <a:rPr lang="en-US" altLang="zh-CN" dirty="0"/>
              <a:t>24</a:t>
            </a:r>
            <a:r>
              <a:rPr lang="zh-CN" altLang="en-US" dirty="0"/>
              <a:t>时</a:t>
            </a:r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24099"/>
            <a:ext cx="10515600" cy="38528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认识</a:t>
            </a:r>
            <a:r>
              <a:rPr lang="en-US" altLang="zh-CN" b="1" dirty="0"/>
              <a:t>ELF</a:t>
            </a:r>
            <a:r>
              <a:rPr lang="zh-CN" altLang="en-US" b="1" dirty="0"/>
              <a:t>文件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PA 2-2 – </a:t>
            </a:r>
            <a:r>
              <a:rPr lang="zh-CN" altLang="en-US" b="1" dirty="0"/>
              <a:t>程序的装载        </a:t>
            </a:r>
            <a:r>
              <a:rPr lang="en-US" altLang="zh-CN" b="1" dirty="0"/>
              <a:t>-&gt; ELF</a:t>
            </a:r>
            <a:r>
              <a:rPr lang="zh-CN" altLang="en-US" b="1" dirty="0"/>
              <a:t>文件程序头表的解析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PA 2-3 – </a:t>
            </a:r>
            <a:r>
              <a:rPr lang="zh-CN" altLang="en-US" b="1" dirty="0">
                <a:solidFill>
                  <a:srgbClr val="C00000"/>
                </a:solidFill>
              </a:rPr>
              <a:t>调试器符号表解析 </a:t>
            </a:r>
            <a:r>
              <a:rPr lang="en-US" altLang="zh-CN" b="1" dirty="0">
                <a:solidFill>
                  <a:srgbClr val="C00000"/>
                </a:solidFill>
              </a:rPr>
              <a:t>–&gt; ELF</a:t>
            </a:r>
            <a:r>
              <a:rPr lang="zh-CN" altLang="en-US" b="1" dirty="0">
                <a:solidFill>
                  <a:srgbClr val="C00000"/>
                </a:solidFill>
              </a:rPr>
              <a:t>文件符号表的解析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要解决的问题：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82917" y="1989640"/>
            <a:ext cx="8250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给定一个符号（如，全局变量）的名字，返回其在内存中的值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567559" y="3501436"/>
            <a:ext cx="11332779" cy="9733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test_data</a:t>
            </a:r>
            <a:r>
              <a:rPr lang="en-US" altLang="zh-CN" sz="2400" dirty="0">
                <a:latin typeface="Consolas" panose="020B0609020204030204" pitchFamily="49" charset="0"/>
              </a:rPr>
              <a:t>[] = {0, 1, 2, 0x7fffffff, 0x80000000, 0x80000001, 0xfffffffe, 0xffffffff};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08579" y="2792394"/>
            <a:ext cx="3691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accent5"/>
                </a:solidFill>
              </a:rPr>
              <a:t>testcase</a:t>
            </a:r>
            <a:r>
              <a:rPr lang="en-US" altLang="zh-CN" sz="3200" dirty="0">
                <a:solidFill>
                  <a:schemeClr val="accent5"/>
                </a:solidFill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</a:rPr>
              <a:t>add.c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7559" y="5226015"/>
            <a:ext cx="11332779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(nemu) x 4 </a:t>
            </a: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test_data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n = 4, expr = test_data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0x00032020</a:t>
            </a:r>
            <a:r>
              <a:rPr lang="zh-CN" altLang="en-US" sz="2400" dirty="0">
                <a:latin typeface="Consolas" panose="020B0609020204030204" pitchFamily="49" charset="0"/>
              </a:rPr>
              <a:t>:	0x00000000 0x00000001 0x00000002 0x7fffffff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98779" y="4579154"/>
            <a:ext cx="5901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5"/>
                </a:solidFill>
              </a:rPr>
              <a:t>NEMU</a:t>
            </a:r>
            <a:r>
              <a:rPr lang="zh-CN" altLang="en-US" sz="3200" dirty="0">
                <a:solidFill>
                  <a:schemeClr val="accent5"/>
                </a:solidFill>
              </a:rPr>
              <a:t>中的交互式调试界面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2" y="1574512"/>
            <a:ext cx="2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符号表解析程序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4868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文件，带查询符号名</a:t>
            </a:r>
            <a:endParaRPr lang="en-US" altLang="zh-CN" sz="2000" dirty="0"/>
          </a:p>
          <a:p>
            <a:r>
              <a:rPr lang="zh-CN" altLang="en-US" sz="2000" dirty="0"/>
              <a:t>输出：符号在内存中的地址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992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读入</a:t>
            </a:r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定位符号表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for </a:t>
            </a:r>
            <a:r>
              <a:rPr lang="zh-CN" altLang="en-US" dirty="0"/>
              <a:t>符号表中的每一项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if </a:t>
            </a:r>
            <a:r>
              <a:rPr lang="zh-CN" altLang="en-US" dirty="0"/>
              <a:t>该项名</a:t>
            </a:r>
            <a:r>
              <a:rPr lang="en-US" altLang="zh-CN" dirty="0"/>
              <a:t> == </a:t>
            </a:r>
            <a:r>
              <a:rPr lang="zh-CN" altLang="en-US" dirty="0"/>
              <a:t>带查询符号名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        return </a:t>
            </a:r>
            <a:r>
              <a:rPr lang="zh-CN" altLang="en-US" dirty="0"/>
              <a:t>查找成功，符号的内存地址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end if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end for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return </a:t>
            </a:r>
            <a:r>
              <a:rPr lang="zh-CN" altLang="en-US" dirty="0"/>
              <a:t>查找失败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2" y="1574512"/>
            <a:ext cx="2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符号表解析程序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4868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文件，带查询符号名</a:t>
            </a:r>
            <a:endParaRPr lang="en-US" altLang="zh-CN" sz="2000" dirty="0"/>
          </a:p>
          <a:p>
            <a:r>
              <a:rPr lang="zh-CN" altLang="en-US" sz="2000" dirty="0"/>
              <a:t>输出：符号在内存中的地址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992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C00000"/>
                </a:solidFill>
              </a:rPr>
              <a:t>读入</a:t>
            </a:r>
            <a:r>
              <a:rPr lang="en-US" altLang="zh-CN" b="1" dirty="0">
                <a:solidFill>
                  <a:srgbClr val="C00000"/>
                </a:solidFill>
              </a:rPr>
              <a:t>ELF</a:t>
            </a:r>
            <a:r>
              <a:rPr lang="zh-CN" altLang="en-US" b="1" dirty="0">
                <a:solidFill>
                  <a:srgbClr val="C00000"/>
                </a:solidFill>
              </a:rPr>
              <a:t>头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solidFill>
                  <a:srgbClr val="C00000"/>
                </a:solidFill>
              </a:rPr>
              <a:t>定位符号表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/>
              <a:t>for </a:t>
            </a:r>
            <a:r>
              <a:rPr lang="zh-CN" altLang="en-US" dirty="0"/>
              <a:t>符号表中的每一项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if </a:t>
            </a:r>
            <a:r>
              <a:rPr lang="zh-CN" altLang="en-US" dirty="0"/>
              <a:t>该项名</a:t>
            </a:r>
            <a:r>
              <a:rPr lang="en-US" altLang="zh-CN" dirty="0"/>
              <a:t> == </a:t>
            </a:r>
            <a:r>
              <a:rPr lang="zh-CN" altLang="en-US" dirty="0"/>
              <a:t>带查询符号名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        return </a:t>
            </a:r>
            <a:r>
              <a:rPr lang="zh-CN" altLang="en-US" dirty="0"/>
              <a:t>查找成功，符号的内存地址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end if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end for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return </a:t>
            </a:r>
            <a:r>
              <a:rPr lang="zh-CN" altLang="en-US" dirty="0"/>
              <a:t>查找失败</a:t>
            </a:r>
            <a:endParaRPr lang="zh-CN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头的编程解析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78645" y="1605290"/>
            <a:ext cx="5375910" cy="34778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ELF Header: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Magic:   7f 45 4c 46 01 01 01 00 00 00 00 00 00 00 00 00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Class:                             ELF32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Data:                              2's complement, little endian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Version:                           1 (current)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OS/ABI:                            UNIX - System V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ABI Version:                       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Type:                              EXEC (Executable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Machine:                           Intel 80386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Version:                           0x1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Entry point address:               0x30000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Start of program headers:          52 (bytes into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Start of section headers:          18276 (bytes into file)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Flags:                             0x0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this header:               52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program headers:           32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Number of program headers:         3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Size of section headers:           40 (bytes)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Number of section headers:         15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Section header string table index: 14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61285" y="1636066"/>
            <a:ext cx="2806700" cy="341632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200" dirty="0"/>
              <a:t>#define EI_NIDENT 16</a:t>
            </a:r>
            <a:endParaRPr lang="zh-CN" altLang="en-US" sz="1200" dirty="0"/>
          </a:p>
          <a:p>
            <a:endParaRPr lang="zh-CN" altLang="en-US" sz="1200" dirty="0"/>
          </a:p>
          <a:p>
            <a:r>
              <a:rPr lang="zh-CN" altLang="en-US" sz="1200" dirty="0"/>
              <a:t>typedef struct {</a:t>
            </a:r>
            <a:endParaRPr lang="zh-CN" altLang="en-US" sz="1200" dirty="0"/>
          </a:p>
          <a:p>
            <a:r>
              <a:rPr lang="zh-CN" altLang="en-US" sz="1200" dirty="0"/>
              <a:t>       unsigned char e_ident[EI_NIDENT];</a:t>
            </a:r>
            <a:endParaRPr lang="zh-CN" altLang="en-US" sz="1200" dirty="0"/>
          </a:p>
          <a:p>
            <a:r>
              <a:rPr lang="zh-CN" altLang="en-US" sz="1200" dirty="0"/>
              <a:t>       uint16_t      e_type;</a:t>
            </a:r>
            <a:endParaRPr lang="zh-CN" altLang="en-US" sz="1200" dirty="0"/>
          </a:p>
          <a:p>
            <a:r>
              <a:rPr lang="zh-CN" altLang="en-US" sz="1200" dirty="0"/>
              <a:t>       uint16_t      e_machine;</a:t>
            </a:r>
            <a:endParaRPr lang="zh-CN" altLang="en-US" sz="1200" dirty="0"/>
          </a:p>
          <a:p>
            <a:r>
              <a:rPr lang="zh-CN" altLang="en-US" sz="1200" dirty="0"/>
              <a:t>       uint32_t      e_version;</a:t>
            </a:r>
            <a:endParaRPr lang="zh-CN" altLang="en-US" sz="1200" dirty="0"/>
          </a:p>
          <a:p>
            <a:r>
              <a:rPr lang="zh-CN" altLang="en-US" sz="1200" dirty="0"/>
              <a:t>       ElfN_Addr     e_entry;</a:t>
            </a:r>
            <a:endParaRPr lang="zh-CN" altLang="en-US" sz="1200" dirty="0"/>
          </a:p>
          <a:p>
            <a:r>
              <a:rPr lang="zh-CN" altLang="en-US" sz="1200" dirty="0"/>
              <a:t>       ElfN_Off      e_phoff;</a:t>
            </a:r>
            <a:endParaRPr lang="zh-CN" altLang="en-US" sz="1200" dirty="0"/>
          </a:p>
          <a:p>
            <a:r>
              <a:rPr lang="zh-CN" altLang="en-US" sz="1200" dirty="0"/>
              <a:t>       ElfN_Off      e_shoff;</a:t>
            </a:r>
            <a:endParaRPr lang="zh-CN" altLang="en-US" sz="1200" dirty="0"/>
          </a:p>
          <a:p>
            <a:r>
              <a:rPr lang="zh-CN" altLang="en-US" sz="1200" dirty="0"/>
              <a:t>       uint32_t      e_flags;</a:t>
            </a:r>
            <a:endParaRPr lang="zh-CN" altLang="en-US" sz="1200" dirty="0"/>
          </a:p>
          <a:p>
            <a:r>
              <a:rPr lang="zh-CN" altLang="en-US" sz="1200" dirty="0"/>
              <a:t>       uint16_t      e_ehsize;</a:t>
            </a:r>
            <a:endParaRPr lang="zh-CN" altLang="en-US" sz="1200" dirty="0"/>
          </a:p>
          <a:p>
            <a:r>
              <a:rPr lang="zh-CN" altLang="en-US" sz="1200" dirty="0"/>
              <a:t>       uint16_t      e_phentsize;</a:t>
            </a:r>
            <a:endParaRPr lang="zh-CN" altLang="en-US" sz="1200" dirty="0"/>
          </a:p>
          <a:p>
            <a:r>
              <a:rPr lang="zh-CN" altLang="en-US" sz="1200" dirty="0"/>
              <a:t>       uint16_t      e_phnum;</a:t>
            </a:r>
            <a:endParaRPr lang="zh-CN" altLang="en-US" sz="1200" dirty="0"/>
          </a:p>
          <a:p>
            <a:r>
              <a:rPr lang="zh-CN" altLang="en-US" sz="1200" dirty="0"/>
              <a:t>       uint16_t      e_shentsize;</a:t>
            </a:r>
            <a:endParaRPr lang="zh-CN" altLang="en-US" sz="1200" dirty="0"/>
          </a:p>
          <a:p>
            <a:r>
              <a:rPr lang="zh-CN" altLang="en-US" sz="1200" dirty="0"/>
              <a:t>       uint16_t      e_shnum;</a:t>
            </a:r>
            <a:endParaRPr lang="zh-CN" altLang="en-US" sz="1200" dirty="0"/>
          </a:p>
          <a:p>
            <a:r>
              <a:rPr lang="zh-CN" altLang="en-US" sz="1200" dirty="0"/>
              <a:t>       uint16_t      e_shstrndx;</a:t>
            </a:r>
            <a:endParaRPr lang="zh-CN" altLang="en-US" sz="1200" dirty="0"/>
          </a:p>
          <a:p>
            <a:r>
              <a:rPr lang="zh-CN" altLang="en-US" sz="1200" dirty="0"/>
              <a:t>} ElfN_Ehdr;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978645" y="5404578"/>
            <a:ext cx="738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头，它位于整个</a:t>
            </a:r>
            <a:r>
              <a:rPr lang="en-US" altLang="zh-CN" dirty="0">
                <a:solidFill>
                  <a:srgbClr val="C00000"/>
                </a:solidFill>
              </a:rPr>
              <a:t>ELF</a:t>
            </a:r>
            <a:r>
              <a:rPr lang="zh-CN" altLang="en-US" dirty="0">
                <a:solidFill>
                  <a:srgbClr val="C00000"/>
                </a:solidFill>
              </a:rPr>
              <a:t>文件最开始的地方。在</a:t>
            </a:r>
            <a:r>
              <a:rPr lang="en-US" altLang="zh-CN" dirty="0">
                <a:solidFill>
                  <a:srgbClr val="C00000"/>
                </a:solidFill>
              </a:rPr>
              <a:t>32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r>
              <a:rPr lang="en-US" altLang="zh-CN" dirty="0">
                <a:solidFill>
                  <a:srgbClr val="C00000"/>
                </a:solidFill>
              </a:rPr>
              <a:t>Linux</a:t>
            </a:r>
            <a:r>
              <a:rPr lang="zh-CN" altLang="en-US" dirty="0">
                <a:solidFill>
                  <a:srgbClr val="C00000"/>
                </a:solidFill>
              </a:rPr>
              <a:t>系统中，</a:t>
            </a:r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r>
              <a:rPr lang="zh-CN" altLang="en-US" dirty="0">
                <a:solidFill>
                  <a:srgbClr val="C00000"/>
                </a:solidFill>
              </a:rPr>
              <a:t>头文件中的</a:t>
            </a:r>
            <a:r>
              <a:rPr lang="en-US" altLang="zh-CN" dirty="0">
                <a:solidFill>
                  <a:srgbClr val="C00000"/>
                </a:solidFill>
              </a:rPr>
              <a:t>Elf32_Ehdr</a:t>
            </a:r>
            <a:r>
              <a:rPr lang="zh-CN" altLang="en-US" dirty="0">
                <a:solidFill>
                  <a:srgbClr val="C00000"/>
                </a:solidFill>
              </a:rPr>
              <a:t>数据结构与之对应。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5843752" y="3457903"/>
            <a:ext cx="1334814" cy="278418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954087" y="3088571"/>
            <a:ext cx="17793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节头表位置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4120055" y="4740166"/>
            <a:ext cx="3058511" cy="201019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759645" y="3982634"/>
            <a:ext cx="177933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节头表对应字符串表的索引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解析节头表，找到符号表和字符串表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2C4E-5A80-4B73-9902-A62C2601ACC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350645" y="2090130"/>
            <a:ext cx="5375910" cy="341632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Consolas" panose="020B0609020204030204" pitchFamily="49" charset="0"/>
              </a:rPr>
              <a:t>Section Headers: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</a:t>
            </a:r>
            <a:r>
              <a:rPr lang="en-US" altLang="zh-CN" sz="900" dirty="0" err="1">
                <a:latin typeface="Consolas" panose="020B0609020204030204" pitchFamily="49" charset="0"/>
              </a:rPr>
              <a:t>Nr</a:t>
            </a:r>
            <a:r>
              <a:rPr lang="en-US" altLang="zh-CN" sz="900" dirty="0">
                <a:latin typeface="Consolas" panose="020B0609020204030204" pitchFamily="49" charset="0"/>
              </a:rPr>
              <a:t>] Name              Type            </a:t>
            </a:r>
            <a:r>
              <a:rPr lang="en-US" altLang="zh-CN" sz="900" dirty="0" err="1">
                <a:latin typeface="Consolas" panose="020B0609020204030204" pitchFamily="49" charset="0"/>
              </a:rPr>
              <a:t>Addr</a:t>
            </a:r>
            <a:r>
              <a:rPr lang="en-US" altLang="zh-CN" sz="900" dirty="0">
                <a:latin typeface="Consolas" panose="020B0609020204030204" pitchFamily="49" charset="0"/>
              </a:rPr>
              <a:t>     Off    Size   ES </a:t>
            </a:r>
            <a:r>
              <a:rPr lang="en-US" altLang="zh-CN" sz="900" dirty="0" err="1">
                <a:latin typeface="Consolas" panose="020B0609020204030204" pitchFamily="49" charset="0"/>
              </a:rPr>
              <a:t>Flg</a:t>
            </a:r>
            <a:r>
              <a:rPr lang="en-US" altLang="zh-CN" sz="900" dirty="0">
                <a:latin typeface="Consolas" panose="020B0609020204030204" pitchFamily="49" charset="0"/>
              </a:rPr>
              <a:t> Lk </a:t>
            </a:r>
            <a:r>
              <a:rPr lang="en-US" altLang="zh-CN" sz="900" dirty="0" err="1">
                <a:latin typeface="Consolas" panose="020B0609020204030204" pitchFamily="49" charset="0"/>
              </a:rPr>
              <a:t>Inf</a:t>
            </a:r>
            <a:r>
              <a:rPr lang="en-US" altLang="zh-CN" sz="900" dirty="0">
                <a:latin typeface="Consolas" panose="020B0609020204030204" pitchFamily="49" charset="0"/>
              </a:rPr>
              <a:t> Al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[ 0]                   NULL            00000000 000000 000000 00      0   0  0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[ 1] .text             PROGBITS        00030000 001000 0000d0 00  AX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[ 2] .</a:t>
            </a:r>
            <a:r>
              <a:rPr lang="en-US" altLang="zh-CN" sz="900" dirty="0" err="1">
                <a:latin typeface="Consolas" panose="020B0609020204030204" pitchFamily="49" charset="0"/>
              </a:rPr>
              <a:t>eh_frame</a:t>
            </a:r>
            <a:r>
              <a:rPr lang="en-US" altLang="zh-CN" sz="900" dirty="0">
                <a:latin typeface="Consolas" panose="020B0609020204030204" pitchFamily="49" charset="0"/>
              </a:rPr>
              <a:t>         PROGBITS        000300d0 0010d0 000084 00   A  0   0  4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[ 3] .</a:t>
            </a:r>
            <a:r>
              <a:rPr lang="en-US" altLang="zh-CN" sz="900" dirty="0" err="1">
                <a:latin typeface="Consolas" panose="020B0609020204030204" pitchFamily="49" charset="0"/>
              </a:rPr>
              <a:t>got.plt</a:t>
            </a:r>
            <a:r>
              <a:rPr lang="en-US" altLang="zh-CN" sz="900" dirty="0">
                <a:latin typeface="Consolas" panose="020B0609020204030204" pitchFamily="49" charset="0"/>
              </a:rPr>
              <a:t>          PROGBITS        00032000 002000 00000c 04  WA  0   0  4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[ 4] .data             PROGBITS        00032020 002020 000120 00  WA  0   0 32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[ 5] .comment          PROGBITS        00000000 002140 000026 01  MS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[ 6] .</a:t>
            </a:r>
            <a:r>
              <a:rPr lang="en-US" altLang="zh-CN" sz="900" dirty="0" err="1">
                <a:latin typeface="Consolas" panose="020B0609020204030204" pitchFamily="49" charset="0"/>
              </a:rPr>
              <a:t>debug_aranges</a:t>
            </a:r>
            <a:r>
              <a:rPr lang="en-US" altLang="zh-CN" sz="900" dirty="0">
                <a:latin typeface="Consolas" panose="020B0609020204030204" pitchFamily="49" charset="0"/>
              </a:rPr>
              <a:t>    PROGBITS        00000000 002168 000040 00      0   0  8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[ 7] .</a:t>
            </a:r>
            <a:r>
              <a:rPr lang="en-US" altLang="zh-CN" sz="900" dirty="0" err="1">
                <a:latin typeface="Consolas" panose="020B0609020204030204" pitchFamily="49" charset="0"/>
              </a:rPr>
              <a:t>debug_info</a:t>
            </a:r>
            <a:r>
              <a:rPr lang="en-US" altLang="zh-CN" sz="900" dirty="0">
                <a:latin typeface="Consolas" panose="020B0609020204030204" pitchFamily="49" charset="0"/>
              </a:rPr>
              <a:t>       PROGBITS        00000000 0021a8 000142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[ 8] .</a:t>
            </a:r>
            <a:r>
              <a:rPr lang="en-US" altLang="zh-CN" sz="900" dirty="0" err="1">
                <a:latin typeface="Consolas" panose="020B0609020204030204" pitchFamily="49" charset="0"/>
              </a:rPr>
              <a:t>debug_abbrev</a:t>
            </a:r>
            <a:r>
              <a:rPr lang="en-US" altLang="zh-CN" sz="900" dirty="0">
                <a:latin typeface="Consolas" panose="020B0609020204030204" pitchFamily="49" charset="0"/>
              </a:rPr>
              <a:t>     PROGBITS        00000000 0022ea 0000d6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[ 9] .</a:t>
            </a:r>
            <a:r>
              <a:rPr lang="en-US" altLang="zh-CN" sz="900" dirty="0" err="1">
                <a:latin typeface="Consolas" panose="020B0609020204030204" pitchFamily="49" charset="0"/>
              </a:rPr>
              <a:t>debug_line</a:t>
            </a:r>
            <a:r>
              <a:rPr lang="en-US" altLang="zh-CN" sz="900" dirty="0">
                <a:latin typeface="Consolas" panose="020B0609020204030204" pitchFamily="49" charset="0"/>
              </a:rPr>
              <a:t>       PROGBITS        00000000 0023c0 0000dc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[10] .</a:t>
            </a:r>
            <a:r>
              <a:rPr lang="en-US" altLang="zh-CN" sz="900" dirty="0" err="1">
                <a:latin typeface="Consolas" panose="020B0609020204030204" pitchFamily="49" charset="0"/>
              </a:rPr>
              <a:t>debug_str</a:t>
            </a:r>
            <a:r>
              <a:rPr lang="en-US" altLang="zh-CN" sz="900" dirty="0">
                <a:latin typeface="Consolas" panose="020B0609020204030204" pitchFamily="49" charset="0"/>
              </a:rPr>
              <a:t>        PROGBITS        00000000 00249c 001a37 01  MS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[11] .</a:t>
            </a:r>
            <a:r>
              <a:rPr lang="en-US" altLang="zh-CN" sz="900" dirty="0" err="1">
                <a:latin typeface="Consolas" panose="020B0609020204030204" pitchFamily="49" charset="0"/>
              </a:rPr>
              <a:t>debug_macro</a:t>
            </a:r>
            <a:r>
              <a:rPr lang="en-US" altLang="zh-CN" sz="900" dirty="0">
                <a:latin typeface="Consolas" panose="020B0609020204030204" pitchFamily="49" charset="0"/>
              </a:rPr>
              <a:t>      PROGBITS        00000000 003ed3 0005f9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[12] .</a:t>
            </a:r>
            <a:r>
              <a:rPr lang="en-US" altLang="zh-CN" sz="900" dirty="0" err="1">
                <a:latin typeface="Consolas" panose="020B0609020204030204" pitchFamily="49" charset="0"/>
              </a:rPr>
              <a:t>symtab</a:t>
            </a:r>
            <a:r>
              <a:rPr lang="en-US" altLang="zh-CN" sz="900" dirty="0">
                <a:latin typeface="Consolas" panose="020B0609020204030204" pitchFamily="49" charset="0"/>
              </a:rPr>
              <a:t>           SYMTAB          00000000 0044cc 000190 10     13  15  4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[13] .</a:t>
            </a:r>
            <a:r>
              <a:rPr lang="en-US" altLang="zh-CN" sz="900" dirty="0" err="1">
                <a:latin typeface="Consolas" panose="020B0609020204030204" pitchFamily="49" charset="0"/>
              </a:rPr>
              <a:t>strtab</a:t>
            </a:r>
            <a:r>
              <a:rPr lang="en-US" altLang="zh-CN" sz="900" dirty="0">
                <a:latin typeface="Consolas" panose="020B0609020204030204" pitchFamily="49" charset="0"/>
              </a:rPr>
              <a:t>           STRTAB          00000000 00465c 000078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[14] .</a:t>
            </a:r>
            <a:r>
              <a:rPr lang="en-US" altLang="zh-CN" sz="900" dirty="0" err="1">
                <a:latin typeface="Consolas" panose="020B0609020204030204" pitchFamily="49" charset="0"/>
              </a:rPr>
              <a:t>shstrtab</a:t>
            </a:r>
            <a:r>
              <a:rPr lang="en-US" altLang="zh-CN" sz="900" dirty="0">
                <a:latin typeface="Consolas" panose="020B0609020204030204" pitchFamily="49" charset="0"/>
              </a:rPr>
              <a:t>         STRTAB          00000000 0046d4 000090 00      0   0  1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Key to Flags: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W (write), A (</a:t>
            </a:r>
            <a:r>
              <a:rPr lang="en-US" altLang="zh-CN" sz="900" dirty="0" err="1">
                <a:latin typeface="Consolas" panose="020B0609020204030204" pitchFamily="49" charset="0"/>
              </a:rPr>
              <a:t>alloc</a:t>
            </a:r>
            <a:r>
              <a:rPr lang="en-US" altLang="zh-CN" sz="900" dirty="0">
                <a:latin typeface="Consolas" panose="020B0609020204030204" pitchFamily="49" charset="0"/>
              </a:rPr>
              <a:t>), X (execute), M (merge), S (strings), I (info),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L (link order), O (extra OS processing required), G (group), T (TLS),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C (compressed), x (unknown), o (OS specific), E (exclude),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  p (processor specific)</a:t>
            </a:r>
            <a:endParaRPr lang="en-US" altLang="zh-CN" sz="900" dirty="0">
              <a:latin typeface="Consolas" panose="020B0609020204030204" pitchFamily="49" charset="0"/>
            </a:endParaRPr>
          </a:p>
          <a:p>
            <a:endParaRPr lang="en-US" altLang="zh-CN" sz="900" dirty="0">
              <a:latin typeface="Consolas" panose="020B0609020204030204" pitchFamily="49" charset="0"/>
            </a:endParaRPr>
          </a:p>
          <a:p>
            <a:r>
              <a:rPr lang="en-US" altLang="zh-CN" sz="900" dirty="0">
                <a:latin typeface="Consolas" panose="020B0609020204030204" pitchFamily="49" charset="0"/>
              </a:rPr>
              <a:t>There are no section groups in this file.</a:t>
            </a:r>
            <a:endParaRPr lang="en-US" altLang="zh-CN" sz="9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234435" y="2387894"/>
            <a:ext cx="2613732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typedef struct {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sh_name;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sh_type;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sh_flags;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Elf32_Addr sh_addr;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Elf32_Off  sh_offset;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sh_size;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sh_link;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sh_info;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sh_addralign;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  uint32_t   sh_entsize;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} Elf32_Shdr;</a:t>
            </a:r>
            <a:endParaRPr lang="zh-CN" altLang="en-US" sz="1100" dirty="0"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78944" y="2039473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6561504" y="2735939"/>
            <a:ext cx="1233577" cy="1639018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011872" y="4635180"/>
            <a:ext cx="4134143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7030A0"/>
                </a:solidFill>
              </a:rPr>
              <a:t>这里的</a:t>
            </a:r>
            <a:r>
              <a:rPr lang="en-US" altLang="zh-CN" sz="1600" dirty="0" err="1">
                <a:solidFill>
                  <a:srgbClr val="7030A0"/>
                </a:solidFill>
              </a:rPr>
              <a:t>sh_name</a:t>
            </a:r>
            <a:r>
              <a:rPr lang="zh-CN" altLang="en-US" sz="1600" dirty="0">
                <a:solidFill>
                  <a:srgbClr val="7030A0"/>
                </a:solidFill>
              </a:rPr>
              <a:t>只是一个索引值，只有用该索引值去查了</a:t>
            </a:r>
            <a:r>
              <a:rPr lang="en-US" altLang="zh-CN" sz="1600" dirty="0">
                <a:solidFill>
                  <a:srgbClr val="7030A0"/>
                </a:solidFill>
              </a:rPr>
              <a:t>.</a:t>
            </a:r>
            <a:r>
              <a:rPr lang="en-US" altLang="zh-CN" sz="1600" dirty="0" err="1">
                <a:solidFill>
                  <a:srgbClr val="7030A0"/>
                </a:solidFill>
              </a:rPr>
              <a:t>shstrtab</a:t>
            </a:r>
            <a:r>
              <a:rPr lang="zh-CN" altLang="en-US" sz="1600" dirty="0">
                <a:solidFill>
                  <a:srgbClr val="7030A0"/>
                </a:solidFill>
              </a:rPr>
              <a:t>之后才能得到</a:t>
            </a:r>
            <a:r>
              <a:rPr lang="en-US" altLang="zh-CN" sz="1600" dirty="0">
                <a:solidFill>
                  <a:srgbClr val="7030A0"/>
                </a:solidFill>
              </a:rPr>
              <a:t>.text, .data</a:t>
            </a:r>
            <a:r>
              <a:rPr lang="zh-CN" altLang="en-US" sz="1600" dirty="0">
                <a:solidFill>
                  <a:srgbClr val="7030A0"/>
                </a:solidFill>
              </a:rPr>
              <a:t>这样的字符串，而</a:t>
            </a:r>
            <a:r>
              <a:rPr lang="en-US" altLang="zh-CN" sz="1600" dirty="0">
                <a:solidFill>
                  <a:srgbClr val="7030A0"/>
                </a:solidFill>
              </a:rPr>
              <a:t>.</a:t>
            </a:r>
            <a:r>
              <a:rPr lang="en-US" altLang="zh-CN" sz="1600" dirty="0" err="1">
                <a:solidFill>
                  <a:srgbClr val="7030A0"/>
                </a:solidFill>
              </a:rPr>
              <a:t>shstrtab</a:t>
            </a:r>
            <a:r>
              <a:rPr lang="zh-CN" altLang="en-US" sz="1600" dirty="0">
                <a:solidFill>
                  <a:srgbClr val="7030A0"/>
                </a:solidFill>
              </a:rPr>
              <a:t>在哪里呢？</a:t>
            </a:r>
            <a:r>
              <a:rPr lang="en-US" altLang="zh-CN" sz="1600" dirty="0">
                <a:solidFill>
                  <a:srgbClr val="7030A0"/>
                </a:solidFill>
              </a:rPr>
              <a:t>ELF Header</a:t>
            </a:r>
            <a:r>
              <a:rPr lang="zh-CN" altLang="en-US" sz="1600" dirty="0">
                <a:solidFill>
                  <a:srgbClr val="7030A0"/>
                </a:solidFill>
              </a:rPr>
              <a:t>中的e_shstrndx变量告诉我们，它在</a:t>
            </a:r>
            <a:r>
              <a:rPr lang="en-US" altLang="zh-CN" sz="1600" dirty="0">
                <a:solidFill>
                  <a:srgbClr val="7030A0"/>
                </a:solidFill>
              </a:rPr>
              <a:t>Section Headers</a:t>
            </a:r>
            <a:r>
              <a:rPr lang="zh-CN" altLang="en-US" sz="1600" dirty="0">
                <a:solidFill>
                  <a:srgbClr val="7030A0"/>
                </a:solidFill>
              </a:rPr>
              <a:t>数组中的第</a:t>
            </a:r>
            <a:r>
              <a:rPr lang="en-US" altLang="zh-CN" sz="1600" dirty="0">
                <a:solidFill>
                  <a:srgbClr val="7030A0"/>
                </a:solidFill>
              </a:rPr>
              <a:t>14</a:t>
            </a:r>
            <a:r>
              <a:rPr lang="zh-CN" altLang="en-US" sz="1600" dirty="0">
                <a:solidFill>
                  <a:srgbClr val="7030A0"/>
                </a:solidFill>
              </a:rPr>
              <a:t>项</a:t>
            </a:r>
            <a:endParaRPr lang="en-US" altLang="zh-CN" sz="1600" dirty="0">
              <a:solidFill>
                <a:srgbClr val="7030A0"/>
              </a:solidFill>
            </a:endParaRPr>
          </a:p>
          <a:p>
            <a:endParaRPr lang="en-US" altLang="zh-CN" sz="1600" dirty="0">
              <a:solidFill>
                <a:srgbClr val="7030A0"/>
              </a:solidFill>
            </a:endParaRPr>
          </a:p>
          <a:p>
            <a:r>
              <a:rPr lang="zh-CN" altLang="en-US" sz="1600" dirty="0">
                <a:solidFill>
                  <a:srgbClr val="7030A0"/>
                </a:solidFill>
              </a:rPr>
              <a:t>具体技术和符号表</a:t>
            </a:r>
            <a:r>
              <a:rPr lang="en-US" altLang="zh-CN" sz="1600" dirty="0">
                <a:solidFill>
                  <a:srgbClr val="7030A0"/>
                </a:solidFill>
              </a:rPr>
              <a:t>+</a:t>
            </a:r>
            <a:r>
              <a:rPr lang="zh-CN" altLang="en-US" sz="1600" dirty="0">
                <a:solidFill>
                  <a:srgbClr val="7030A0"/>
                </a:solidFill>
              </a:rPr>
              <a:t>字符串表解析方式一样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2146936" y="2350439"/>
            <a:ext cx="5648145" cy="30786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2569946" y="1517405"/>
            <a:ext cx="76694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找到名为‘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symtab</a:t>
            </a:r>
            <a:r>
              <a:rPr lang="zh-CN" altLang="en-US" dirty="0">
                <a:solidFill>
                  <a:srgbClr val="C00000"/>
                </a:solidFill>
              </a:rPr>
              <a:t>’的符号表和名为‘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strtab</a:t>
            </a:r>
            <a:r>
              <a:rPr lang="zh-CN" altLang="en-US" dirty="0">
                <a:solidFill>
                  <a:srgbClr val="C00000"/>
                </a:solidFill>
              </a:rPr>
              <a:t>’的（对应节头表的）字符串表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98600" y="3996267"/>
            <a:ext cx="1219200" cy="37869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455160" y="3996267"/>
            <a:ext cx="751840" cy="37869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1" grpId="0" animBg="1"/>
      <p:bldP spid="2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09428" y="1568739"/>
          <a:ext cx="365961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96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头（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ELF Header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程序头表（</a:t>
                      </a:r>
                      <a:r>
                        <a:rPr lang="en-US" altLang="zh-CN" dirty="0">
                          <a:solidFill>
                            <a:srgbClr val="7030A0"/>
                          </a:solidFill>
                        </a:rPr>
                        <a:t>Program Headers</a:t>
                      </a:r>
                      <a:r>
                        <a:rPr lang="zh-CN" altLang="en-US" dirty="0">
                          <a:solidFill>
                            <a:srgbClr val="7030A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init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.text</a:t>
                      </a:r>
                      <a:r>
                        <a:rPr lang="zh-CN" altLang="en-US" dirty="0"/>
                        <a:t>节</a:t>
                      </a:r>
                      <a:r>
                        <a:rPr lang="zh-CN" altLang="en-US" sz="1200" dirty="0"/>
                        <a:t> （程序代码）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rodata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（只读数据）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.data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（已初始化全局变量数据）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bss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（未初始化全局变量数据，其实啥也没存）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symtab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（符号表）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.xxx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yyy</a:t>
                      </a:r>
                      <a:r>
                        <a:rPr lang="zh-CN" altLang="en-US" dirty="0"/>
                        <a:t>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</a:t>
                      </a:r>
                      <a:r>
                        <a:rPr lang="en-US" altLang="zh-CN" dirty="0" err="1"/>
                        <a:t>strtab</a:t>
                      </a:r>
                      <a:r>
                        <a:rPr lang="zh-CN" altLang="en-US" dirty="0"/>
                        <a:t>节 </a:t>
                      </a:r>
                      <a:r>
                        <a:rPr lang="zh-CN" altLang="en-US" sz="1200" dirty="0"/>
                        <a:t>（字符串表）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节头表（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Section Headers</a:t>
                      </a:r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连接符: 肘形 15"/>
          <p:cNvCxnSpPr/>
          <p:nvPr/>
        </p:nvCxnSpPr>
        <p:spPr>
          <a:xfrm rot="10800000" flipV="1">
            <a:off x="1288092" y="1757312"/>
            <a:ext cx="12700" cy="35392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17"/>
          <p:cNvCxnSpPr/>
          <p:nvPr/>
        </p:nvCxnSpPr>
        <p:spPr>
          <a:xfrm rot="10800000" flipV="1">
            <a:off x="1288092" y="1757312"/>
            <a:ext cx="12700" cy="4102608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8176" y="17276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索引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连接符: 肘形 27"/>
          <p:cNvCxnSpPr/>
          <p:nvPr/>
        </p:nvCxnSpPr>
        <p:spPr>
          <a:xfrm flipV="1">
            <a:off x="4974631" y="5448855"/>
            <a:ext cx="12700" cy="39348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29"/>
          <p:cNvCxnSpPr/>
          <p:nvPr/>
        </p:nvCxnSpPr>
        <p:spPr>
          <a:xfrm flipV="1">
            <a:off x="4974631" y="3225915"/>
            <a:ext cx="12700" cy="261642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31"/>
          <p:cNvCxnSpPr/>
          <p:nvPr/>
        </p:nvCxnSpPr>
        <p:spPr>
          <a:xfrm flipH="1" flipV="1">
            <a:off x="4967331" y="2835275"/>
            <a:ext cx="7301" cy="3007066"/>
          </a:xfrm>
          <a:prstGeom prst="bentConnector3">
            <a:avLst>
              <a:gd name="adj1" fmla="val -31310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33"/>
          <p:cNvCxnSpPr/>
          <p:nvPr/>
        </p:nvCxnSpPr>
        <p:spPr>
          <a:xfrm flipV="1">
            <a:off x="4974631" y="2481449"/>
            <a:ext cx="12700" cy="3360893"/>
          </a:xfrm>
          <a:prstGeom prst="bentConnector3">
            <a:avLst>
              <a:gd name="adj1" fmla="val 1800000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291520" y="54609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索引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51589" y="37002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.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204079" y="4433457"/>
            <a:ext cx="0" cy="1027475"/>
          </a:xfrm>
          <a:prstGeom prst="straightConnector1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160889" y="45718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引用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2" y="1574512"/>
            <a:ext cx="2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符号表解析程序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4868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文件，带查询符号名</a:t>
            </a:r>
            <a:endParaRPr lang="en-US" altLang="zh-CN" sz="2000" dirty="0"/>
          </a:p>
          <a:p>
            <a:r>
              <a:rPr lang="zh-CN" altLang="en-US" sz="2000" dirty="0"/>
              <a:t>输出：符号在内存中的地址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992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读入</a:t>
            </a:r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定位符号表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for </a:t>
            </a:r>
            <a:r>
              <a:rPr lang="zh-CN" altLang="en-US" b="1" dirty="0">
                <a:solidFill>
                  <a:srgbClr val="C00000"/>
                </a:solidFill>
              </a:rPr>
              <a:t>符号表中的每一项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if </a:t>
            </a:r>
            <a:r>
              <a:rPr lang="zh-CN" altLang="en-US" b="1" dirty="0">
                <a:solidFill>
                  <a:srgbClr val="C00000"/>
                </a:solidFill>
              </a:rPr>
              <a:t>该项名</a:t>
            </a:r>
            <a:r>
              <a:rPr lang="en-US" altLang="zh-CN" b="1" dirty="0">
                <a:solidFill>
                  <a:srgbClr val="C00000"/>
                </a:solidFill>
              </a:rPr>
              <a:t> == </a:t>
            </a:r>
            <a:r>
              <a:rPr lang="zh-CN" altLang="en-US" b="1" dirty="0">
                <a:solidFill>
                  <a:srgbClr val="C00000"/>
                </a:solidFill>
              </a:rPr>
              <a:t>带查询符号名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        return </a:t>
            </a:r>
            <a:r>
              <a:rPr lang="zh-CN" altLang="en-US" b="1" dirty="0">
                <a:solidFill>
                  <a:srgbClr val="C00000"/>
                </a:solidFill>
              </a:rPr>
              <a:t>查找成功，符号的内存地址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end if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end for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return </a:t>
            </a:r>
            <a:r>
              <a:rPr lang="zh-CN" altLang="en-US" b="1" dirty="0">
                <a:solidFill>
                  <a:srgbClr val="C00000"/>
                </a:solidFill>
              </a:rPr>
              <a:t>查找失败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86140" y="158671"/>
            <a:ext cx="7334519" cy="839313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通过节头表定位</a:t>
            </a:r>
            <a:r>
              <a:rPr lang="en-US" altLang="zh-CN" sz="2000" dirty="0">
                <a:latin typeface="Consolas" panose="020B0609020204030204" pitchFamily="49" charset="0"/>
              </a:rPr>
              <a:t>’.</a:t>
            </a:r>
            <a:r>
              <a:rPr lang="en-US" altLang="zh-CN" sz="2000" dirty="0" err="1">
                <a:latin typeface="Consolas" panose="020B0609020204030204" pitchFamily="49" charset="0"/>
              </a:rPr>
              <a:t>symtab</a:t>
            </a:r>
            <a:r>
              <a:rPr lang="en-US" altLang="zh-CN" sz="2000" dirty="0">
                <a:latin typeface="Consolas" panose="020B0609020204030204" pitchFamily="49" charset="0"/>
              </a:rPr>
              <a:t>’</a:t>
            </a:r>
            <a:r>
              <a:rPr lang="zh-CN" altLang="en-US" sz="2000" dirty="0">
                <a:latin typeface="Consolas" panose="020B0609020204030204" pitchFamily="49" charset="0"/>
              </a:rPr>
              <a:t>节在</a:t>
            </a:r>
            <a:r>
              <a:rPr lang="en-US" altLang="zh-CN" sz="2000" dirty="0">
                <a:latin typeface="Consolas" panose="020B0609020204030204" pitchFamily="49" charset="0"/>
              </a:rPr>
              <a:t>ELF</a:t>
            </a:r>
            <a:r>
              <a:rPr lang="zh-CN" altLang="en-US" sz="2000" dirty="0">
                <a:latin typeface="Consolas" panose="020B0609020204030204" pitchFamily="49" charset="0"/>
              </a:rPr>
              <a:t>文件中的位置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符号表也是个数组，其类型为Elf32_Sym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32903-2C43-45B2-B6EF-E1EBC4E648A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481042"/>
            <a:ext cx="2057400" cy="365125"/>
          </a:xfrm>
        </p:spPr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561431" y="1859553"/>
            <a:ext cx="5672506" cy="466281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Symbol table '.symtab' contains 25 entries: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0: 00000000     0 NOTYPE  LOCAL  DEFAULT  UND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1: 00030000     0 SECTION LOCAL  DEFAULT    1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2: 000300d0     0 SECTION LOCAL  DEFAULT    2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3: 00032000     0 SECTION LOCAL  DEFAULT    3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4: 00032020     0 SECTION LOCAL  DEFAULT    4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5: 00000000     0 SECTION LOCAL  DEFAULT    5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6: 00000000     0 SECTION LOCAL  DEFAULT    6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7: 00000000     0 SECTION LOCAL  DEFAULT    7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8: 00000000     0 SECTION LOCAL  DEFAULT    8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 9: 00000000     0 SECTION LOCAL  DEFAULT    9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10: 00000000     0 SECTION LOCAL  DEFAULT   10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11: 00000000     0 SECTION LOCAL  DEFAULT   11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12: 00000000     0 FILE    LOCAL  DEFAULT  ABS add.c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13: 00000000     0 FILE    LOCAL  DEFAULT  ABS 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14: 00032000     0 OBJECT  LOCAL  DEFAULT    3 _GLOBAL_OFFSET_TABLE_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15: 000300c8     0 FUNC    GLOBAL HIDDEN     1 __x86.get_pc_thunk.ax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16: 00030005    32 FUNC    GLOBAL DEFAULT    1 add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17: 000300cc     0 FUNC    GLOBAL HIDDEN     1 __x86.get_pc_thunk.bx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18: 00032140     0 NOTYPE  GLOBAL DEFAULT    4 __bss_start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19: 00030025   163 FUNC    GLOBAL DEFAULT    1 main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20: 00032040   256 OBJECT  GLOBAL DEFAULT    4 ans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21: 00032140     0 NOTYPE  GLOBAL DEFAULT    4 _edata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22: 00032140     0 NOTYPE  GLOBAL DEFAULT    4 _end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 23: 00030000     0 NOTYPE  GLOBAL DEFAULT    1 start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   24: 00032020    32 OBJECT  GLOBAL DEFAULT    4 test_data</a:t>
            </a:r>
            <a:endParaRPr lang="zh-CN" altLang="en-US" sz="11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6063848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readelf</a:t>
            </a:r>
            <a:r>
              <a:rPr lang="en-US" altLang="zh-CN" dirty="0"/>
              <a:t> –s add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704343" y="1907679"/>
            <a:ext cx="2822053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400" dirty="0"/>
              <a:t>typedef struct {</a:t>
            </a:r>
            <a:endParaRPr lang="zh-CN" altLang="en-US" sz="1400" dirty="0"/>
          </a:p>
          <a:p>
            <a:r>
              <a:rPr lang="zh-CN" altLang="en-US" sz="1400" dirty="0"/>
              <a:t>       uint32_t      st_name;</a:t>
            </a:r>
            <a:endParaRPr lang="zh-CN" altLang="en-US" sz="1400" dirty="0"/>
          </a:p>
          <a:p>
            <a:r>
              <a:rPr lang="zh-CN" altLang="en-US" sz="1400" dirty="0"/>
              <a:t>       Elf32_Addr    st_value;</a:t>
            </a:r>
            <a:endParaRPr lang="zh-CN" altLang="en-US" sz="1400" dirty="0"/>
          </a:p>
          <a:p>
            <a:r>
              <a:rPr lang="zh-CN" altLang="en-US" sz="1400" dirty="0"/>
              <a:t>       uint32_t      st_size;</a:t>
            </a:r>
            <a:endParaRPr lang="zh-CN" altLang="en-US" sz="1400" dirty="0"/>
          </a:p>
          <a:p>
            <a:r>
              <a:rPr lang="zh-CN" altLang="en-US" sz="1400" dirty="0"/>
              <a:t>       unsigned char st_info;</a:t>
            </a:r>
            <a:endParaRPr lang="zh-CN" altLang="en-US" sz="1400" dirty="0"/>
          </a:p>
          <a:p>
            <a:r>
              <a:rPr lang="zh-CN" altLang="en-US" sz="1400" dirty="0"/>
              <a:t>       unsigned char st_other;</a:t>
            </a:r>
            <a:endParaRPr lang="zh-CN" altLang="en-US" sz="1400" dirty="0"/>
          </a:p>
          <a:p>
            <a:r>
              <a:rPr lang="zh-CN" altLang="en-US" sz="1400" dirty="0"/>
              <a:t>       uint16_t      st_shndx;</a:t>
            </a:r>
            <a:endParaRPr lang="zh-CN" altLang="en-US" sz="1400" dirty="0"/>
          </a:p>
          <a:p>
            <a:r>
              <a:rPr lang="zh-CN" altLang="en-US" sz="1400" dirty="0"/>
              <a:t>} Elf32_Sym;</a:t>
            </a:r>
            <a:endParaRPr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9707839" y="1506724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en-US" altLang="zh-CN" dirty="0" err="1">
                <a:solidFill>
                  <a:srgbClr val="C00000"/>
                </a:solidFill>
              </a:rPr>
              <a:t>elf.h</a:t>
            </a:r>
            <a:r>
              <a:rPr lang="en-US" altLang="zh-CN" dirty="0">
                <a:solidFill>
                  <a:srgbClr val="C00000"/>
                </a:solidFill>
              </a:rPr>
              <a:t>&gt;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04343" y="3821974"/>
            <a:ext cx="36166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FF0000"/>
                </a:solidFill>
              </a:rPr>
              <a:t>st_name</a:t>
            </a:r>
            <a:r>
              <a:rPr lang="en-US" altLang="zh-CN" sz="1400" dirty="0">
                <a:solidFill>
                  <a:srgbClr val="FF0000"/>
                </a:solidFill>
              </a:rPr>
              <a:t> – </a:t>
            </a:r>
            <a:r>
              <a:rPr lang="zh-CN" altLang="en-US" sz="1400" dirty="0">
                <a:solidFill>
                  <a:srgbClr val="FF0000"/>
                </a:solidFill>
              </a:rPr>
              <a:t>符号名称，对应</a:t>
            </a:r>
            <a:r>
              <a:rPr lang="en-US" altLang="zh-CN" sz="1400" dirty="0" err="1">
                <a:solidFill>
                  <a:srgbClr val="FF0000"/>
                </a:solidFill>
              </a:rPr>
              <a:t>strtab</a:t>
            </a:r>
            <a:r>
              <a:rPr lang="zh-CN" altLang="en-US" sz="1400" dirty="0">
                <a:solidFill>
                  <a:srgbClr val="FF0000"/>
                </a:solidFill>
              </a:rPr>
              <a:t>中的偏移量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st_value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–  </a:t>
            </a:r>
            <a:r>
              <a:rPr lang="zh-CN" altLang="en-US" sz="1400" dirty="0">
                <a:solidFill>
                  <a:srgbClr val="FF0000"/>
                </a:solidFill>
              </a:rPr>
              <a:t>符号的地址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st_size</a:t>
            </a:r>
            <a:r>
              <a:rPr lang="en-US" altLang="zh-CN" sz="1400" dirty="0">
                <a:solidFill>
                  <a:srgbClr val="FF0000"/>
                </a:solidFill>
              </a:rPr>
              <a:t> -  </a:t>
            </a:r>
            <a:r>
              <a:rPr lang="zh-CN" altLang="en-US" sz="1400" dirty="0">
                <a:solidFill>
                  <a:srgbClr val="FF0000"/>
                </a:solidFill>
              </a:rPr>
              <a:t>符号所占用的字节数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 err="1">
                <a:solidFill>
                  <a:srgbClr val="FF0000"/>
                </a:solidFill>
              </a:rPr>
              <a:t>st_info</a:t>
            </a:r>
            <a:r>
              <a:rPr lang="en-US" altLang="zh-CN" sz="1400" dirty="0">
                <a:solidFill>
                  <a:srgbClr val="FF0000"/>
                </a:solidFill>
              </a:rPr>
              <a:t> – </a:t>
            </a:r>
            <a:r>
              <a:rPr lang="zh-CN" altLang="en-US" sz="1400" dirty="0">
                <a:solidFill>
                  <a:srgbClr val="FF0000"/>
                </a:solidFill>
              </a:rPr>
              <a:t>包含了</a:t>
            </a:r>
            <a:r>
              <a:rPr lang="en-US" altLang="zh-CN" sz="1400" dirty="0">
                <a:solidFill>
                  <a:srgbClr val="FF0000"/>
                </a:solidFill>
              </a:rPr>
              <a:t>Type</a:t>
            </a:r>
            <a:r>
              <a:rPr lang="zh-CN" altLang="en-US" sz="1400" dirty="0">
                <a:solidFill>
                  <a:srgbClr val="FF0000"/>
                </a:solidFill>
              </a:rPr>
              <a:t>信息，</a:t>
            </a:r>
            <a:r>
              <a:rPr lang="en-US" altLang="zh-CN" sz="1400" dirty="0">
                <a:solidFill>
                  <a:srgbClr val="FF0000"/>
                </a:solidFill>
              </a:rPr>
              <a:t>man elf</a:t>
            </a:r>
            <a:r>
              <a:rPr lang="zh-CN" altLang="en-US" sz="1400" dirty="0">
                <a:solidFill>
                  <a:srgbClr val="FF0000"/>
                </a:solidFill>
              </a:rPr>
              <a:t>查看说明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04343" y="5334081"/>
            <a:ext cx="2655927" cy="76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test_data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[] = {0, 1, 2, 0x7fffffff, 0x80000000, 0x80000001, 0xfffffffe, 0xffffffff};</a:t>
            </a:r>
            <a:endParaRPr lang="zh-CN" altLang="en-US" sz="11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04343" y="4946206"/>
            <a:ext cx="19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testcase/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add.c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6311661" y="5480730"/>
            <a:ext cx="1475117" cy="854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13895" y="988838"/>
            <a:ext cx="1072281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Section Headers: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</a:t>
            </a:r>
            <a:r>
              <a:rPr lang="en-US" altLang="zh-CN" sz="1600" dirty="0" err="1">
                <a:latin typeface="Consolas" panose="020B0609020204030204" pitchFamily="49" charset="0"/>
              </a:rPr>
              <a:t>Nr</a:t>
            </a:r>
            <a:r>
              <a:rPr lang="en-US" altLang="zh-CN" sz="1600" dirty="0">
                <a:latin typeface="Consolas" panose="020B0609020204030204" pitchFamily="49" charset="0"/>
              </a:rPr>
              <a:t>] Name              Type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Addr</a:t>
            </a:r>
            <a:r>
              <a:rPr lang="en-US" altLang="zh-CN" sz="1600" dirty="0">
                <a:latin typeface="Consolas" panose="020B0609020204030204" pitchFamily="49" charset="0"/>
              </a:rPr>
              <a:t>     Off    Size   ES </a:t>
            </a:r>
            <a:r>
              <a:rPr lang="en-US" altLang="zh-CN" sz="1600" dirty="0" err="1">
                <a:latin typeface="Consolas" panose="020B0609020204030204" pitchFamily="49" charset="0"/>
              </a:rPr>
              <a:t>Flg</a:t>
            </a:r>
            <a:r>
              <a:rPr lang="en-US" altLang="zh-CN" sz="1600" dirty="0">
                <a:latin typeface="Consolas" panose="020B0609020204030204" pitchFamily="49" charset="0"/>
              </a:rPr>
              <a:t> Lk </a:t>
            </a:r>
            <a:r>
              <a:rPr lang="en-US" altLang="zh-CN" sz="1600" dirty="0" err="1">
                <a:latin typeface="Consolas" panose="020B0609020204030204" pitchFamily="49" charset="0"/>
              </a:rPr>
              <a:t>Inf</a:t>
            </a:r>
            <a:r>
              <a:rPr lang="en-US" altLang="zh-CN" sz="1600" dirty="0">
                <a:latin typeface="Consolas" panose="020B0609020204030204" pitchFamily="49" charset="0"/>
              </a:rPr>
              <a:t> Al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[12] .</a:t>
            </a:r>
            <a:r>
              <a:rPr lang="en-US" altLang="zh-CN" sz="1600" dirty="0" err="1">
                <a:latin typeface="Consolas" panose="020B0609020204030204" pitchFamily="49" charset="0"/>
              </a:rPr>
              <a:t>symtab</a:t>
            </a:r>
            <a:r>
              <a:rPr lang="en-US" altLang="zh-CN" sz="1600" dirty="0">
                <a:latin typeface="Consolas" panose="020B0609020204030204" pitchFamily="49" charset="0"/>
              </a:rPr>
              <a:t>           SYMTAB          00000000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</a:rPr>
              <a:t>0044cc</a:t>
            </a:r>
            <a:r>
              <a:rPr lang="en-US" altLang="zh-CN" sz="1600" dirty="0">
                <a:latin typeface="Consolas" panose="020B0609020204030204" pitchFamily="49" charset="0"/>
              </a:rPr>
              <a:t> 000190 10     13  15  4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21434"/>
            <a:ext cx="7886700" cy="1022686"/>
          </a:xfrm>
        </p:spPr>
        <p:txBody>
          <a:bodyPr/>
          <a:lstStyle/>
          <a:p>
            <a:r>
              <a:rPr lang="zh-CN" altLang="en-US" dirty="0"/>
              <a:t>符号表</a:t>
            </a:r>
            <a:r>
              <a:rPr lang="en-US" altLang="zh-CN" dirty="0"/>
              <a:t>(.</a:t>
            </a:r>
            <a:r>
              <a:rPr lang="en-US" altLang="zh-CN" dirty="0" err="1"/>
              <a:t>symtab</a:t>
            </a:r>
            <a:r>
              <a:rPr lang="en-US" altLang="zh-CN" dirty="0"/>
              <a:t>)</a:t>
            </a:r>
            <a:r>
              <a:rPr lang="zh-CN" altLang="en-US" dirty="0"/>
              <a:t>与字符串表</a:t>
            </a:r>
            <a:r>
              <a:rPr lang="en-US" altLang="zh-CN" dirty="0"/>
              <a:t>(.</a:t>
            </a:r>
            <a:r>
              <a:rPr lang="en-US" altLang="zh-CN" dirty="0" err="1"/>
              <a:t>strtab</a:t>
            </a:r>
            <a:r>
              <a:rPr lang="en-US" altLang="zh-CN" dirty="0"/>
              <a:t>)</a:t>
            </a:r>
            <a:r>
              <a:rPr lang="zh-CN" altLang="en-US" dirty="0"/>
              <a:t>结合，获取符号的字符串形式的名称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B4DF-DE9A-42E1-A143-53E9AC08575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30903" y="3458624"/>
            <a:ext cx="6512942" cy="16158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onsolas" panose="020B0609020204030204" pitchFamily="49" charset="0"/>
              </a:rPr>
              <a:t>00004650  20 20 03 00 20 00 00 00  11 00 04 00 00 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61 64 64</a:t>
            </a:r>
            <a:r>
              <a:rPr lang="en-US" altLang="zh-CN" sz="1100" dirty="0">
                <a:latin typeface="Consolas" panose="020B0609020204030204" pitchFamily="49" charset="0"/>
              </a:rPr>
              <a:t>  |  .. ........add|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00004660  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2e 63 00 5f 47 4c 4f 42  41 4c 5f 4f 46 46 53 45</a:t>
            </a:r>
            <a:r>
              <a:rPr lang="en-US" altLang="zh-CN" sz="1100" dirty="0">
                <a:latin typeface="Consolas" panose="020B0609020204030204" pitchFamily="49" charset="0"/>
              </a:rPr>
              <a:t>  |.</a:t>
            </a:r>
            <a:r>
              <a:rPr lang="en-US" altLang="zh-CN" sz="1100" dirty="0" err="1">
                <a:latin typeface="Consolas" panose="020B0609020204030204" pitchFamily="49" charset="0"/>
              </a:rPr>
              <a:t>c._GLOBAL_OFFSE</a:t>
            </a:r>
            <a:r>
              <a:rPr lang="en-US" altLang="zh-CN" sz="1100" dirty="0">
                <a:latin typeface="Consolas" panose="020B0609020204030204" pitchFamily="49" charset="0"/>
              </a:rPr>
              <a:t>|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00004670  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54 5f 54 41 42 4c 45 5f  00 5f </a:t>
            </a:r>
            <a:r>
              <a:rPr lang="en-US" altLang="zh-CN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5f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 78 38 36 2e 67</a:t>
            </a:r>
            <a:r>
              <a:rPr lang="en-US" altLang="zh-CN" sz="1100" dirty="0">
                <a:latin typeface="Consolas" panose="020B0609020204030204" pitchFamily="49" charset="0"/>
              </a:rPr>
              <a:t>  |T_TABLE_.__x86.g|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00004680  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65 74 5f 70 63 5f 74 68  75 6e 6b 2e 61 78 00 61</a:t>
            </a:r>
            <a:r>
              <a:rPr lang="en-US" altLang="zh-CN" sz="1100" dirty="0">
                <a:latin typeface="Consolas" panose="020B0609020204030204" pitchFamily="49" charset="0"/>
              </a:rPr>
              <a:t>  |</a:t>
            </a:r>
            <a:r>
              <a:rPr lang="en-US" altLang="zh-CN" sz="1100" dirty="0" err="1">
                <a:latin typeface="Consolas" panose="020B0609020204030204" pitchFamily="49" charset="0"/>
              </a:rPr>
              <a:t>et_pc_thunk.ax.a</a:t>
            </a:r>
            <a:r>
              <a:rPr lang="en-US" altLang="zh-CN" sz="1100" dirty="0">
                <a:latin typeface="Consolas" panose="020B0609020204030204" pitchFamily="49" charset="0"/>
              </a:rPr>
              <a:t>|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00004690  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64 64 00 5f </a:t>
            </a:r>
            <a:r>
              <a:rPr lang="en-US" altLang="zh-CN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5f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 78 38 36  2e 67 65 74 5f 70 63 5f</a:t>
            </a:r>
            <a:r>
              <a:rPr lang="en-US" altLang="zh-CN" sz="1100" dirty="0">
                <a:latin typeface="Consolas" panose="020B0609020204030204" pitchFamily="49" charset="0"/>
              </a:rPr>
              <a:t>  |dd.__x86.get_pc_|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000046a0  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74 68 75 6e 6b 2e 62 78  00 5f </a:t>
            </a:r>
            <a:r>
              <a:rPr lang="en-US" altLang="zh-CN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5f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 62 73 73 5f 73</a:t>
            </a:r>
            <a:r>
              <a:rPr lang="en-US" altLang="zh-CN" sz="1100" dirty="0">
                <a:latin typeface="Consolas" panose="020B0609020204030204" pitchFamily="49" charset="0"/>
              </a:rPr>
              <a:t>  |thunk.</a:t>
            </a:r>
            <a:r>
              <a:rPr lang="en-US" altLang="zh-CN" sz="1100" dirty="0" err="1">
                <a:latin typeface="Consolas" panose="020B0609020204030204" pitchFamily="49" charset="0"/>
              </a:rPr>
              <a:t>bx</a:t>
            </a:r>
            <a:r>
              <a:rPr lang="en-US" altLang="zh-CN" sz="1100" dirty="0">
                <a:latin typeface="Consolas" panose="020B0609020204030204" pitchFamily="49" charset="0"/>
              </a:rPr>
              <a:t>.__</a:t>
            </a:r>
            <a:r>
              <a:rPr lang="en-US" altLang="zh-CN" sz="1100" dirty="0" err="1">
                <a:latin typeface="Consolas" panose="020B0609020204030204" pitchFamily="49" charset="0"/>
              </a:rPr>
              <a:t>bss_s</a:t>
            </a:r>
            <a:r>
              <a:rPr lang="en-US" altLang="zh-CN" sz="1100" dirty="0">
                <a:latin typeface="Consolas" panose="020B0609020204030204" pitchFamily="49" charset="0"/>
              </a:rPr>
              <a:t>|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000046b0  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74 61 72 74 00 6d 61 69  6e 00 61 6e 73 00 5f 65</a:t>
            </a:r>
            <a:r>
              <a:rPr lang="en-US" altLang="zh-CN" sz="1100" dirty="0">
                <a:latin typeface="Consolas" panose="020B0609020204030204" pitchFamily="49" charset="0"/>
              </a:rPr>
              <a:t>  |tart.main.</a:t>
            </a:r>
            <a:r>
              <a:rPr lang="en-US" altLang="zh-CN" sz="1100" dirty="0" err="1">
                <a:latin typeface="Consolas" panose="020B0609020204030204" pitchFamily="49" charset="0"/>
              </a:rPr>
              <a:t>ans</a:t>
            </a:r>
            <a:r>
              <a:rPr lang="en-US" altLang="zh-CN" sz="1100" dirty="0">
                <a:latin typeface="Consolas" panose="020B0609020204030204" pitchFamily="49" charset="0"/>
              </a:rPr>
              <a:t>._e|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000046c0  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64 61 74 61 00 5f 65 6e  64 00 </a:t>
            </a:r>
            <a:r>
              <a:rPr lang="en-US" altLang="zh-CN" sz="1100" dirty="0">
                <a:solidFill>
                  <a:srgbClr val="FF0000"/>
                </a:solidFill>
                <a:latin typeface="Consolas" panose="020B0609020204030204" pitchFamily="49" charset="0"/>
              </a:rPr>
              <a:t>74 65 73 74 5f 64 </a:t>
            </a:r>
            <a:r>
              <a:rPr lang="en-US" altLang="zh-CN" sz="1100" dirty="0">
                <a:latin typeface="Consolas" panose="020B0609020204030204" pitchFamily="49" charset="0"/>
              </a:rPr>
              <a:t> |data._</a:t>
            </a:r>
            <a:r>
              <a:rPr lang="en-US" altLang="zh-CN" sz="1100" dirty="0" err="1">
                <a:latin typeface="Consolas" panose="020B0609020204030204" pitchFamily="49" charset="0"/>
              </a:rPr>
              <a:t>end.</a:t>
            </a:r>
            <a:r>
              <a:rPr lang="en-US" altLang="zh-CN" sz="1100" dirty="0" err="1">
                <a:solidFill>
                  <a:srgbClr val="FF0000"/>
                </a:solidFill>
                <a:latin typeface="Consolas" panose="020B0609020204030204" pitchFamily="49" charset="0"/>
              </a:rPr>
              <a:t>test_d</a:t>
            </a:r>
            <a:r>
              <a:rPr lang="en-US" altLang="zh-CN" sz="1100" dirty="0">
                <a:latin typeface="Consolas" panose="020B0609020204030204" pitchFamily="49" charset="0"/>
              </a:rPr>
              <a:t>|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000046d0  </a:t>
            </a:r>
            <a:r>
              <a:rPr lang="en-US" altLang="zh-CN" sz="1100" dirty="0">
                <a:solidFill>
                  <a:srgbClr val="FF0000"/>
                </a:solidFill>
                <a:latin typeface="Consolas" panose="020B0609020204030204" pitchFamily="49" charset="0"/>
              </a:rPr>
              <a:t>61 74 61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7030A0"/>
                </a:solidFill>
                <a:latin typeface="Consolas" panose="020B0609020204030204" pitchFamily="49" charset="0"/>
              </a:rPr>
              <a:t>00</a:t>
            </a:r>
            <a:r>
              <a:rPr lang="en-US" altLang="zh-CN" sz="1100" dirty="0">
                <a:solidFill>
                  <a:srgbClr val="0070C0"/>
                </a:solidFill>
                <a:latin typeface="Consolas" panose="020B0609020204030204" pitchFamily="49" charset="0"/>
              </a:rPr>
              <a:t> 00</a:t>
            </a:r>
            <a:r>
              <a:rPr lang="en-US" altLang="zh-CN" sz="1100" dirty="0">
                <a:latin typeface="Consolas" panose="020B0609020204030204" pitchFamily="49" charset="0"/>
              </a:rPr>
              <a:t> 2e 73 79  6d 74 61 62 00 2e 73 74  |</a:t>
            </a:r>
            <a:r>
              <a:rPr lang="en-US" altLang="zh-CN" sz="1100" dirty="0" err="1">
                <a:solidFill>
                  <a:srgbClr val="FF0000"/>
                </a:solidFill>
                <a:latin typeface="Consolas" panose="020B0609020204030204" pitchFamily="49" charset="0"/>
              </a:rPr>
              <a:t>ata</a:t>
            </a:r>
            <a:r>
              <a:rPr lang="en-US" altLang="zh-CN" sz="1100" dirty="0">
                <a:latin typeface="Consolas" panose="020B0609020204030204" pitchFamily="49" charset="0"/>
              </a:rPr>
              <a:t>...</a:t>
            </a:r>
            <a:r>
              <a:rPr lang="en-US" altLang="zh-CN" sz="1100" dirty="0" err="1">
                <a:latin typeface="Consolas" panose="020B0609020204030204" pitchFamily="49" charset="0"/>
              </a:rPr>
              <a:t>symtab</a:t>
            </a:r>
            <a:r>
              <a:rPr lang="en-US" altLang="zh-CN" sz="1100" dirty="0">
                <a:latin typeface="Consolas" panose="020B0609020204030204" pitchFamily="49" charset="0"/>
              </a:rPr>
              <a:t>..</a:t>
            </a:r>
            <a:r>
              <a:rPr lang="en-US" altLang="zh-CN" sz="1100" dirty="0" err="1">
                <a:latin typeface="Consolas" panose="020B0609020204030204" pitchFamily="49" charset="0"/>
              </a:rPr>
              <a:t>st</a:t>
            </a:r>
            <a:r>
              <a:rPr lang="en-US" altLang="zh-CN" sz="1100" dirty="0">
                <a:latin typeface="Consolas" panose="020B0609020204030204" pitchFamily="49" charset="0"/>
              </a:rPr>
              <a:t>|</a:t>
            </a:r>
            <a:endParaRPr lang="en-US" altLang="zh-CN" sz="11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2210" y="3022481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hexdump</a:t>
            </a:r>
            <a:r>
              <a:rPr lang="en-US" altLang="zh-CN" dirty="0"/>
              <a:t> –C add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289596" y="2210430"/>
            <a:ext cx="6478437" cy="600164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Consolas" panose="020B0609020204030204" pitchFamily="49" charset="0"/>
              </a:rPr>
              <a:t>Section Headers: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  [</a:t>
            </a:r>
            <a:r>
              <a:rPr lang="en-US" altLang="zh-CN" sz="1100" dirty="0" err="1">
                <a:latin typeface="Consolas" panose="020B0609020204030204" pitchFamily="49" charset="0"/>
              </a:rPr>
              <a:t>Nr</a:t>
            </a:r>
            <a:r>
              <a:rPr lang="en-US" altLang="zh-CN" sz="1100" dirty="0">
                <a:latin typeface="Consolas" panose="020B0609020204030204" pitchFamily="49" charset="0"/>
              </a:rPr>
              <a:t>] Name              Type            </a:t>
            </a:r>
            <a:r>
              <a:rPr lang="en-US" altLang="zh-CN" sz="1100" dirty="0" err="1">
                <a:latin typeface="Consolas" panose="020B0609020204030204" pitchFamily="49" charset="0"/>
              </a:rPr>
              <a:t>Addr</a:t>
            </a:r>
            <a:r>
              <a:rPr lang="en-US" altLang="zh-CN" sz="1100" dirty="0">
                <a:latin typeface="Consolas" panose="020B0609020204030204" pitchFamily="49" charset="0"/>
              </a:rPr>
              <a:t>     Off    Size   ES </a:t>
            </a:r>
            <a:r>
              <a:rPr lang="en-US" altLang="zh-CN" sz="1100" dirty="0" err="1">
                <a:latin typeface="Consolas" panose="020B0609020204030204" pitchFamily="49" charset="0"/>
              </a:rPr>
              <a:t>Flg</a:t>
            </a:r>
            <a:r>
              <a:rPr lang="en-US" altLang="zh-CN" sz="1100" dirty="0">
                <a:latin typeface="Consolas" panose="020B0609020204030204" pitchFamily="49" charset="0"/>
              </a:rPr>
              <a:t> Lk </a:t>
            </a:r>
            <a:r>
              <a:rPr lang="en-US" altLang="zh-CN" sz="1100" dirty="0" err="1">
                <a:latin typeface="Consolas" panose="020B0609020204030204" pitchFamily="49" charset="0"/>
              </a:rPr>
              <a:t>Inf</a:t>
            </a:r>
            <a:r>
              <a:rPr lang="en-US" altLang="zh-CN" sz="1100" dirty="0">
                <a:latin typeface="Consolas" panose="020B0609020204030204" pitchFamily="49" charset="0"/>
              </a:rPr>
              <a:t> Al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  [13] .</a:t>
            </a:r>
            <a:r>
              <a:rPr lang="en-US" altLang="zh-CN" sz="1100" dirty="0" err="1">
                <a:latin typeface="Consolas" panose="020B0609020204030204" pitchFamily="49" charset="0"/>
              </a:rPr>
              <a:t>strtab</a:t>
            </a:r>
            <a:r>
              <a:rPr lang="en-US" altLang="zh-CN" sz="1100" dirty="0">
                <a:latin typeface="Consolas" panose="020B0609020204030204" pitchFamily="49" charset="0"/>
              </a:rPr>
              <a:t>           STRTAB          00000000 00465c 000078 00      0   0  1</a:t>
            </a:r>
            <a:endParaRPr lang="en-US" altLang="zh-CN" sz="1100" dirty="0">
              <a:latin typeface="Consolas" panose="020B0609020204030204" pitchFamily="49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6466937" y="2734604"/>
            <a:ext cx="310551" cy="787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114495" y="5514484"/>
            <a:ext cx="622935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Consolas" panose="020B0609020204030204" pitchFamily="49" charset="0"/>
              </a:rPr>
              <a:t>Symbol table '.symtab' contains 25 entries: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1100" dirty="0">
              <a:latin typeface="Consolas" panose="020B0609020204030204" pitchFamily="49" charset="0"/>
            </a:endParaRPr>
          </a:p>
          <a:p>
            <a:r>
              <a:rPr lang="zh-CN" alt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   24: 00032020    32 OBJECT  GLOBAL DEFAULT    4 </a:t>
            </a:r>
            <a:r>
              <a:rPr lang="en-US" altLang="zh-CN" sz="1100" dirty="0">
                <a:solidFill>
                  <a:srgbClr val="FF0000"/>
                </a:solidFill>
                <a:latin typeface="Consolas" panose="020B0609020204030204" pitchFamily="49" charset="0"/>
              </a:rPr>
              <a:t>6d</a:t>
            </a:r>
            <a:endParaRPr lang="zh-CN" altLang="en-US" sz="1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6205728" y="4864608"/>
            <a:ext cx="950976" cy="10119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224529" y="5032857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7030A0"/>
                </a:solidFill>
                <a:latin typeface="Consolas" panose="020B0609020204030204" pitchFamily="49" charset="0"/>
              </a:rPr>
              <a:t>‘\0’</a:t>
            </a:r>
            <a:endParaRPr lang="zh-CN" altLang="en-US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086224" y="5191503"/>
            <a:ext cx="2822053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200" dirty="0"/>
              <a:t>typedef struct {</a:t>
            </a:r>
            <a:endParaRPr lang="zh-CN" altLang="en-US" sz="1200" dirty="0"/>
          </a:p>
          <a:p>
            <a:r>
              <a:rPr lang="zh-CN" altLang="en-US" sz="1200" dirty="0"/>
              <a:t>       uint32_t      st_name;</a:t>
            </a:r>
            <a:endParaRPr lang="zh-CN" altLang="en-US" sz="1200" dirty="0"/>
          </a:p>
          <a:p>
            <a:r>
              <a:rPr lang="zh-CN" altLang="en-US" sz="1200" dirty="0"/>
              <a:t>       Elf32_Addr    st_value;</a:t>
            </a:r>
            <a:endParaRPr lang="zh-CN" altLang="en-US" sz="1200" dirty="0"/>
          </a:p>
          <a:p>
            <a:r>
              <a:rPr lang="zh-CN" altLang="en-US" sz="1200" dirty="0"/>
              <a:t>       uint32_t      st_size;</a:t>
            </a:r>
            <a:endParaRPr lang="zh-CN" altLang="en-US" sz="1200" dirty="0"/>
          </a:p>
          <a:p>
            <a:r>
              <a:rPr lang="zh-CN" altLang="en-US" sz="1200" dirty="0"/>
              <a:t>       unsigned char st_info;</a:t>
            </a:r>
            <a:endParaRPr lang="zh-CN" altLang="en-US" sz="1200" dirty="0"/>
          </a:p>
          <a:p>
            <a:r>
              <a:rPr lang="zh-CN" altLang="en-US" sz="1200" dirty="0"/>
              <a:t>       unsigned char st_other;</a:t>
            </a:r>
            <a:endParaRPr lang="zh-CN" altLang="en-US" sz="1200" dirty="0"/>
          </a:p>
          <a:p>
            <a:r>
              <a:rPr lang="zh-CN" altLang="en-US" sz="1200" dirty="0"/>
              <a:t>       uint16_t      st_shndx;</a:t>
            </a:r>
            <a:endParaRPr lang="zh-CN" altLang="en-US" sz="1200" dirty="0"/>
          </a:p>
          <a:p>
            <a:r>
              <a:rPr lang="zh-CN" altLang="en-US" sz="1200" dirty="0"/>
              <a:t>} Elf32_Sym;</a:t>
            </a:r>
            <a:endParaRPr lang="zh-CN" altLang="en-US" sz="1200" dirty="0"/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7363326" y="5557468"/>
            <a:ext cx="1022686" cy="418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6484883" y="1477222"/>
            <a:ext cx="4868917" cy="4541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BD5F-42DF-47A0-99B1-76BB5E61DC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6484883" y="1477222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4883" y="2271761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484883" y="3380602"/>
            <a:ext cx="4868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84883" y="6024593"/>
            <a:ext cx="486891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484882" y="1574512"/>
            <a:ext cx="2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符号表解析程序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484883" y="2498686"/>
            <a:ext cx="4868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输入：</a:t>
            </a:r>
            <a:r>
              <a:rPr lang="en-US" altLang="zh-CN" sz="2000" dirty="0"/>
              <a:t>ELF</a:t>
            </a:r>
            <a:r>
              <a:rPr lang="zh-CN" altLang="en-US" sz="2000" dirty="0"/>
              <a:t>文件，带查询符号名</a:t>
            </a:r>
            <a:endParaRPr lang="en-US" altLang="zh-CN" sz="2000" dirty="0"/>
          </a:p>
          <a:p>
            <a:r>
              <a:rPr lang="zh-CN" altLang="en-US" sz="2000" dirty="0"/>
              <a:t>输出：符号在内存中的地址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484883" y="3433496"/>
            <a:ext cx="4992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读入</a:t>
            </a:r>
            <a:r>
              <a:rPr lang="en-US" altLang="zh-CN" dirty="0"/>
              <a:t>ELF</a:t>
            </a:r>
            <a:r>
              <a:rPr lang="zh-CN" altLang="en-US" dirty="0"/>
              <a:t>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定位符号表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for </a:t>
            </a:r>
            <a:r>
              <a:rPr lang="zh-CN" altLang="en-US" dirty="0"/>
              <a:t>符号表中的每一项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C00000"/>
                </a:solidFill>
              </a:rPr>
              <a:t>    if </a:t>
            </a:r>
            <a:r>
              <a:rPr lang="zh-CN" altLang="en-US" b="1" dirty="0">
                <a:solidFill>
                  <a:srgbClr val="C00000"/>
                </a:solidFill>
              </a:rPr>
              <a:t>该项名</a:t>
            </a:r>
            <a:r>
              <a:rPr lang="en-US" altLang="zh-CN" b="1" dirty="0">
                <a:solidFill>
                  <a:srgbClr val="C00000"/>
                </a:solidFill>
              </a:rPr>
              <a:t> == </a:t>
            </a:r>
            <a:r>
              <a:rPr lang="zh-CN" altLang="en-US" b="1" dirty="0">
                <a:solidFill>
                  <a:srgbClr val="C00000"/>
                </a:solidFill>
              </a:rPr>
              <a:t>带查询符号名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/>
              <a:t>            return </a:t>
            </a:r>
            <a:r>
              <a:rPr lang="zh-CN" altLang="en-US" dirty="0"/>
              <a:t>查找成功，符号的内存地址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    end if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end for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return </a:t>
            </a:r>
            <a:r>
              <a:rPr lang="zh-CN" altLang="en-US" dirty="0"/>
              <a:t>查找失败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17358" y="2468502"/>
            <a:ext cx="5293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.</a:t>
            </a:r>
            <a:r>
              <a:rPr lang="en-US" altLang="zh-CN" sz="2800" dirty="0" err="1"/>
              <a:t>strtab</a:t>
            </a:r>
            <a:r>
              <a:rPr lang="zh-CN" altLang="en-US" sz="2800" dirty="0"/>
              <a:t>在</a:t>
            </a:r>
            <a:r>
              <a:rPr lang="en-US" altLang="zh-CN" sz="2800" dirty="0"/>
              <a:t>ELF</a:t>
            </a:r>
            <a:r>
              <a:rPr lang="zh-CN" altLang="en-US" sz="2800" dirty="0"/>
              <a:t>文件中起始位置 </a:t>
            </a:r>
            <a:r>
              <a:rPr lang="en-US" altLang="zh-CN" sz="2800" dirty="0"/>
              <a:t>+ </a:t>
            </a:r>
            <a:r>
              <a:rPr lang="zh-CN" altLang="en-US" sz="2800" dirty="0"/>
              <a:t>符号表项</a:t>
            </a:r>
            <a:r>
              <a:rPr lang="en-US" altLang="zh-CN" sz="2800" dirty="0"/>
              <a:t>.</a:t>
            </a:r>
            <a:r>
              <a:rPr lang="en-US" altLang="zh-CN" sz="2800" dirty="0" err="1"/>
              <a:t>st_name</a:t>
            </a:r>
            <a:r>
              <a:rPr lang="en-US" altLang="zh-CN" sz="2800" dirty="0"/>
              <a:t> =&gt; </a:t>
            </a:r>
            <a:r>
              <a:rPr lang="zh-CN" altLang="en-US" sz="2800" dirty="0"/>
              <a:t>字符串</a:t>
            </a:r>
            <a:endParaRPr lang="zh-CN" altLang="en-US" sz="28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137484" y="3092116"/>
            <a:ext cx="2346158" cy="1179095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相关代码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8411-70E8-44F6-B273-5C8CF5FAA40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38200" y="2331116"/>
            <a:ext cx="10291236" cy="397031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uint32_t look_up_symtab(char *sym, bool *success) {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int i;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for(i = 0; i &lt; nr_symtab_entry; i ++) {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uint8_t type = ELF32_ST_TYPE(symtab[i].st_info);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if(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(type == STT_FUNC || type == STT_OBJECT) &amp;&amp; 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				strcmp(strtab + symtab[i].st_name, sym) == 0</a:t>
            </a:r>
            <a:r>
              <a:rPr lang="zh-CN" altLang="en-US" dirty="0">
                <a:latin typeface="Consolas" panose="020B0609020204030204" pitchFamily="49" charset="0"/>
              </a:rPr>
              <a:t>) {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	*success = true;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	return symtab[i].st_value;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	}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}</a:t>
            </a:r>
            <a:endParaRPr lang="zh-CN" altLang="en-US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*success = false;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	return 0;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90912" y="1807896"/>
            <a:ext cx="37385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</a:rPr>
              <a:t>/monitor/</a:t>
            </a:r>
            <a:r>
              <a:rPr lang="en-US" altLang="zh-CN" sz="2800" dirty="0" err="1">
                <a:solidFill>
                  <a:schemeClr val="accent5"/>
                </a:solidFill>
              </a:rPr>
              <a:t>elf.c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相关代码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17040" y="1379876"/>
            <a:ext cx="8453120" cy="544764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/* Load section header table 读取节头表 */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uint32_t sh_size = elf-&gt;e_shentsize * elf-&gt;e_shnum;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Elf32_Shdr *sh = malloc(sh_size);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fseek(fp, elf-&gt;e_shoff,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fread(sh, sh_size,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	/* Load section header string table 读取节头表对应的字符串表 */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char *shstrtab = malloc(sh[elf-&gt;e_shstrndx].sh_size);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fseek(fp, sh[elf-&gt;e_shstrndx].sh_offset,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fread(shstrtab, sh[elf-&gt;e_shstrndx].sh_size,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int i;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for(i = 0; i &lt; elf-&gt;e_shnum; i ++) { </a:t>
            </a:r>
            <a:r>
              <a:rPr lang="en-US" altLang="zh-CN" sz="1200" dirty="0">
                <a:latin typeface="Consolas" panose="020B0609020204030204" pitchFamily="49" charset="0"/>
              </a:rPr>
              <a:t>/*  </a:t>
            </a:r>
            <a:r>
              <a:rPr lang="zh-CN" altLang="en-US" sz="1200" dirty="0">
                <a:latin typeface="Consolas" panose="020B0609020204030204" pitchFamily="49" charset="0"/>
              </a:rPr>
              <a:t>扫描节头表</a:t>
            </a:r>
            <a:r>
              <a:rPr lang="en-US" altLang="zh-CN" sz="1200" dirty="0">
                <a:latin typeface="Consolas" panose="020B0609020204030204" pitchFamily="49" charset="0"/>
              </a:rPr>
              <a:t>  */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if(sh[i].sh_type == SHT_SYMTAB &amp;&amp; 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	</a:t>
            </a:r>
            <a:r>
              <a:rPr lang="zh-CN" alt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strcmp(shstrtab + sh[i].sh_name, ".symtab") == 0</a:t>
            </a:r>
            <a:r>
              <a:rPr lang="zh-CN" altLang="en-US" sz="1200" dirty="0">
                <a:latin typeface="Consolas" panose="020B0609020204030204" pitchFamily="49" charset="0"/>
              </a:rPr>
              <a:t>) {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			/* Load symbol table from exec_file 得到符号表 */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symtab = malloc(sh[i].sh_size);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fseek(fp, sh[i].sh_offset,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fread(symtab, sh[i].sh_size,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nr_symtab_entry = sh[i].sh_size / sizeof(symtab[0]);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}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else if(sh[i].sh_type == SHT_STRTAB &amp;&amp; 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	</a:t>
            </a:r>
            <a:r>
              <a:rPr lang="zh-CN" alt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strcmp(shstrtab + sh[i].sh_name, ".strtab") == 0</a:t>
            </a:r>
            <a:r>
              <a:rPr lang="zh-CN" altLang="en-US" sz="1200" dirty="0">
                <a:latin typeface="Consolas" panose="020B0609020204030204" pitchFamily="49" charset="0"/>
              </a:rPr>
              <a:t>) {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			/* Load string table from exec_file 得到符号表对应的字符串表 */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strtab = malloc(sh[i].sh_size);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fseek(fp, sh[i].sh_offset, SEEK_SET);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	fread(strtab, sh[i].sh_size, 1, fp);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	}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	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47421" y="707511"/>
            <a:ext cx="31000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找到名为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symtab</a:t>
            </a:r>
            <a:r>
              <a:rPr lang="zh-CN" altLang="en-US" dirty="0">
                <a:solidFill>
                  <a:srgbClr val="C00000"/>
                </a:solidFill>
              </a:rPr>
              <a:t>的符号表和名为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strtab</a:t>
            </a:r>
            <a:r>
              <a:rPr lang="zh-CN" altLang="en-US" dirty="0">
                <a:solidFill>
                  <a:srgbClr val="C00000"/>
                </a:solidFill>
              </a:rPr>
              <a:t>的字符串表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33536" y="3748764"/>
            <a:ext cx="4134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7030A0"/>
                </a:solidFill>
              </a:rPr>
              <a:t>这一步和解析符号名称时的操作一样，等一下细讲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1723-04C3-43B4-A2E7-E48E85C290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AA43A-3C21-4547-85FA-3142B356975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226738" y="863552"/>
            <a:ext cx="37385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</a:rPr>
              <a:t>/monitor/</a:t>
            </a:r>
            <a:r>
              <a:rPr lang="en-US" altLang="zh-CN" sz="2800" dirty="0" err="1">
                <a:solidFill>
                  <a:schemeClr val="accent5"/>
                </a:solidFill>
              </a:rPr>
              <a:t>elf.c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213891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符号表解析了有啥用？</a:t>
            </a:r>
            <a:endParaRPr lang="en-US" altLang="zh-CN" dirty="0"/>
          </a:p>
          <a:p>
            <a:r>
              <a:rPr lang="zh-CN" altLang="en-US" dirty="0"/>
              <a:t>如果你想写一个链接器</a:t>
            </a:r>
            <a:endParaRPr lang="en-US" altLang="zh-CN" dirty="0"/>
          </a:p>
          <a:p>
            <a:pPr lvl="1"/>
            <a:r>
              <a:rPr lang="zh-CN" altLang="en-US" dirty="0"/>
              <a:t>可以将处于不同</a:t>
            </a:r>
            <a:r>
              <a:rPr lang="en-US" altLang="zh-CN" dirty="0"/>
              <a:t>.o</a:t>
            </a:r>
            <a:r>
              <a:rPr lang="zh-CN" altLang="en-US" dirty="0"/>
              <a:t>文件中的全局变量或函数的调用和定义通过内存地址联系到一起</a:t>
            </a:r>
            <a:endParaRPr lang="en-US" altLang="zh-CN" dirty="0"/>
          </a:p>
          <a:p>
            <a:pPr lvl="1"/>
            <a:r>
              <a:rPr lang="en-US" altLang="zh-CN" dirty="0" err="1"/>
              <a:t>readelf</a:t>
            </a:r>
            <a:r>
              <a:rPr lang="en-US" altLang="zh-CN" dirty="0"/>
              <a:t> –s 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cpu</a:t>
            </a:r>
            <a:r>
              <a:rPr lang="en-US" altLang="zh-CN" dirty="0"/>
              <a:t>/decode/</a:t>
            </a:r>
            <a:r>
              <a:rPr lang="en-US" altLang="zh-CN" dirty="0" err="1"/>
              <a:t>opcode.o</a:t>
            </a:r>
            <a:endParaRPr lang="en-US" altLang="zh-CN" dirty="0"/>
          </a:p>
          <a:p>
            <a:pPr lvl="1"/>
            <a:r>
              <a:rPr lang="en-US" altLang="zh-CN" dirty="0" err="1"/>
              <a:t>readelf</a:t>
            </a:r>
            <a:r>
              <a:rPr lang="en-US" altLang="zh-CN" dirty="0"/>
              <a:t> –s 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cpu</a:t>
            </a:r>
            <a:r>
              <a:rPr lang="en-US" altLang="zh-CN" dirty="0"/>
              <a:t>/</a:t>
            </a:r>
            <a:r>
              <a:rPr lang="en-US" altLang="zh-CN" dirty="0" err="1"/>
              <a:t>instr</a:t>
            </a:r>
            <a:r>
              <a:rPr lang="en-US" altLang="zh-CN" dirty="0"/>
              <a:t>/</a:t>
            </a:r>
            <a:r>
              <a:rPr lang="en-US" altLang="zh-CN" dirty="0" err="1"/>
              <a:t>mov.o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91537" y="4901461"/>
            <a:ext cx="5495027" cy="138499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Symbol table '.symtab' contains 249 entries: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...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223: 00000000     0 NOTYPE  GLOBAL DEFAULT  UND mov_i2r_b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224: 00000000     0 NOTYPE  GLOBAL DEFAULT  UND mov_i2r_v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...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323772" y="4434835"/>
            <a:ext cx="1124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opcode.o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657710" y="3419173"/>
            <a:ext cx="5430329" cy="138499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Symbol table '.symtab' contains 165 entries: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Num:    Value  Size Type    Bind   Vis      Ndx Name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...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149: 000002a0   176 FUNC    GLOBAL DEFAULT   39 mov_i2rm_b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151: 00000350   176 FUNC    GLOBAL DEFAULT   39 mov_i2rm_v</a:t>
            </a:r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...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78333" y="3422832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mov.o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49706" y="4804167"/>
            <a:ext cx="40833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如果发现符号表中有多个</a:t>
            </a:r>
            <a:r>
              <a:rPr lang="en-US" altLang="zh-CN" sz="1200" dirty="0">
                <a:solidFill>
                  <a:srgbClr val="FF0000"/>
                </a:solidFill>
              </a:rPr>
              <a:t>Type</a:t>
            </a:r>
            <a:r>
              <a:rPr lang="zh-CN" altLang="en-US" sz="1200" dirty="0">
                <a:solidFill>
                  <a:srgbClr val="FF0000"/>
                </a:solidFill>
              </a:rPr>
              <a:t>为</a:t>
            </a:r>
            <a:r>
              <a:rPr lang="en-US" altLang="zh-CN" sz="1200" dirty="0">
                <a:solidFill>
                  <a:srgbClr val="FF0000"/>
                </a:solidFill>
              </a:rPr>
              <a:t>FUNC</a:t>
            </a:r>
            <a:r>
              <a:rPr lang="zh-CN" altLang="en-US" sz="1200" dirty="0">
                <a:solidFill>
                  <a:srgbClr val="FF0000"/>
                </a:solidFill>
              </a:rPr>
              <a:t>或</a:t>
            </a:r>
            <a:r>
              <a:rPr lang="en-US" altLang="zh-CN" sz="1200" dirty="0">
                <a:solidFill>
                  <a:srgbClr val="FF0000"/>
                </a:solidFill>
              </a:rPr>
              <a:t>OBJECT</a:t>
            </a:r>
            <a:r>
              <a:rPr lang="zh-CN" altLang="en-US" sz="1200" dirty="0">
                <a:solidFill>
                  <a:srgbClr val="FF0000"/>
                </a:solidFill>
              </a:rPr>
              <a:t>，</a:t>
            </a:r>
            <a:r>
              <a:rPr lang="en-US" altLang="zh-CN" sz="1200" dirty="0">
                <a:solidFill>
                  <a:srgbClr val="FF0000"/>
                </a:solidFill>
              </a:rPr>
              <a:t>Bind</a:t>
            </a:r>
            <a:r>
              <a:rPr lang="zh-CN" altLang="en-US" sz="1200" dirty="0">
                <a:solidFill>
                  <a:srgbClr val="FF0000"/>
                </a:solidFill>
              </a:rPr>
              <a:t>类型为</a:t>
            </a:r>
            <a:r>
              <a:rPr lang="en-US" altLang="zh-CN" sz="1200" dirty="0">
                <a:solidFill>
                  <a:srgbClr val="FF0000"/>
                </a:solidFill>
              </a:rPr>
              <a:t>GLOBAL</a:t>
            </a:r>
            <a:r>
              <a:rPr lang="zh-CN" altLang="en-US" sz="1200" dirty="0">
                <a:solidFill>
                  <a:srgbClr val="FF0000"/>
                </a:solidFill>
              </a:rPr>
              <a:t>，其</a:t>
            </a:r>
            <a:r>
              <a:rPr lang="en-US" altLang="zh-CN" sz="1200" dirty="0" err="1">
                <a:solidFill>
                  <a:srgbClr val="FF0000"/>
                </a:solidFill>
              </a:rPr>
              <a:t>Ndx</a:t>
            </a:r>
            <a:r>
              <a:rPr lang="zh-CN" altLang="en-US" sz="1200" dirty="0">
                <a:solidFill>
                  <a:srgbClr val="FF0000"/>
                </a:solidFill>
              </a:rPr>
              <a:t>都显示在某一个</a:t>
            </a:r>
            <a:r>
              <a:rPr lang="en-US" altLang="zh-CN" sz="1200" dirty="0">
                <a:solidFill>
                  <a:srgbClr val="FF0000"/>
                </a:solidFill>
              </a:rPr>
              <a:t>section</a:t>
            </a:r>
            <a:r>
              <a:rPr lang="zh-CN" altLang="en-US" sz="1200" dirty="0">
                <a:solidFill>
                  <a:srgbClr val="FF0000"/>
                </a:solidFill>
              </a:rPr>
              <a:t>中被定义了的符号具有同样的名字：</a:t>
            </a:r>
            <a:endParaRPr lang="en-US" altLang="zh-CN" sz="1200" dirty="0">
              <a:solidFill>
                <a:srgbClr val="FF0000"/>
              </a:solidFill>
            </a:endParaRPr>
          </a:p>
          <a:p>
            <a:endParaRPr lang="en-US" altLang="zh-CN" sz="1200" dirty="0">
              <a:solidFill>
                <a:srgbClr val="FF0000"/>
              </a:solidFill>
            </a:endParaRPr>
          </a:p>
          <a:p>
            <a:r>
              <a:rPr lang="en-US" altLang="zh-CN" sz="1200" dirty="0">
                <a:solidFill>
                  <a:srgbClr val="FF0000"/>
                </a:solidFill>
              </a:rPr>
              <a:t>multiple definition of xxx</a:t>
            </a:r>
            <a:endParaRPr lang="en-US" altLang="zh-CN" sz="1200" dirty="0">
              <a:solidFill>
                <a:srgbClr val="FF0000"/>
              </a:solidFill>
            </a:endParaRPr>
          </a:p>
          <a:p>
            <a:endParaRPr lang="en-US" altLang="zh-CN" sz="1200" dirty="0">
              <a:solidFill>
                <a:srgbClr val="FF0000"/>
              </a:solidFill>
            </a:endParaRPr>
          </a:p>
          <a:p>
            <a:r>
              <a:rPr lang="zh-CN" altLang="en-US" sz="1200" dirty="0">
                <a:solidFill>
                  <a:srgbClr val="FF0000"/>
                </a:solidFill>
              </a:rPr>
              <a:t>去掉</a:t>
            </a:r>
            <a:r>
              <a:rPr lang="en-US" altLang="zh-CN" sz="1200" dirty="0">
                <a:solidFill>
                  <a:srgbClr val="FF0000"/>
                </a:solidFill>
              </a:rPr>
              <a:t>static void instr_execute_2op()</a:t>
            </a:r>
            <a:r>
              <a:rPr lang="zh-CN" altLang="en-US" sz="1200" dirty="0">
                <a:solidFill>
                  <a:srgbClr val="FF0000"/>
                </a:solidFill>
              </a:rPr>
              <a:t>前面的</a:t>
            </a:r>
            <a:r>
              <a:rPr lang="en-US" altLang="zh-CN" sz="1200" dirty="0">
                <a:solidFill>
                  <a:srgbClr val="FF0000"/>
                </a:solidFill>
              </a:rPr>
              <a:t>static</a:t>
            </a:r>
            <a:r>
              <a:rPr lang="zh-CN" altLang="en-US" sz="1200" dirty="0">
                <a:solidFill>
                  <a:srgbClr val="FF0000"/>
                </a:solidFill>
              </a:rPr>
              <a:t>就能够触发（比如尝试</a:t>
            </a:r>
            <a:r>
              <a:rPr lang="en-US" altLang="zh-CN" sz="1200" dirty="0" err="1">
                <a:solidFill>
                  <a:srgbClr val="FF0000"/>
                </a:solidFill>
              </a:rPr>
              <a:t>mov.c</a:t>
            </a:r>
            <a:r>
              <a:rPr lang="zh-CN" altLang="en-US" sz="1200" dirty="0">
                <a:solidFill>
                  <a:srgbClr val="FF0000"/>
                </a:solidFill>
              </a:rPr>
              <a:t>和</a:t>
            </a:r>
            <a:r>
              <a:rPr lang="en-US" altLang="zh-CN" sz="1200" dirty="0" err="1">
                <a:solidFill>
                  <a:srgbClr val="FF0000"/>
                </a:solidFill>
              </a:rPr>
              <a:t>sar.c</a:t>
            </a:r>
            <a:r>
              <a:rPr lang="zh-CN" altLang="en-US" sz="1200" dirty="0">
                <a:solidFill>
                  <a:srgbClr val="FF0000"/>
                </a:solidFill>
              </a:rPr>
              <a:t>，把</a:t>
            </a:r>
            <a:r>
              <a:rPr lang="en-US" altLang="zh-CN" sz="1200" dirty="0">
                <a:solidFill>
                  <a:srgbClr val="FF0000"/>
                </a:solidFill>
              </a:rPr>
              <a:t>static</a:t>
            </a:r>
            <a:r>
              <a:rPr lang="zh-CN" altLang="en-US" sz="1200" dirty="0">
                <a:solidFill>
                  <a:srgbClr val="FF0000"/>
                </a:solidFill>
              </a:rPr>
              <a:t>去掉），观察一下对应的符号表，是不是有什么变化？</a:t>
            </a:r>
            <a:endParaRPr lang="en-US" altLang="zh-CN" sz="1200" dirty="0">
              <a:solidFill>
                <a:srgbClr val="FF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7014382" y="4331565"/>
            <a:ext cx="2182483" cy="136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7028400" y="4507794"/>
            <a:ext cx="2182483" cy="136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E697E-0C92-4326-AFB9-0D369B9BFB5D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符号表的解析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15766" y="1501354"/>
            <a:ext cx="9734550" cy="4424915"/>
          </a:xfrm>
        </p:spPr>
        <p:txBody>
          <a:bodyPr>
            <a:normAutofit/>
          </a:bodyPr>
          <a:lstStyle/>
          <a:p>
            <a:r>
              <a:rPr lang="zh-CN" altLang="en-US" dirty="0"/>
              <a:t>符号表解析了有啥用？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NEMU</a:t>
            </a:r>
            <a:r>
              <a:rPr lang="zh-CN" altLang="en-US" dirty="0"/>
              <a:t>来说</a:t>
            </a:r>
            <a:endParaRPr lang="en-US" altLang="zh-CN" dirty="0"/>
          </a:p>
          <a:p>
            <a:pPr lvl="1"/>
            <a:r>
              <a:rPr lang="zh-CN" altLang="en-US" dirty="0"/>
              <a:t>你可以使用 </a:t>
            </a:r>
            <a:r>
              <a:rPr lang="en-US" altLang="zh-CN" i="1" dirty="0">
                <a:solidFill>
                  <a:srgbClr val="0070C0"/>
                </a:solidFill>
              </a:rPr>
              <a:t>x 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en-US" altLang="zh-CN" i="1" dirty="0"/>
              <a:t> </a:t>
            </a:r>
            <a:r>
              <a:rPr lang="zh-CN" altLang="en-US" dirty="0"/>
              <a:t>来查看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zh-CN" altLang="en-US" dirty="0"/>
              <a:t>的起始地址</a:t>
            </a:r>
            <a:endParaRPr lang="en-US" altLang="zh-CN" dirty="0"/>
          </a:p>
          <a:p>
            <a:pPr lvl="2"/>
            <a:r>
              <a:rPr lang="zh-CN" altLang="en-US" dirty="0"/>
              <a:t>再使用</a:t>
            </a:r>
            <a:r>
              <a:rPr lang="en-US" altLang="zh-CN" i="1" dirty="0">
                <a:solidFill>
                  <a:srgbClr val="0070C0"/>
                </a:solidFill>
              </a:rPr>
              <a:t>x </a:t>
            </a:r>
            <a:r>
              <a:rPr lang="zh-CN" altLang="en-US" i="1" dirty="0">
                <a:solidFill>
                  <a:srgbClr val="0070C0"/>
                </a:solidFill>
              </a:rPr>
              <a:t>起始地址</a:t>
            </a:r>
            <a:r>
              <a:rPr lang="en-US" altLang="zh-CN" i="1" dirty="0">
                <a:solidFill>
                  <a:srgbClr val="0070C0"/>
                </a:solidFill>
              </a:rPr>
              <a:t>+offset</a:t>
            </a:r>
            <a:r>
              <a:rPr lang="zh-CN" altLang="en-US" dirty="0"/>
              <a:t> 来查看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zh-CN" altLang="en-US" dirty="0"/>
              <a:t>的内容</a:t>
            </a:r>
            <a:endParaRPr lang="en-US" altLang="zh-CN" dirty="0"/>
          </a:p>
          <a:p>
            <a:pPr lvl="2"/>
            <a:r>
              <a:rPr lang="zh-CN" altLang="en-US" dirty="0"/>
              <a:t>也可以使用 </a:t>
            </a:r>
            <a:r>
              <a:rPr lang="en-US" altLang="zh-CN" i="1" dirty="0">
                <a:solidFill>
                  <a:srgbClr val="0070C0"/>
                </a:solidFill>
              </a:rPr>
              <a:t>x </a:t>
            </a:r>
            <a:r>
              <a:rPr lang="zh-CN" altLang="en-US" i="1" dirty="0">
                <a:solidFill>
                  <a:srgbClr val="0070C0"/>
                </a:solidFill>
              </a:rPr>
              <a:t>*</a:t>
            </a:r>
            <a:r>
              <a:rPr lang="en-US" altLang="zh-CN" i="1" dirty="0">
                <a:solidFill>
                  <a:srgbClr val="0070C0"/>
                </a:solidFill>
              </a:rPr>
              <a:t>(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en-US" altLang="zh-CN" i="1" dirty="0">
                <a:solidFill>
                  <a:srgbClr val="0070C0"/>
                </a:solidFill>
              </a:rPr>
              <a:t> + offset)</a:t>
            </a:r>
            <a:r>
              <a:rPr lang="zh-CN" altLang="en-US" dirty="0"/>
              <a:t>来查看</a:t>
            </a:r>
            <a:r>
              <a:rPr lang="en-US" altLang="zh-CN" i="1" dirty="0" err="1">
                <a:solidFill>
                  <a:srgbClr val="0070C0"/>
                </a:solidFill>
              </a:rPr>
              <a:t>test_data</a:t>
            </a:r>
            <a:r>
              <a:rPr lang="zh-CN" altLang="en-US" dirty="0"/>
              <a:t>的内容</a:t>
            </a:r>
            <a:endParaRPr lang="en-US" altLang="zh-CN" dirty="0"/>
          </a:p>
          <a:p>
            <a:pPr lvl="1"/>
            <a:r>
              <a:rPr lang="zh-CN" altLang="en-US" dirty="0"/>
              <a:t>你也可以使用 </a:t>
            </a:r>
            <a:r>
              <a:rPr lang="en-US" altLang="zh-CN" i="1" dirty="0">
                <a:solidFill>
                  <a:srgbClr val="0070C0"/>
                </a:solidFill>
              </a:rPr>
              <a:t>b main</a:t>
            </a:r>
            <a:r>
              <a:rPr lang="zh-CN" altLang="en-US" dirty="0"/>
              <a:t>来在</a:t>
            </a:r>
            <a:r>
              <a:rPr lang="en-US" altLang="zh-CN" i="1" dirty="0">
                <a:solidFill>
                  <a:srgbClr val="0070C0"/>
                </a:solidFill>
              </a:rPr>
              <a:t>main</a:t>
            </a:r>
            <a:r>
              <a:rPr lang="zh-CN" altLang="en-US" dirty="0"/>
              <a:t>函数开始处设置断点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NEMU</a:t>
            </a:r>
            <a:r>
              <a:rPr lang="zh-CN" altLang="en-US" dirty="0"/>
              <a:t>中使用上述功能涉及对表达式求值功能的实现</a:t>
            </a:r>
            <a:endParaRPr lang="en-US" altLang="zh-CN" dirty="0"/>
          </a:p>
          <a:p>
            <a:pPr lvl="1"/>
            <a:r>
              <a:rPr lang="zh-CN" altLang="en-US" dirty="0"/>
              <a:t>相应教程：看教程</a:t>
            </a:r>
            <a:r>
              <a:rPr lang="en-US" altLang="zh-CN" dirty="0"/>
              <a:t>PA 2-3</a:t>
            </a:r>
            <a:r>
              <a:rPr lang="zh-CN" altLang="en-US" dirty="0"/>
              <a:t>部分</a:t>
            </a:r>
            <a:endParaRPr lang="en-US" altLang="zh-CN" dirty="0"/>
          </a:p>
          <a:p>
            <a:pPr lvl="1"/>
            <a:r>
              <a:rPr lang="zh-CN" altLang="en-US" dirty="0"/>
              <a:t>代码：</a:t>
            </a:r>
            <a:r>
              <a:rPr lang="en-US" altLang="zh-CN" dirty="0" err="1"/>
              <a:t>nemu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/monitor/</a:t>
            </a:r>
            <a:r>
              <a:rPr lang="en-US" altLang="zh-CN" dirty="0" err="1"/>
              <a:t>expr.c</a:t>
            </a:r>
            <a:endParaRPr lang="en-US" altLang="zh-CN" dirty="0"/>
          </a:p>
          <a:p>
            <a:pPr lvl="1"/>
            <a:r>
              <a:rPr lang="zh-CN" altLang="en-US" dirty="0"/>
              <a:t>我们下次课再讲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081C-B08F-4B17-BAE4-54C3746D312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 </a:t>
            </a:r>
            <a:r>
              <a:rPr lang="en-US" altLang="zh-CN"/>
              <a:t>- </a:t>
            </a:r>
            <a:r>
              <a:rPr lang="zh-CN" altLang="en-US"/>
              <a:t>计算机系统基础 </a:t>
            </a:r>
            <a:r>
              <a:rPr lang="en-US" altLang="zh-CN"/>
              <a:t>- 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EFA41-C767-42B7-BA4D-813B5F1A40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143c3e62-73cb-43ec-80c6-bf3fc0889746"/>
  <p:tag name="COMMONDATA" val="eyJoZGlkIjoiMmRhZWY0Nzc0NGU1OWVhN2UzNGE5NmY2MWVhZGI2ZjcifQ=="/>
</p:tagLst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0</TotalTime>
  <Words>42050</Words>
  <Application>WPS 演示</Application>
  <PresentationFormat>宽屏</PresentationFormat>
  <Paragraphs>2448</Paragraphs>
  <Slides>77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9" baseType="lpstr">
      <vt:lpstr>Arial</vt:lpstr>
      <vt:lpstr>宋体</vt:lpstr>
      <vt:lpstr>Wingdings</vt:lpstr>
      <vt:lpstr>微软雅黑</vt:lpstr>
      <vt:lpstr>幼圆</vt:lpstr>
      <vt:lpstr>Consolas</vt:lpstr>
      <vt:lpstr>等线</vt:lpstr>
      <vt:lpstr>Arial Unicode MS</vt:lpstr>
      <vt:lpstr>MS Gothic</vt:lpstr>
      <vt:lpstr>Times New Roman</vt:lpstr>
      <vt:lpstr>Calibri</vt:lpstr>
      <vt:lpstr>2020_spring_pa_0</vt:lpstr>
      <vt:lpstr>PA 2-2 – 程序的装载 PA 2-3 – 调试器符号表解析</vt:lpstr>
      <vt:lpstr>前情提要</vt:lpstr>
      <vt:lpstr>目录</vt:lpstr>
      <vt:lpstr>目录</vt:lpstr>
      <vt:lpstr>什么是ELF文件</vt:lpstr>
      <vt:lpstr>如何得到ELF文件</vt:lpstr>
      <vt:lpstr>ELF文件格式</vt:lpstr>
      <vt:lpstr>ELF文件格式</vt:lpstr>
      <vt:lpstr>ELF头</vt:lpstr>
      <vt:lpstr>ELF文件格式</vt:lpstr>
      <vt:lpstr>节头表</vt:lpstr>
      <vt:lpstr>ELF文件格式</vt:lpstr>
      <vt:lpstr>程序头表</vt:lpstr>
      <vt:lpstr>ELF文件格式</vt:lpstr>
      <vt:lpstr>符号表+字符串表</vt:lpstr>
      <vt:lpstr>ELF文件格式</vt:lpstr>
      <vt:lpstr>要点梳理</vt:lpstr>
      <vt:lpstr>目录</vt:lpstr>
      <vt:lpstr>原先的NEMU是怎么装载并运行程序的？</vt:lpstr>
      <vt:lpstr>原先的NEMU是怎么装载并运行程序的？</vt:lpstr>
      <vt:lpstr>PA 2-2 以后NEMU是怎么装载并运行程序的？</vt:lpstr>
      <vt:lpstr>PA 2-2 以后NEMU是怎么装载并运行程序的？</vt:lpstr>
      <vt:lpstr>PA 2-2 以后NEMU是怎么装载并运行程序的？</vt:lpstr>
      <vt:lpstr>PA 2-2 以后NEMU是怎么装载并运行程序的？</vt:lpstr>
      <vt:lpstr>PA 2-2 以后NEMU是怎么装载并运行程序的？</vt:lpstr>
      <vt:lpstr>PA 2-2 以后NEMU是怎么装载并运行程序的？</vt:lpstr>
      <vt:lpstr>PA 2-2 以后NEMU是怎么装载并运行程序的？</vt:lpstr>
      <vt:lpstr>PA 2-2 以后NEMU是怎么装载并运行程序的？</vt:lpstr>
      <vt:lpstr>PA 2-2 以后NEMU是怎么装载并运行程序的？</vt:lpstr>
      <vt:lpstr>PA 2-2 以后NEMU是怎么装载并运行程序的？</vt:lpstr>
      <vt:lpstr>要点梳理</vt:lpstr>
      <vt:lpstr>Kernel装载程序</vt:lpstr>
      <vt:lpstr>Kernel装载程序</vt:lpstr>
      <vt:lpstr>装载程序的实现：解析程序头表</vt:lpstr>
      <vt:lpstr>装载程序的实现：解析程序头表</vt:lpstr>
      <vt:lpstr>装载程序的实现：解析程序头表</vt:lpstr>
      <vt:lpstr>装载程序的实现：解析程序头表</vt:lpstr>
      <vt:lpstr>装载程序的实现：解析程序头表</vt:lpstr>
      <vt:lpstr>装载ELF可执行文件</vt:lpstr>
      <vt:lpstr>PowerPoint 演示文稿</vt:lpstr>
      <vt:lpstr>完整的装载逻辑</vt:lpstr>
      <vt:lpstr>完整的装载逻辑</vt:lpstr>
      <vt:lpstr>ELF头的编程解析</vt:lpstr>
      <vt:lpstr>ELF头的编程解析</vt:lpstr>
      <vt:lpstr>ELF头的编程解析</vt:lpstr>
      <vt:lpstr>ELF头的编程解析</vt:lpstr>
      <vt:lpstr>ELF头的编程解析</vt:lpstr>
      <vt:lpstr>ELF头的编程解析</vt:lpstr>
      <vt:lpstr>ELF头的编程解析</vt:lpstr>
      <vt:lpstr>完整的装载逻辑</vt:lpstr>
      <vt:lpstr>程序头表的编程解析</vt:lpstr>
      <vt:lpstr>程序头表的编程解析</vt:lpstr>
      <vt:lpstr>程序头表的编程解析</vt:lpstr>
      <vt:lpstr>PowerPoint 演示文稿</vt:lpstr>
      <vt:lpstr>Kernel装载程序</vt:lpstr>
      <vt:lpstr>Kernel执行loader()</vt:lpstr>
      <vt:lpstr>Kernel执行loader()</vt:lpstr>
      <vt:lpstr>Kernel执行loader()</vt:lpstr>
      <vt:lpstr>PowerPoint 演示文稿</vt:lpstr>
      <vt:lpstr>PA执行命令的改变，加入Kernel</vt:lpstr>
      <vt:lpstr>PA 2-2 执行成功的标志</vt:lpstr>
      <vt:lpstr>实用小贴士</vt:lpstr>
      <vt:lpstr>  祝大家学习快乐，身心健康！</vt:lpstr>
      <vt:lpstr>目录</vt:lpstr>
      <vt:lpstr>符号表的解析</vt:lpstr>
      <vt:lpstr>符号表的解析</vt:lpstr>
      <vt:lpstr>符号表的解析</vt:lpstr>
      <vt:lpstr>ELF头的编程解析</vt:lpstr>
      <vt:lpstr>解析节头表，找到符号表和字符串表</vt:lpstr>
      <vt:lpstr>符号表的解析</vt:lpstr>
      <vt:lpstr>符号表的解析</vt:lpstr>
      <vt:lpstr>符号表的解析</vt:lpstr>
      <vt:lpstr>符号表的解析</vt:lpstr>
      <vt:lpstr>NEMU相关代码</vt:lpstr>
      <vt:lpstr>NEMU相关代码</vt:lpstr>
      <vt:lpstr>符号表的解析</vt:lpstr>
      <vt:lpstr>符号表的解析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2-2 – 程序的装载 PA 2-3 – 调试器符号表解析</dc:title>
  <dc:creator>wangliang</dc:creator>
  <cp:lastModifiedBy>汪亮</cp:lastModifiedBy>
  <cp:revision>465</cp:revision>
  <dcterms:created xsi:type="dcterms:W3CDTF">2020-04-02T11:58:00Z</dcterms:created>
  <dcterms:modified xsi:type="dcterms:W3CDTF">2025-10-15T05:59:50Z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AD2E1A51F79E46858F8A6AFB97FB3577</vt:lpwstr>
  </property>
  <property fmtid="{D5CDD505-2E9C-101B-9397-08002B2CF9AE}" pid="3" name="KSOProductBuildVer">
    <vt:lpwstr>2052-12.1.0.20305</vt:lpwstr>
  </property>
</Properties>
</file>