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3"/>
    <p:sldId id="294" r:id="rId4"/>
    <p:sldId id="257" r:id="rId5"/>
    <p:sldId id="259" r:id="rId6"/>
    <p:sldId id="297" r:id="rId7"/>
    <p:sldId id="298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88" r:id="rId16"/>
    <p:sldId id="299" r:id="rId17"/>
    <p:sldId id="262" r:id="rId18"/>
    <p:sldId id="287" r:id="rId19"/>
    <p:sldId id="268" r:id="rId20"/>
    <p:sldId id="269" r:id="rId21"/>
    <p:sldId id="270" r:id="rId22"/>
    <p:sldId id="271" r:id="rId23"/>
    <p:sldId id="272" r:id="rId24"/>
    <p:sldId id="295" r:id="rId25"/>
    <p:sldId id="282" r:id="rId26"/>
    <p:sldId id="283" r:id="rId27"/>
    <p:sldId id="284" r:id="rId28"/>
    <p:sldId id="285" r:id="rId29"/>
    <p:sldId id="296" r:id="rId30"/>
    <p:sldId id="289" r:id="rId31"/>
    <p:sldId id="300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6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7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notesMaster" Target="notesMasters/notesMaster1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D7DC3D-A370-4883-96A8-53ADC540657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4E76E-92C3-4F2C-A480-6B99BC48A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706-EC5E-41D4-B484-5BB7224D371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B290-E6E7-4493-9EAD-FB6E8F24090B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6CD11-29BF-41EA-A756-D2F01B9D166A}" type="datetime3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76A9-213F-4DC3-925F-0BAD417F087A}" type="datetime3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1B49C-9ADF-4A8D-82FE-B32ED91DFD56}" type="datetime3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7D52-5BF2-463C-BD66-B74B46E47D1D}" type="datetime3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92F6-7C41-42C9-A0B5-715A69A3EC42}" type="datetime3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188D1-4DCE-4124-9B03-4EBDF0EC71BB}" type="datetime3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F3E8C-9027-44A0-9EC0-B1F9E53C7E0A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40DC8-B0C2-48C4-AF78-0A2313FD6B4D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/>
                </a:solidFill>
              </a:defRPr>
            </a:lvl1pPr>
          </a:lstStyle>
          <a:p>
            <a:fld id="{90460845-BD90-4606-94E8-0E380E8ADB4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/>
                </a:solidFill>
              </a:defRPr>
            </a:lvl1pPr>
          </a:lstStyle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2692400"/>
            <a:ext cx="9144000" cy="1203642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 dirty="0"/>
              <a:t>PA 1-1 – </a:t>
            </a:r>
            <a:r>
              <a:rPr lang="zh-CN" altLang="en-US" sz="4800" dirty="0"/>
              <a:t>数据的表示和存取</a:t>
            </a:r>
            <a:endParaRPr lang="zh-CN" altLang="en-US" sz="4800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4298315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/>
              <a:t>2</a:t>
            </a:r>
            <a:r>
              <a:rPr lang="zh-CN" altLang="en-US" dirty="0"/>
              <a:t>日</a:t>
            </a:r>
            <a:endParaRPr lang="zh-CN" altLang="en-US" dirty="0"/>
          </a:p>
          <a:p>
            <a:pPr algn="r"/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9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>
                <a:sym typeface="+mn-ea"/>
              </a:rPr>
              <a:t>3</a:t>
            </a:r>
            <a:r>
              <a:rPr lang="zh-CN" altLang="en-US" dirty="0">
                <a:sym typeface="+mn-ea"/>
              </a:rPr>
              <a:t>日</a:t>
            </a:r>
            <a:endParaRPr lang="en-US" altLang="zh-CN" dirty="0"/>
          </a:p>
          <a:p>
            <a:pPr algn="r"/>
            <a:r>
              <a:rPr lang="zh-CN" altLang="en-US" dirty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  <a:endParaRPr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1524000" y="135943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D5D3C-0038-4203-9CC2-1C9BF26724AC}" type="datetime3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520" y="75566"/>
            <a:ext cx="10515600" cy="734002"/>
          </a:xfrm>
        </p:spPr>
        <p:txBody>
          <a:bodyPr/>
          <a:lstStyle/>
          <a:p>
            <a:r>
              <a:rPr lang="zh-CN" altLang="en-US" dirty="0"/>
              <a:t>前言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29" y="862444"/>
            <a:ext cx="7079673" cy="530975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2194560" y="3200400"/>
            <a:ext cx="1059180" cy="163068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337560" y="3208020"/>
            <a:ext cx="876300" cy="9144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68440" y="3093720"/>
            <a:ext cx="876300" cy="187452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252460" y="4686300"/>
            <a:ext cx="362712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PA 1</a:t>
            </a:r>
            <a:r>
              <a:rPr lang="zh-CN" altLang="en-US" dirty="0"/>
              <a:t>涉及以下器件</a:t>
            </a:r>
            <a:r>
              <a:rPr lang="en-US" altLang="zh-CN" dirty="0"/>
              <a:t>/</a:t>
            </a:r>
            <a:r>
              <a:rPr lang="zh-CN" altLang="en-US" dirty="0"/>
              <a:t>功能模拟：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主存（</a:t>
            </a:r>
            <a:r>
              <a:rPr lang="en-US" altLang="zh-CN" dirty="0"/>
              <a:t> PA 1-1</a:t>
            </a:r>
            <a:r>
              <a:rPr lang="zh-CN" altLang="en-US" dirty="0"/>
              <a:t>中了解）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寄存器（</a:t>
            </a:r>
            <a:r>
              <a:rPr lang="en-US" altLang="zh-CN" dirty="0"/>
              <a:t>PA 1-1</a:t>
            </a:r>
            <a:r>
              <a:rPr lang="zh-CN" altLang="en-US" dirty="0"/>
              <a:t>任务）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ALU</a:t>
            </a:r>
            <a:r>
              <a:rPr lang="zh-CN" altLang="en-US" dirty="0"/>
              <a:t>整数运算（</a:t>
            </a:r>
            <a:r>
              <a:rPr lang="en-US" altLang="zh-CN" dirty="0"/>
              <a:t>PA 1-2</a:t>
            </a:r>
            <a:r>
              <a:rPr lang="zh-CN" altLang="en-US" dirty="0"/>
              <a:t>任务）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FPU</a:t>
            </a:r>
            <a:r>
              <a:rPr lang="zh-CN" altLang="en-US" dirty="0"/>
              <a:t>浮点数运算（</a:t>
            </a:r>
            <a:r>
              <a:rPr lang="en-US" altLang="zh-CN" dirty="0"/>
              <a:t>PA 1-3</a:t>
            </a:r>
            <a:r>
              <a:rPr lang="zh-CN" altLang="en-US" dirty="0"/>
              <a:t>任务）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b="1" dirty="0"/>
              <a:t>PA 1-1 </a:t>
            </a:r>
            <a:r>
              <a:rPr lang="zh-CN" altLang="en-US" b="1" dirty="0"/>
              <a:t>数据的类型和存取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en-US" altLang="zh-CN" b="1" dirty="0"/>
              <a:t>PA 1-2 </a:t>
            </a:r>
            <a:r>
              <a:rPr lang="zh-CN" altLang="en-US" b="1" dirty="0"/>
              <a:t>整数的表示和运算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en-US" altLang="zh-CN" b="1" dirty="0"/>
              <a:t>PA 1-3 </a:t>
            </a:r>
            <a:r>
              <a:rPr lang="zh-CN" altLang="en-US" b="1" dirty="0"/>
              <a:t>浮点数的表示和运算</a:t>
            </a:r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PA 1-1 </a:t>
            </a:r>
            <a:r>
              <a:rPr lang="zh-CN" altLang="en-US" b="1" dirty="0">
                <a:solidFill>
                  <a:srgbClr val="C00000"/>
                </a:solidFill>
              </a:rPr>
              <a:t>数据的类型和存取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b="1" dirty="0"/>
              <a:t>PA 1-2 </a:t>
            </a:r>
            <a:r>
              <a:rPr lang="zh-CN" altLang="en-US" b="1" dirty="0"/>
              <a:t>整数的表示和运算</a:t>
            </a:r>
            <a:endParaRPr lang="en-US" altLang="zh-CN" b="1" dirty="0"/>
          </a:p>
          <a:p>
            <a:pPr>
              <a:lnSpc>
                <a:spcPct val="200000"/>
              </a:lnSpc>
            </a:pPr>
            <a:r>
              <a:rPr lang="en-US" altLang="zh-CN" b="1" dirty="0"/>
              <a:t>PA 1-3 </a:t>
            </a:r>
            <a:r>
              <a:rPr lang="zh-CN" altLang="en-US" b="1" dirty="0"/>
              <a:t>浮点数的表示和运算</a:t>
            </a:r>
            <a:endParaRPr lang="zh-CN" altLang="en-US" b="1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PA 1-1 </a:t>
            </a:r>
            <a:r>
              <a:rPr lang="zh-CN" altLang="en-US" b="1" dirty="0">
                <a:solidFill>
                  <a:srgbClr val="C00000"/>
                </a:solidFill>
              </a:rPr>
              <a:t>数据的类型和存取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数据的类型及其机器级表示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机器数的存取：内存的模拟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机器数的存取：寄存器的模拟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PA 1-1 </a:t>
            </a:r>
            <a:r>
              <a:rPr lang="zh-CN" altLang="en-US" b="1" dirty="0">
                <a:solidFill>
                  <a:srgbClr val="C00000"/>
                </a:solidFill>
              </a:rPr>
              <a:t>数据的类型和存取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数据的类型及其机器级表示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机器数的存取：内存的模拟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机器数的存取：寄存器的模拟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数据的类型及其机器级表示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" y="1460937"/>
            <a:ext cx="4141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数据（真值）的类型</a:t>
            </a:r>
            <a:endParaRPr lang="zh-CN" altLang="en-US" sz="32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36986" y="2407521"/>
            <a:ext cx="325820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无符号整数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123, 0x8048000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带符号整数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-123, 123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3.1415926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非数值型数据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字母、汉字、学号、操作码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数据的类型及其机器级表示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38200" y="1460937"/>
            <a:ext cx="4141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数据（真值）的类型</a:t>
            </a:r>
            <a:endParaRPr lang="zh-CN" altLang="en-US" sz="32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36985" y="2407521"/>
            <a:ext cx="597250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无符号整数                        直接编码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123, 0x8048000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带符号整数           原码、补码、反码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-123, 123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浮点数                    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IEEE 754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/>
              <a:t>3.1415926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非数值型数据                       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字母、汉字、学号、操作码</a:t>
            </a:r>
            <a:endParaRPr lang="zh-CN" altLang="en-US" dirty="0"/>
          </a:p>
        </p:txBody>
      </p:sp>
      <p:sp>
        <p:nvSpPr>
          <p:cNvPr id="3" name="右箭头 2"/>
          <p:cNvSpPr/>
          <p:nvPr/>
        </p:nvSpPr>
        <p:spPr>
          <a:xfrm>
            <a:off x="5136930" y="1127007"/>
            <a:ext cx="3016470" cy="12526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编码</a:t>
            </a:r>
            <a:endParaRPr lang="zh-CN" altLang="en-US" sz="32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24193" y="1460937"/>
            <a:ext cx="20705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机器数</a:t>
            </a:r>
            <a:endParaRPr lang="zh-CN" altLang="en-US" sz="32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00087" y="2759101"/>
            <a:ext cx="3205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1010010010…</a:t>
            </a:r>
            <a:endParaRPr lang="en-US" altLang="zh-CN" sz="3600" dirty="0"/>
          </a:p>
          <a:p>
            <a:r>
              <a:rPr lang="zh-CN" altLang="en-US" sz="3600" dirty="0"/>
              <a:t>二进制位串</a:t>
            </a:r>
            <a:endParaRPr lang="zh-CN" altLang="en-US" sz="3600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038600" y="2701158"/>
            <a:ext cx="169216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4038600" y="3631325"/>
            <a:ext cx="50186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4038600" y="5633546"/>
            <a:ext cx="2330669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4038600" y="4608786"/>
            <a:ext cx="1692166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7609488" y="2701158"/>
            <a:ext cx="851340" cy="345144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7700139" y="3331519"/>
            <a:ext cx="760689" cy="299806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V="1">
            <a:off x="7700139" y="3581742"/>
            <a:ext cx="760689" cy="1027046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7654813" y="3881548"/>
            <a:ext cx="806015" cy="1751999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圆角矩形 38"/>
          <p:cNvSpPr/>
          <p:nvPr/>
        </p:nvSpPr>
        <p:spPr>
          <a:xfrm>
            <a:off x="8610600" y="4543182"/>
            <a:ext cx="2856186" cy="12225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三进制计算机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az-Cyrl-AZ" altLang="zh-CN" dirty="0"/>
              <a:t>Сетунь</a:t>
            </a:r>
            <a:endParaRPr lang="en-US" altLang="zh-CN" dirty="0"/>
          </a:p>
          <a:p>
            <a:pPr algn="ctr"/>
            <a:r>
              <a:rPr lang="zh-CN" altLang="en-US" dirty="0"/>
              <a:t>莫斯科国立大学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451060" y="5789414"/>
            <a:ext cx="12137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UTF-8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3460531" cy="732539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对数据的处理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00551" y="3107580"/>
            <a:ext cx="1689538" cy="1650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CPU</a:t>
            </a:r>
            <a:r>
              <a:rPr lang="zh-CN" altLang="en-US" sz="2800" dirty="0"/>
              <a:t>内的运算部件</a:t>
            </a:r>
            <a:endParaRPr lang="zh-CN" altLang="en-US" sz="2800" dirty="0"/>
          </a:p>
        </p:txBody>
      </p:sp>
      <p:sp>
        <p:nvSpPr>
          <p:cNvPr id="8" name="矩形 7"/>
          <p:cNvSpPr/>
          <p:nvPr/>
        </p:nvSpPr>
        <p:spPr>
          <a:xfrm>
            <a:off x="7478110" y="3107580"/>
            <a:ext cx="1689538" cy="1650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存储器</a:t>
            </a:r>
            <a:endParaRPr lang="en-US" altLang="zh-CN" sz="2800" dirty="0"/>
          </a:p>
          <a:p>
            <a:pPr algn="ctr"/>
            <a:r>
              <a:rPr lang="zh-CN" altLang="en-US" sz="2800" dirty="0"/>
              <a:t>（机器数）</a:t>
            </a:r>
            <a:endParaRPr lang="zh-CN" altLang="en-US" sz="2800" dirty="0"/>
          </a:p>
        </p:txBody>
      </p:sp>
      <p:cxnSp>
        <p:nvCxnSpPr>
          <p:cNvPr id="10" name="肘形连接符 9"/>
          <p:cNvCxnSpPr>
            <a:stCxn id="8" idx="0"/>
            <a:endCxn id="7" idx="0"/>
          </p:cNvCxnSpPr>
          <p:nvPr/>
        </p:nvCxnSpPr>
        <p:spPr>
          <a:xfrm rot="16200000" flipV="1">
            <a:off x="6134100" y="918800"/>
            <a:ext cx="12700" cy="4377559"/>
          </a:xfrm>
          <a:prstGeom prst="bentConnector3">
            <a:avLst>
              <a:gd name="adj1" fmla="val 3372402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7" idx="2"/>
            <a:endCxn id="8" idx="2"/>
          </p:cNvCxnSpPr>
          <p:nvPr/>
        </p:nvCxnSpPr>
        <p:spPr>
          <a:xfrm rot="16200000" flipH="1">
            <a:off x="6134099" y="2568924"/>
            <a:ext cx="12700" cy="4377559"/>
          </a:xfrm>
          <a:prstGeom prst="bentConnector3">
            <a:avLst>
              <a:gd name="adj1" fmla="val 3537913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097517" y="1986955"/>
            <a:ext cx="2879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/>
              <a:t>(1) </a:t>
            </a:r>
            <a:r>
              <a:rPr lang="zh-CN" altLang="en-US" sz="3200" i="1" dirty="0"/>
              <a:t>读数据</a:t>
            </a:r>
            <a:endParaRPr lang="zh-CN" altLang="en-US" sz="3200" i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4790089" y="3624378"/>
            <a:ext cx="1936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/>
              <a:t>(2) </a:t>
            </a:r>
            <a:r>
              <a:rPr lang="zh-CN" altLang="en-US" sz="3200" i="1" dirty="0"/>
              <a:t>运算</a:t>
            </a:r>
            <a:endParaRPr lang="zh-CN" altLang="en-US" sz="3200" i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5172183" y="5333854"/>
            <a:ext cx="2305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/>
              <a:t>(3) </a:t>
            </a:r>
            <a:r>
              <a:rPr lang="zh-CN" altLang="en-US" sz="3200" i="1" dirty="0"/>
              <a:t>写结果</a:t>
            </a:r>
            <a:endParaRPr lang="zh-CN" altLang="en-US" sz="3200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3460531" cy="732539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对数据的处理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100551" y="3107580"/>
            <a:ext cx="1689538" cy="1650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CPU</a:t>
            </a:r>
            <a:r>
              <a:rPr lang="zh-CN" altLang="en-US" sz="2800" dirty="0"/>
              <a:t>内的运算部件</a:t>
            </a:r>
            <a:endParaRPr lang="zh-CN" altLang="en-US" sz="2800" dirty="0"/>
          </a:p>
        </p:txBody>
      </p:sp>
      <p:sp>
        <p:nvSpPr>
          <p:cNvPr id="8" name="矩形 7"/>
          <p:cNvSpPr/>
          <p:nvPr/>
        </p:nvSpPr>
        <p:spPr>
          <a:xfrm>
            <a:off x="7478110" y="3107580"/>
            <a:ext cx="1689538" cy="1650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存储器</a:t>
            </a:r>
            <a:endParaRPr lang="en-US" altLang="zh-CN" sz="2800" dirty="0"/>
          </a:p>
          <a:p>
            <a:pPr algn="ctr"/>
            <a:r>
              <a:rPr lang="zh-CN" altLang="en-US" sz="2800" dirty="0"/>
              <a:t>（机器数）</a:t>
            </a:r>
            <a:endParaRPr lang="zh-CN" altLang="en-US" sz="2800" dirty="0"/>
          </a:p>
        </p:txBody>
      </p:sp>
      <p:cxnSp>
        <p:nvCxnSpPr>
          <p:cNvPr id="10" name="肘形连接符 9"/>
          <p:cNvCxnSpPr>
            <a:stCxn id="8" idx="0"/>
            <a:endCxn id="7" idx="0"/>
          </p:cNvCxnSpPr>
          <p:nvPr/>
        </p:nvCxnSpPr>
        <p:spPr>
          <a:xfrm rot="16200000" flipV="1">
            <a:off x="6134100" y="918800"/>
            <a:ext cx="12700" cy="4377559"/>
          </a:xfrm>
          <a:prstGeom prst="bentConnector3">
            <a:avLst>
              <a:gd name="adj1" fmla="val 3372402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7" idx="2"/>
            <a:endCxn id="8" idx="2"/>
          </p:cNvCxnSpPr>
          <p:nvPr/>
        </p:nvCxnSpPr>
        <p:spPr>
          <a:xfrm rot="16200000" flipH="1">
            <a:off x="6134099" y="2568924"/>
            <a:ext cx="12700" cy="4377559"/>
          </a:xfrm>
          <a:prstGeom prst="bentConnector3">
            <a:avLst>
              <a:gd name="adj1" fmla="val 3537913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097517" y="1986955"/>
            <a:ext cx="2879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/>
              <a:t>(1) </a:t>
            </a:r>
            <a:r>
              <a:rPr lang="zh-CN" altLang="en-US" sz="3200" i="1" dirty="0"/>
              <a:t>读数据</a:t>
            </a:r>
            <a:endParaRPr lang="zh-CN" altLang="en-US" sz="3200" i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4790089" y="3624378"/>
            <a:ext cx="1936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/>
              <a:t>(2) </a:t>
            </a:r>
            <a:r>
              <a:rPr lang="zh-CN" altLang="en-US" sz="3200" i="1" dirty="0"/>
              <a:t>运算</a:t>
            </a:r>
            <a:endParaRPr lang="zh-CN" altLang="en-US" sz="3200" i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5172183" y="5333854"/>
            <a:ext cx="2305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/>
              <a:t>(3) </a:t>
            </a:r>
            <a:r>
              <a:rPr lang="zh-CN" altLang="en-US" sz="3200" i="1" dirty="0"/>
              <a:t>写结果</a:t>
            </a:r>
            <a:endParaRPr lang="zh-CN" altLang="en-US" sz="3200" i="1" dirty="0"/>
          </a:p>
        </p:txBody>
      </p:sp>
      <p:sp>
        <p:nvSpPr>
          <p:cNvPr id="19" name="线形标注 2 18"/>
          <p:cNvSpPr/>
          <p:nvPr/>
        </p:nvSpPr>
        <p:spPr>
          <a:xfrm>
            <a:off x="720709" y="4974599"/>
            <a:ext cx="2154621" cy="1303283"/>
          </a:xfrm>
          <a:prstGeom prst="borderCallout2">
            <a:avLst>
              <a:gd name="adj1" fmla="val 18750"/>
              <a:gd name="adj2" fmla="val 102817"/>
              <a:gd name="adj3" fmla="val 18750"/>
              <a:gd name="adj4" fmla="val 111155"/>
              <a:gd name="adj5" fmla="val -27823"/>
              <a:gd name="adj6" fmla="val 133194"/>
            </a:avLst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accent5"/>
                </a:solidFill>
              </a:rPr>
              <a:t>PA 1-2</a:t>
            </a:r>
            <a:endParaRPr lang="en-US" altLang="zh-CN" sz="3200" dirty="0">
              <a:solidFill>
                <a:schemeClr val="accent5"/>
              </a:solidFill>
            </a:endParaRPr>
          </a:p>
          <a:p>
            <a:pPr algn="ctr"/>
            <a:r>
              <a:rPr lang="en-US" altLang="zh-CN" sz="3200" dirty="0">
                <a:solidFill>
                  <a:schemeClr val="accent5"/>
                </a:solidFill>
              </a:rPr>
              <a:t>PA 1-3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  <p:sp>
        <p:nvSpPr>
          <p:cNvPr id="20" name="线形标注 2 19"/>
          <p:cNvSpPr/>
          <p:nvPr/>
        </p:nvSpPr>
        <p:spPr>
          <a:xfrm>
            <a:off x="10071538" y="2139355"/>
            <a:ext cx="2154621" cy="1303283"/>
          </a:xfrm>
          <a:prstGeom prst="borderCallout2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PA 1-1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0058400" y="6030686"/>
            <a:ext cx="12954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254343" y="5572943"/>
            <a:ext cx="109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数据流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838200" y="1586807"/>
            <a:ext cx="4686300" cy="4686300"/>
          </a:xfrm>
          <a:prstGeom prst="roundRect">
            <a:avLst/>
          </a:prstGeom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9021" y="3151122"/>
            <a:ext cx="1689538" cy="1650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CPU</a:t>
            </a:r>
            <a:r>
              <a:rPr lang="zh-CN" altLang="en-US" sz="2800" dirty="0"/>
              <a:t>内的运算部件</a:t>
            </a:r>
            <a:endParaRPr lang="zh-CN" altLang="en-US" sz="28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137557" y="2492824"/>
          <a:ext cx="1875599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5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EAX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ECX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ESI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EDI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直接箭头连接符 9"/>
          <p:cNvCxnSpPr/>
          <p:nvPr/>
        </p:nvCxnSpPr>
        <p:spPr>
          <a:xfrm>
            <a:off x="3140531" y="3657600"/>
            <a:ext cx="44631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0058400" y="6030686"/>
            <a:ext cx="129540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0254343" y="5572943"/>
            <a:ext cx="109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数据流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140531" y="4354285"/>
            <a:ext cx="446315" cy="0"/>
          </a:xfrm>
          <a:prstGeom prst="straightConnector1">
            <a:avLst/>
          </a:pr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138728" y="188287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通用寄存器</a:t>
            </a:r>
            <a:endParaRPr lang="zh-CN" altLang="en-US" sz="2800" dirty="0"/>
          </a:p>
        </p:txBody>
      </p:sp>
      <p:sp>
        <p:nvSpPr>
          <p:cNvPr id="17" name="圆角矩形 16"/>
          <p:cNvSpPr/>
          <p:nvPr/>
        </p:nvSpPr>
        <p:spPr>
          <a:xfrm>
            <a:off x="6586356" y="3385671"/>
            <a:ext cx="1132114" cy="1088572"/>
          </a:xfrm>
          <a:prstGeom prst="roundRect">
            <a:avLst/>
          </a:prstGeom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dk1"/>
                </a:solidFill>
              </a:rPr>
              <a:t>北桥芯片</a:t>
            </a:r>
            <a:endParaRPr lang="zh-CN" altLang="en-US" sz="2400" dirty="0">
              <a:solidFill>
                <a:schemeClr val="dk1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720379" y="3657600"/>
            <a:ext cx="729343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5720379" y="4332513"/>
            <a:ext cx="729343" cy="0"/>
          </a:xfrm>
          <a:prstGeom prst="straightConnector1">
            <a:avLst/>
          </a:pr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449722" y="2144482"/>
          <a:ext cx="5622340" cy="523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</a:tblGrid>
              <a:tr h="52322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178029" y="1475696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25" name="任意多边形 24"/>
          <p:cNvSpPr/>
          <p:nvPr/>
        </p:nvSpPr>
        <p:spPr>
          <a:xfrm>
            <a:off x="7819697" y="2932386"/>
            <a:ext cx="1135117" cy="756745"/>
          </a:xfrm>
          <a:custGeom>
            <a:avLst/>
            <a:gdLst>
              <a:gd name="connsiteX0" fmla="*/ 0 w 1135117"/>
              <a:gd name="connsiteY0" fmla="*/ 756745 h 756745"/>
              <a:gd name="connsiteX1" fmla="*/ 1135117 w 1135117"/>
              <a:gd name="connsiteY1" fmla="*/ 756745 h 756745"/>
              <a:gd name="connsiteX2" fmla="*/ 1135117 w 1135117"/>
              <a:gd name="connsiteY2" fmla="*/ 0 h 756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5117" h="756745">
                <a:moveTo>
                  <a:pt x="0" y="756745"/>
                </a:moveTo>
                <a:lnTo>
                  <a:pt x="1135117" y="756745"/>
                </a:lnTo>
                <a:lnTo>
                  <a:pt x="1135117" y="0"/>
                </a:lnTo>
              </a:path>
            </a:pathLst>
          </a:cu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7851228" y="2932386"/>
            <a:ext cx="1755227" cy="1387366"/>
          </a:xfrm>
          <a:custGeom>
            <a:avLst/>
            <a:gdLst>
              <a:gd name="connsiteX0" fmla="*/ 0 w 1755227"/>
              <a:gd name="connsiteY0" fmla="*/ 1387366 h 1387366"/>
              <a:gd name="connsiteX1" fmla="*/ 1755227 w 1755227"/>
              <a:gd name="connsiteY1" fmla="*/ 1387366 h 1387366"/>
              <a:gd name="connsiteX2" fmla="*/ 1755227 w 1755227"/>
              <a:gd name="connsiteY2" fmla="*/ 0 h 138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5227" h="1387366">
                <a:moveTo>
                  <a:pt x="0" y="1387366"/>
                </a:moveTo>
                <a:lnTo>
                  <a:pt x="1755227" y="1387366"/>
                </a:lnTo>
                <a:lnTo>
                  <a:pt x="1755227" y="0"/>
                </a:lnTo>
              </a:path>
            </a:pathLst>
          </a:cu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838200" y="1586807"/>
            <a:ext cx="4686300" cy="4686300"/>
          </a:xfrm>
          <a:prstGeom prst="roundRect">
            <a:avLst/>
          </a:prstGeom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9021" y="3151122"/>
            <a:ext cx="1689538" cy="1650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CPU</a:t>
            </a:r>
            <a:r>
              <a:rPr lang="zh-CN" altLang="en-US" sz="2800" dirty="0"/>
              <a:t>内的运算部件</a:t>
            </a:r>
            <a:endParaRPr lang="zh-CN" altLang="en-US" sz="2800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3140531" y="3657600"/>
            <a:ext cx="44631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0058400" y="6030686"/>
            <a:ext cx="129540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0254343" y="5572943"/>
            <a:ext cx="109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数据流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140531" y="4354285"/>
            <a:ext cx="446315" cy="0"/>
          </a:xfrm>
          <a:prstGeom prst="straightConnector1">
            <a:avLst/>
          </a:pr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138728" y="188287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通用寄存器</a:t>
            </a:r>
            <a:endParaRPr lang="zh-CN" altLang="en-US" sz="2800" dirty="0"/>
          </a:p>
        </p:txBody>
      </p:sp>
      <p:sp>
        <p:nvSpPr>
          <p:cNvPr id="17" name="圆角矩形 16"/>
          <p:cNvSpPr/>
          <p:nvPr/>
        </p:nvSpPr>
        <p:spPr>
          <a:xfrm>
            <a:off x="6586356" y="3385671"/>
            <a:ext cx="1132114" cy="1088572"/>
          </a:xfrm>
          <a:prstGeom prst="roundRect">
            <a:avLst/>
          </a:prstGeom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dk1"/>
                </a:solidFill>
              </a:rPr>
              <a:t>北桥芯片</a:t>
            </a:r>
            <a:endParaRPr lang="zh-CN" altLang="en-US" sz="2400" dirty="0">
              <a:solidFill>
                <a:schemeClr val="dk1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720379" y="3657600"/>
            <a:ext cx="729343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5720379" y="4332513"/>
            <a:ext cx="729343" cy="0"/>
          </a:xfrm>
          <a:prstGeom prst="straightConnector1">
            <a:avLst/>
          </a:pr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449722" y="2144482"/>
          <a:ext cx="5622340" cy="523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</a:tblGrid>
              <a:tr h="52322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178029" y="1475696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25" name="任意多边形 24"/>
          <p:cNvSpPr/>
          <p:nvPr/>
        </p:nvSpPr>
        <p:spPr>
          <a:xfrm>
            <a:off x="7819697" y="2932386"/>
            <a:ext cx="1135117" cy="756745"/>
          </a:xfrm>
          <a:custGeom>
            <a:avLst/>
            <a:gdLst>
              <a:gd name="connsiteX0" fmla="*/ 0 w 1135117"/>
              <a:gd name="connsiteY0" fmla="*/ 756745 h 756745"/>
              <a:gd name="connsiteX1" fmla="*/ 1135117 w 1135117"/>
              <a:gd name="connsiteY1" fmla="*/ 756745 h 756745"/>
              <a:gd name="connsiteX2" fmla="*/ 1135117 w 1135117"/>
              <a:gd name="connsiteY2" fmla="*/ 0 h 756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5117" h="756745">
                <a:moveTo>
                  <a:pt x="0" y="756745"/>
                </a:moveTo>
                <a:lnTo>
                  <a:pt x="1135117" y="756745"/>
                </a:lnTo>
                <a:lnTo>
                  <a:pt x="1135117" y="0"/>
                </a:lnTo>
              </a:path>
            </a:pathLst>
          </a:cu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7851228" y="2932386"/>
            <a:ext cx="1755227" cy="1387366"/>
          </a:xfrm>
          <a:custGeom>
            <a:avLst/>
            <a:gdLst>
              <a:gd name="connsiteX0" fmla="*/ 0 w 1755227"/>
              <a:gd name="connsiteY0" fmla="*/ 1387366 h 1387366"/>
              <a:gd name="connsiteX1" fmla="*/ 1755227 w 1755227"/>
              <a:gd name="connsiteY1" fmla="*/ 1387366 h 1387366"/>
              <a:gd name="connsiteX2" fmla="*/ 1755227 w 1755227"/>
              <a:gd name="connsiteY2" fmla="*/ 0 h 138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5227" h="1387366">
                <a:moveTo>
                  <a:pt x="0" y="1387366"/>
                </a:moveTo>
                <a:lnTo>
                  <a:pt x="1755227" y="1387366"/>
                </a:lnTo>
                <a:lnTo>
                  <a:pt x="1755227" y="0"/>
                </a:lnTo>
              </a:path>
            </a:pathLst>
          </a:cu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581400" y="5096942"/>
            <a:ext cx="1660635" cy="8828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Cache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586356" y="5096941"/>
            <a:ext cx="1660635" cy="8828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硬盘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137557" y="2492824"/>
          <a:ext cx="1875599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5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EAX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ECX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ESI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EDI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838200" y="1586807"/>
            <a:ext cx="4686300" cy="4686300"/>
          </a:xfrm>
          <a:prstGeom prst="roundRect">
            <a:avLst/>
          </a:prstGeom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9021" y="3151122"/>
            <a:ext cx="1689538" cy="1650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CPU</a:t>
            </a:r>
            <a:r>
              <a:rPr lang="zh-CN" altLang="en-US" sz="2800" dirty="0"/>
              <a:t>内的运算部件</a:t>
            </a:r>
            <a:endParaRPr lang="zh-CN" altLang="en-US" sz="2800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3140531" y="3657600"/>
            <a:ext cx="44631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0058400" y="6030686"/>
            <a:ext cx="129540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0254343" y="5572943"/>
            <a:ext cx="109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数据流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140531" y="4354285"/>
            <a:ext cx="446315" cy="0"/>
          </a:xfrm>
          <a:prstGeom prst="straightConnector1">
            <a:avLst/>
          </a:pr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138728" y="188287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通用寄存器</a:t>
            </a:r>
            <a:endParaRPr lang="zh-CN" altLang="en-US" sz="2800" dirty="0"/>
          </a:p>
        </p:txBody>
      </p:sp>
      <p:sp>
        <p:nvSpPr>
          <p:cNvPr id="17" name="圆角矩形 16"/>
          <p:cNvSpPr/>
          <p:nvPr/>
        </p:nvSpPr>
        <p:spPr>
          <a:xfrm>
            <a:off x="6586356" y="3385671"/>
            <a:ext cx="1132114" cy="1088572"/>
          </a:xfrm>
          <a:prstGeom prst="roundRect">
            <a:avLst/>
          </a:prstGeom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dk1"/>
                </a:solidFill>
              </a:rPr>
              <a:t>北桥芯片</a:t>
            </a:r>
            <a:endParaRPr lang="zh-CN" altLang="en-US" sz="2400" dirty="0">
              <a:solidFill>
                <a:schemeClr val="dk1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720379" y="3657600"/>
            <a:ext cx="729343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5720379" y="4332513"/>
            <a:ext cx="729343" cy="0"/>
          </a:xfrm>
          <a:prstGeom prst="straightConnector1">
            <a:avLst/>
          </a:pr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449722" y="2144482"/>
          <a:ext cx="5622340" cy="523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</a:tblGrid>
              <a:tr h="52322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178029" y="1475696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25" name="任意多边形 24"/>
          <p:cNvSpPr/>
          <p:nvPr/>
        </p:nvSpPr>
        <p:spPr>
          <a:xfrm>
            <a:off x="7819697" y="2932386"/>
            <a:ext cx="1135117" cy="756745"/>
          </a:xfrm>
          <a:custGeom>
            <a:avLst/>
            <a:gdLst>
              <a:gd name="connsiteX0" fmla="*/ 0 w 1135117"/>
              <a:gd name="connsiteY0" fmla="*/ 756745 h 756745"/>
              <a:gd name="connsiteX1" fmla="*/ 1135117 w 1135117"/>
              <a:gd name="connsiteY1" fmla="*/ 756745 h 756745"/>
              <a:gd name="connsiteX2" fmla="*/ 1135117 w 1135117"/>
              <a:gd name="connsiteY2" fmla="*/ 0 h 756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5117" h="756745">
                <a:moveTo>
                  <a:pt x="0" y="756745"/>
                </a:moveTo>
                <a:lnTo>
                  <a:pt x="1135117" y="756745"/>
                </a:lnTo>
                <a:lnTo>
                  <a:pt x="1135117" y="0"/>
                </a:lnTo>
              </a:path>
            </a:pathLst>
          </a:cu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7851228" y="2932386"/>
            <a:ext cx="1755227" cy="1387366"/>
          </a:xfrm>
          <a:custGeom>
            <a:avLst/>
            <a:gdLst>
              <a:gd name="connsiteX0" fmla="*/ 0 w 1755227"/>
              <a:gd name="connsiteY0" fmla="*/ 1387366 h 1387366"/>
              <a:gd name="connsiteX1" fmla="*/ 1755227 w 1755227"/>
              <a:gd name="connsiteY1" fmla="*/ 1387366 h 1387366"/>
              <a:gd name="connsiteX2" fmla="*/ 1755227 w 1755227"/>
              <a:gd name="connsiteY2" fmla="*/ 0 h 138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5227" h="1387366">
                <a:moveTo>
                  <a:pt x="0" y="1387366"/>
                </a:moveTo>
                <a:lnTo>
                  <a:pt x="1755227" y="1387366"/>
                </a:lnTo>
                <a:lnTo>
                  <a:pt x="1755227" y="0"/>
                </a:lnTo>
              </a:path>
            </a:pathLst>
          </a:cu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581400" y="5096942"/>
            <a:ext cx="1660635" cy="8828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Cache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586356" y="5096941"/>
            <a:ext cx="1660635" cy="8828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硬盘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137557" y="2492824"/>
          <a:ext cx="1875599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5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EAX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ECX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ESI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EDI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椭圆 14"/>
          <p:cNvSpPr/>
          <p:nvPr/>
        </p:nvSpPr>
        <p:spPr>
          <a:xfrm>
            <a:off x="585693" y="1586807"/>
            <a:ext cx="2894480" cy="430547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6449722" y="1363812"/>
            <a:ext cx="5622340" cy="195637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838200" y="1586807"/>
            <a:ext cx="4686300" cy="4686300"/>
          </a:xfrm>
          <a:prstGeom prst="roundRect">
            <a:avLst/>
          </a:prstGeom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9021" y="3151122"/>
            <a:ext cx="1689538" cy="1650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CPU</a:t>
            </a:r>
            <a:r>
              <a:rPr lang="zh-CN" altLang="en-US" sz="2800" dirty="0"/>
              <a:t>内的运算部件</a:t>
            </a:r>
            <a:endParaRPr lang="zh-CN" altLang="en-US" sz="2800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3140531" y="3657600"/>
            <a:ext cx="44631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0058400" y="6030686"/>
            <a:ext cx="129540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0254343" y="5572943"/>
            <a:ext cx="109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数据流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140531" y="4354285"/>
            <a:ext cx="446315" cy="0"/>
          </a:xfrm>
          <a:prstGeom prst="straightConnector1">
            <a:avLst/>
          </a:pr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138728" y="188287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通用寄存器</a:t>
            </a:r>
            <a:endParaRPr lang="zh-CN" altLang="en-US" sz="2800" dirty="0"/>
          </a:p>
        </p:txBody>
      </p:sp>
      <p:sp>
        <p:nvSpPr>
          <p:cNvPr id="17" name="圆角矩形 16"/>
          <p:cNvSpPr/>
          <p:nvPr/>
        </p:nvSpPr>
        <p:spPr>
          <a:xfrm>
            <a:off x="6586356" y="3385671"/>
            <a:ext cx="1132114" cy="1088572"/>
          </a:xfrm>
          <a:prstGeom prst="roundRect">
            <a:avLst/>
          </a:prstGeom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dk1"/>
                </a:solidFill>
              </a:rPr>
              <a:t>北桥芯片</a:t>
            </a:r>
            <a:endParaRPr lang="zh-CN" altLang="en-US" sz="2400" dirty="0">
              <a:solidFill>
                <a:schemeClr val="dk1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720379" y="3657600"/>
            <a:ext cx="729343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5720379" y="4332513"/>
            <a:ext cx="729343" cy="0"/>
          </a:xfrm>
          <a:prstGeom prst="straightConnector1">
            <a:avLst/>
          </a:pr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449722" y="2144482"/>
          <a:ext cx="5622340" cy="523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</a:tblGrid>
              <a:tr h="52322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178029" y="1475696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25" name="任意多边形 24"/>
          <p:cNvSpPr/>
          <p:nvPr/>
        </p:nvSpPr>
        <p:spPr>
          <a:xfrm>
            <a:off x="7819697" y="2932386"/>
            <a:ext cx="1135117" cy="756745"/>
          </a:xfrm>
          <a:custGeom>
            <a:avLst/>
            <a:gdLst>
              <a:gd name="connsiteX0" fmla="*/ 0 w 1135117"/>
              <a:gd name="connsiteY0" fmla="*/ 756745 h 756745"/>
              <a:gd name="connsiteX1" fmla="*/ 1135117 w 1135117"/>
              <a:gd name="connsiteY1" fmla="*/ 756745 h 756745"/>
              <a:gd name="connsiteX2" fmla="*/ 1135117 w 1135117"/>
              <a:gd name="connsiteY2" fmla="*/ 0 h 756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5117" h="756745">
                <a:moveTo>
                  <a:pt x="0" y="756745"/>
                </a:moveTo>
                <a:lnTo>
                  <a:pt x="1135117" y="756745"/>
                </a:lnTo>
                <a:lnTo>
                  <a:pt x="1135117" y="0"/>
                </a:lnTo>
              </a:path>
            </a:pathLst>
          </a:cu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7851228" y="2932386"/>
            <a:ext cx="1755227" cy="1387366"/>
          </a:xfrm>
          <a:custGeom>
            <a:avLst/>
            <a:gdLst>
              <a:gd name="connsiteX0" fmla="*/ 0 w 1755227"/>
              <a:gd name="connsiteY0" fmla="*/ 1387366 h 1387366"/>
              <a:gd name="connsiteX1" fmla="*/ 1755227 w 1755227"/>
              <a:gd name="connsiteY1" fmla="*/ 1387366 h 1387366"/>
              <a:gd name="connsiteX2" fmla="*/ 1755227 w 1755227"/>
              <a:gd name="connsiteY2" fmla="*/ 0 h 138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5227" h="1387366">
                <a:moveTo>
                  <a:pt x="0" y="1387366"/>
                </a:moveTo>
                <a:lnTo>
                  <a:pt x="1755227" y="1387366"/>
                </a:lnTo>
                <a:lnTo>
                  <a:pt x="1755227" y="0"/>
                </a:lnTo>
              </a:path>
            </a:pathLst>
          </a:cu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581400" y="5096942"/>
            <a:ext cx="1660635" cy="8828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Cache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586356" y="5096941"/>
            <a:ext cx="1660635" cy="8828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硬盘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137557" y="2492824"/>
          <a:ext cx="1875599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5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EAX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ECX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ESI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EDI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椭圆 25"/>
          <p:cNvSpPr/>
          <p:nvPr/>
        </p:nvSpPr>
        <p:spPr>
          <a:xfrm>
            <a:off x="6449722" y="1363812"/>
            <a:ext cx="5622340" cy="1956372"/>
          </a:xfrm>
          <a:prstGeom prst="ellipse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PA 1-1 </a:t>
            </a:r>
            <a:r>
              <a:rPr lang="zh-CN" altLang="en-US" b="1" dirty="0">
                <a:solidFill>
                  <a:srgbClr val="C00000"/>
                </a:solidFill>
              </a:rPr>
              <a:t>数据的类型和存取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数据的类型及其机器级表示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机器数的存取：内存的模拟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机器数的存取：寄存器的模拟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机器数存储的基本单位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60333" y="2165130"/>
            <a:ext cx="3594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比特 </a:t>
            </a:r>
            <a:r>
              <a:rPr lang="en-US" altLang="zh-CN" sz="2800" dirty="0"/>
              <a:t>b</a:t>
            </a:r>
            <a:r>
              <a:rPr lang="zh-CN" altLang="en-US" sz="2800" dirty="0"/>
              <a:t>：</a:t>
            </a:r>
            <a:r>
              <a:rPr lang="en-US" altLang="zh-CN" sz="2800" dirty="0"/>
              <a:t>0</a:t>
            </a:r>
            <a:r>
              <a:rPr lang="zh-CN" altLang="en-US" sz="2800" dirty="0"/>
              <a:t>或</a:t>
            </a:r>
            <a:r>
              <a:rPr lang="en-US" altLang="zh-CN" sz="2800" dirty="0"/>
              <a:t>1                          </a:t>
            </a:r>
            <a:endParaRPr lang="en-US" altLang="zh-CN" sz="2800" dirty="0"/>
          </a:p>
          <a:p>
            <a:r>
              <a:rPr lang="zh-CN" altLang="en-US" sz="2800" dirty="0"/>
              <a:t>字节 </a:t>
            </a:r>
            <a:r>
              <a:rPr lang="en-US" altLang="zh-CN" sz="2800" dirty="0"/>
              <a:t>B</a:t>
            </a:r>
            <a:r>
              <a:rPr lang="zh-CN" altLang="en-US" sz="2800" dirty="0"/>
              <a:t>：</a:t>
            </a:r>
            <a:r>
              <a:rPr lang="en-US" altLang="zh-CN" sz="2800" dirty="0"/>
              <a:t>8</a:t>
            </a:r>
            <a:r>
              <a:rPr lang="zh-CN" altLang="en-US" sz="2800" dirty="0"/>
              <a:t>比特（</a:t>
            </a:r>
            <a:r>
              <a:rPr lang="en-US" altLang="zh-CN" sz="2800" dirty="0"/>
              <a:t>0xFF</a:t>
            </a:r>
            <a:r>
              <a:rPr lang="zh-CN" altLang="en-US" sz="2800" dirty="0"/>
              <a:t>）</a:t>
            </a:r>
            <a:endParaRPr lang="en-US" altLang="zh-CN" sz="2800" dirty="0"/>
          </a:p>
        </p:txBody>
      </p:sp>
      <p:sp>
        <p:nvSpPr>
          <p:cNvPr id="8" name="矩形 7"/>
          <p:cNvSpPr/>
          <p:nvPr/>
        </p:nvSpPr>
        <p:spPr>
          <a:xfrm>
            <a:off x="6684580" y="1734242"/>
            <a:ext cx="498490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Intel i386</a:t>
            </a:r>
            <a:endParaRPr lang="en-US" altLang="zh-CN" sz="2800" dirty="0"/>
          </a:p>
          <a:p>
            <a:r>
              <a:rPr lang="zh-CN" altLang="en-US" sz="2800" dirty="0"/>
              <a:t>字    ：</a:t>
            </a:r>
            <a:r>
              <a:rPr lang="en-US" altLang="zh-CN" sz="2800" dirty="0"/>
              <a:t>2</a:t>
            </a:r>
            <a:r>
              <a:rPr lang="zh-CN" altLang="en-US" sz="2800" dirty="0"/>
              <a:t>个字节（</a:t>
            </a:r>
            <a:r>
              <a:rPr lang="en-US" altLang="zh-CN" sz="2800" dirty="0"/>
              <a:t>0x1234</a:t>
            </a:r>
            <a:r>
              <a:rPr lang="zh-CN" altLang="en-US" sz="2800" dirty="0"/>
              <a:t>）   </a:t>
            </a:r>
            <a:endParaRPr lang="en-US" altLang="zh-CN" sz="2800" dirty="0"/>
          </a:p>
          <a:p>
            <a:r>
              <a:rPr lang="zh-CN" altLang="en-US" sz="2800" dirty="0"/>
              <a:t>双字：</a:t>
            </a:r>
            <a:r>
              <a:rPr lang="en-US" altLang="zh-CN" sz="2800" dirty="0"/>
              <a:t>4</a:t>
            </a:r>
            <a:r>
              <a:rPr lang="zh-CN" altLang="en-US" sz="2800" dirty="0"/>
              <a:t>个字节（</a:t>
            </a:r>
            <a:r>
              <a:rPr lang="en-US" altLang="zh-CN" sz="2800" dirty="0"/>
              <a:t>0x12345678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860333" y="4574033"/>
          <a:ext cx="8862100" cy="8483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</a:tblGrid>
              <a:tr h="84838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684580" y="5653743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）按字节编址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86709" y="4050813"/>
            <a:ext cx="1284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低地址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10608129" y="4050813"/>
            <a:ext cx="1807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高地址</a:t>
            </a:r>
            <a:endParaRPr lang="zh-CN" altLang="en-US" sz="28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970977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0x0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2861113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0x1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3751249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0x2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4641385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0x3</a:t>
            </a:r>
            <a:endParaRPr lang="zh-CN" altLang="en-US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5531521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0x4</a:t>
            </a:r>
            <a:endParaRPr lang="zh-CN" altLang="en-US" sz="2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6421657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0x5</a:t>
            </a:r>
            <a:endParaRPr lang="zh-CN" altLang="en-US" sz="2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7311793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0x6</a:t>
            </a:r>
            <a:endParaRPr lang="zh-CN" altLang="en-US" sz="2400" dirty="0"/>
          </a:p>
        </p:txBody>
      </p:sp>
      <p:sp>
        <p:nvSpPr>
          <p:cNvPr id="21" name="文本框 20"/>
          <p:cNvSpPr txBox="1"/>
          <p:nvPr/>
        </p:nvSpPr>
        <p:spPr>
          <a:xfrm>
            <a:off x="8201929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0x7</a:t>
            </a:r>
            <a:endParaRPr lang="zh-CN" altLang="en-US" sz="2400" dirty="0"/>
          </a:p>
        </p:txBody>
      </p:sp>
      <p:sp>
        <p:nvSpPr>
          <p:cNvPr id="22" name="文本框 21"/>
          <p:cNvSpPr txBox="1"/>
          <p:nvPr/>
        </p:nvSpPr>
        <p:spPr>
          <a:xfrm>
            <a:off x="9092065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0x8</a:t>
            </a:r>
            <a:endParaRPr lang="zh-CN" altLang="en-US" sz="2400" dirty="0"/>
          </a:p>
        </p:txBody>
      </p:sp>
      <p:sp>
        <p:nvSpPr>
          <p:cNvPr id="23" name="文本框 22"/>
          <p:cNvSpPr txBox="1"/>
          <p:nvPr/>
        </p:nvSpPr>
        <p:spPr>
          <a:xfrm>
            <a:off x="9982200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0x9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机器数存储的基本单位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小端和大端方式：</a:t>
            </a:r>
            <a:r>
              <a:rPr lang="en-US" altLang="zh-CN" dirty="0">
                <a:solidFill>
                  <a:srgbClr val="C00000"/>
                </a:solidFill>
              </a:rPr>
              <a:t>0x 12 34 56 78</a:t>
            </a:r>
            <a:endParaRPr lang="zh-CN" altLang="en-US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60333" y="2165130"/>
            <a:ext cx="3594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比特 </a:t>
            </a:r>
            <a:r>
              <a:rPr lang="en-US" altLang="zh-CN" sz="2800" dirty="0"/>
              <a:t>b</a:t>
            </a:r>
            <a:r>
              <a:rPr lang="zh-CN" altLang="en-US" sz="2800" dirty="0"/>
              <a:t>：</a:t>
            </a:r>
            <a:r>
              <a:rPr lang="en-US" altLang="zh-CN" sz="2800" dirty="0"/>
              <a:t>0</a:t>
            </a:r>
            <a:r>
              <a:rPr lang="zh-CN" altLang="en-US" sz="2800" dirty="0"/>
              <a:t>或</a:t>
            </a:r>
            <a:r>
              <a:rPr lang="en-US" altLang="zh-CN" sz="2800" dirty="0"/>
              <a:t>1                          </a:t>
            </a:r>
            <a:endParaRPr lang="en-US" altLang="zh-CN" sz="2800" dirty="0"/>
          </a:p>
          <a:p>
            <a:r>
              <a:rPr lang="zh-CN" altLang="en-US" sz="2800" dirty="0"/>
              <a:t>字节 </a:t>
            </a:r>
            <a:r>
              <a:rPr lang="en-US" altLang="zh-CN" sz="2800" dirty="0"/>
              <a:t>B</a:t>
            </a:r>
            <a:r>
              <a:rPr lang="zh-CN" altLang="en-US" sz="2800" dirty="0"/>
              <a:t>：</a:t>
            </a:r>
            <a:r>
              <a:rPr lang="en-US" altLang="zh-CN" sz="2800" dirty="0"/>
              <a:t>8</a:t>
            </a:r>
            <a:r>
              <a:rPr lang="zh-CN" altLang="en-US" sz="2800" dirty="0"/>
              <a:t>比特（</a:t>
            </a:r>
            <a:r>
              <a:rPr lang="en-US" altLang="zh-CN" sz="2800" dirty="0"/>
              <a:t>0xFF</a:t>
            </a:r>
            <a:r>
              <a:rPr lang="zh-CN" altLang="en-US" sz="2800" dirty="0"/>
              <a:t>）</a:t>
            </a:r>
            <a:endParaRPr lang="en-US" altLang="zh-CN" sz="2800" dirty="0"/>
          </a:p>
        </p:txBody>
      </p:sp>
      <p:sp>
        <p:nvSpPr>
          <p:cNvPr id="8" name="矩形 7"/>
          <p:cNvSpPr/>
          <p:nvPr/>
        </p:nvSpPr>
        <p:spPr>
          <a:xfrm>
            <a:off x="6684580" y="1734242"/>
            <a:ext cx="498490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Intel i386</a:t>
            </a:r>
            <a:endParaRPr lang="en-US" altLang="zh-CN" sz="2800" dirty="0"/>
          </a:p>
          <a:p>
            <a:r>
              <a:rPr lang="zh-CN" altLang="en-US" sz="2800" dirty="0"/>
              <a:t>字    ：</a:t>
            </a:r>
            <a:r>
              <a:rPr lang="en-US" altLang="zh-CN" sz="2800" dirty="0"/>
              <a:t>2</a:t>
            </a:r>
            <a:r>
              <a:rPr lang="zh-CN" altLang="en-US" sz="2800" dirty="0"/>
              <a:t>个字节（</a:t>
            </a:r>
            <a:r>
              <a:rPr lang="en-US" altLang="zh-CN" sz="2800" dirty="0"/>
              <a:t>0x1234</a:t>
            </a:r>
            <a:r>
              <a:rPr lang="zh-CN" altLang="en-US" sz="2800" dirty="0"/>
              <a:t>）   </a:t>
            </a:r>
            <a:endParaRPr lang="en-US" altLang="zh-CN" sz="2800" dirty="0"/>
          </a:p>
          <a:p>
            <a:r>
              <a:rPr lang="zh-CN" altLang="en-US" sz="2800" dirty="0"/>
              <a:t>双字：</a:t>
            </a:r>
            <a:r>
              <a:rPr lang="en-US" altLang="zh-CN" sz="2800" dirty="0"/>
              <a:t>4</a:t>
            </a:r>
            <a:r>
              <a:rPr lang="zh-CN" altLang="en-US" sz="2800" dirty="0"/>
              <a:t>个字节（</a:t>
            </a:r>
            <a:r>
              <a:rPr lang="en-US" altLang="zh-CN" sz="2800" dirty="0"/>
              <a:t>0x12345678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860333" y="4574033"/>
          <a:ext cx="8862100" cy="8483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</a:tblGrid>
              <a:tr h="84838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684580" y="5653743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）按字节编址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86709" y="4050813"/>
            <a:ext cx="1284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低地址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10608129" y="4050813"/>
            <a:ext cx="1807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高地址</a:t>
            </a:r>
            <a:endParaRPr lang="zh-CN" altLang="en-US" sz="28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970977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0x0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2861113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0x1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3751249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0x2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4641385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0x3</a:t>
            </a:r>
            <a:endParaRPr lang="zh-CN" altLang="en-US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5531521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0x4</a:t>
            </a:r>
            <a:endParaRPr lang="zh-CN" altLang="en-US" sz="2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6421657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0x5</a:t>
            </a:r>
            <a:endParaRPr lang="zh-CN" altLang="en-US" sz="2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7311793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0x6</a:t>
            </a:r>
            <a:endParaRPr lang="zh-CN" altLang="en-US" sz="2400" dirty="0"/>
          </a:p>
        </p:txBody>
      </p:sp>
      <p:sp>
        <p:nvSpPr>
          <p:cNvPr id="21" name="文本框 20"/>
          <p:cNvSpPr txBox="1"/>
          <p:nvPr/>
        </p:nvSpPr>
        <p:spPr>
          <a:xfrm>
            <a:off x="8201929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0x7</a:t>
            </a:r>
            <a:endParaRPr lang="zh-CN" altLang="en-US" sz="2400" dirty="0"/>
          </a:p>
        </p:txBody>
      </p:sp>
      <p:sp>
        <p:nvSpPr>
          <p:cNvPr id="22" name="文本框 21"/>
          <p:cNvSpPr txBox="1"/>
          <p:nvPr/>
        </p:nvSpPr>
        <p:spPr>
          <a:xfrm>
            <a:off x="9092065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0x8</a:t>
            </a:r>
            <a:endParaRPr lang="zh-CN" altLang="en-US" sz="2400" dirty="0"/>
          </a:p>
        </p:txBody>
      </p:sp>
      <p:sp>
        <p:nvSpPr>
          <p:cNvPr id="23" name="文本框 22"/>
          <p:cNvSpPr txBox="1"/>
          <p:nvPr/>
        </p:nvSpPr>
        <p:spPr>
          <a:xfrm>
            <a:off x="9982200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0x9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机器数存储的基本单位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小端和大端方式：</a:t>
            </a:r>
            <a:r>
              <a:rPr lang="en-US" altLang="zh-CN" dirty="0">
                <a:solidFill>
                  <a:srgbClr val="C00000"/>
                </a:solidFill>
              </a:rPr>
              <a:t>0x 12 34 56 78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60333" y="2165130"/>
            <a:ext cx="3594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比特 </a:t>
            </a:r>
            <a:r>
              <a:rPr lang="en-US" altLang="zh-CN" sz="2800" dirty="0"/>
              <a:t>b</a:t>
            </a:r>
            <a:r>
              <a:rPr lang="zh-CN" altLang="en-US" sz="2800" dirty="0"/>
              <a:t>：</a:t>
            </a:r>
            <a:r>
              <a:rPr lang="en-US" altLang="zh-CN" sz="2800" dirty="0"/>
              <a:t>0</a:t>
            </a:r>
            <a:r>
              <a:rPr lang="zh-CN" altLang="en-US" sz="2800" dirty="0"/>
              <a:t>或</a:t>
            </a:r>
            <a:r>
              <a:rPr lang="en-US" altLang="zh-CN" sz="2800" dirty="0"/>
              <a:t>1                          </a:t>
            </a:r>
            <a:endParaRPr lang="en-US" altLang="zh-CN" sz="2800" dirty="0"/>
          </a:p>
          <a:p>
            <a:r>
              <a:rPr lang="zh-CN" altLang="en-US" sz="2800" dirty="0"/>
              <a:t>字节 </a:t>
            </a:r>
            <a:r>
              <a:rPr lang="en-US" altLang="zh-CN" sz="2800" dirty="0"/>
              <a:t>B</a:t>
            </a:r>
            <a:r>
              <a:rPr lang="zh-CN" altLang="en-US" sz="2800" dirty="0"/>
              <a:t>：</a:t>
            </a:r>
            <a:r>
              <a:rPr lang="en-US" altLang="zh-CN" sz="2800" dirty="0"/>
              <a:t>8</a:t>
            </a:r>
            <a:r>
              <a:rPr lang="zh-CN" altLang="en-US" sz="2800" dirty="0"/>
              <a:t>比特（</a:t>
            </a:r>
            <a:r>
              <a:rPr lang="en-US" altLang="zh-CN" sz="2800" dirty="0"/>
              <a:t>0xFF</a:t>
            </a:r>
            <a:r>
              <a:rPr lang="zh-CN" altLang="en-US" sz="2800" dirty="0"/>
              <a:t>）</a:t>
            </a:r>
            <a:endParaRPr lang="en-US" altLang="zh-CN" sz="2800" dirty="0"/>
          </a:p>
        </p:txBody>
      </p:sp>
      <p:sp>
        <p:nvSpPr>
          <p:cNvPr id="8" name="矩形 7"/>
          <p:cNvSpPr/>
          <p:nvPr/>
        </p:nvSpPr>
        <p:spPr>
          <a:xfrm>
            <a:off x="6684580" y="1734242"/>
            <a:ext cx="498490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Intel i386</a:t>
            </a:r>
            <a:endParaRPr lang="en-US" altLang="zh-CN" sz="2800" dirty="0"/>
          </a:p>
          <a:p>
            <a:r>
              <a:rPr lang="zh-CN" altLang="en-US" sz="2800" dirty="0"/>
              <a:t>字    ：</a:t>
            </a:r>
            <a:r>
              <a:rPr lang="en-US" altLang="zh-CN" sz="2800" dirty="0"/>
              <a:t>2</a:t>
            </a:r>
            <a:r>
              <a:rPr lang="zh-CN" altLang="en-US" sz="2800" dirty="0"/>
              <a:t>个字节（</a:t>
            </a:r>
            <a:r>
              <a:rPr lang="en-US" altLang="zh-CN" sz="2800" dirty="0"/>
              <a:t>0x1234</a:t>
            </a:r>
            <a:r>
              <a:rPr lang="zh-CN" altLang="en-US" sz="2800" dirty="0"/>
              <a:t>）   </a:t>
            </a:r>
            <a:endParaRPr lang="en-US" altLang="zh-CN" sz="2800" dirty="0"/>
          </a:p>
          <a:p>
            <a:r>
              <a:rPr lang="zh-CN" altLang="en-US" sz="2800" dirty="0"/>
              <a:t>双字：</a:t>
            </a:r>
            <a:r>
              <a:rPr lang="en-US" altLang="zh-CN" sz="2800" dirty="0"/>
              <a:t>4</a:t>
            </a:r>
            <a:r>
              <a:rPr lang="zh-CN" altLang="en-US" sz="2800" dirty="0"/>
              <a:t>个字节（</a:t>
            </a:r>
            <a:r>
              <a:rPr lang="en-US" altLang="zh-CN" sz="2800" dirty="0"/>
              <a:t>0x12345678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860333" y="4574033"/>
          <a:ext cx="8862100" cy="8483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</a:tblGrid>
              <a:tr h="8483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0x78</a:t>
                      </a:r>
                      <a:endParaRPr lang="en-US" altLang="zh-CN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0x56</a:t>
                      </a:r>
                      <a:endParaRPr lang="en-US" altLang="zh-CN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0x34</a:t>
                      </a:r>
                      <a:endParaRPr lang="en-US" altLang="zh-CN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0x12</a:t>
                      </a:r>
                      <a:endParaRPr lang="en-US" altLang="zh-CN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684580" y="5653743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）按字节编址</a:t>
            </a:r>
            <a:endParaRPr lang="zh-CN" altLang="en-US" sz="28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860333" y="5749159"/>
            <a:ext cx="3899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小端：低有效字节在低地址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6709" y="4050813"/>
            <a:ext cx="1284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低地址</a:t>
            </a:r>
            <a:endParaRPr lang="zh-CN" altLang="en-US" sz="2800" dirty="0"/>
          </a:p>
        </p:txBody>
      </p:sp>
      <p:sp>
        <p:nvSpPr>
          <p:cNvPr id="16" name="文本框 15"/>
          <p:cNvSpPr txBox="1"/>
          <p:nvPr/>
        </p:nvSpPr>
        <p:spPr>
          <a:xfrm>
            <a:off x="10608129" y="4050813"/>
            <a:ext cx="1807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高地址</a:t>
            </a:r>
            <a:endParaRPr lang="zh-CN" altLang="en-US" sz="2800" dirty="0"/>
          </a:p>
        </p:txBody>
      </p:sp>
      <p:sp>
        <p:nvSpPr>
          <p:cNvPr id="28" name="文本框 27"/>
          <p:cNvSpPr txBox="1"/>
          <p:nvPr/>
        </p:nvSpPr>
        <p:spPr>
          <a:xfrm>
            <a:off x="1970977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0x0</a:t>
            </a:r>
            <a:endParaRPr lang="zh-CN" altLang="en-US" sz="2400" dirty="0"/>
          </a:p>
        </p:txBody>
      </p:sp>
      <p:sp>
        <p:nvSpPr>
          <p:cNvPr id="29" name="文本框 28"/>
          <p:cNvSpPr txBox="1"/>
          <p:nvPr/>
        </p:nvSpPr>
        <p:spPr>
          <a:xfrm>
            <a:off x="2861113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0x1</a:t>
            </a:r>
            <a:endParaRPr lang="zh-CN" altLang="en-US" sz="2400" dirty="0"/>
          </a:p>
        </p:txBody>
      </p:sp>
      <p:sp>
        <p:nvSpPr>
          <p:cNvPr id="30" name="文本框 29"/>
          <p:cNvSpPr txBox="1"/>
          <p:nvPr/>
        </p:nvSpPr>
        <p:spPr>
          <a:xfrm>
            <a:off x="3751249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0x2</a:t>
            </a:r>
            <a:endParaRPr lang="zh-CN" altLang="en-US" sz="2400" dirty="0"/>
          </a:p>
        </p:txBody>
      </p:sp>
      <p:sp>
        <p:nvSpPr>
          <p:cNvPr id="31" name="文本框 30"/>
          <p:cNvSpPr txBox="1"/>
          <p:nvPr/>
        </p:nvSpPr>
        <p:spPr>
          <a:xfrm>
            <a:off x="4641385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0x3</a:t>
            </a:r>
            <a:endParaRPr lang="zh-CN" altLang="en-US" sz="2400" dirty="0"/>
          </a:p>
        </p:txBody>
      </p:sp>
      <p:sp>
        <p:nvSpPr>
          <p:cNvPr id="32" name="文本框 31"/>
          <p:cNvSpPr txBox="1"/>
          <p:nvPr/>
        </p:nvSpPr>
        <p:spPr>
          <a:xfrm>
            <a:off x="5531521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0x4</a:t>
            </a:r>
            <a:endParaRPr lang="zh-CN" altLang="en-US" sz="2400" dirty="0"/>
          </a:p>
        </p:txBody>
      </p:sp>
      <p:sp>
        <p:nvSpPr>
          <p:cNvPr id="33" name="文本框 32"/>
          <p:cNvSpPr txBox="1"/>
          <p:nvPr/>
        </p:nvSpPr>
        <p:spPr>
          <a:xfrm>
            <a:off x="6421657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0x5</a:t>
            </a:r>
            <a:endParaRPr lang="zh-CN" altLang="en-US" sz="2400" dirty="0"/>
          </a:p>
        </p:txBody>
      </p:sp>
      <p:sp>
        <p:nvSpPr>
          <p:cNvPr id="34" name="文本框 33"/>
          <p:cNvSpPr txBox="1"/>
          <p:nvPr/>
        </p:nvSpPr>
        <p:spPr>
          <a:xfrm>
            <a:off x="7311793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0x6</a:t>
            </a:r>
            <a:endParaRPr lang="zh-CN" altLang="en-US" sz="2400" dirty="0"/>
          </a:p>
        </p:txBody>
      </p:sp>
      <p:sp>
        <p:nvSpPr>
          <p:cNvPr id="35" name="文本框 34"/>
          <p:cNvSpPr txBox="1"/>
          <p:nvPr/>
        </p:nvSpPr>
        <p:spPr>
          <a:xfrm>
            <a:off x="8201929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0x7</a:t>
            </a:r>
            <a:endParaRPr lang="zh-CN" altLang="en-US" sz="2400" dirty="0"/>
          </a:p>
        </p:txBody>
      </p:sp>
      <p:sp>
        <p:nvSpPr>
          <p:cNvPr id="36" name="文本框 35"/>
          <p:cNvSpPr txBox="1"/>
          <p:nvPr/>
        </p:nvSpPr>
        <p:spPr>
          <a:xfrm>
            <a:off x="9092065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0x8</a:t>
            </a:r>
            <a:endParaRPr lang="zh-CN" altLang="en-US" sz="2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9982200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0x9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机器数存储的基本单位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小端和大端方式：</a:t>
            </a:r>
            <a:r>
              <a:rPr lang="en-US" altLang="zh-CN" dirty="0">
                <a:solidFill>
                  <a:srgbClr val="C00000"/>
                </a:solidFill>
              </a:rPr>
              <a:t>0x 12 34 56 78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60333" y="2165130"/>
            <a:ext cx="3594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比特 </a:t>
            </a:r>
            <a:r>
              <a:rPr lang="en-US" altLang="zh-CN" sz="2800" dirty="0"/>
              <a:t>b</a:t>
            </a:r>
            <a:r>
              <a:rPr lang="zh-CN" altLang="en-US" sz="2800" dirty="0"/>
              <a:t>：</a:t>
            </a:r>
            <a:r>
              <a:rPr lang="en-US" altLang="zh-CN" sz="2800" dirty="0"/>
              <a:t>0</a:t>
            </a:r>
            <a:r>
              <a:rPr lang="zh-CN" altLang="en-US" sz="2800" dirty="0"/>
              <a:t>或</a:t>
            </a:r>
            <a:r>
              <a:rPr lang="en-US" altLang="zh-CN" sz="2800" dirty="0"/>
              <a:t>1                          </a:t>
            </a:r>
            <a:endParaRPr lang="en-US" altLang="zh-CN" sz="2800" dirty="0"/>
          </a:p>
          <a:p>
            <a:r>
              <a:rPr lang="zh-CN" altLang="en-US" sz="2800" dirty="0"/>
              <a:t>字节 </a:t>
            </a:r>
            <a:r>
              <a:rPr lang="en-US" altLang="zh-CN" sz="2800" dirty="0"/>
              <a:t>B</a:t>
            </a:r>
            <a:r>
              <a:rPr lang="zh-CN" altLang="en-US" sz="2800" dirty="0"/>
              <a:t>：</a:t>
            </a:r>
            <a:r>
              <a:rPr lang="en-US" altLang="zh-CN" sz="2800" dirty="0"/>
              <a:t>8</a:t>
            </a:r>
            <a:r>
              <a:rPr lang="zh-CN" altLang="en-US" sz="2800" dirty="0"/>
              <a:t>比特（</a:t>
            </a:r>
            <a:r>
              <a:rPr lang="en-US" altLang="zh-CN" sz="2800" dirty="0"/>
              <a:t>0xFF</a:t>
            </a:r>
            <a:r>
              <a:rPr lang="zh-CN" altLang="en-US" sz="2800" dirty="0"/>
              <a:t>）</a:t>
            </a:r>
            <a:endParaRPr lang="en-US" altLang="zh-CN" sz="2800" dirty="0"/>
          </a:p>
        </p:txBody>
      </p:sp>
      <p:sp>
        <p:nvSpPr>
          <p:cNvPr id="8" name="矩形 7"/>
          <p:cNvSpPr/>
          <p:nvPr/>
        </p:nvSpPr>
        <p:spPr>
          <a:xfrm>
            <a:off x="6684580" y="1734242"/>
            <a:ext cx="498490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Intel i386</a:t>
            </a:r>
            <a:endParaRPr lang="en-US" altLang="zh-CN" sz="2800" dirty="0"/>
          </a:p>
          <a:p>
            <a:r>
              <a:rPr lang="zh-CN" altLang="en-US" sz="2800" dirty="0"/>
              <a:t>字    ：</a:t>
            </a:r>
            <a:r>
              <a:rPr lang="en-US" altLang="zh-CN" sz="2800" dirty="0"/>
              <a:t>2</a:t>
            </a:r>
            <a:r>
              <a:rPr lang="zh-CN" altLang="en-US" sz="2800" dirty="0"/>
              <a:t>个字节（</a:t>
            </a:r>
            <a:r>
              <a:rPr lang="en-US" altLang="zh-CN" sz="2800" dirty="0"/>
              <a:t>0x1234</a:t>
            </a:r>
            <a:r>
              <a:rPr lang="zh-CN" altLang="en-US" sz="2800" dirty="0"/>
              <a:t>）   </a:t>
            </a:r>
            <a:endParaRPr lang="en-US" altLang="zh-CN" sz="2800" dirty="0"/>
          </a:p>
          <a:p>
            <a:r>
              <a:rPr lang="zh-CN" altLang="en-US" sz="2800" dirty="0"/>
              <a:t>双字：</a:t>
            </a:r>
            <a:r>
              <a:rPr lang="en-US" altLang="zh-CN" sz="2800" dirty="0"/>
              <a:t>4</a:t>
            </a:r>
            <a:r>
              <a:rPr lang="zh-CN" altLang="en-US" sz="2800" dirty="0"/>
              <a:t>个字节（</a:t>
            </a:r>
            <a:r>
              <a:rPr lang="en-US" altLang="zh-CN" sz="2800" dirty="0"/>
              <a:t>0x12345678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860333" y="4574033"/>
          <a:ext cx="8862100" cy="8483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</a:tblGrid>
              <a:tr h="8483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0x12</a:t>
                      </a:r>
                      <a:endParaRPr lang="en-US" altLang="zh-CN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0x34</a:t>
                      </a:r>
                      <a:endParaRPr lang="en-US" altLang="zh-CN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0x56</a:t>
                      </a:r>
                      <a:endParaRPr lang="en-US" altLang="zh-CN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C00000"/>
                          </a:solidFill>
                        </a:rPr>
                        <a:t>0x78</a:t>
                      </a:r>
                      <a:endParaRPr lang="en-US" altLang="zh-CN" sz="24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684580" y="5653743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）按字节编址</a:t>
            </a:r>
            <a:endParaRPr lang="zh-CN" altLang="en-US" sz="28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860333" y="5749159"/>
            <a:ext cx="3899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大端：低有效字节在高地址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6709" y="4050813"/>
            <a:ext cx="1284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低地址</a:t>
            </a:r>
            <a:endParaRPr lang="zh-CN" altLang="en-US" sz="2800" dirty="0"/>
          </a:p>
        </p:txBody>
      </p:sp>
      <p:sp>
        <p:nvSpPr>
          <p:cNvPr id="16" name="文本框 15"/>
          <p:cNvSpPr txBox="1"/>
          <p:nvPr/>
        </p:nvSpPr>
        <p:spPr>
          <a:xfrm>
            <a:off x="10608129" y="4050813"/>
            <a:ext cx="1807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高地址</a:t>
            </a:r>
            <a:endParaRPr lang="zh-CN" altLang="en-US" sz="2800" dirty="0"/>
          </a:p>
        </p:txBody>
      </p:sp>
      <p:sp>
        <p:nvSpPr>
          <p:cNvPr id="28" name="文本框 27"/>
          <p:cNvSpPr txBox="1"/>
          <p:nvPr/>
        </p:nvSpPr>
        <p:spPr>
          <a:xfrm>
            <a:off x="1970977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0x0</a:t>
            </a:r>
            <a:endParaRPr lang="zh-CN" altLang="en-US" sz="2400" dirty="0"/>
          </a:p>
        </p:txBody>
      </p:sp>
      <p:sp>
        <p:nvSpPr>
          <p:cNvPr id="29" name="文本框 28"/>
          <p:cNvSpPr txBox="1"/>
          <p:nvPr/>
        </p:nvSpPr>
        <p:spPr>
          <a:xfrm>
            <a:off x="2861113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0x1</a:t>
            </a:r>
            <a:endParaRPr lang="zh-CN" altLang="en-US" sz="2400" dirty="0"/>
          </a:p>
        </p:txBody>
      </p:sp>
      <p:sp>
        <p:nvSpPr>
          <p:cNvPr id="30" name="文本框 29"/>
          <p:cNvSpPr txBox="1"/>
          <p:nvPr/>
        </p:nvSpPr>
        <p:spPr>
          <a:xfrm>
            <a:off x="3751249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0x2</a:t>
            </a:r>
            <a:endParaRPr lang="zh-CN" altLang="en-US" sz="2400" dirty="0"/>
          </a:p>
        </p:txBody>
      </p:sp>
      <p:sp>
        <p:nvSpPr>
          <p:cNvPr id="31" name="文本框 30"/>
          <p:cNvSpPr txBox="1"/>
          <p:nvPr/>
        </p:nvSpPr>
        <p:spPr>
          <a:xfrm>
            <a:off x="4641385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0x3</a:t>
            </a:r>
            <a:endParaRPr lang="zh-CN" altLang="en-US" sz="2400" dirty="0"/>
          </a:p>
        </p:txBody>
      </p:sp>
      <p:sp>
        <p:nvSpPr>
          <p:cNvPr id="32" name="文本框 31"/>
          <p:cNvSpPr txBox="1"/>
          <p:nvPr/>
        </p:nvSpPr>
        <p:spPr>
          <a:xfrm>
            <a:off x="5531521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0x4</a:t>
            </a:r>
            <a:endParaRPr lang="zh-CN" altLang="en-US" sz="2400" dirty="0"/>
          </a:p>
        </p:txBody>
      </p:sp>
      <p:sp>
        <p:nvSpPr>
          <p:cNvPr id="33" name="文本框 32"/>
          <p:cNvSpPr txBox="1"/>
          <p:nvPr/>
        </p:nvSpPr>
        <p:spPr>
          <a:xfrm>
            <a:off x="6421657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0x5</a:t>
            </a:r>
            <a:endParaRPr lang="zh-CN" altLang="en-US" sz="2400" dirty="0"/>
          </a:p>
        </p:txBody>
      </p:sp>
      <p:sp>
        <p:nvSpPr>
          <p:cNvPr id="34" name="文本框 33"/>
          <p:cNvSpPr txBox="1"/>
          <p:nvPr/>
        </p:nvSpPr>
        <p:spPr>
          <a:xfrm>
            <a:off x="7311793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0x6</a:t>
            </a:r>
            <a:endParaRPr lang="zh-CN" altLang="en-US" sz="2400" dirty="0"/>
          </a:p>
        </p:txBody>
      </p:sp>
      <p:sp>
        <p:nvSpPr>
          <p:cNvPr id="35" name="文本框 34"/>
          <p:cNvSpPr txBox="1"/>
          <p:nvPr/>
        </p:nvSpPr>
        <p:spPr>
          <a:xfrm>
            <a:off x="8201929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0x7</a:t>
            </a:r>
            <a:endParaRPr lang="zh-CN" altLang="en-US" sz="2400" dirty="0"/>
          </a:p>
        </p:txBody>
      </p:sp>
      <p:sp>
        <p:nvSpPr>
          <p:cNvPr id="36" name="文本框 35"/>
          <p:cNvSpPr txBox="1"/>
          <p:nvPr/>
        </p:nvSpPr>
        <p:spPr>
          <a:xfrm>
            <a:off x="9092065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0x8</a:t>
            </a:r>
            <a:endParaRPr lang="zh-CN" altLang="en-US" sz="2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9982200" y="4112368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0x9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83683">
            <a:off x="2033619" y="3241766"/>
            <a:ext cx="2302030" cy="23020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对主存的模拟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996967" y="2608599"/>
          <a:ext cx="8862100" cy="8483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</a:tblGrid>
              <a:tr h="84838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821214" y="3688309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）按字节编址</a:t>
            </a:r>
            <a:endParaRPr lang="zh-CN" altLang="en-US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723343" y="2085379"/>
            <a:ext cx="1284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低地址</a:t>
            </a:r>
            <a:endParaRPr lang="zh-CN" altLang="en-US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10744763" y="2085379"/>
            <a:ext cx="1807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高地址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2107611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0x0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2997747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0x1</a:t>
            </a:r>
            <a:endParaRPr lang="zh-CN" altLang="en-US" sz="2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3887883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0x2</a:t>
            </a:r>
            <a:endParaRPr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4778019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0x3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668155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0x4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558291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0x5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7448427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0x6</a:t>
            </a:r>
            <a:endParaRPr lang="zh-CN" altLang="en-US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8338563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0x7</a:t>
            </a:r>
            <a:endParaRPr lang="zh-CN" altLang="en-US" sz="2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9228699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0x8</a:t>
            </a:r>
            <a:endParaRPr lang="zh-CN" altLang="en-US" sz="2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10118834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0x9</a:t>
            </a:r>
            <a:endParaRPr lang="zh-CN" altLang="en-US" sz="2400" dirty="0"/>
          </a:p>
        </p:txBody>
      </p:sp>
      <p:sp>
        <p:nvSpPr>
          <p:cNvPr id="21" name="下箭头 20"/>
          <p:cNvSpPr/>
          <p:nvPr/>
        </p:nvSpPr>
        <p:spPr>
          <a:xfrm>
            <a:off x="5069065" y="3790342"/>
            <a:ext cx="599090" cy="13558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184634" y="5270868"/>
            <a:ext cx="5328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如何用</a:t>
            </a:r>
            <a:r>
              <a:rPr lang="en-US" altLang="zh-CN" sz="4000" dirty="0"/>
              <a:t>C</a:t>
            </a:r>
            <a:r>
              <a:rPr lang="zh-CN" altLang="en-US" sz="4000" dirty="0"/>
              <a:t>语言进行模拟？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83683">
            <a:off x="2033619" y="3241766"/>
            <a:ext cx="2302030" cy="2302030"/>
          </a:xfrm>
          <a:prstGeom prst="rect">
            <a:avLst/>
          </a:prstGeom>
        </p:spPr>
      </p:pic>
      <p:sp>
        <p:nvSpPr>
          <p:cNvPr id="24" name="下箭头 23"/>
          <p:cNvSpPr/>
          <p:nvPr/>
        </p:nvSpPr>
        <p:spPr>
          <a:xfrm>
            <a:off x="5069065" y="3790342"/>
            <a:ext cx="599090" cy="13558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对主存的模拟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996967" y="2608599"/>
          <a:ext cx="8862100" cy="8483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  <a:gridCol w="886210"/>
              </a:tblGrid>
              <a:tr h="84838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/>
                        <a:t>字节</a:t>
                      </a:r>
                      <a:endParaRPr lang="en-US" altLang="zh-C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821214" y="3688309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）按字节编址</a:t>
            </a:r>
            <a:endParaRPr lang="zh-CN" altLang="en-US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723343" y="2085379"/>
            <a:ext cx="1284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低地址</a:t>
            </a:r>
            <a:endParaRPr lang="zh-CN" altLang="en-US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10744763" y="2085379"/>
            <a:ext cx="1807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高地址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2107611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0x0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2997747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0x1</a:t>
            </a:r>
            <a:endParaRPr lang="zh-CN" altLang="en-US" sz="2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3887883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0x2</a:t>
            </a:r>
            <a:endParaRPr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4778019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0x3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668155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0x4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558291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0x5</a:t>
            </a:r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7448427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0x6</a:t>
            </a:r>
            <a:endParaRPr lang="zh-CN" altLang="en-US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8338563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0x7</a:t>
            </a:r>
            <a:endParaRPr lang="zh-CN" altLang="en-US" sz="2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9228699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0x8</a:t>
            </a:r>
            <a:endParaRPr lang="zh-CN" altLang="en-US" sz="2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10118834" y="2146934"/>
            <a:ext cx="651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0x9</a:t>
            </a:r>
            <a:endParaRPr lang="zh-CN" altLang="en-US" sz="2400" dirty="0"/>
          </a:p>
        </p:txBody>
      </p:sp>
      <p:sp>
        <p:nvSpPr>
          <p:cNvPr id="22" name="文本框 21"/>
          <p:cNvSpPr txBox="1"/>
          <p:nvPr/>
        </p:nvSpPr>
        <p:spPr>
          <a:xfrm>
            <a:off x="3184634" y="5270868"/>
            <a:ext cx="7802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如何用</a:t>
            </a:r>
            <a:r>
              <a:rPr lang="en-US" altLang="zh-CN" sz="4000" dirty="0"/>
              <a:t>C</a:t>
            </a:r>
            <a:r>
              <a:rPr lang="zh-CN" altLang="en-US" sz="4000" dirty="0"/>
              <a:t>语言进行模拟？</a:t>
            </a:r>
            <a:r>
              <a:rPr lang="en-US" altLang="zh-CN" sz="4000" dirty="0"/>
              <a:t>=&gt; </a:t>
            </a:r>
            <a:r>
              <a:rPr lang="zh-CN" altLang="en-US" sz="4000" dirty="0"/>
              <a:t>数组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19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4828454"/>
          </a:xfrm>
        </p:spPr>
        <p:txBody>
          <a:bodyPr/>
          <a:lstStyle/>
          <a:p>
            <a:r>
              <a:rPr lang="zh-CN" altLang="en-US" dirty="0"/>
              <a:t>对主存的模拟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98482" y="1839310"/>
            <a:ext cx="11119946" cy="27116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latin typeface="Consolas" panose="020B0609020204030204" pitchFamily="49" charset="0"/>
              </a:rPr>
              <a:t>uint8_t </a:t>
            </a:r>
            <a:r>
              <a:rPr lang="en-US" altLang="zh-CN" sz="2000" dirty="0" err="1">
                <a:latin typeface="Consolas" panose="020B0609020204030204" pitchFamily="49" charset="0"/>
              </a:rPr>
              <a:t>hw_mem</a:t>
            </a:r>
            <a:r>
              <a:rPr lang="en-US" altLang="zh-CN" sz="2000" dirty="0">
                <a:latin typeface="Consolas" panose="020B0609020204030204" pitchFamily="49" charset="0"/>
              </a:rPr>
              <a:t>[MEM_SIZE_B] // </a:t>
            </a:r>
            <a:r>
              <a:rPr lang="zh-CN" altLang="en-US" sz="2000" dirty="0">
                <a:latin typeface="Consolas" panose="020B0609020204030204" pitchFamily="49" charset="0"/>
              </a:rPr>
              <a:t>模拟主存，</a:t>
            </a:r>
            <a:r>
              <a:rPr lang="en-US" altLang="zh-CN" sz="2000" dirty="0">
                <a:latin typeface="Consolas" panose="020B0609020204030204" pitchFamily="49" charset="0"/>
              </a:rPr>
              <a:t>128MB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顶层读接口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uint32_t </a:t>
            </a:r>
            <a:r>
              <a:rPr lang="en-US" altLang="zh-CN" sz="2000" dirty="0" err="1">
                <a:latin typeface="Consolas" panose="020B0609020204030204" pitchFamily="49" charset="0"/>
              </a:rPr>
              <a:t>vaddr_read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) { … }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顶层写接口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vaddr_write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, uint32_t data) { … 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35262" y="1363451"/>
            <a:ext cx="5118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19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4828454"/>
          </a:xfrm>
        </p:spPr>
        <p:txBody>
          <a:bodyPr/>
          <a:lstStyle/>
          <a:p>
            <a:r>
              <a:rPr lang="zh-CN" altLang="en-US" dirty="0"/>
              <a:t>对主存的模拟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98482" y="1839310"/>
            <a:ext cx="11119946" cy="27116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uint8_t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hw_mem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[MEM_SIZE_B]</a:t>
            </a:r>
            <a:r>
              <a:rPr lang="en-US" altLang="zh-CN" sz="2000" dirty="0">
                <a:latin typeface="Consolas" panose="020B0609020204030204" pitchFamily="49" charset="0"/>
              </a:rPr>
              <a:t> // </a:t>
            </a:r>
            <a:r>
              <a:rPr lang="zh-CN" altLang="en-US" sz="2000" dirty="0">
                <a:latin typeface="Consolas" panose="020B0609020204030204" pitchFamily="49" charset="0"/>
              </a:rPr>
              <a:t>模拟主存，</a:t>
            </a:r>
            <a:r>
              <a:rPr lang="en-US" altLang="zh-CN" sz="2000" dirty="0">
                <a:latin typeface="Consolas" panose="020B0609020204030204" pitchFamily="49" charset="0"/>
              </a:rPr>
              <a:t>128MB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顶层读接口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uint32_t </a:t>
            </a:r>
            <a:r>
              <a:rPr lang="en-US" altLang="zh-CN" sz="2000" dirty="0" err="1">
                <a:latin typeface="Consolas" panose="020B0609020204030204" pitchFamily="49" charset="0"/>
              </a:rPr>
              <a:t>vaddr_read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) { … }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顶层写接口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vaddr_write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, uint32_t data) { … 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35262" y="1363451"/>
            <a:ext cx="5118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19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4828454"/>
          </a:xfrm>
        </p:spPr>
        <p:txBody>
          <a:bodyPr/>
          <a:lstStyle/>
          <a:p>
            <a:r>
              <a:rPr lang="zh-CN" altLang="en-US" dirty="0"/>
              <a:t>对主存的模拟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98482" y="1839310"/>
            <a:ext cx="11119946" cy="27116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latin typeface="Consolas" panose="020B0609020204030204" pitchFamily="49" charset="0"/>
              </a:rPr>
              <a:t>uint8_t </a:t>
            </a:r>
            <a:r>
              <a:rPr lang="en-US" altLang="zh-CN" sz="2000" dirty="0" err="1">
                <a:latin typeface="Consolas" panose="020B0609020204030204" pitchFamily="49" charset="0"/>
              </a:rPr>
              <a:t>hw_mem</a:t>
            </a:r>
            <a:r>
              <a:rPr lang="en-US" altLang="zh-CN" sz="2000" dirty="0">
                <a:latin typeface="Consolas" panose="020B0609020204030204" pitchFamily="49" charset="0"/>
              </a:rPr>
              <a:t>[MEM_SIZE_B] // </a:t>
            </a:r>
            <a:r>
              <a:rPr lang="zh-CN" altLang="en-US" sz="2000" dirty="0">
                <a:latin typeface="Consolas" panose="020B0609020204030204" pitchFamily="49" charset="0"/>
              </a:rPr>
              <a:t>模拟主存，</a:t>
            </a:r>
            <a:r>
              <a:rPr lang="en-US" altLang="zh-CN" sz="2000" dirty="0">
                <a:latin typeface="Consolas" panose="020B0609020204030204" pitchFamily="49" charset="0"/>
              </a:rPr>
              <a:t>128MB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顶层读接口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uint32_t </a:t>
            </a:r>
            <a:r>
              <a:rPr lang="en-US" altLang="zh-CN" sz="2000" dirty="0" err="1">
                <a:latin typeface="Consolas" panose="020B0609020204030204" pitchFamily="49" charset="0"/>
              </a:rPr>
              <a:t>vaddr_read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) { … }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顶层写接口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vaddr_write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, uint32_t data) { … 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35262" y="1363451"/>
            <a:ext cx="5118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42733" y="3496734"/>
            <a:ext cx="1380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地址（</a:t>
            </a:r>
            <a:r>
              <a:rPr lang="en-US" altLang="zh-CN" b="1" dirty="0">
                <a:solidFill>
                  <a:srgbClr val="C00000"/>
                </a:solidFill>
              </a:rPr>
              <a:t>32</a:t>
            </a:r>
            <a:r>
              <a:rPr lang="zh-CN" altLang="en-US" b="1" dirty="0">
                <a:solidFill>
                  <a:srgbClr val="C00000"/>
                </a:solidFill>
              </a:rPr>
              <a:t>位）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8" name="直接箭头连接符 7"/>
          <p:cNvCxnSpPr>
            <a:stCxn id="3" idx="3"/>
          </p:cNvCxnSpPr>
          <p:nvPr/>
        </p:nvCxnSpPr>
        <p:spPr>
          <a:xfrm flipV="1">
            <a:off x="4622800" y="3395133"/>
            <a:ext cx="584200" cy="28626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3" idx="3"/>
          </p:cNvCxnSpPr>
          <p:nvPr/>
        </p:nvCxnSpPr>
        <p:spPr>
          <a:xfrm>
            <a:off x="4622800" y="3681400"/>
            <a:ext cx="389467" cy="27253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19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4828454"/>
          </a:xfrm>
        </p:spPr>
        <p:txBody>
          <a:bodyPr/>
          <a:lstStyle/>
          <a:p>
            <a:r>
              <a:rPr lang="zh-CN" altLang="en-US" dirty="0"/>
              <a:t>对主存的模拟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98482" y="1839310"/>
            <a:ext cx="11119946" cy="27116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latin typeface="Consolas" panose="020B0609020204030204" pitchFamily="49" charset="0"/>
              </a:rPr>
              <a:t>uint8_t </a:t>
            </a:r>
            <a:r>
              <a:rPr lang="en-US" altLang="zh-CN" sz="2000" dirty="0" err="1">
                <a:latin typeface="Consolas" panose="020B0609020204030204" pitchFamily="49" charset="0"/>
              </a:rPr>
              <a:t>hw_mem</a:t>
            </a:r>
            <a:r>
              <a:rPr lang="en-US" altLang="zh-CN" sz="2000" dirty="0">
                <a:latin typeface="Consolas" panose="020B0609020204030204" pitchFamily="49" charset="0"/>
              </a:rPr>
              <a:t>[MEM_SIZE_B] // </a:t>
            </a:r>
            <a:r>
              <a:rPr lang="zh-CN" altLang="en-US" sz="2000" dirty="0">
                <a:latin typeface="Consolas" panose="020B0609020204030204" pitchFamily="49" charset="0"/>
              </a:rPr>
              <a:t>模拟主存，</a:t>
            </a:r>
            <a:r>
              <a:rPr lang="en-US" altLang="zh-CN" sz="2000" dirty="0">
                <a:latin typeface="Consolas" panose="020B0609020204030204" pitchFamily="49" charset="0"/>
              </a:rPr>
              <a:t>128MB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顶层读接口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uint32_t </a:t>
            </a:r>
            <a:r>
              <a:rPr lang="en-US" altLang="zh-CN" sz="2000" dirty="0" err="1">
                <a:latin typeface="Consolas" panose="020B0609020204030204" pitchFamily="49" charset="0"/>
              </a:rPr>
              <a:t>vaddr_read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) { … }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顶层写接口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vaddr_write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, uint32_t data) { … 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35262" y="1363451"/>
            <a:ext cx="5118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42733" y="3496734"/>
            <a:ext cx="1380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地址（</a:t>
            </a:r>
            <a:r>
              <a:rPr lang="en-US" altLang="zh-CN" b="1" dirty="0">
                <a:solidFill>
                  <a:srgbClr val="C00000"/>
                </a:solidFill>
              </a:rPr>
              <a:t>32</a:t>
            </a:r>
            <a:r>
              <a:rPr lang="zh-CN" altLang="en-US" b="1" dirty="0">
                <a:solidFill>
                  <a:srgbClr val="C00000"/>
                </a:solidFill>
              </a:rPr>
              <a:t>位）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8" name="直接箭头连接符 7"/>
          <p:cNvCxnSpPr>
            <a:stCxn id="3" idx="3"/>
          </p:cNvCxnSpPr>
          <p:nvPr/>
        </p:nvCxnSpPr>
        <p:spPr>
          <a:xfrm flipV="1">
            <a:off x="4622800" y="3395133"/>
            <a:ext cx="584200" cy="28626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3" idx="3"/>
          </p:cNvCxnSpPr>
          <p:nvPr/>
        </p:nvCxnSpPr>
        <p:spPr>
          <a:xfrm>
            <a:off x="4622800" y="3681400"/>
            <a:ext cx="389467" cy="27253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276850" y="3496734"/>
            <a:ext cx="223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</a:rPr>
              <a:t>段寄存器（</a:t>
            </a:r>
            <a:r>
              <a:rPr lang="en-US" altLang="zh-CN" b="1" dirty="0">
                <a:solidFill>
                  <a:srgbClr val="7030A0"/>
                </a:solidFill>
              </a:rPr>
              <a:t>PA 3-2</a:t>
            </a:r>
            <a:r>
              <a:rPr lang="zh-CN" altLang="en-US" b="1" dirty="0">
                <a:solidFill>
                  <a:srgbClr val="7030A0"/>
                </a:solidFill>
              </a:rPr>
              <a:t>）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7116233" y="3369933"/>
            <a:ext cx="182034" cy="126801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7038974" y="3817666"/>
            <a:ext cx="77259" cy="169869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19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4828454"/>
          </a:xfrm>
        </p:spPr>
        <p:txBody>
          <a:bodyPr/>
          <a:lstStyle/>
          <a:p>
            <a:r>
              <a:rPr lang="zh-CN" altLang="en-US" dirty="0"/>
              <a:t>对主存的模拟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98482" y="1839310"/>
            <a:ext cx="11119946" cy="27116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latin typeface="Consolas" panose="020B0609020204030204" pitchFamily="49" charset="0"/>
              </a:rPr>
              <a:t>uint8_t </a:t>
            </a:r>
            <a:r>
              <a:rPr lang="en-US" altLang="zh-CN" sz="2000" dirty="0" err="1">
                <a:latin typeface="Consolas" panose="020B0609020204030204" pitchFamily="49" charset="0"/>
              </a:rPr>
              <a:t>hw_mem</a:t>
            </a:r>
            <a:r>
              <a:rPr lang="en-US" altLang="zh-CN" sz="2000" dirty="0">
                <a:latin typeface="Consolas" panose="020B0609020204030204" pitchFamily="49" charset="0"/>
              </a:rPr>
              <a:t>[MEM_SIZE_B] // </a:t>
            </a:r>
            <a:r>
              <a:rPr lang="zh-CN" altLang="en-US" sz="2000" dirty="0">
                <a:latin typeface="Consolas" panose="020B0609020204030204" pitchFamily="49" charset="0"/>
              </a:rPr>
              <a:t>模拟主存，</a:t>
            </a:r>
            <a:r>
              <a:rPr lang="en-US" altLang="zh-CN" sz="2000" dirty="0">
                <a:latin typeface="Consolas" panose="020B0609020204030204" pitchFamily="49" charset="0"/>
              </a:rPr>
              <a:t>128MB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顶层读接口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uint32_t </a:t>
            </a:r>
            <a:r>
              <a:rPr lang="en-US" altLang="zh-CN" sz="2000" dirty="0" err="1">
                <a:latin typeface="Consolas" panose="020B0609020204030204" pitchFamily="49" charset="0"/>
              </a:rPr>
              <a:t>vaddr_read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) { … }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顶层写接口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vaddr_write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, uint32_t data) { … 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35262" y="1363451"/>
            <a:ext cx="5118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42733" y="3496734"/>
            <a:ext cx="1380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地址（</a:t>
            </a:r>
            <a:r>
              <a:rPr lang="en-US" altLang="zh-CN" b="1" dirty="0">
                <a:solidFill>
                  <a:srgbClr val="C00000"/>
                </a:solidFill>
              </a:rPr>
              <a:t>32</a:t>
            </a:r>
            <a:r>
              <a:rPr lang="zh-CN" altLang="en-US" b="1" dirty="0">
                <a:solidFill>
                  <a:srgbClr val="C00000"/>
                </a:solidFill>
              </a:rPr>
              <a:t>位）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8" name="直接箭头连接符 7"/>
          <p:cNvCxnSpPr>
            <a:stCxn id="3" idx="3"/>
          </p:cNvCxnSpPr>
          <p:nvPr/>
        </p:nvCxnSpPr>
        <p:spPr>
          <a:xfrm flipV="1">
            <a:off x="4622800" y="3395133"/>
            <a:ext cx="584200" cy="28626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3" idx="3"/>
          </p:cNvCxnSpPr>
          <p:nvPr/>
        </p:nvCxnSpPr>
        <p:spPr>
          <a:xfrm>
            <a:off x="4622800" y="3681400"/>
            <a:ext cx="389467" cy="27253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276850" y="3496734"/>
            <a:ext cx="223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</a:rPr>
              <a:t>段寄存器（</a:t>
            </a:r>
            <a:r>
              <a:rPr lang="en-US" altLang="zh-CN" b="1" dirty="0">
                <a:solidFill>
                  <a:srgbClr val="7030A0"/>
                </a:solidFill>
              </a:rPr>
              <a:t>PA 3-2</a:t>
            </a:r>
            <a:r>
              <a:rPr lang="zh-CN" altLang="en-US" b="1" dirty="0">
                <a:solidFill>
                  <a:srgbClr val="7030A0"/>
                </a:solidFill>
              </a:rPr>
              <a:t>）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7116233" y="3369933"/>
            <a:ext cx="182034" cy="126801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7038974" y="3817666"/>
            <a:ext cx="77259" cy="169869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7762873" y="3496734"/>
            <a:ext cx="328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数据长度（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、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、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4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字节）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3" name="直接箭头连接符 22"/>
          <p:cNvCxnSpPr>
            <a:stCxn id="20" idx="0"/>
          </p:cNvCxnSpPr>
          <p:nvPr/>
        </p:nvCxnSpPr>
        <p:spPr>
          <a:xfrm flipH="1" flipV="1">
            <a:off x="9137650" y="3369933"/>
            <a:ext cx="270166" cy="12680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0" idx="2"/>
          </p:cNvCxnSpPr>
          <p:nvPr/>
        </p:nvCxnSpPr>
        <p:spPr>
          <a:xfrm flipH="1">
            <a:off x="8831318" y="3866066"/>
            <a:ext cx="576498" cy="8786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机器数的存取：内存的模拟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19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4828454"/>
          </a:xfrm>
        </p:spPr>
        <p:txBody>
          <a:bodyPr/>
          <a:lstStyle/>
          <a:p>
            <a:r>
              <a:rPr lang="zh-CN" altLang="en-US" dirty="0"/>
              <a:t>对主存的模拟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98482" y="1839310"/>
            <a:ext cx="11119946" cy="27116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latin typeface="Consolas" panose="020B0609020204030204" pitchFamily="49" charset="0"/>
              </a:rPr>
              <a:t>uint8_t </a:t>
            </a:r>
            <a:r>
              <a:rPr lang="en-US" altLang="zh-CN" sz="2000" dirty="0" err="1">
                <a:latin typeface="Consolas" panose="020B0609020204030204" pitchFamily="49" charset="0"/>
              </a:rPr>
              <a:t>hw_mem</a:t>
            </a:r>
            <a:r>
              <a:rPr lang="en-US" altLang="zh-CN" sz="2000" dirty="0">
                <a:latin typeface="Consolas" panose="020B0609020204030204" pitchFamily="49" charset="0"/>
              </a:rPr>
              <a:t>[MEM_SIZE_B] // </a:t>
            </a:r>
            <a:r>
              <a:rPr lang="zh-CN" altLang="en-US" sz="2000" dirty="0">
                <a:latin typeface="Consolas" panose="020B0609020204030204" pitchFamily="49" charset="0"/>
              </a:rPr>
              <a:t>模拟主存，</a:t>
            </a:r>
            <a:r>
              <a:rPr lang="en-US" altLang="zh-CN" sz="2000" dirty="0">
                <a:latin typeface="Consolas" panose="020B0609020204030204" pitchFamily="49" charset="0"/>
              </a:rPr>
              <a:t>128MB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顶层读接口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uint32_t </a:t>
            </a:r>
            <a:r>
              <a:rPr lang="en-US" altLang="zh-CN" sz="2000" dirty="0" err="1">
                <a:latin typeface="Consolas" panose="020B0609020204030204" pitchFamily="49" charset="0"/>
              </a:rPr>
              <a:t>vaddr_read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) { … }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latin typeface="Consolas" panose="020B0609020204030204" pitchFamily="49" charset="0"/>
              </a:rPr>
              <a:t>顶层写接口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vaddr_write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vaddr_t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Consolas" panose="020B0609020204030204" pitchFamily="49" charset="0"/>
              </a:rPr>
              <a:t>vaddr</a:t>
            </a:r>
            <a:r>
              <a:rPr lang="en-US" altLang="zh-CN" sz="2000" dirty="0">
                <a:latin typeface="Consolas" panose="020B0609020204030204" pitchFamily="49" charset="0"/>
              </a:rPr>
              <a:t>, uint8_t </a:t>
            </a:r>
            <a:r>
              <a:rPr lang="en-US" altLang="zh-CN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sreg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en-US" altLang="zh-CN" sz="2000" dirty="0" err="1">
                <a:latin typeface="Consolas" panose="020B0609020204030204" pitchFamily="49" charset="0"/>
              </a:rPr>
              <a:t>size_t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, uint32_t data) { … }</a:t>
            </a: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235262" y="1363451"/>
            <a:ext cx="5118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800" dirty="0">
                <a:solidFill>
                  <a:schemeClr val="accent5"/>
                </a:solidFill>
                <a:latin typeface="Consolas" panose="020B0609020204030204" pitchFamily="49" charset="0"/>
              </a:rPr>
              <a:t>/memory/</a:t>
            </a:r>
            <a:r>
              <a:rPr lang="en-US" altLang="zh-CN"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memory.c</a:t>
            </a:r>
            <a:endParaRPr lang="zh-CN" altLang="en-US" sz="28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42733" y="3496734"/>
            <a:ext cx="1380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地址（</a:t>
            </a:r>
            <a:r>
              <a:rPr lang="en-US" altLang="zh-CN" b="1" dirty="0">
                <a:solidFill>
                  <a:srgbClr val="C00000"/>
                </a:solidFill>
              </a:rPr>
              <a:t>32</a:t>
            </a:r>
            <a:r>
              <a:rPr lang="zh-CN" altLang="en-US" b="1" dirty="0">
                <a:solidFill>
                  <a:srgbClr val="C00000"/>
                </a:solidFill>
              </a:rPr>
              <a:t>位）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8" name="直接箭头连接符 7"/>
          <p:cNvCxnSpPr>
            <a:stCxn id="3" idx="3"/>
          </p:cNvCxnSpPr>
          <p:nvPr/>
        </p:nvCxnSpPr>
        <p:spPr>
          <a:xfrm flipV="1">
            <a:off x="4622800" y="3395133"/>
            <a:ext cx="584200" cy="28626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3" idx="3"/>
          </p:cNvCxnSpPr>
          <p:nvPr/>
        </p:nvCxnSpPr>
        <p:spPr>
          <a:xfrm>
            <a:off x="4622800" y="3681400"/>
            <a:ext cx="389467" cy="27253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276850" y="3496734"/>
            <a:ext cx="223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</a:rPr>
              <a:t>段寄存器（</a:t>
            </a:r>
            <a:r>
              <a:rPr lang="en-US" altLang="zh-CN" b="1" dirty="0">
                <a:solidFill>
                  <a:srgbClr val="7030A0"/>
                </a:solidFill>
              </a:rPr>
              <a:t>PA 3-2</a:t>
            </a:r>
            <a:r>
              <a:rPr lang="zh-CN" altLang="en-US" b="1" dirty="0">
                <a:solidFill>
                  <a:srgbClr val="7030A0"/>
                </a:solidFill>
              </a:rPr>
              <a:t>）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7116233" y="3369933"/>
            <a:ext cx="182034" cy="126801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7038974" y="3817666"/>
            <a:ext cx="77259" cy="169869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7762873" y="3496734"/>
            <a:ext cx="328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数据长度（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、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、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4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字节）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3" name="直接箭头连接符 22"/>
          <p:cNvCxnSpPr>
            <a:stCxn id="20" idx="0"/>
          </p:cNvCxnSpPr>
          <p:nvPr/>
        </p:nvCxnSpPr>
        <p:spPr>
          <a:xfrm flipH="1" flipV="1">
            <a:off x="9137650" y="3369933"/>
            <a:ext cx="270166" cy="12680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0" idx="2"/>
          </p:cNvCxnSpPr>
          <p:nvPr/>
        </p:nvCxnSpPr>
        <p:spPr>
          <a:xfrm flipH="1">
            <a:off x="8831318" y="3866066"/>
            <a:ext cx="576498" cy="8786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446228" y="4708769"/>
            <a:ext cx="328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要写的数据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25" name="直接箭头连接符 24"/>
          <p:cNvCxnSpPr>
            <a:stCxn id="18" idx="0"/>
          </p:cNvCxnSpPr>
          <p:nvPr/>
        </p:nvCxnSpPr>
        <p:spPr>
          <a:xfrm flipV="1">
            <a:off x="10091171" y="4312818"/>
            <a:ext cx="615988" cy="39595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-227286" y="4842172"/>
            <a:ext cx="167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读取的结果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cxnSp>
        <p:nvCxnSpPr>
          <p:cNvPr id="14" name="肘形连接符 13"/>
          <p:cNvCxnSpPr>
            <a:stCxn id="26" idx="0"/>
            <a:endCxn id="21" idx="1"/>
          </p:cNvCxnSpPr>
          <p:nvPr/>
        </p:nvCxnSpPr>
        <p:spPr>
          <a:xfrm rot="5400000" flipH="1" flipV="1">
            <a:off x="-18487" y="3825204"/>
            <a:ext cx="1647027" cy="386911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3250" y="242619"/>
            <a:ext cx="7035800" cy="6380748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uint8_t hw_mem[MEM_SIZE_B];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uint32_t hw_mem_read(paddr_t paddr, size_t len)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{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	uint32_t ret = 0;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	memcpy(&amp;ret, hw_mem + paddr, len);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	return ret;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}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uint32_t paddr_read(paddr_t paddr, size_t len)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{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	uint32_t ret = 0;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	ret = hw_mem_read(paddr, len);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	return ret;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}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uint32_t laddr_read(laddr_t laddr, size_t len)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{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	return paddr_read(laddr, len);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}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uint32_t vaddr_read(vaddr_t vaddr, uint8_t sreg, size_t len)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{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	assert(len == 1 || len == 2 || len == 4);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	return laddr_read(vaddr, len);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dk1"/>
                </a:solidFill>
                <a:latin typeface="Consolas" panose="020B0609020204030204" pitchFamily="49" charset="0"/>
              </a:rPr>
              <a:t>}</a:t>
            </a:r>
            <a:endParaRPr lang="zh-CN" altLang="en-US" sz="1600" dirty="0">
              <a:solidFill>
                <a:schemeClr val="dk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5133975" y="4562475"/>
            <a:ext cx="1264816" cy="1852975"/>
          </a:xfrm>
          <a:custGeom>
            <a:avLst/>
            <a:gdLst>
              <a:gd name="connsiteX0" fmla="*/ 0 w 1264816"/>
              <a:gd name="connsiteY0" fmla="*/ 1771650 h 1852975"/>
              <a:gd name="connsiteX1" fmla="*/ 1257300 w 1264816"/>
              <a:gd name="connsiteY1" fmla="*/ 1647825 h 1852975"/>
              <a:gd name="connsiteX2" fmla="*/ 428625 w 1264816"/>
              <a:gd name="connsiteY2" fmla="*/ 0 h 185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4816" h="1852975">
                <a:moveTo>
                  <a:pt x="0" y="1771650"/>
                </a:moveTo>
                <a:cubicBezTo>
                  <a:pt x="592931" y="1857375"/>
                  <a:pt x="1185863" y="1943100"/>
                  <a:pt x="1257300" y="1647825"/>
                </a:cubicBezTo>
                <a:cubicBezTo>
                  <a:pt x="1328737" y="1352550"/>
                  <a:pt x="878681" y="676275"/>
                  <a:pt x="428625" y="0"/>
                </a:cubicBezTo>
              </a:path>
            </a:pathLst>
          </a:custGeom>
          <a:noFill/>
          <a:ln w="1905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428253" y="2914650"/>
            <a:ext cx="1067172" cy="1895150"/>
          </a:xfrm>
          <a:custGeom>
            <a:avLst/>
            <a:gdLst>
              <a:gd name="connsiteX0" fmla="*/ 1067172 w 1067172"/>
              <a:gd name="connsiteY0" fmla="*/ 1866900 h 1895150"/>
              <a:gd name="connsiteX1" fmla="*/ 372 w 1067172"/>
              <a:gd name="connsiteY1" fmla="*/ 1638300 h 1895150"/>
              <a:gd name="connsiteX2" fmla="*/ 971922 w 1067172"/>
              <a:gd name="connsiteY2" fmla="*/ 0 h 189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7172" h="1895150">
                <a:moveTo>
                  <a:pt x="1067172" y="1866900"/>
                </a:moveTo>
                <a:cubicBezTo>
                  <a:pt x="541709" y="1908175"/>
                  <a:pt x="16247" y="1949450"/>
                  <a:pt x="372" y="1638300"/>
                </a:cubicBezTo>
                <a:cubicBezTo>
                  <a:pt x="-15503" y="1327150"/>
                  <a:pt x="478209" y="663575"/>
                  <a:pt x="971922" y="0"/>
                </a:cubicBezTo>
              </a:path>
            </a:pathLst>
          </a:custGeom>
          <a:noFill/>
          <a:ln w="1905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4991100" y="1114426"/>
            <a:ext cx="1264816" cy="2318568"/>
          </a:xfrm>
          <a:custGeom>
            <a:avLst/>
            <a:gdLst>
              <a:gd name="connsiteX0" fmla="*/ 0 w 1264816"/>
              <a:gd name="connsiteY0" fmla="*/ 1771650 h 1852975"/>
              <a:gd name="connsiteX1" fmla="*/ 1257300 w 1264816"/>
              <a:gd name="connsiteY1" fmla="*/ 1647825 h 1852975"/>
              <a:gd name="connsiteX2" fmla="*/ 428625 w 1264816"/>
              <a:gd name="connsiteY2" fmla="*/ 0 h 185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4816" h="1852975">
                <a:moveTo>
                  <a:pt x="0" y="1771650"/>
                </a:moveTo>
                <a:cubicBezTo>
                  <a:pt x="592931" y="1857375"/>
                  <a:pt x="1185863" y="1943100"/>
                  <a:pt x="1257300" y="1647825"/>
                </a:cubicBezTo>
                <a:cubicBezTo>
                  <a:pt x="1328737" y="1352550"/>
                  <a:pt x="878681" y="676275"/>
                  <a:pt x="428625" y="0"/>
                </a:cubicBezTo>
              </a:path>
            </a:pathLst>
          </a:custGeom>
          <a:noFill/>
          <a:ln w="1905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171450" y="491482"/>
            <a:ext cx="1323975" cy="1219201"/>
          </a:xfrm>
          <a:custGeom>
            <a:avLst/>
            <a:gdLst>
              <a:gd name="connsiteX0" fmla="*/ 1067172 w 1067172"/>
              <a:gd name="connsiteY0" fmla="*/ 1866900 h 1895150"/>
              <a:gd name="connsiteX1" fmla="*/ 372 w 1067172"/>
              <a:gd name="connsiteY1" fmla="*/ 1638300 h 1895150"/>
              <a:gd name="connsiteX2" fmla="*/ 971922 w 1067172"/>
              <a:gd name="connsiteY2" fmla="*/ 0 h 189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7172" h="1895150">
                <a:moveTo>
                  <a:pt x="1067172" y="1866900"/>
                </a:moveTo>
                <a:cubicBezTo>
                  <a:pt x="541709" y="1908175"/>
                  <a:pt x="16247" y="1949450"/>
                  <a:pt x="372" y="1638300"/>
                </a:cubicBezTo>
                <a:cubicBezTo>
                  <a:pt x="-15503" y="1327150"/>
                  <a:pt x="478209" y="663575"/>
                  <a:pt x="971922" y="0"/>
                </a:cubicBezTo>
              </a:path>
            </a:pathLst>
          </a:custGeom>
          <a:noFill/>
          <a:ln w="19050">
            <a:solidFill>
              <a:srgbClr val="C0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399280" y="607950"/>
            <a:ext cx="50239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nsolas" panose="020B0609020204030204" pitchFamily="49" charset="0"/>
              </a:rPr>
              <a:t>vaddr_write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400" dirty="0">
                <a:latin typeface="Consolas" panose="020B0609020204030204" pitchFamily="49" charset="0"/>
              </a:rPr>
              <a:t>, 0, 1, 0x12);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8040737" y="1387415"/>
            <a:ext cx="979998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9153523" y="1123952"/>
            <a:ext cx="36521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nsolas" panose="020B0609020204030204" pitchFamily="49" charset="0"/>
              </a:rPr>
              <a:t>hw_mem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400" dirty="0">
                <a:latin typeface="Consolas" panose="020B0609020204030204" pitchFamily="49" charset="0"/>
              </a:rPr>
              <a:t>] = 0x12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037205" y="1935153"/>
            <a:ext cx="7231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(“0x%x”, </a:t>
            </a:r>
            <a:r>
              <a:rPr lang="en-US" altLang="zh-CN" sz="2400" dirty="0" err="1">
                <a:latin typeface="Consolas" panose="020B0609020204030204" pitchFamily="49" charset="0"/>
              </a:rPr>
              <a:t>vaddr_read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400" dirty="0">
                <a:latin typeface="Consolas" panose="020B0609020204030204" pitchFamily="49" charset="0"/>
              </a:rPr>
              <a:t>, 0, 1));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9900127" y="2821118"/>
            <a:ext cx="979998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1134725" y="2531316"/>
            <a:ext cx="10872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0x12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838200" y="1586807"/>
            <a:ext cx="4686300" cy="4686300"/>
          </a:xfrm>
          <a:prstGeom prst="roundRect">
            <a:avLst/>
          </a:prstGeom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9021" y="3151122"/>
            <a:ext cx="1689538" cy="16501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CPU</a:t>
            </a:r>
            <a:r>
              <a:rPr lang="zh-CN" altLang="en-US" sz="2800" dirty="0"/>
              <a:t>内的运算部件</a:t>
            </a:r>
            <a:endParaRPr lang="zh-CN" altLang="en-US" sz="2800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3140531" y="3657600"/>
            <a:ext cx="44631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0058400" y="6030686"/>
            <a:ext cx="129540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0254343" y="5572943"/>
            <a:ext cx="109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数据流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140531" y="4354285"/>
            <a:ext cx="446315" cy="0"/>
          </a:xfrm>
          <a:prstGeom prst="straightConnector1">
            <a:avLst/>
          </a:pr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138728" y="188287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通用寄存器</a:t>
            </a:r>
            <a:endParaRPr lang="zh-CN" altLang="en-US" sz="2800" dirty="0"/>
          </a:p>
        </p:txBody>
      </p:sp>
      <p:sp>
        <p:nvSpPr>
          <p:cNvPr id="17" name="圆角矩形 16"/>
          <p:cNvSpPr/>
          <p:nvPr/>
        </p:nvSpPr>
        <p:spPr>
          <a:xfrm>
            <a:off x="6586356" y="3385671"/>
            <a:ext cx="1132114" cy="1088572"/>
          </a:xfrm>
          <a:prstGeom prst="roundRect">
            <a:avLst/>
          </a:prstGeom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dk1"/>
                </a:solidFill>
              </a:rPr>
              <a:t>北桥芯片</a:t>
            </a:r>
            <a:endParaRPr lang="zh-CN" altLang="en-US" sz="2400" dirty="0">
              <a:solidFill>
                <a:schemeClr val="dk1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5720379" y="3657600"/>
            <a:ext cx="729343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5720379" y="4332513"/>
            <a:ext cx="729343" cy="0"/>
          </a:xfrm>
          <a:prstGeom prst="straightConnector1">
            <a:avLst/>
          </a:pr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449722" y="2144482"/>
          <a:ext cx="5622340" cy="523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  <a:gridCol w="562234"/>
              </a:tblGrid>
              <a:tr h="52322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178029" y="1475696"/>
            <a:ext cx="4165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主存（</a:t>
            </a:r>
            <a:r>
              <a:rPr lang="en-US" altLang="zh-CN" sz="2800" dirty="0"/>
              <a:t>RAM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sp>
        <p:nvSpPr>
          <p:cNvPr id="25" name="任意多边形 24"/>
          <p:cNvSpPr/>
          <p:nvPr/>
        </p:nvSpPr>
        <p:spPr>
          <a:xfrm>
            <a:off x="7819697" y="2932386"/>
            <a:ext cx="1135117" cy="756745"/>
          </a:xfrm>
          <a:custGeom>
            <a:avLst/>
            <a:gdLst>
              <a:gd name="connsiteX0" fmla="*/ 0 w 1135117"/>
              <a:gd name="connsiteY0" fmla="*/ 756745 h 756745"/>
              <a:gd name="connsiteX1" fmla="*/ 1135117 w 1135117"/>
              <a:gd name="connsiteY1" fmla="*/ 756745 h 756745"/>
              <a:gd name="connsiteX2" fmla="*/ 1135117 w 1135117"/>
              <a:gd name="connsiteY2" fmla="*/ 0 h 756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5117" h="756745">
                <a:moveTo>
                  <a:pt x="0" y="756745"/>
                </a:moveTo>
                <a:lnTo>
                  <a:pt x="1135117" y="756745"/>
                </a:lnTo>
                <a:lnTo>
                  <a:pt x="1135117" y="0"/>
                </a:lnTo>
              </a:path>
            </a:pathLst>
          </a:custGeom>
          <a:ln w="38100"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7851228" y="2932386"/>
            <a:ext cx="1755227" cy="1387366"/>
          </a:xfrm>
          <a:custGeom>
            <a:avLst/>
            <a:gdLst>
              <a:gd name="connsiteX0" fmla="*/ 0 w 1755227"/>
              <a:gd name="connsiteY0" fmla="*/ 1387366 h 1387366"/>
              <a:gd name="connsiteX1" fmla="*/ 1755227 w 1755227"/>
              <a:gd name="connsiteY1" fmla="*/ 1387366 h 1387366"/>
              <a:gd name="connsiteX2" fmla="*/ 1755227 w 1755227"/>
              <a:gd name="connsiteY2" fmla="*/ 0 h 138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5227" h="1387366">
                <a:moveTo>
                  <a:pt x="0" y="1387366"/>
                </a:moveTo>
                <a:lnTo>
                  <a:pt x="1755227" y="1387366"/>
                </a:lnTo>
                <a:lnTo>
                  <a:pt x="1755227" y="0"/>
                </a:lnTo>
              </a:path>
            </a:pathLst>
          </a:custGeom>
          <a:ln w="38100">
            <a:headEnd type="triangle" w="lg" len="lg"/>
            <a:tailEnd type="non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581400" y="5096942"/>
            <a:ext cx="1660635" cy="8828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Cache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586356" y="5096941"/>
            <a:ext cx="1660635" cy="88286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硬盘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137557" y="2492824"/>
          <a:ext cx="1875599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59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EAX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ECX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EBP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ESI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EDI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椭圆 14"/>
          <p:cNvSpPr/>
          <p:nvPr/>
        </p:nvSpPr>
        <p:spPr>
          <a:xfrm>
            <a:off x="585693" y="1586807"/>
            <a:ext cx="2894480" cy="4305477"/>
          </a:xfrm>
          <a:prstGeom prst="ellipse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PA 1-1 </a:t>
            </a:r>
            <a:r>
              <a:rPr lang="zh-CN" altLang="en-US" b="1" dirty="0">
                <a:solidFill>
                  <a:srgbClr val="C00000"/>
                </a:solidFill>
              </a:rPr>
              <a:t>数据的类型和存取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数据的类型及其机器级表示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机器数的存取：内存的模拟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机器数的存取：寄存器的模拟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机器数的存取：寄存器的模拟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708891"/>
          </a:xfrm>
        </p:spPr>
        <p:txBody>
          <a:bodyPr/>
          <a:lstStyle/>
          <a:p>
            <a:r>
              <a:rPr lang="zh-CN" altLang="en-US" dirty="0"/>
              <a:t>对通用寄存器的模拟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797" y="1286072"/>
            <a:ext cx="8877558" cy="520235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336221" y="2249214"/>
            <a:ext cx="48557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Consolas" panose="020B0609020204030204" pitchFamily="49" charset="0"/>
              </a:rPr>
              <a:t>movl</a:t>
            </a:r>
            <a:r>
              <a:rPr lang="en-US" altLang="zh-CN" sz="2800" dirty="0">
                <a:latin typeface="Consolas" panose="020B0609020204030204" pitchFamily="49" charset="0"/>
              </a:rPr>
              <a:t> $0x12345678, %</a:t>
            </a:r>
            <a:r>
              <a:rPr lang="en-US" altLang="zh-CN" sz="2800" dirty="0" err="1">
                <a:latin typeface="Consolas" panose="020B0609020204030204" pitchFamily="49" charset="0"/>
              </a:rPr>
              <a:t>eax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movl</a:t>
            </a:r>
            <a:r>
              <a:rPr lang="en-US" altLang="zh-CN" sz="2800" dirty="0">
                <a:latin typeface="Consolas" panose="020B0609020204030204" pitchFamily="49" charset="0"/>
              </a:rPr>
              <a:t> $0x87654321, %</a:t>
            </a:r>
            <a:r>
              <a:rPr lang="en-US" altLang="zh-CN" sz="2800" dirty="0" err="1">
                <a:latin typeface="Consolas" panose="020B0609020204030204" pitchFamily="49" charset="0"/>
              </a:rPr>
              <a:t>ecx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movb</a:t>
            </a:r>
            <a:r>
              <a:rPr lang="en-US" altLang="zh-CN" sz="2800" dirty="0">
                <a:latin typeface="Consolas" panose="020B0609020204030204" pitchFamily="49" charset="0"/>
              </a:rPr>
              <a:t> $0xFF, %al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movb</a:t>
            </a:r>
            <a:r>
              <a:rPr lang="en-US" altLang="zh-CN" sz="2800" dirty="0">
                <a:latin typeface="Consolas" panose="020B0609020204030204" pitchFamily="49" charset="0"/>
              </a:rPr>
              <a:t> $0x00, %ah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movw</a:t>
            </a:r>
            <a:r>
              <a:rPr lang="en-US" altLang="zh-CN" sz="2800" dirty="0">
                <a:latin typeface="Consolas" panose="020B0609020204030204" pitchFamily="49" charset="0"/>
              </a:rPr>
              <a:t> %ax, %cx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%</a:t>
            </a:r>
            <a:r>
              <a:rPr lang="en-US" altLang="zh-CN" sz="2800" dirty="0" err="1">
                <a:latin typeface="Consolas" panose="020B0609020204030204" pitchFamily="49" charset="0"/>
              </a:rPr>
              <a:t>ecx</a:t>
            </a:r>
            <a:r>
              <a:rPr lang="en-US" altLang="zh-CN" sz="2800" dirty="0">
                <a:latin typeface="Consolas" panose="020B0609020204030204" pitchFamily="49" charset="0"/>
              </a:rPr>
              <a:t> = ?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797" y="1286072"/>
            <a:ext cx="8877558" cy="52023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机器数的存取：寄存器的模拟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708891"/>
          </a:xfrm>
        </p:spPr>
        <p:txBody>
          <a:bodyPr/>
          <a:lstStyle/>
          <a:p>
            <a:r>
              <a:rPr lang="zh-CN" altLang="en-US" dirty="0"/>
              <a:t>对通用寄存器的模拟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336221" y="2249214"/>
            <a:ext cx="48557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Consolas" panose="020B0609020204030204" pitchFamily="49" charset="0"/>
              </a:rPr>
              <a:t>movl</a:t>
            </a:r>
            <a:r>
              <a:rPr lang="en-US" altLang="zh-CN" sz="2800" dirty="0">
                <a:latin typeface="Consolas" panose="020B0609020204030204" pitchFamily="49" charset="0"/>
              </a:rPr>
              <a:t> $0x12345678, %</a:t>
            </a:r>
            <a:r>
              <a:rPr lang="en-US" altLang="zh-CN" sz="2800" dirty="0" err="1">
                <a:latin typeface="Consolas" panose="020B0609020204030204" pitchFamily="49" charset="0"/>
              </a:rPr>
              <a:t>eax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movl</a:t>
            </a:r>
            <a:r>
              <a:rPr lang="en-US" altLang="zh-CN" sz="2800" dirty="0">
                <a:latin typeface="Consolas" panose="020B0609020204030204" pitchFamily="49" charset="0"/>
              </a:rPr>
              <a:t> $0x87654321, %</a:t>
            </a:r>
            <a:r>
              <a:rPr lang="en-US" altLang="zh-CN" sz="2800" dirty="0" err="1">
                <a:latin typeface="Consolas" panose="020B0609020204030204" pitchFamily="49" charset="0"/>
              </a:rPr>
              <a:t>ecx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movb</a:t>
            </a:r>
            <a:r>
              <a:rPr lang="en-US" altLang="zh-CN" sz="2800" dirty="0">
                <a:latin typeface="Consolas" panose="020B0609020204030204" pitchFamily="49" charset="0"/>
              </a:rPr>
              <a:t> $0xFF, %al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movb</a:t>
            </a:r>
            <a:r>
              <a:rPr lang="en-US" altLang="zh-CN" sz="2800" dirty="0">
                <a:latin typeface="Consolas" panose="020B0609020204030204" pitchFamily="49" charset="0"/>
              </a:rPr>
              <a:t> $0x00, %ah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movw</a:t>
            </a:r>
            <a:r>
              <a:rPr lang="en-US" altLang="zh-CN" sz="2800" dirty="0">
                <a:latin typeface="Consolas" panose="020B0609020204030204" pitchFamily="49" charset="0"/>
              </a:rPr>
              <a:t> %ax, %cx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%</a:t>
            </a:r>
            <a:r>
              <a:rPr lang="en-US" altLang="zh-CN" sz="2800" dirty="0" err="1">
                <a:latin typeface="Consolas" panose="020B0609020204030204" pitchFamily="49" charset="0"/>
              </a:rPr>
              <a:t>ecx</a:t>
            </a:r>
            <a:r>
              <a:rPr lang="en-US" altLang="zh-CN" sz="2800" dirty="0">
                <a:latin typeface="Consolas" panose="020B0609020204030204" pitchFamily="49" charset="0"/>
              </a:rPr>
              <a:t> = $0x8765</a:t>
            </a:r>
            <a:r>
              <a:rPr lang="en-US" altLang="zh-CN" sz="2800" dirty="0">
                <a:solidFill>
                  <a:srgbClr val="C00000"/>
                </a:solidFill>
                <a:latin typeface="Consolas" panose="020B0609020204030204" pitchFamily="49" charset="0"/>
              </a:rPr>
              <a:t>00FF</a:t>
            </a:r>
            <a:endParaRPr lang="zh-CN" altLang="en-US" sz="28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寄存器的模拟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22228" y="31530"/>
            <a:ext cx="7738242" cy="646330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typedef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struct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struct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struct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</a:t>
            </a:r>
            <a:r>
              <a:rPr lang="en-US" altLang="zh-CN" dirty="0" err="1">
                <a:latin typeface="Consolas" panose="020B0609020204030204" pitchFamily="49" charset="0"/>
              </a:rPr>
              <a:t>struct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    uint32_t _32;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    uint16_t _16;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    uint8_t _8[2];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};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uint32_t </a:t>
            </a:r>
            <a:r>
              <a:rPr lang="en-US" altLang="zh-CN" dirty="0" err="1">
                <a:latin typeface="Consolas" panose="020B0609020204030204" pitchFamily="49" charset="0"/>
              </a:rPr>
              <a:t>val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} </a:t>
            </a:r>
            <a:r>
              <a:rPr lang="en-US" altLang="zh-CN" dirty="0" err="1">
                <a:latin typeface="Consolas" panose="020B0609020204030204" pitchFamily="49" charset="0"/>
              </a:rPr>
              <a:t>gpr</a:t>
            </a:r>
            <a:r>
              <a:rPr lang="en-US" altLang="zh-CN" dirty="0">
                <a:latin typeface="Consolas" panose="020B0609020204030204" pitchFamily="49" charset="0"/>
              </a:rPr>
              <a:t>[8];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struct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{ // do not change the order of the registers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uint32_t </a:t>
            </a:r>
            <a:r>
              <a:rPr lang="en-US" altLang="zh-CN" dirty="0" err="1">
                <a:latin typeface="Consolas" panose="020B0609020204030204" pitchFamily="49" charset="0"/>
              </a:rPr>
              <a:t>eax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ecx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edx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ebx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esp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ebp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esi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edi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};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};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 CPU_STATE;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96807" y="208907"/>
            <a:ext cx="4750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/include/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reg.h</a:t>
            </a:r>
            <a:endParaRPr lang="zh-CN" altLang="en-US" sz="24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3615558" cy="708891"/>
          </a:xfrm>
        </p:spPr>
        <p:txBody>
          <a:bodyPr/>
          <a:lstStyle/>
          <a:p>
            <a:r>
              <a:rPr lang="zh-CN" altLang="en-US" dirty="0"/>
              <a:t>对通用寄存器的模拟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63769" y="2769989"/>
            <a:ext cx="3492062" cy="1015663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#include "cpu/reg.h"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extern CPU_STATE cpu;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3487" y="2099347"/>
            <a:ext cx="4750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/include/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cpu.h</a:t>
            </a:r>
            <a:endParaRPr lang="zh-CN" altLang="en-US" sz="24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3769" y="5224325"/>
            <a:ext cx="3492062" cy="1015663"/>
          </a:xfrm>
          <a:prstGeom prst="rect">
            <a:avLst/>
          </a:prstGeom>
          <a:ln w="12700">
            <a:solidFill>
              <a:schemeClr val="dk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#include "cpu/cpu.h"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endParaRPr lang="zh-CN" altLang="en-US" sz="2000" dirty="0">
              <a:latin typeface="Consolas" panose="020B0609020204030204" pitchFamily="49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</a:rPr>
              <a:t>CPU_STATE cpu;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3487" y="4567897"/>
            <a:ext cx="4750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cpu.c</a:t>
            </a:r>
            <a:endParaRPr lang="zh-CN" altLang="en-US" sz="24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机器数的存取：寄存器的模拟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785091"/>
          </a:xfrm>
        </p:spPr>
        <p:txBody>
          <a:bodyPr/>
          <a:lstStyle/>
          <a:p>
            <a:r>
              <a:rPr lang="zh-CN" altLang="en-US" dirty="0"/>
              <a:t>对通用寄存器的模拟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0" y="2756743"/>
            <a:ext cx="48557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Consolas" panose="020B0609020204030204" pitchFamily="49" charset="0"/>
              </a:rPr>
              <a:t>movl</a:t>
            </a:r>
            <a:r>
              <a:rPr lang="en-US" altLang="zh-CN" sz="2800" dirty="0">
                <a:latin typeface="Consolas" panose="020B0609020204030204" pitchFamily="49" charset="0"/>
              </a:rPr>
              <a:t> $0x12345678, %</a:t>
            </a:r>
            <a:r>
              <a:rPr lang="en-US" altLang="zh-CN" sz="2800" dirty="0" err="1">
                <a:latin typeface="Consolas" panose="020B0609020204030204" pitchFamily="49" charset="0"/>
              </a:rPr>
              <a:t>eax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movl</a:t>
            </a:r>
            <a:r>
              <a:rPr lang="en-US" altLang="zh-CN" sz="2800" dirty="0">
                <a:latin typeface="Consolas" panose="020B0609020204030204" pitchFamily="49" charset="0"/>
              </a:rPr>
              <a:t> $0x87654321, %</a:t>
            </a:r>
            <a:r>
              <a:rPr lang="en-US" altLang="zh-CN" sz="2800" dirty="0" err="1">
                <a:latin typeface="Consolas" panose="020B0609020204030204" pitchFamily="49" charset="0"/>
              </a:rPr>
              <a:t>ecx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movb</a:t>
            </a:r>
            <a:r>
              <a:rPr lang="en-US" altLang="zh-CN" sz="2800" dirty="0">
                <a:latin typeface="Consolas" panose="020B0609020204030204" pitchFamily="49" charset="0"/>
              </a:rPr>
              <a:t> $0xFF, %al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movb</a:t>
            </a:r>
            <a:r>
              <a:rPr lang="en-US" altLang="zh-CN" sz="2800" dirty="0">
                <a:latin typeface="Consolas" panose="020B0609020204030204" pitchFamily="49" charset="0"/>
              </a:rPr>
              <a:t> $0x00, %ah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movw</a:t>
            </a:r>
            <a:r>
              <a:rPr lang="en-US" altLang="zh-CN" sz="2800" dirty="0">
                <a:latin typeface="Consolas" panose="020B0609020204030204" pitchFamily="49" charset="0"/>
              </a:rPr>
              <a:t> %ax, %cx</a:t>
            </a:r>
            <a:endParaRPr lang="en-US" altLang="zh-CN" sz="28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24906" y="1877417"/>
            <a:ext cx="607506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#include “</a:t>
            </a:r>
            <a:r>
              <a:rPr lang="en-US" altLang="zh-CN" sz="2800" dirty="0" err="1">
                <a:latin typeface="Consolas" panose="020B0609020204030204" pitchFamily="49" charset="0"/>
              </a:rPr>
              <a:t>cpu.h</a:t>
            </a:r>
            <a:r>
              <a:rPr lang="en-US" altLang="zh-CN" sz="2800" dirty="0">
                <a:latin typeface="Consolas" panose="020B0609020204030204" pitchFamily="49" charset="0"/>
              </a:rPr>
              <a:t>”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cpu.eax</a:t>
            </a:r>
            <a:r>
              <a:rPr lang="en-US" altLang="zh-CN" sz="2800" dirty="0">
                <a:latin typeface="Consolas" panose="020B0609020204030204" pitchFamily="49" charset="0"/>
              </a:rPr>
              <a:t> = 0x12345678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cpu.ecx</a:t>
            </a:r>
            <a:r>
              <a:rPr lang="en-US" altLang="zh-CN" sz="2800" dirty="0">
                <a:latin typeface="Consolas" panose="020B0609020204030204" pitchFamily="49" charset="0"/>
              </a:rPr>
              <a:t> = 0x87654321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>
                <a:latin typeface="Consolas" panose="020B0609020204030204" pitchFamily="49" charset="0"/>
              </a:rPr>
              <a:t>cpu.gpr[0]._</a:t>
            </a:r>
            <a:r>
              <a:rPr lang="en-US" altLang="zh-CN" sz="2800" dirty="0">
                <a:latin typeface="Consolas" panose="020B0609020204030204" pitchFamily="49" charset="0"/>
              </a:rPr>
              <a:t>8[0] = $0xFF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>
                <a:latin typeface="Consolas" panose="020B0609020204030204" pitchFamily="49" charset="0"/>
              </a:rPr>
              <a:t>cpu.gpr[0]._</a:t>
            </a:r>
            <a:r>
              <a:rPr lang="en-US" altLang="zh-CN" sz="2800" dirty="0">
                <a:latin typeface="Consolas" panose="020B0609020204030204" pitchFamily="49" charset="0"/>
              </a:rPr>
              <a:t>8[1] = $0x00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>
                <a:latin typeface="Consolas" panose="020B0609020204030204" pitchFamily="49" charset="0"/>
              </a:rPr>
              <a:t>cpu.gpr[1]._16 =cpu.gpr[0]._</a:t>
            </a:r>
            <a:r>
              <a:rPr lang="en-US" altLang="zh-CN" sz="2800" dirty="0">
                <a:latin typeface="Consolas" panose="020B0609020204030204" pitchFamily="49" charset="0"/>
              </a:rPr>
              <a:t>16 </a:t>
            </a:r>
            <a:endParaRPr lang="en-US" altLang="zh-CN" sz="2800" dirty="0">
              <a:latin typeface="Consolas" panose="020B0609020204030204" pitchFamily="49" charset="0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5320862" y="3575327"/>
            <a:ext cx="746234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094484" y="5646218"/>
            <a:ext cx="41280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err="1">
                <a:latin typeface="Consolas" panose="020B0609020204030204" pitchFamily="49" charset="0"/>
              </a:rPr>
              <a:t>cpu.ecx</a:t>
            </a:r>
            <a:r>
              <a:rPr lang="en-US" altLang="zh-CN" sz="2800" dirty="0">
                <a:latin typeface="Consolas" panose="020B0609020204030204" pitchFamily="49" charset="0"/>
              </a:rPr>
              <a:t> = 0x8765</a:t>
            </a:r>
            <a:r>
              <a:rPr lang="en-US" altLang="zh-CN" sz="2800" dirty="0">
                <a:solidFill>
                  <a:srgbClr val="C00000"/>
                </a:solidFill>
                <a:latin typeface="Consolas" panose="020B0609020204030204" pitchFamily="49" charset="0"/>
              </a:rPr>
              <a:t>00FF</a:t>
            </a:r>
            <a:endParaRPr lang="zh-CN" altLang="en-US" sz="28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8496358" y="5171091"/>
            <a:ext cx="662152" cy="5418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en-US" altLang="zh-CN" dirty="0"/>
              <a:t>PA 1-1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1815106"/>
          </a:xfrm>
        </p:spPr>
        <p:txBody>
          <a:bodyPr>
            <a:normAutofit/>
          </a:bodyPr>
          <a:lstStyle/>
          <a:p>
            <a:r>
              <a:rPr lang="zh-CN" altLang="en-US" dirty="0"/>
              <a:t>针对通用寄存器的测试用例：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dirty="0" err="1">
                <a:solidFill>
                  <a:schemeClr val="accent5"/>
                </a:solidFill>
                <a:latin typeface="Consolas" panose="020B0609020204030204" pitchFamily="49" charset="0"/>
              </a:rPr>
              <a:t>reg.c</a:t>
            </a:r>
            <a:endParaRPr lang="en-US" altLang="zh-CN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endParaRPr lang="en-US" altLang="zh-CN" dirty="0"/>
          </a:p>
          <a:p>
            <a:r>
              <a:rPr lang="zh-CN" altLang="en-US" dirty="0"/>
              <a:t>执行测试用例</a:t>
            </a:r>
            <a:endParaRPr lang="zh-CN" altLang="en-US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82565" y="4294029"/>
            <a:ext cx="7391400" cy="879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3200" dirty="0">
                <a:latin typeface="Consolas" panose="020B0609020204030204" pitchFamily="49" charset="0"/>
              </a:rPr>
              <a:t>~$ make test_pa-1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2565" y="3589526"/>
            <a:ext cx="2196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terminal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5534" y="5397335"/>
            <a:ext cx="12297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nemu: src/cpu/reg.c:91: reg_test: Assertion `r.val == (sample[REG_EAX] &amp; 0xff)' failed.</a:t>
            </a:r>
            <a:endParaRPr lang="zh-CN" altLang="en-US" sz="24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13" name="线形标注 2 12"/>
          <p:cNvSpPr/>
          <p:nvPr/>
        </p:nvSpPr>
        <p:spPr>
          <a:xfrm>
            <a:off x="8702566" y="2822271"/>
            <a:ext cx="2732690" cy="1534510"/>
          </a:xfrm>
          <a:prstGeom prst="borderCallout2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顺序执行</a:t>
            </a:r>
            <a:r>
              <a:rPr lang="en-US" altLang="zh-CN" dirty="0"/>
              <a:t>PA 1-1</a:t>
            </a:r>
            <a:r>
              <a:rPr lang="zh-CN" altLang="en-US" dirty="0"/>
              <a:t>，</a:t>
            </a:r>
            <a:r>
              <a:rPr lang="en-US" altLang="zh-CN" dirty="0"/>
              <a:t>1-2</a:t>
            </a:r>
            <a:r>
              <a:rPr lang="zh-CN" altLang="en-US" dirty="0"/>
              <a:t>，</a:t>
            </a:r>
            <a:r>
              <a:rPr lang="en-US" altLang="zh-CN" dirty="0"/>
              <a:t>1-3</a:t>
            </a:r>
            <a:r>
              <a:rPr lang="zh-CN" altLang="en-US" dirty="0"/>
              <a:t>的测试用例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en-US" altLang="zh-CN" dirty="0"/>
              <a:t>PA 1-1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00034"/>
          </a:xfrm>
        </p:spPr>
        <p:txBody>
          <a:bodyPr/>
          <a:lstStyle/>
          <a:p>
            <a:r>
              <a:rPr lang="zh-CN" altLang="en-US" dirty="0"/>
              <a:t>对通用寄存器的模拟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422228" y="31530"/>
            <a:ext cx="7738242" cy="646330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typedef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struct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union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union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union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    uint32_t _32;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    uint16_t _16;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    uint8_t _8[2];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};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uint32_t </a:t>
            </a:r>
            <a:r>
              <a:rPr lang="en-US" altLang="zh-CN" dirty="0" err="1">
                <a:latin typeface="Consolas" panose="020B0609020204030204" pitchFamily="49" charset="0"/>
              </a:rPr>
              <a:t>val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} </a:t>
            </a:r>
            <a:r>
              <a:rPr lang="en-US" altLang="zh-CN" dirty="0" err="1">
                <a:latin typeface="Consolas" panose="020B0609020204030204" pitchFamily="49" charset="0"/>
              </a:rPr>
              <a:t>gpr</a:t>
            </a:r>
            <a:r>
              <a:rPr lang="en-US" altLang="zh-CN" dirty="0">
                <a:latin typeface="Consolas" panose="020B0609020204030204" pitchFamily="49" charset="0"/>
              </a:rPr>
              <a:t>[8];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latin typeface="Consolas" panose="020B0609020204030204" pitchFamily="49" charset="0"/>
              </a:rPr>
              <a:t>struct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{ // do not change the order of the registers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    uint32_t </a:t>
            </a:r>
            <a:r>
              <a:rPr lang="en-US" altLang="zh-CN" dirty="0" err="1">
                <a:latin typeface="Consolas" panose="020B0609020204030204" pitchFamily="49" charset="0"/>
              </a:rPr>
              <a:t>eax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ecx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edx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ebx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esp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ebp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esi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edi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    };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};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 CPU_STATE;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6807" y="208907"/>
            <a:ext cx="4750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nemu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/include/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cpu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reg.h</a:t>
            </a:r>
            <a:endParaRPr lang="zh-CN" altLang="en-US" sz="24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en-US" altLang="zh-CN" dirty="0"/>
              <a:t>PA 1-1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600034"/>
          </a:xfrm>
        </p:spPr>
        <p:txBody>
          <a:bodyPr/>
          <a:lstStyle/>
          <a:p>
            <a:r>
              <a:rPr lang="zh-CN" altLang="en-US" dirty="0"/>
              <a:t>对通用寄存器的模拟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067300" y="1648526"/>
            <a:ext cx="6882962" cy="4628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zh-CN" sz="2800" dirty="0">
                <a:latin typeface="Consolas" panose="020B0609020204030204" pitchFamily="49" charset="0"/>
              </a:rPr>
              <a:t>pa2020_fall$ make clean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pa2020_fall$ make test_pa-1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./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latin typeface="Consolas" panose="020B0609020204030204" pitchFamily="49" charset="0"/>
              </a:rPr>
              <a:t> --test-</a:t>
            </a:r>
            <a:r>
              <a:rPr lang="en-US" altLang="zh-CN" sz="2800" dirty="0" err="1">
                <a:latin typeface="Consolas" panose="020B0609020204030204" pitchFamily="49" charset="0"/>
              </a:rPr>
              <a:t>reg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NEMU execute built-in tests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 err="1">
                <a:latin typeface="Consolas" panose="020B0609020204030204" pitchFamily="49" charset="0"/>
              </a:rPr>
              <a:t>reg_test</a:t>
            </a:r>
            <a:r>
              <a:rPr lang="en-US" altLang="zh-CN" sz="2800" dirty="0">
                <a:latin typeface="Consolas" panose="020B0609020204030204" pitchFamily="49" charset="0"/>
              </a:rPr>
              <a:t>()      </a:t>
            </a:r>
            <a:r>
              <a:rPr lang="en-US" altLang="zh-CN" sz="2800" dirty="0">
                <a:solidFill>
                  <a:srgbClr val="00B050"/>
                </a:solidFill>
                <a:latin typeface="Consolas" panose="020B0609020204030204" pitchFamily="49" charset="0"/>
              </a:rPr>
              <a:t>pass</a:t>
            </a:r>
            <a:endParaRPr lang="en-US" altLang="zh-CN" sz="28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./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latin typeface="Consolas" panose="020B0609020204030204" pitchFamily="49" charset="0"/>
              </a:rPr>
              <a:t> --test-</a:t>
            </a:r>
            <a:r>
              <a:rPr lang="en-US" altLang="zh-CN" sz="2800" dirty="0" err="1">
                <a:latin typeface="Consolas" panose="020B0609020204030204" pitchFamily="49" charset="0"/>
              </a:rPr>
              <a:t>alu</a:t>
            </a:r>
            <a:r>
              <a:rPr lang="en-US" altLang="zh-CN" sz="2800" dirty="0">
                <a:latin typeface="Consolas" panose="020B0609020204030204" pitchFamily="49" charset="0"/>
              </a:rPr>
              <a:t> add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latin typeface="Consolas" panose="020B0609020204030204" pitchFamily="49" charset="0"/>
              </a:rPr>
              <a:t>NEMU execute built-in tests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en-US" altLang="zh-CN" sz="2800" dirty="0">
                <a:solidFill>
                  <a:srgbClr val="C00000"/>
                </a:solidFill>
                <a:latin typeface="Consolas" panose="020B0609020204030204" pitchFamily="49" charset="0"/>
              </a:rPr>
              <a:t>Please implement me at </a:t>
            </a:r>
            <a:r>
              <a:rPr lang="en-US" altLang="zh-CN" sz="2800" dirty="0" err="1">
                <a:solidFill>
                  <a:srgbClr val="C00000"/>
                </a:solidFill>
                <a:latin typeface="Consolas" panose="020B0609020204030204" pitchFamily="49" charset="0"/>
              </a:rPr>
              <a:t>alu.c</a:t>
            </a:r>
            <a:endParaRPr lang="en-US" altLang="zh-CN" sz="28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01755" y="1018287"/>
            <a:ext cx="2196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5"/>
                </a:solidFill>
                <a:latin typeface="Consolas" panose="020B0609020204030204" pitchFamily="49" charset="0"/>
              </a:rPr>
              <a:t>terminal</a:t>
            </a:r>
            <a:endParaRPr lang="zh-CN" altLang="en-US" sz="32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1933903" y="3497858"/>
            <a:ext cx="2953407" cy="122971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PA 1-1 pass</a:t>
            </a:r>
            <a:endParaRPr lang="zh-CN" altLang="en-US" sz="2800" dirty="0"/>
          </a:p>
        </p:txBody>
      </p:sp>
      <p:sp>
        <p:nvSpPr>
          <p:cNvPr id="12" name="右箭头 11"/>
          <p:cNvSpPr/>
          <p:nvPr/>
        </p:nvSpPr>
        <p:spPr>
          <a:xfrm>
            <a:off x="1933902" y="5152947"/>
            <a:ext cx="2953407" cy="122971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PA 1-2 fail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4795345" cy="734002"/>
          </a:xfrm>
        </p:spPr>
        <p:txBody>
          <a:bodyPr/>
          <a:lstStyle/>
          <a:p>
            <a:r>
              <a:rPr lang="zh-CN" altLang="en-US" dirty="0"/>
              <a:t>机器数的存取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E5828-6C6F-4B45-B294-2E6730CB9D1E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399" y="3502646"/>
            <a:ext cx="5486889" cy="265150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62"/>
          <a:stretch>
            <a:fillRect/>
          </a:stretch>
        </p:blipFill>
        <p:spPr>
          <a:xfrm>
            <a:off x="712765" y="1590675"/>
            <a:ext cx="10766469" cy="48286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PA 1-1 </a:t>
            </a:r>
            <a:r>
              <a:rPr lang="zh-CN" altLang="en-US"/>
              <a:t>结束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1706-EC5E-41D4-B484-5BB7224D3714}" type="datetime3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43F20-C16F-41D4-A29F-EB8E7BD2AA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0_spring_pa_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2020_spring_pa_0</Template>
  <TotalTime>0</TotalTime>
  <Words>6957</Words>
  <Application>WPS 演示</Application>
  <PresentationFormat>宽屏</PresentationFormat>
  <Paragraphs>1195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幼圆</vt:lpstr>
      <vt:lpstr>等线</vt:lpstr>
      <vt:lpstr>Arial Unicode MS</vt:lpstr>
      <vt:lpstr>Consolas</vt:lpstr>
      <vt:lpstr>2020_spring_pa_0</vt:lpstr>
      <vt:lpstr>PA 1-1 – 数据的表示和存取</vt:lpstr>
      <vt:lpstr>前言</vt:lpstr>
      <vt:lpstr>目录</vt:lpstr>
      <vt:lpstr>目录</vt:lpstr>
      <vt:lpstr>知识点</vt:lpstr>
      <vt:lpstr>知识点</vt:lpstr>
      <vt:lpstr>数据的类型及其机器级表示</vt:lpstr>
      <vt:lpstr>数据的类型及其机器级表示</vt:lpstr>
      <vt:lpstr>机器数的存取</vt:lpstr>
      <vt:lpstr>机器数的存取</vt:lpstr>
      <vt:lpstr>机器数的存取</vt:lpstr>
      <vt:lpstr>机器数的存取</vt:lpstr>
      <vt:lpstr>机器数的存取</vt:lpstr>
      <vt:lpstr>机器数的存取</vt:lpstr>
      <vt:lpstr>知识点</vt:lpstr>
      <vt:lpstr>机器数的存取：内存的模拟</vt:lpstr>
      <vt:lpstr>机器数的存取：内存的模拟</vt:lpstr>
      <vt:lpstr>机器数的存取：内存的模拟</vt:lpstr>
      <vt:lpstr>机器数的存取：内存的模拟</vt:lpstr>
      <vt:lpstr>机器数的存取：内存的模拟</vt:lpstr>
      <vt:lpstr>机器数的存取：内存的模拟</vt:lpstr>
      <vt:lpstr>机器数的存取：内存的模拟</vt:lpstr>
      <vt:lpstr>机器数的存取：内存的模拟</vt:lpstr>
      <vt:lpstr>机器数的存取：内存的模拟</vt:lpstr>
      <vt:lpstr>机器数的存取：内存的模拟</vt:lpstr>
      <vt:lpstr>机器数的存取：内存的模拟</vt:lpstr>
      <vt:lpstr>机器数的存取：内存的模拟</vt:lpstr>
      <vt:lpstr>PowerPoint 演示文稿</vt:lpstr>
      <vt:lpstr>机器数的存取</vt:lpstr>
      <vt:lpstr>知识点</vt:lpstr>
      <vt:lpstr>机器数的存取：寄存器的模拟</vt:lpstr>
      <vt:lpstr>机器数的存取：寄存器的模拟</vt:lpstr>
      <vt:lpstr>寄存器的模拟</vt:lpstr>
      <vt:lpstr>机器数的存取：寄存器的模拟</vt:lpstr>
      <vt:lpstr>测试PA 1-1</vt:lpstr>
      <vt:lpstr>测试PA 1-1</vt:lpstr>
      <vt:lpstr>测试PA 1-1</vt:lpstr>
      <vt:lpstr>机器数的存取</vt:lpstr>
      <vt:lpstr>PA 1-1 结束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 0 – 实验环境配置与PA简介</dc:title>
  <dc:creator>wangliang</dc:creator>
  <cp:lastModifiedBy>汪亮</cp:lastModifiedBy>
  <cp:revision>329</cp:revision>
  <dcterms:created xsi:type="dcterms:W3CDTF">2020-02-27T03:11:00Z</dcterms:created>
  <dcterms:modified xsi:type="dcterms:W3CDTF">2025-09-02T04:46:17Z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319EC2329E0A45FC8A90A474C46CC5F8_12</vt:lpwstr>
  </property>
  <property fmtid="{D5CDD505-2E9C-101B-9397-08002B2CF9AE}" pid="3" name="KSOProductBuildVer">
    <vt:lpwstr>2052-12.1.0.22529</vt:lpwstr>
  </property>
</Properties>
</file>