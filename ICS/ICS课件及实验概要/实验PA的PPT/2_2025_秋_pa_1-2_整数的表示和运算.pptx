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84" r:id="rId3"/>
    <p:sldId id="279" r:id="rId4"/>
    <p:sldId id="257" r:id="rId5"/>
    <p:sldId id="288" r:id="rId6"/>
    <p:sldId id="294" r:id="rId7"/>
    <p:sldId id="259" r:id="rId8"/>
    <p:sldId id="258" r:id="rId9"/>
    <p:sldId id="278" r:id="rId10"/>
    <p:sldId id="282" r:id="rId11"/>
    <p:sldId id="283" r:id="rId12"/>
    <p:sldId id="292" r:id="rId13"/>
    <p:sldId id="260" r:id="rId14"/>
    <p:sldId id="261" r:id="rId15"/>
    <p:sldId id="293" r:id="rId16"/>
    <p:sldId id="264" r:id="rId17"/>
    <p:sldId id="262" r:id="rId18"/>
    <p:sldId id="263" r:id="rId19"/>
    <p:sldId id="265" r:id="rId20"/>
    <p:sldId id="276" r:id="rId21"/>
    <p:sldId id="289" r:id="rId22"/>
    <p:sldId id="290" r:id="rId23"/>
    <p:sldId id="266" r:id="rId24"/>
    <p:sldId id="281" r:id="rId25"/>
    <p:sldId id="286" r:id="rId26"/>
    <p:sldId id="267" r:id="rId27"/>
    <p:sldId id="291" r:id="rId28"/>
    <p:sldId id="275" r:id="rId29"/>
    <p:sldId id="269" r:id="rId30"/>
    <p:sldId id="270" r:id="rId31"/>
    <p:sldId id="277" r:id="rId32"/>
    <p:sldId id="285" r:id="rId33"/>
    <p:sldId id="280" r:id="rId34"/>
    <p:sldId id="271" r:id="rId35"/>
    <p:sldId id="295" r:id="rId36"/>
    <p:sldId id="273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2" autoAdjust="0"/>
    <p:restoredTop sz="95370" autoAdjust="0"/>
  </p:normalViewPr>
  <p:slideViewPr>
    <p:cSldViewPr snapToGrid="0">
      <p:cViewPr varScale="1">
        <p:scale>
          <a:sx n="85" d="100"/>
          <a:sy n="85" d="100"/>
        </p:scale>
        <p:origin x="495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7222B-C39D-4AE2-AD91-83A4679338AD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31820-6BDF-4A47-B026-1CDB3C4248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C31820-6BDF-4A47-B026-1CDB3C42484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ADC</a:t>
            </a:r>
            <a:r>
              <a:rPr lang="zh-CN" altLang="en-US"/>
              <a:t>需要对</a:t>
            </a:r>
            <a:r>
              <a:rPr lang="en-US" altLang="zh-CN"/>
              <a:t>CF</a:t>
            </a:r>
            <a:r>
              <a:rPr lang="zh-CN" altLang="en-US"/>
              <a:t>进行分情况讨论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SUB</a:t>
            </a:r>
            <a:r>
              <a:rPr lang="zh-CN" altLang="en-US"/>
              <a:t>直接转换成补码加法后，不能直接复用</a:t>
            </a:r>
            <a:r>
              <a:rPr lang="en-US" altLang="zh-CN"/>
              <a:t>add</a:t>
            </a:r>
            <a:r>
              <a:rPr lang="zh-CN" altLang="en-US"/>
              <a:t>的</a:t>
            </a:r>
            <a:r>
              <a:rPr lang="en-US" altLang="zh-CN"/>
              <a:t>CF</a:t>
            </a:r>
            <a:r>
              <a:rPr lang="zh-CN" altLang="en-US"/>
              <a:t>判断逻辑，例如</a:t>
            </a:r>
            <a:r>
              <a:rPr lang="en-US" altLang="zh-CN"/>
              <a:t>1-1</a:t>
            </a:r>
            <a:r>
              <a:rPr lang="zh-CN" altLang="en-US"/>
              <a:t>，转换成补码后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31820-6BDF-4A47-B026-1CDB3C424849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05AE-46D6-4DBC-9686-0EE90ACC3BD7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BA0E3-E9C1-4CEE-88D2-5D9ACE7CFFA3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C3A1-A853-4DEB-86C0-A489EF096BE9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D67E-577B-48D9-B649-AC65C2D7DDA4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5B7E-9A89-4E4C-95D9-2D8BFBEF04BA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5AD80-70B4-4E94-8CE3-8B01B7601480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066C1-1CE7-4280-B0D1-E6F9402AA0DC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9303E-5355-4433-8FAE-819E4F8D5C28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2918-4C1B-467E-B080-DE7B965DE63A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B271-CD44-4092-A22C-1A4A30C7DE31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3E2569A2-3055-4783-9980-A66B27C543A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B93AB2AF-F699-4493-A230-66784F1A7F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2692400"/>
            <a:ext cx="9144000" cy="1203642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1-2 – </a:t>
            </a:r>
            <a:r>
              <a:rPr lang="zh-CN" altLang="en-US" sz="4800"/>
              <a:t>整数的表示和运算</a:t>
            </a:r>
            <a:endParaRPr lang="zh-CN" altLang="en-US" sz="4800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/>
              <a:t>2</a:t>
            </a:r>
            <a:r>
              <a:rPr lang="zh-CN" altLang="en-US" dirty="0"/>
              <a:t>日</a:t>
            </a:r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9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>
                <a:sym typeface="+mn-ea"/>
              </a:rPr>
              <a:t>3</a:t>
            </a:r>
            <a:r>
              <a:rPr lang="zh-CN" altLang="en-US" dirty="0">
                <a:sym typeface="+mn-ea"/>
              </a:rPr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D9D72-E1FB-4732-9AAA-07A7B9C0E590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3460531" cy="732539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对数据的处理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00551" y="3107580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</a:p>
        </p:txBody>
      </p:sp>
      <p:sp>
        <p:nvSpPr>
          <p:cNvPr id="8" name="矩形 7"/>
          <p:cNvSpPr/>
          <p:nvPr/>
        </p:nvSpPr>
        <p:spPr>
          <a:xfrm>
            <a:off x="7478110" y="3107580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存储器</a:t>
            </a:r>
            <a:endParaRPr lang="en-US" altLang="zh-CN" sz="2800" dirty="0"/>
          </a:p>
          <a:p>
            <a:pPr algn="ctr"/>
            <a:r>
              <a:rPr lang="zh-CN" altLang="en-US" sz="2800" dirty="0"/>
              <a:t>（机器数）</a:t>
            </a:r>
          </a:p>
        </p:txBody>
      </p:sp>
      <p:cxnSp>
        <p:nvCxnSpPr>
          <p:cNvPr id="10" name="肘形连接符 9"/>
          <p:cNvCxnSpPr>
            <a:stCxn id="8" idx="0"/>
            <a:endCxn id="7" idx="0"/>
          </p:cNvCxnSpPr>
          <p:nvPr/>
        </p:nvCxnSpPr>
        <p:spPr>
          <a:xfrm rot="16200000" flipV="1">
            <a:off x="6134100" y="918800"/>
            <a:ext cx="12700" cy="4377559"/>
          </a:xfrm>
          <a:prstGeom prst="bentConnector3">
            <a:avLst>
              <a:gd name="adj1" fmla="val 3372402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2"/>
            <a:endCxn id="8" idx="2"/>
          </p:cNvCxnSpPr>
          <p:nvPr/>
        </p:nvCxnSpPr>
        <p:spPr>
          <a:xfrm rot="16200000" flipH="1">
            <a:off x="6134099" y="2568924"/>
            <a:ext cx="12700" cy="4377559"/>
          </a:xfrm>
          <a:prstGeom prst="bentConnector3">
            <a:avLst>
              <a:gd name="adj1" fmla="val 3537913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097517" y="1986955"/>
            <a:ext cx="2879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(1) </a:t>
            </a:r>
            <a:r>
              <a:rPr lang="zh-CN" altLang="en-US" sz="3200" i="1" dirty="0"/>
              <a:t>读数据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790089" y="3624378"/>
            <a:ext cx="193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(2) </a:t>
            </a:r>
            <a:r>
              <a:rPr lang="zh-CN" altLang="en-US" sz="3200" i="1" dirty="0"/>
              <a:t>运算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172183" y="5333854"/>
            <a:ext cx="2305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(3) </a:t>
            </a:r>
            <a:r>
              <a:rPr lang="zh-CN" altLang="en-US" sz="3200" i="1" dirty="0"/>
              <a:t>写结果</a:t>
            </a:r>
          </a:p>
        </p:txBody>
      </p:sp>
      <p:sp>
        <p:nvSpPr>
          <p:cNvPr id="19" name="线形标注 2 18"/>
          <p:cNvSpPr/>
          <p:nvPr/>
        </p:nvSpPr>
        <p:spPr>
          <a:xfrm>
            <a:off x="720709" y="4974599"/>
            <a:ext cx="2154621" cy="1303283"/>
          </a:xfrm>
          <a:prstGeom prst="borderCallout2">
            <a:avLst>
              <a:gd name="adj1" fmla="val 18750"/>
              <a:gd name="adj2" fmla="val 102817"/>
              <a:gd name="adj3" fmla="val 18750"/>
              <a:gd name="adj4" fmla="val 111155"/>
              <a:gd name="adj5" fmla="val -27823"/>
              <a:gd name="adj6" fmla="val 133194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accent5"/>
                </a:solidFill>
              </a:rPr>
              <a:t>PA 1-2</a:t>
            </a:r>
          </a:p>
          <a:p>
            <a:pPr algn="ctr"/>
            <a:r>
              <a:rPr lang="en-US" altLang="zh-CN" sz="3200" dirty="0">
                <a:solidFill>
                  <a:schemeClr val="accent5"/>
                </a:solidFill>
              </a:rPr>
              <a:t>PA 1-3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sp>
        <p:nvSpPr>
          <p:cNvPr id="20" name="线形标注 2 19"/>
          <p:cNvSpPr/>
          <p:nvPr/>
        </p:nvSpPr>
        <p:spPr>
          <a:xfrm>
            <a:off x="10071538" y="2139355"/>
            <a:ext cx="2154621" cy="1303283"/>
          </a:xfrm>
          <a:prstGeom prst="borderCallout2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PA 1-1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0058400" y="6030686"/>
            <a:ext cx="12954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254343" y="5572943"/>
            <a:ext cx="109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40169" y="1426586"/>
            <a:ext cx="7911662" cy="38168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pa_nju</a:t>
            </a:r>
            <a:r>
              <a:rPr lang="en-US" altLang="zh-CN" sz="2400" dirty="0">
                <a:latin typeface="Consolas" panose="020B0609020204030204" pitchFamily="49" charset="0"/>
              </a:rPr>
              <a:t>$ make clean</a:t>
            </a: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pa_nju</a:t>
            </a:r>
            <a:r>
              <a:rPr lang="en-US" altLang="zh-CN" sz="2400" dirty="0">
                <a:latin typeface="Consolas" panose="020B0609020204030204" pitchFamily="49" charset="0"/>
              </a:rPr>
              <a:t>$ make test_pa-1</a:t>
            </a: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 --test-</a:t>
            </a:r>
            <a:r>
              <a:rPr lang="en-US" altLang="zh-CN" sz="2400" dirty="0" err="1">
                <a:latin typeface="Consolas" panose="020B0609020204030204" pitchFamily="49" charset="0"/>
              </a:rPr>
              <a:t>reg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NEMU execute built-in tests</a:t>
            </a: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reg_test</a:t>
            </a:r>
            <a:r>
              <a:rPr lang="en-US" altLang="zh-CN" sz="2400" dirty="0">
                <a:latin typeface="Consolas" panose="020B0609020204030204" pitchFamily="49" charset="0"/>
              </a:rPr>
              <a:t>()      </a:t>
            </a:r>
            <a:r>
              <a:rPr lang="en-US" altLang="zh-CN" sz="2400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 --test-</a:t>
            </a:r>
            <a:r>
              <a:rPr lang="en-US" altLang="zh-CN" sz="2400" dirty="0" err="1">
                <a:latin typeface="Consolas" panose="020B0609020204030204" pitchFamily="49" charset="0"/>
              </a:rPr>
              <a:t>alu</a:t>
            </a:r>
            <a:r>
              <a:rPr lang="en-US" altLang="zh-CN" sz="2400" dirty="0">
                <a:latin typeface="Consolas" panose="020B0609020204030204" pitchFamily="49" charset="0"/>
              </a:rPr>
              <a:t> add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NEMU execute built-in tests</a:t>
            </a:r>
          </a:p>
          <a:p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Please implement me at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alu.c</a:t>
            </a:r>
            <a:endParaRPr lang="en-US" altLang="zh-CN" sz="2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40169" y="5243439"/>
            <a:ext cx="3886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需要实现</a:t>
            </a:r>
            <a:r>
              <a:rPr lang="en-US" altLang="zh-CN" sz="3200" b="1" dirty="0" err="1">
                <a:solidFill>
                  <a:srgbClr val="C00000"/>
                </a:solidFill>
              </a:rPr>
              <a:t>alu</a:t>
            </a:r>
            <a:r>
              <a:rPr lang="zh-CN" altLang="en-US" sz="3200" b="1" dirty="0">
                <a:solidFill>
                  <a:srgbClr val="C00000"/>
                </a:solidFill>
              </a:rPr>
              <a:t>的功能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140169" y="858129"/>
            <a:ext cx="7480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通过尝试测试，发现我们需要实现</a:t>
            </a:r>
            <a:r>
              <a:rPr lang="en-US" altLang="zh-CN" sz="2400"/>
              <a:t>ALU</a:t>
            </a:r>
            <a:r>
              <a:rPr lang="zh-CN" altLang="en-US" sz="2400"/>
              <a:t>中的相应功能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b="1" dirty="0"/>
              <a:t>PA 1-1 </a:t>
            </a:r>
            <a:r>
              <a:rPr lang="zh-CN" altLang="en-US" b="1" dirty="0"/>
              <a:t>数据的类型和存取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PA 1-2 </a:t>
            </a:r>
            <a:r>
              <a:rPr lang="zh-CN" altLang="en-US" b="1" dirty="0">
                <a:solidFill>
                  <a:srgbClr val="C00000"/>
                </a:solidFill>
              </a:rPr>
              <a:t>整数的表示和运算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b="1" dirty="0"/>
              <a:t>PA 1-3 </a:t>
            </a:r>
            <a:r>
              <a:rPr lang="zh-CN" altLang="en-US" b="1" dirty="0"/>
              <a:t>浮点数的表示和运算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0719-23B1-4676-A32E-50629200FFE7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3055967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1-2 </a:t>
            </a:r>
            <a:r>
              <a:rPr lang="zh-CN" altLang="en-US" b="1" dirty="0">
                <a:solidFill>
                  <a:srgbClr val="C00000"/>
                </a:solidFill>
              </a:rPr>
              <a:t>整数的表示和运算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pPr lvl="1"/>
            <a:r>
              <a:rPr lang="zh-CN" altLang="en-US" dirty="0"/>
              <a:t>无符号整数和带符号整数的机器级表示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对</a:t>
            </a:r>
            <a:r>
              <a:rPr lang="en-US" altLang="zh-CN" dirty="0"/>
              <a:t>ALU</a:t>
            </a:r>
            <a:r>
              <a:rPr lang="zh-CN" altLang="en-US" dirty="0"/>
              <a:t>的模拟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en-US" altLang="zh-CN" dirty="0"/>
              <a:t>ADD</a:t>
            </a:r>
            <a:r>
              <a:rPr lang="zh-CN" altLang="en-US" dirty="0"/>
              <a:t>运算为例，在模拟</a:t>
            </a:r>
            <a:r>
              <a:rPr lang="en-US" altLang="zh-CN" dirty="0"/>
              <a:t>ALU</a:t>
            </a:r>
            <a:r>
              <a:rPr lang="zh-CN" altLang="en-US" dirty="0"/>
              <a:t>中实现运算功能并测试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1-2 </a:t>
            </a:r>
            <a:r>
              <a:rPr lang="zh-CN" altLang="en-US" b="1" dirty="0">
                <a:solidFill>
                  <a:srgbClr val="C00000"/>
                </a:solidFill>
              </a:rPr>
              <a:t>整数的表示和运算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无符号整数和带符号整数的机器级表示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对</a:t>
            </a:r>
            <a:r>
              <a:rPr lang="en-US" altLang="zh-CN" dirty="0"/>
              <a:t>ALU</a:t>
            </a:r>
            <a:r>
              <a:rPr lang="zh-CN" altLang="en-US" dirty="0"/>
              <a:t>的模拟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en-US" altLang="zh-CN" dirty="0"/>
              <a:t>ADD</a:t>
            </a:r>
            <a:r>
              <a:rPr lang="zh-CN" altLang="en-US" dirty="0"/>
              <a:t>运算为例，在模拟</a:t>
            </a:r>
            <a:r>
              <a:rPr lang="en-US" altLang="zh-CN" dirty="0"/>
              <a:t>ALU</a:t>
            </a:r>
            <a:r>
              <a:rPr lang="zh-CN" altLang="en-US" dirty="0"/>
              <a:t>中实现运算功能并测试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数据的类型及其机器级表示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2112579"/>
            <a:ext cx="4141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数据（真值）的类型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60451" y="3059163"/>
            <a:ext cx="74003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无符号整数                        直接编码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123, 0x8048000</a:t>
            </a:r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带符号整数           原码、补码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、反码、移码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-123, 123</a:t>
            </a:r>
          </a:p>
          <a:p>
            <a:endParaRPr lang="en-US" altLang="zh-CN" dirty="0"/>
          </a:p>
        </p:txBody>
      </p:sp>
      <p:sp>
        <p:nvSpPr>
          <p:cNvPr id="3" name="右箭头 2"/>
          <p:cNvSpPr/>
          <p:nvPr/>
        </p:nvSpPr>
        <p:spPr>
          <a:xfrm>
            <a:off x="5136930" y="1778649"/>
            <a:ext cx="3016470" cy="12526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编码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324193" y="2112579"/>
            <a:ext cx="2070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机器数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88450" y="3363591"/>
            <a:ext cx="3205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1010010010…</a:t>
            </a:r>
          </a:p>
          <a:p>
            <a:r>
              <a:rPr lang="zh-CN" altLang="en-US" sz="3600" dirty="0"/>
              <a:t>二进制位串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390900" y="3352800"/>
            <a:ext cx="169216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3390900" y="4282967"/>
            <a:ext cx="50186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8197851" y="3305648"/>
            <a:ext cx="851340" cy="345144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8288502" y="3936009"/>
            <a:ext cx="760689" cy="29980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整数的表示和运算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无符号整数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978472" y="2056665"/>
            <a:ext cx="78802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32</a:t>
            </a:r>
            <a:r>
              <a:rPr lang="zh-CN" altLang="en-US" sz="2800" dirty="0"/>
              <a:t>位整数：</a:t>
            </a:r>
            <a:r>
              <a:rPr lang="en-US" altLang="zh-CN" sz="2800" dirty="0"/>
              <a:t>0x0 ~ 0xFFFFFFFF</a:t>
            </a:r>
            <a:r>
              <a:rPr lang="zh-CN" altLang="en-US" sz="2800" dirty="0"/>
              <a:t>（</a:t>
            </a:r>
            <a:r>
              <a:rPr lang="en-US" altLang="zh-CN" sz="2800" dirty="0"/>
              <a:t>32</a:t>
            </a:r>
            <a:r>
              <a:rPr lang="zh-CN" altLang="en-US" sz="2800" dirty="0"/>
              <a:t>个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902970" y="2891352"/>
            <a:ext cx="8775602" cy="3117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二进制编码：熟练掌握不同进制之间的转换方法</a:t>
            </a:r>
            <a:endParaRPr lang="en-US" altLang="zh-CN" dirty="0"/>
          </a:p>
        </p:txBody>
      </p:sp>
      <p:sp>
        <p:nvSpPr>
          <p:cNvPr id="10" name="文本框 9"/>
          <p:cNvSpPr txBox="1"/>
          <p:nvPr/>
        </p:nvSpPr>
        <p:spPr>
          <a:xfrm>
            <a:off x="3475917" y="3833696"/>
            <a:ext cx="43482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    1010</a:t>
            </a:r>
            <a:r>
              <a:rPr lang="en-US" altLang="zh-CN" sz="3200" dirty="0">
                <a:solidFill>
                  <a:srgbClr val="C00000"/>
                </a:solidFill>
              </a:rPr>
              <a:t>B</a:t>
            </a:r>
            <a:r>
              <a:rPr lang="en-US" altLang="zh-CN" sz="3200" dirty="0"/>
              <a:t> </a:t>
            </a:r>
          </a:p>
          <a:p>
            <a:r>
              <a:rPr lang="en-US" altLang="zh-CN" sz="3200" dirty="0"/>
              <a:t>=     12</a:t>
            </a:r>
            <a:r>
              <a:rPr lang="en-US" altLang="zh-CN" sz="3200" dirty="0">
                <a:solidFill>
                  <a:srgbClr val="C00000"/>
                </a:solidFill>
              </a:rPr>
              <a:t>O</a:t>
            </a:r>
          </a:p>
          <a:p>
            <a:r>
              <a:rPr lang="en-US" altLang="zh-CN" sz="3200" dirty="0"/>
              <a:t>=     10</a:t>
            </a:r>
            <a:r>
              <a:rPr lang="en-US" altLang="zh-CN" sz="3200" dirty="0">
                <a:solidFill>
                  <a:srgbClr val="C00000"/>
                </a:solidFill>
              </a:rPr>
              <a:t>D</a:t>
            </a:r>
            <a:endParaRPr lang="en-US" altLang="zh-CN" sz="3200" dirty="0"/>
          </a:p>
          <a:p>
            <a:r>
              <a:rPr lang="en-US" altLang="zh-CN" sz="3200" dirty="0"/>
              <a:t>=       A</a:t>
            </a:r>
            <a:r>
              <a:rPr lang="en-US" altLang="zh-CN" sz="3200" dirty="0">
                <a:solidFill>
                  <a:srgbClr val="C00000"/>
                </a:solidFill>
              </a:rPr>
              <a:t>H</a:t>
            </a:r>
            <a:r>
              <a:rPr lang="en-US" altLang="zh-CN" sz="3200" dirty="0"/>
              <a:t>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整数的表示和运算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带符号</a:t>
            </a:r>
            <a:r>
              <a:rPr lang="zh-CN" altLang="en-US" dirty="0"/>
              <a:t>整数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38200" y="2062037"/>
            <a:ext cx="98408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原码表示法：最高位为符号位</a:t>
            </a:r>
            <a:endParaRPr lang="en-US" altLang="zh-CN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补码表示法（普遍采用）：各位取反末位加一</a:t>
            </a:r>
            <a:endParaRPr lang="en-US" altLang="zh-CN" sz="2800" dirty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用加法来实现减法</a:t>
            </a:r>
            <a:endParaRPr lang="en-US" altLang="zh-CN" sz="2800" dirty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可以试试</a:t>
            </a:r>
            <a:r>
              <a:rPr lang="en-US" altLang="zh-CN" sz="2800" dirty="0"/>
              <a:t>X+(-X)</a:t>
            </a:r>
            <a:r>
              <a:rPr lang="zh-CN" altLang="en-US" sz="2800" dirty="0"/>
              <a:t>等于多少，其中</a:t>
            </a:r>
            <a:r>
              <a:rPr lang="en-US" altLang="zh-CN" sz="2800" dirty="0"/>
              <a:t>X</a:t>
            </a:r>
            <a:r>
              <a:rPr lang="zh-CN" altLang="en-US" sz="2800" dirty="0"/>
              <a:t>为某一</a:t>
            </a:r>
            <a:r>
              <a:rPr lang="en-US" altLang="zh-CN" sz="2800" dirty="0"/>
              <a:t>32</a:t>
            </a:r>
            <a:r>
              <a:rPr lang="zh-CN" altLang="en-US" sz="2800" dirty="0"/>
              <a:t>位正整数，</a:t>
            </a:r>
            <a:r>
              <a:rPr lang="en-US" altLang="zh-CN" sz="2800" dirty="0"/>
              <a:t>-X</a:t>
            </a:r>
            <a:r>
              <a:rPr lang="zh-CN" altLang="en-US" sz="2800" dirty="0"/>
              <a:t>为其补码表示，运算结果截取低</a:t>
            </a:r>
            <a:r>
              <a:rPr lang="en-US" altLang="zh-CN" sz="2800"/>
              <a:t>32</a:t>
            </a:r>
            <a:r>
              <a:rPr lang="zh-CN" altLang="en-US" sz="2800"/>
              <a:t>位</a:t>
            </a:r>
            <a:endParaRPr lang="en-US" altLang="zh-CN" sz="2800"/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zh-CN" altLang="en-US" sz="2800"/>
              <a:t>移码表示法：增加偏置常数，将在浮点数的</a:t>
            </a:r>
            <a:r>
              <a:rPr lang="en-US" altLang="zh-CN" sz="2800"/>
              <a:t>IEEE 754</a:t>
            </a:r>
            <a:r>
              <a:rPr lang="zh-CN" altLang="en-US" sz="2800"/>
              <a:t>标准中得到应用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数据的类型及其机器级表示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2112579"/>
            <a:ext cx="4141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数据（真值）的类型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60451" y="3059163"/>
            <a:ext cx="74003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无符号整数                        直接编码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123, 0x8048000</a:t>
            </a:r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带符号整数           原码、补码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、反码、移码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-123, 123</a:t>
            </a:r>
          </a:p>
          <a:p>
            <a:endParaRPr lang="en-US" altLang="zh-CN" dirty="0"/>
          </a:p>
        </p:txBody>
      </p:sp>
      <p:sp>
        <p:nvSpPr>
          <p:cNvPr id="3" name="右箭头 2"/>
          <p:cNvSpPr/>
          <p:nvPr/>
        </p:nvSpPr>
        <p:spPr>
          <a:xfrm>
            <a:off x="5136930" y="1778649"/>
            <a:ext cx="3016470" cy="12526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编码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324193" y="2112579"/>
            <a:ext cx="2070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机器数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88450" y="3363591"/>
            <a:ext cx="3205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1010010010…</a:t>
            </a:r>
          </a:p>
          <a:p>
            <a:r>
              <a:rPr lang="zh-CN" altLang="en-US" sz="3600" dirty="0"/>
              <a:t>二进制位串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390900" y="3352800"/>
            <a:ext cx="169216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3390900" y="4282967"/>
            <a:ext cx="50186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8197851" y="3305648"/>
            <a:ext cx="851340" cy="345144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8288502" y="3936009"/>
            <a:ext cx="760689" cy="29980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箭头: 下 7"/>
          <p:cNvSpPr/>
          <p:nvPr/>
        </p:nvSpPr>
        <p:spPr>
          <a:xfrm>
            <a:off x="9798148" y="4684542"/>
            <a:ext cx="801858" cy="9706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29992" y="4853354"/>
            <a:ext cx="213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>
                <a:solidFill>
                  <a:srgbClr val="FF0000"/>
                </a:solidFill>
              </a:rPr>
              <a:t>小端方式</a:t>
            </a:r>
          </a:p>
        </p:txBody>
      </p:sp>
      <p:sp>
        <p:nvSpPr>
          <p:cNvPr id="15" name="矩形 14"/>
          <p:cNvSpPr/>
          <p:nvPr/>
        </p:nvSpPr>
        <p:spPr>
          <a:xfrm>
            <a:off x="8913055" y="5760725"/>
            <a:ext cx="1187548" cy="590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寄存器</a:t>
            </a:r>
          </a:p>
        </p:txBody>
      </p:sp>
      <p:sp>
        <p:nvSpPr>
          <p:cNvPr id="18" name="矩形 17"/>
          <p:cNvSpPr/>
          <p:nvPr/>
        </p:nvSpPr>
        <p:spPr>
          <a:xfrm>
            <a:off x="10405403" y="5757163"/>
            <a:ext cx="1187548" cy="590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主存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718388" y="5867675"/>
            <a:ext cx="35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872045" y="5884383"/>
            <a:ext cx="10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存储器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机器数存储到存储器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17430" y="1589077"/>
            <a:ext cx="8264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机器数：</a:t>
            </a:r>
            <a:r>
              <a:rPr lang="en-US" altLang="zh-CN" sz="2800"/>
              <a:t>0x 12 34 56 78</a:t>
            </a:r>
            <a:endParaRPr lang="zh-CN" altLang="en-US" sz="2800"/>
          </a:p>
        </p:txBody>
      </p:sp>
      <p:sp>
        <p:nvSpPr>
          <p:cNvPr id="8" name="矩形 7"/>
          <p:cNvSpPr/>
          <p:nvPr/>
        </p:nvSpPr>
        <p:spPr>
          <a:xfrm>
            <a:off x="1871223" y="2808297"/>
            <a:ext cx="5964702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01574" y="2885241"/>
            <a:ext cx="1842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EAX </a:t>
            </a:r>
            <a:r>
              <a:rPr lang="zh-CN" altLang="en-US"/>
              <a:t>寄存器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40504" y="2453033"/>
            <a:ext cx="29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05574" y="2453033"/>
            <a:ext cx="50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31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871223" y="2844213"/>
            <a:ext cx="6134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/>
              <a:t>0001 0010 0011 0100 0101 0110 0111 1000</a:t>
            </a: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1860333" y="4574033"/>
          <a:ext cx="8862100" cy="848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6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483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0x78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0x34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6684580" y="5653743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）按字节编址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860333" y="5749159"/>
            <a:ext cx="3899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小端：低有效字节在低地址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86709" y="4050813"/>
            <a:ext cx="1284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低地址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0608129" y="4050813"/>
            <a:ext cx="180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高地址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97097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0x0</a:t>
            </a:r>
            <a:endParaRPr lang="zh-CN" altLang="en-US" sz="2400" dirty="0"/>
          </a:p>
        </p:txBody>
      </p:sp>
      <p:sp>
        <p:nvSpPr>
          <p:cNvPr id="33" name="文本框 32"/>
          <p:cNvSpPr txBox="1"/>
          <p:nvPr/>
        </p:nvSpPr>
        <p:spPr>
          <a:xfrm>
            <a:off x="286111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0x1</a:t>
            </a:r>
            <a:endParaRPr lang="zh-CN" altLang="en-US" sz="2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375124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0x2</a:t>
            </a:r>
            <a:endParaRPr lang="zh-CN" altLang="en-US" sz="2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464138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0x3</a:t>
            </a:r>
            <a:endParaRPr lang="zh-CN" altLang="en-US" sz="2400" dirty="0"/>
          </a:p>
        </p:txBody>
      </p:sp>
      <p:sp>
        <p:nvSpPr>
          <p:cNvPr id="36" name="文本框 35"/>
          <p:cNvSpPr txBox="1"/>
          <p:nvPr/>
        </p:nvSpPr>
        <p:spPr>
          <a:xfrm>
            <a:off x="5531521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0x4</a:t>
            </a:r>
            <a:endParaRPr lang="zh-CN" altLang="en-US" sz="2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642165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0x5</a:t>
            </a:r>
            <a:endParaRPr lang="zh-CN" altLang="en-US" sz="2400" dirty="0"/>
          </a:p>
        </p:txBody>
      </p:sp>
      <p:sp>
        <p:nvSpPr>
          <p:cNvPr id="38" name="文本框 37"/>
          <p:cNvSpPr txBox="1"/>
          <p:nvPr/>
        </p:nvSpPr>
        <p:spPr>
          <a:xfrm>
            <a:off x="731179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0x6</a:t>
            </a:r>
            <a:endParaRPr lang="zh-CN" altLang="en-US" sz="2400" dirty="0"/>
          </a:p>
        </p:txBody>
      </p:sp>
      <p:sp>
        <p:nvSpPr>
          <p:cNvPr id="39" name="文本框 38"/>
          <p:cNvSpPr txBox="1"/>
          <p:nvPr/>
        </p:nvSpPr>
        <p:spPr>
          <a:xfrm>
            <a:off x="820192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0x7</a:t>
            </a:r>
            <a:endParaRPr lang="zh-CN" altLang="en-US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909206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0x8</a:t>
            </a:r>
            <a:endParaRPr lang="zh-CN" altLang="en-US" sz="2400" dirty="0"/>
          </a:p>
        </p:txBody>
      </p:sp>
      <p:sp>
        <p:nvSpPr>
          <p:cNvPr id="41" name="文本框 40"/>
          <p:cNvSpPr txBox="1"/>
          <p:nvPr/>
        </p:nvSpPr>
        <p:spPr>
          <a:xfrm>
            <a:off x="9982200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0x9</a:t>
            </a:r>
            <a:endParaRPr lang="zh-CN" altLang="en-US" sz="2400" dirty="0"/>
          </a:p>
        </p:txBody>
      </p:sp>
      <p:sp>
        <p:nvSpPr>
          <p:cNvPr id="42" name="文本框 41"/>
          <p:cNvSpPr txBox="1"/>
          <p:nvPr/>
        </p:nvSpPr>
        <p:spPr>
          <a:xfrm>
            <a:off x="7835925" y="2445999"/>
            <a:ext cx="74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低位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148826" y="2445999"/>
            <a:ext cx="74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高位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63434" y="642174"/>
            <a:ext cx="3023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注意：习惯上内存低地址写在左边，寄存器的低位写在右边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1-2 </a:t>
            </a:r>
            <a:r>
              <a:rPr lang="zh-CN" altLang="en-US" b="1" dirty="0">
                <a:solidFill>
                  <a:srgbClr val="C00000"/>
                </a:solidFill>
              </a:rPr>
              <a:t>整数的表示和运算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pPr lvl="1"/>
            <a:r>
              <a:rPr lang="zh-CN" altLang="en-US" dirty="0"/>
              <a:t>无符号整数和带符号整数的机器级表示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NEMU</a:t>
            </a:r>
            <a:r>
              <a:rPr lang="zh-CN" altLang="en-US" dirty="0">
                <a:solidFill>
                  <a:srgbClr val="C00000"/>
                </a:solidFill>
              </a:rPr>
              <a:t>对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的模拟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en-US" altLang="zh-CN" dirty="0"/>
              <a:t>ADD</a:t>
            </a:r>
            <a:r>
              <a:rPr lang="zh-CN" altLang="en-US" dirty="0"/>
              <a:t>运算为例，在模拟</a:t>
            </a:r>
            <a:r>
              <a:rPr lang="en-US" altLang="zh-CN" dirty="0"/>
              <a:t>ALU</a:t>
            </a:r>
            <a:r>
              <a:rPr lang="zh-CN" altLang="en-US" dirty="0"/>
              <a:t>中实现运算功能并测试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整数的运算部件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113" y="1099128"/>
            <a:ext cx="8027687" cy="5638688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567559" y="4417892"/>
            <a:ext cx="3013841" cy="207053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算术逻辑单元</a:t>
            </a:r>
            <a:r>
              <a:rPr lang="en-US" altLang="zh-CN" sz="2800" dirty="0">
                <a:solidFill>
                  <a:srgbClr val="C00000"/>
                </a:solidFill>
              </a:rPr>
              <a:t>ALU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算术逻辑单元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5557"/>
            <a:ext cx="10515600" cy="3675436"/>
          </a:xfrm>
        </p:spPr>
        <p:txBody>
          <a:bodyPr/>
          <a:lstStyle/>
          <a:p>
            <a:r>
              <a:rPr lang="zh-CN" altLang="en-US" dirty="0"/>
              <a:t>我们对</a:t>
            </a:r>
            <a:r>
              <a:rPr lang="en-US" altLang="zh-CN" dirty="0"/>
              <a:t>ALU</a:t>
            </a:r>
            <a:r>
              <a:rPr lang="zh-CN" altLang="en-US" dirty="0"/>
              <a:t>的功能进行了抽象和包装</a:t>
            </a:r>
            <a:endParaRPr lang="en-US" altLang="zh-CN" dirty="0"/>
          </a:p>
          <a:p>
            <a:pPr lvl="1"/>
            <a:r>
              <a:rPr lang="zh-CN" altLang="en-US" dirty="0"/>
              <a:t>能进行各类算术运算：加减乘除、移位</a:t>
            </a:r>
          </a:p>
          <a:p>
            <a:pPr lvl="1"/>
            <a:r>
              <a:rPr lang="zh-CN" altLang="en-US" dirty="0"/>
              <a:t>能进行各种逻辑运算：与或非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dirty="0"/>
              <a:t>对应代码：</a:t>
            </a:r>
            <a:endParaRPr lang="en-US" altLang="zh-CN" dirty="0"/>
          </a:p>
          <a:p>
            <a:pPr lvl="1"/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/include/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alu.h</a:t>
            </a:r>
            <a:endParaRPr lang="en-US" altLang="zh-CN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alu.c</a:t>
            </a:r>
            <a:endParaRPr lang="en-US" altLang="zh-CN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348" y="2871953"/>
            <a:ext cx="5293822" cy="35154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1-2 </a:t>
            </a:r>
            <a:r>
              <a:rPr lang="zh-CN" altLang="en-US" b="1" dirty="0">
                <a:solidFill>
                  <a:srgbClr val="C00000"/>
                </a:solidFill>
              </a:rPr>
              <a:t>整数的表示和运算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pPr lvl="1"/>
            <a:r>
              <a:rPr lang="zh-CN" altLang="en-US" dirty="0"/>
              <a:t>无符号整数和带符号整数的机器级表示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对</a:t>
            </a:r>
            <a:r>
              <a:rPr lang="en-US" altLang="zh-CN" dirty="0"/>
              <a:t>ALU</a:t>
            </a:r>
            <a:r>
              <a:rPr lang="zh-CN" altLang="en-US" dirty="0"/>
              <a:t>的模拟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以</a:t>
            </a:r>
            <a:r>
              <a:rPr lang="en-US" altLang="zh-CN" dirty="0">
                <a:solidFill>
                  <a:srgbClr val="C00000"/>
                </a:solidFill>
              </a:rPr>
              <a:t>ADD</a:t>
            </a:r>
            <a:r>
              <a:rPr lang="zh-CN" altLang="en-US" dirty="0">
                <a:solidFill>
                  <a:srgbClr val="C00000"/>
                </a:solidFill>
              </a:rPr>
              <a:t>运算为例，在模拟</a:t>
            </a:r>
            <a:r>
              <a:rPr lang="en-US" altLang="zh-CN" dirty="0">
                <a:solidFill>
                  <a:srgbClr val="C00000"/>
                </a:solidFill>
              </a:rPr>
              <a:t>ALU</a:t>
            </a:r>
            <a:r>
              <a:rPr lang="zh-CN" altLang="en-US" dirty="0">
                <a:solidFill>
                  <a:srgbClr val="C00000"/>
                </a:solidFill>
              </a:rPr>
              <a:t>中实现运算功能并测试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实现对一种运算的模拟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38200" y="1621764"/>
            <a:ext cx="107877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第一步：找到需要实现的函数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test_pa-1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遇到错误提示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09192" y="2671577"/>
            <a:ext cx="7911662" cy="38168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pa_nju</a:t>
            </a:r>
            <a:r>
              <a:rPr lang="en-US" altLang="zh-CN" sz="2400" dirty="0">
                <a:latin typeface="Consolas" panose="020B0609020204030204" pitchFamily="49" charset="0"/>
              </a:rPr>
              <a:t>$ make clean</a:t>
            </a: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pa_nju</a:t>
            </a:r>
            <a:r>
              <a:rPr lang="en-US" altLang="zh-CN" sz="2400" dirty="0">
                <a:latin typeface="Consolas" panose="020B0609020204030204" pitchFamily="49" charset="0"/>
              </a:rPr>
              <a:t>$ make test_pa-1</a:t>
            </a: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 --test-</a:t>
            </a:r>
            <a:r>
              <a:rPr lang="en-US" altLang="zh-CN" sz="2400" dirty="0" err="1">
                <a:latin typeface="Consolas" panose="020B0609020204030204" pitchFamily="49" charset="0"/>
              </a:rPr>
              <a:t>reg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NEMU execute built-in tests</a:t>
            </a: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reg_test</a:t>
            </a:r>
            <a:r>
              <a:rPr lang="en-US" altLang="zh-CN" sz="2400" dirty="0">
                <a:latin typeface="Consolas" panose="020B0609020204030204" pitchFamily="49" charset="0"/>
              </a:rPr>
              <a:t>()      </a:t>
            </a:r>
            <a:r>
              <a:rPr lang="en-US" altLang="zh-CN" sz="2400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./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 --test-</a:t>
            </a:r>
            <a:r>
              <a:rPr lang="en-US" altLang="zh-CN" sz="2400" dirty="0" err="1">
                <a:latin typeface="Consolas" panose="020B0609020204030204" pitchFamily="49" charset="0"/>
              </a:rPr>
              <a:t>alu</a:t>
            </a:r>
            <a:r>
              <a:rPr lang="en-US" altLang="zh-CN" sz="2400" dirty="0">
                <a:latin typeface="Consolas" panose="020B0609020204030204" pitchFamily="49" charset="0"/>
              </a:rPr>
              <a:t> add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NEMU execute built-in tests</a:t>
            </a:r>
          </a:p>
          <a:p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Please implement me at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alu.c</a:t>
            </a:r>
            <a:endParaRPr lang="en-US" altLang="zh-CN" sz="2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432331" y="5150069"/>
            <a:ext cx="861848" cy="6411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78262" y="4885859"/>
            <a:ext cx="2711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需要实现</a:t>
            </a:r>
            <a:r>
              <a:rPr lang="en-US" altLang="zh-CN" sz="3200" b="1" dirty="0">
                <a:solidFill>
                  <a:srgbClr val="C00000"/>
                </a:solidFill>
              </a:rPr>
              <a:t>add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</a:t>
            </a:r>
            <a:r>
              <a:rPr lang="zh-CN" altLang="en-US"/>
              <a:t>逻辑单元的模拟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722029"/>
          </a:xfrm>
        </p:spPr>
        <p:txBody>
          <a:bodyPr/>
          <a:lstStyle/>
          <a:p>
            <a:r>
              <a:rPr lang="zh-CN" altLang="en-US" dirty="0"/>
              <a:t>取</a:t>
            </a:r>
            <a:r>
              <a:rPr lang="en-US" altLang="zh-CN" dirty="0"/>
              <a:t>add</a:t>
            </a:r>
            <a:r>
              <a:rPr lang="zh-CN" altLang="en-US" dirty="0"/>
              <a:t>为例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3103" y="2944692"/>
            <a:ext cx="106224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uint32_t alu_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add</a:t>
            </a:r>
            <a:r>
              <a:rPr lang="zh-CN" altLang="en-US" sz="2400" dirty="0">
                <a:latin typeface="Consolas" panose="020B0609020204030204" pitchFamily="49" charset="0"/>
              </a:rPr>
              <a:t>(uint32_t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zh-CN" altLang="en-US" sz="2400" dirty="0">
                <a:latin typeface="Consolas" panose="020B0609020204030204" pitchFamily="49" charset="0"/>
              </a:rPr>
              <a:t>, uint32_t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dest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data_size</a:t>
            </a:r>
            <a:r>
              <a:rPr lang="zh-CN" altLang="en-US" sz="2400" dirty="0">
                <a:latin typeface="Consolas" panose="020B0609020204030204" pitchFamily="49" charset="0"/>
              </a:rPr>
              <a:t>) {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rintf("\e[0;31mPlease implement me at alu.c\e[0m\n");</a:t>
            </a:r>
          </a:p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	assert(0);</a:t>
            </a:r>
          </a:p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	return 0;</a:t>
            </a:r>
          </a:p>
          <a:p>
            <a:r>
              <a:rPr lang="zh-CN" altLang="en-US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613103" y="2149876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函数名称，对应指令名称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2953407" y="2690879"/>
            <a:ext cx="199696" cy="33315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538717" y="2149876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参与运算的两个操作数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5372538" y="2656203"/>
            <a:ext cx="218965" cy="36782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7451834" y="2633872"/>
            <a:ext cx="249622" cy="36782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350984" y="2149717"/>
            <a:ext cx="31454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操作数长度：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8, 16, 32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0168758" y="2650633"/>
            <a:ext cx="249622" cy="3678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753149" y="465285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要替换成教程中说明的正确实现：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返回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 + 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src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的结果，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data_size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不足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32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时，高位清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设置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EFLAGS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标志位</a:t>
            </a:r>
          </a:p>
        </p:txBody>
      </p:sp>
      <p:cxnSp>
        <p:nvCxnSpPr>
          <p:cNvPr id="24" name="直接箭头连接符 23"/>
          <p:cNvCxnSpPr>
            <a:stCxn id="23" idx="1"/>
          </p:cNvCxnSpPr>
          <p:nvPr/>
        </p:nvCxnSpPr>
        <p:spPr>
          <a:xfrm flipH="1" flipV="1">
            <a:off x="4038600" y="4386932"/>
            <a:ext cx="714549" cy="1050749"/>
          </a:xfrm>
          <a:prstGeom prst="straightConnector1">
            <a:avLst/>
          </a:prstGeom>
          <a:ln>
            <a:solidFill>
              <a:schemeClr val="accent5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实现对一种运算的模拟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38200" y="1621764"/>
            <a:ext cx="107877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第二步：掏出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i386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手册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i386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Sec. 17.2.2.11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有关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指令的描述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p.g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261 of 421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Flags Affected: OF, SF, ZF, AF, CF, and PF as described in Appendix C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Appendix 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并仔细体会（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AF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不模拟）</a:t>
            </a: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实现对一种运算的模拟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453598"/>
            <a:ext cx="1078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第三步：按照手册规定的操作进行实现</a:t>
            </a:r>
          </a:p>
        </p:txBody>
      </p:sp>
      <p:sp>
        <p:nvSpPr>
          <p:cNvPr id="8" name="矩形 7"/>
          <p:cNvSpPr/>
          <p:nvPr/>
        </p:nvSpPr>
        <p:spPr>
          <a:xfrm>
            <a:off x="1298566" y="2407705"/>
            <a:ext cx="9867009" cy="3893374"/>
          </a:xfrm>
          <a:prstGeom prst="rect">
            <a:avLst/>
          </a:prstGeom>
          <a:ln w="12700"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900" dirty="0">
                <a:latin typeface="Consolas" panose="020B0609020204030204" pitchFamily="49" charset="0"/>
              </a:rPr>
              <a:t>uint32_t alu_add(uint32_t src, uint32_t dest</a:t>
            </a:r>
            <a:r>
              <a:rPr lang="en-US" altLang="zh-CN" sz="1900" dirty="0">
                <a:latin typeface="Consolas" panose="020B0609020204030204" pitchFamily="49" charset="0"/>
              </a:rPr>
              <a:t>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latin typeface="Consolas" panose="020B0609020204030204" pitchFamily="49" charset="0"/>
              </a:rPr>
              <a:t>) {</a:t>
            </a:r>
          </a:p>
          <a:p>
            <a:r>
              <a:rPr lang="zh-CN" altLang="en-US" sz="1900" dirty="0">
                <a:latin typeface="Consolas" panose="020B0609020204030204" pitchFamily="49" charset="0"/>
              </a:rPr>
              <a:t>	uint32_t res = 0;</a:t>
            </a:r>
          </a:p>
          <a:p>
            <a:r>
              <a:rPr lang="zh-CN" altLang="en-US" sz="1900" dirty="0">
                <a:latin typeface="Consolas" panose="020B0609020204030204" pitchFamily="49" charset="0"/>
              </a:rPr>
              <a:t>	res = dest + src;                  </a:t>
            </a:r>
            <a:r>
              <a:rPr lang="en-US" altLang="zh-CN" sz="1900" dirty="0">
                <a:latin typeface="Consolas" panose="020B0609020204030204" pitchFamily="49" charset="0"/>
              </a:rPr>
              <a:t>// </a:t>
            </a:r>
            <a:r>
              <a:rPr lang="zh-CN" altLang="en-US" sz="1900" dirty="0">
                <a:latin typeface="Consolas" panose="020B0609020204030204" pitchFamily="49" charset="0"/>
              </a:rPr>
              <a:t>获取计算结果</a:t>
            </a:r>
          </a:p>
          <a:p>
            <a:endParaRPr lang="zh-CN" altLang="en-US" sz="1900" dirty="0"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	</a:t>
            </a:r>
            <a:r>
              <a:rPr lang="zh-CN" alt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set_CF_add(res, src</a:t>
            </a:r>
            <a:r>
              <a:rPr lang="en-US" altLang="zh-CN" sz="19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zh-CN" altLang="en-US" sz="1900" dirty="0">
                <a:latin typeface="Consolas" panose="020B0609020204030204" pitchFamily="49" charset="0"/>
              </a:rPr>
              <a:t>;   </a:t>
            </a:r>
            <a:r>
              <a:rPr lang="en-US" altLang="zh-CN" sz="1900" dirty="0">
                <a:latin typeface="Consolas" panose="020B0609020204030204" pitchFamily="49" charset="0"/>
              </a:rPr>
              <a:t>// </a:t>
            </a:r>
            <a:r>
              <a:rPr lang="zh-CN" altLang="en-US" sz="1900" dirty="0">
                <a:latin typeface="Consolas" panose="020B0609020204030204" pitchFamily="49" charset="0"/>
              </a:rPr>
              <a:t>设置标志位</a:t>
            </a:r>
          </a:p>
          <a:p>
            <a:r>
              <a:rPr lang="zh-CN" altLang="en-US" sz="1900" dirty="0">
                <a:latin typeface="Consolas" panose="020B0609020204030204" pitchFamily="49" charset="0"/>
              </a:rPr>
              <a:t>	set_PF(res);</a:t>
            </a:r>
          </a:p>
          <a:p>
            <a:r>
              <a:rPr lang="zh-CN" altLang="en-US" sz="1900" dirty="0">
                <a:latin typeface="Consolas" panose="020B0609020204030204" pitchFamily="49" charset="0"/>
              </a:rPr>
              <a:t>	// set_AF();                       </a:t>
            </a:r>
            <a:r>
              <a:rPr lang="en-US" altLang="zh-CN" sz="1900" dirty="0">
                <a:latin typeface="Consolas" panose="020B0609020204030204" pitchFamily="49" charset="0"/>
              </a:rPr>
              <a:t>// </a:t>
            </a:r>
            <a:r>
              <a:rPr lang="zh-CN" altLang="en-US" sz="1900" dirty="0">
                <a:latin typeface="Consolas" panose="020B0609020204030204" pitchFamily="49" charset="0"/>
              </a:rPr>
              <a:t>我们不模拟</a:t>
            </a:r>
            <a:r>
              <a:rPr lang="en-US" altLang="zh-CN" sz="1900" dirty="0">
                <a:latin typeface="Consolas" panose="020B0609020204030204" pitchFamily="49" charset="0"/>
              </a:rPr>
              <a:t>AF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	set_ZF(res</a:t>
            </a:r>
            <a:r>
              <a:rPr lang="en-US" altLang="zh-CN" sz="1900" dirty="0">
                <a:latin typeface="Consolas" panose="020B0609020204030204" pitchFamily="49" charset="0"/>
              </a:rPr>
              <a:t>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900" dirty="0">
                <a:latin typeface="Consolas" panose="020B0609020204030204" pitchFamily="49" charset="0"/>
              </a:rPr>
              <a:t>	set_SF(res</a:t>
            </a:r>
            <a:r>
              <a:rPr lang="en-US" altLang="zh-CN" sz="1900" dirty="0">
                <a:latin typeface="Consolas" panose="020B0609020204030204" pitchFamily="49" charset="0"/>
              </a:rPr>
              <a:t>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900" dirty="0">
                <a:latin typeface="Consolas" panose="020B0609020204030204" pitchFamily="49" charset="0"/>
              </a:rPr>
              <a:t>	set_OF_add(res, src, dest</a:t>
            </a:r>
            <a:r>
              <a:rPr lang="en-US" altLang="zh-CN" sz="1900" dirty="0">
                <a:latin typeface="Consolas" panose="020B0609020204030204" pitchFamily="49" charset="0"/>
              </a:rPr>
              <a:t>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latin typeface="Consolas" panose="020B0609020204030204" pitchFamily="49" charset="0"/>
              </a:rPr>
              <a:t>);</a:t>
            </a:r>
          </a:p>
          <a:p>
            <a:endParaRPr lang="zh-CN" altLang="en-US" sz="1900" dirty="0"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latin typeface="Consolas" panose="020B0609020204030204" pitchFamily="49" charset="0"/>
              </a:rPr>
              <a:t>return res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)); // </a:t>
            </a:r>
            <a:r>
              <a:rPr lang="zh-CN" altLang="en-US" sz="1900" dirty="0">
                <a:latin typeface="Consolas" panose="020B0609020204030204" pitchFamily="49" charset="0"/>
              </a:rPr>
              <a:t>高位清零并返回</a:t>
            </a:r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7607262" y="1387975"/>
            <a:ext cx="374653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src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alu.c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add</a:t>
            </a:r>
            <a:r>
              <a:rPr lang="zh-CN" altLang="en-US" sz="2800" dirty="0">
                <a:solidFill>
                  <a:srgbClr val="0070C0"/>
                </a:solidFill>
              </a:rPr>
              <a:t>的参考实现方案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ADD</a:t>
            </a:r>
            <a:r>
              <a:rPr lang="zh-CN" altLang="en-US" dirty="0"/>
              <a:t>运算</a:t>
            </a:r>
            <a:r>
              <a:rPr lang="en-US" altLang="zh-CN" dirty="0"/>
              <a:t>CF</a:t>
            </a:r>
            <a:r>
              <a:rPr lang="zh-CN" altLang="en-US" dirty="0"/>
              <a:t>的判断逻辑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815937"/>
          </a:xfrm>
        </p:spPr>
        <p:txBody>
          <a:bodyPr/>
          <a:lstStyle/>
          <a:p>
            <a:r>
              <a:rPr lang="zh-CN" altLang="en-US" dirty="0"/>
              <a:t>参考</a:t>
            </a:r>
            <a:r>
              <a:rPr lang="zh-CN" altLang="en-US" dirty="0">
                <a:solidFill>
                  <a:srgbClr val="FF0000"/>
                </a:solidFill>
              </a:rPr>
              <a:t>表盘</a:t>
            </a:r>
            <a:r>
              <a:rPr lang="zh-CN" altLang="en-US" dirty="0"/>
              <a:t>这一模运算系统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64763" y="2854883"/>
            <a:ext cx="2638498" cy="26384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903740" y="4093860"/>
            <a:ext cx="160544" cy="1605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7" idx="0"/>
          </p:cNvCxnSpPr>
          <p:nvPr/>
        </p:nvCxnSpPr>
        <p:spPr>
          <a:xfrm flipV="1">
            <a:off x="1984012" y="2764142"/>
            <a:ext cx="0" cy="907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769851" y="2072440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</a:t>
            </a:r>
            <a:endParaRPr lang="zh-CN" altLang="en-US" sz="3600" dirty="0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984012" y="3442702"/>
            <a:ext cx="1078578" cy="70308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111888" y="3016327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</a:rPr>
              <a:t>dest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r>
              <a:rPr lang="zh-CN" altLang="en-US" dirty="0"/>
              <a:t>运算</a:t>
            </a:r>
            <a:r>
              <a:rPr lang="en-US" altLang="zh-CN" dirty="0"/>
              <a:t>CF</a:t>
            </a:r>
            <a:r>
              <a:rPr lang="zh-CN" altLang="en-US" dirty="0"/>
              <a:t>的判断逻辑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815937"/>
          </a:xfrm>
        </p:spPr>
        <p:txBody>
          <a:bodyPr/>
          <a:lstStyle/>
          <a:p>
            <a:r>
              <a:rPr lang="zh-CN" altLang="en-US" dirty="0"/>
              <a:t>参考表盘这一模运算系统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64763" y="2854883"/>
            <a:ext cx="2638498" cy="26384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903740" y="4093860"/>
            <a:ext cx="160544" cy="1605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7" idx="0"/>
          </p:cNvCxnSpPr>
          <p:nvPr/>
        </p:nvCxnSpPr>
        <p:spPr>
          <a:xfrm flipV="1">
            <a:off x="1984012" y="2764142"/>
            <a:ext cx="0" cy="907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769851" y="2072440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</a:t>
            </a:r>
            <a:endParaRPr lang="zh-CN" altLang="en-US" sz="3600" dirty="0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991574" y="3389463"/>
            <a:ext cx="1032480" cy="7942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111888" y="3016327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</a:rPr>
              <a:t>dest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827998" y="2854883"/>
            <a:ext cx="2638498" cy="26384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066975" y="4093860"/>
            <a:ext cx="160544" cy="1605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>
            <a:stCxn id="20" idx="0"/>
          </p:cNvCxnSpPr>
          <p:nvPr/>
        </p:nvCxnSpPr>
        <p:spPr>
          <a:xfrm flipV="1">
            <a:off x="6147247" y="2764142"/>
            <a:ext cx="0" cy="907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6154809" y="3374443"/>
            <a:ext cx="1012366" cy="80931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275123" y="3016327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</a:rPr>
              <a:t>dest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5921695" y="2882854"/>
            <a:ext cx="214164" cy="130090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921695" y="2066917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</a:t>
            </a:r>
            <a:endParaRPr lang="zh-CN" altLang="en-US" sz="3600" dirty="0"/>
          </a:p>
        </p:txBody>
      </p:sp>
      <p:sp>
        <p:nvSpPr>
          <p:cNvPr id="31" name="任意多边形 30"/>
          <p:cNvSpPr/>
          <p:nvPr/>
        </p:nvSpPr>
        <p:spPr>
          <a:xfrm>
            <a:off x="5720973" y="3943321"/>
            <a:ext cx="848720" cy="662354"/>
          </a:xfrm>
          <a:custGeom>
            <a:avLst/>
            <a:gdLst>
              <a:gd name="connsiteX0" fmla="*/ 723547 w 794094"/>
              <a:gd name="connsiteY0" fmla="*/ 0 h 517270"/>
              <a:gd name="connsiteX1" fmla="*/ 793397 w 794094"/>
              <a:gd name="connsiteY1" fmla="*/ 152400 h 517270"/>
              <a:gd name="connsiteX2" fmla="*/ 685447 w 794094"/>
              <a:gd name="connsiteY2" fmla="*/ 425450 h 517270"/>
              <a:gd name="connsiteX3" fmla="*/ 317147 w 794094"/>
              <a:gd name="connsiteY3" fmla="*/ 514350 h 517270"/>
              <a:gd name="connsiteX4" fmla="*/ 31397 w 794094"/>
              <a:gd name="connsiteY4" fmla="*/ 336550 h 517270"/>
              <a:gd name="connsiteX5" fmla="*/ 12347 w 794094"/>
              <a:gd name="connsiteY5" fmla="*/ 133350 h 517270"/>
              <a:gd name="connsiteX6" fmla="*/ 75847 w 794094"/>
              <a:gd name="connsiteY6" fmla="*/ 19050 h 51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4094" h="517270">
                <a:moveTo>
                  <a:pt x="723547" y="0"/>
                </a:moveTo>
                <a:cubicBezTo>
                  <a:pt x="761647" y="40746"/>
                  <a:pt x="799747" y="81492"/>
                  <a:pt x="793397" y="152400"/>
                </a:cubicBezTo>
                <a:cubicBezTo>
                  <a:pt x="787047" y="223308"/>
                  <a:pt x="764822" y="365125"/>
                  <a:pt x="685447" y="425450"/>
                </a:cubicBezTo>
                <a:cubicBezTo>
                  <a:pt x="606072" y="485775"/>
                  <a:pt x="426155" y="529167"/>
                  <a:pt x="317147" y="514350"/>
                </a:cubicBezTo>
                <a:cubicBezTo>
                  <a:pt x="208139" y="499533"/>
                  <a:pt x="82197" y="400050"/>
                  <a:pt x="31397" y="336550"/>
                </a:cubicBezTo>
                <a:cubicBezTo>
                  <a:pt x="-19403" y="273050"/>
                  <a:pt x="4939" y="186267"/>
                  <a:pt x="12347" y="133350"/>
                </a:cubicBezTo>
                <a:cubicBezTo>
                  <a:pt x="19755" y="80433"/>
                  <a:pt x="47801" y="49741"/>
                  <a:pt x="75847" y="19050"/>
                </a:cubicBezTo>
              </a:path>
            </a:pathLst>
          </a:custGeom>
          <a:noFill/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682531" y="4587862"/>
            <a:ext cx="108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/>
                </a:solidFill>
              </a:rPr>
              <a:t>+</a:t>
            </a:r>
            <a:r>
              <a:rPr lang="en-US" altLang="zh-CN" sz="2400" dirty="0" err="1">
                <a:solidFill>
                  <a:schemeClr val="accent6"/>
                </a:solidFill>
              </a:rPr>
              <a:t>src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64694" y="3016327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</a:rPr>
              <a:t>res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/>
          <p:cNvSpPr/>
          <p:nvPr/>
        </p:nvSpPr>
        <p:spPr>
          <a:xfrm>
            <a:off x="8566343" y="2968050"/>
            <a:ext cx="2638498" cy="2638498"/>
          </a:xfrm>
          <a:prstGeom prst="ellipse">
            <a:avLst/>
          </a:prstGeom>
          <a:solidFill>
            <a:schemeClr val="l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饼形 46"/>
          <p:cNvSpPr/>
          <p:nvPr/>
        </p:nvSpPr>
        <p:spPr>
          <a:xfrm>
            <a:off x="8566342" y="2968051"/>
            <a:ext cx="2638499" cy="2638499"/>
          </a:xfrm>
          <a:prstGeom prst="pie">
            <a:avLst>
              <a:gd name="adj1" fmla="val 16194721"/>
              <a:gd name="adj2" fmla="val 19234327"/>
            </a:avLst>
          </a:prstGeom>
          <a:pattFill prst="wdDnDiag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ADD</a:t>
            </a:r>
            <a:r>
              <a:rPr lang="zh-CN" altLang="en-US"/>
              <a:t>运算</a:t>
            </a:r>
            <a:r>
              <a:rPr lang="en-US" altLang="zh-CN"/>
              <a:t>CF</a:t>
            </a:r>
            <a:r>
              <a:rPr lang="zh-CN" altLang="en-US"/>
              <a:t>的判断逻辑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815937"/>
          </a:xfrm>
        </p:spPr>
        <p:txBody>
          <a:bodyPr/>
          <a:lstStyle/>
          <a:p>
            <a:r>
              <a:rPr lang="zh-CN" altLang="en-US"/>
              <a:t>参考表盘这一模运算系统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64763" y="2854883"/>
            <a:ext cx="2638498" cy="26384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903740" y="4093860"/>
            <a:ext cx="160544" cy="1605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7" idx="0"/>
          </p:cNvCxnSpPr>
          <p:nvPr/>
        </p:nvCxnSpPr>
        <p:spPr>
          <a:xfrm flipV="1">
            <a:off x="1984012" y="2764142"/>
            <a:ext cx="0" cy="907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769851" y="2072440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</a:t>
            </a:r>
            <a:endParaRPr lang="zh-CN" altLang="en-US" sz="3600" dirty="0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991574" y="3389463"/>
            <a:ext cx="1032480" cy="7942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111888" y="3016327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</a:rPr>
              <a:t>dest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827998" y="2854883"/>
            <a:ext cx="2638498" cy="26384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066975" y="4093860"/>
            <a:ext cx="160544" cy="1605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>
            <a:stCxn id="20" idx="0"/>
          </p:cNvCxnSpPr>
          <p:nvPr/>
        </p:nvCxnSpPr>
        <p:spPr>
          <a:xfrm flipV="1">
            <a:off x="6147247" y="2764142"/>
            <a:ext cx="0" cy="907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6154809" y="3389463"/>
            <a:ext cx="1032480" cy="7942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275123" y="3016327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</a:rPr>
              <a:t>dest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5107205" y="3424238"/>
            <a:ext cx="1028651" cy="7595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921695" y="2066917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</a:t>
            </a:r>
            <a:endParaRPr lang="zh-CN" altLang="en-US" sz="3600" dirty="0"/>
          </a:p>
        </p:txBody>
      </p:sp>
      <p:sp>
        <p:nvSpPr>
          <p:cNvPr id="31" name="任意多边形 30"/>
          <p:cNvSpPr/>
          <p:nvPr/>
        </p:nvSpPr>
        <p:spPr>
          <a:xfrm>
            <a:off x="5720973" y="3943321"/>
            <a:ext cx="848720" cy="662354"/>
          </a:xfrm>
          <a:custGeom>
            <a:avLst/>
            <a:gdLst>
              <a:gd name="connsiteX0" fmla="*/ 723547 w 794094"/>
              <a:gd name="connsiteY0" fmla="*/ 0 h 517270"/>
              <a:gd name="connsiteX1" fmla="*/ 793397 w 794094"/>
              <a:gd name="connsiteY1" fmla="*/ 152400 h 517270"/>
              <a:gd name="connsiteX2" fmla="*/ 685447 w 794094"/>
              <a:gd name="connsiteY2" fmla="*/ 425450 h 517270"/>
              <a:gd name="connsiteX3" fmla="*/ 317147 w 794094"/>
              <a:gd name="connsiteY3" fmla="*/ 514350 h 517270"/>
              <a:gd name="connsiteX4" fmla="*/ 31397 w 794094"/>
              <a:gd name="connsiteY4" fmla="*/ 336550 h 517270"/>
              <a:gd name="connsiteX5" fmla="*/ 12347 w 794094"/>
              <a:gd name="connsiteY5" fmla="*/ 133350 h 517270"/>
              <a:gd name="connsiteX6" fmla="*/ 75847 w 794094"/>
              <a:gd name="connsiteY6" fmla="*/ 19050 h 51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4094" h="517270">
                <a:moveTo>
                  <a:pt x="723547" y="0"/>
                </a:moveTo>
                <a:cubicBezTo>
                  <a:pt x="761647" y="40746"/>
                  <a:pt x="799747" y="81492"/>
                  <a:pt x="793397" y="152400"/>
                </a:cubicBezTo>
                <a:cubicBezTo>
                  <a:pt x="787047" y="223308"/>
                  <a:pt x="764822" y="365125"/>
                  <a:pt x="685447" y="425450"/>
                </a:cubicBezTo>
                <a:cubicBezTo>
                  <a:pt x="606072" y="485775"/>
                  <a:pt x="426155" y="529167"/>
                  <a:pt x="317147" y="514350"/>
                </a:cubicBezTo>
                <a:cubicBezTo>
                  <a:pt x="208139" y="499533"/>
                  <a:pt x="82197" y="400050"/>
                  <a:pt x="31397" y="336550"/>
                </a:cubicBezTo>
                <a:cubicBezTo>
                  <a:pt x="-19403" y="273050"/>
                  <a:pt x="4939" y="186267"/>
                  <a:pt x="12347" y="133350"/>
                </a:cubicBezTo>
                <a:cubicBezTo>
                  <a:pt x="19755" y="80433"/>
                  <a:pt x="47801" y="49741"/>
                  <a:pt x="75847" y="19050"/>
                </a:cubicBezTo>
              </a:path>
            </a:pathLst>
          </a:custGeom>
          <a:noFill/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682531" y="4587862"/>
            <a:ext cx="108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/>
                </a:solidFill>
              </a:rPr>
              <a:t>+</a:t>
            </a:r>
            <a:r>
              <a:rPr lang="en-US" altLang="zh-CN" sz="2400" dirty="0" err="1">
                <a:solidFill>
                  <a:schemeClr val="accent6"/>
                </a:solidFill>
              </a:rPr>
              <a:t>src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64694" y="3016327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</a:rPr>
              <a:t>res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9797758" y="4197402"/>
            <a:ext cx="160544" cy="1605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stCxn id="34" idx="0"/>
          </p:cNvCxnSpPr>
          <p:nvPr/>
        </p:nvCxnSpPr>
        <p:spPr>
          <a:xfrm flipV="1">
            <a:off x="9885592" y="2877309"/>
            <a:ext cx="0" cy="907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9885592" y="3493005"/>
            <a:ext cx="1032480" cy="7942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1005906" y="3119869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</a:rPr>
              <a:t>dest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9866640" y="3055953"/>
            <a:ext cx="393289" cy="123134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652478" y="2170459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</a:t>
            </a:r>
            <a:endParaRPr lang="zh-CN" altLang="en-US" sz="3600" dirty="0"/>
          </a:p>
        </p:txBody>
      </p:sp>
      <p:sp>
        <p:nvSpPr>
          <p:cNvPr id="42" name="文本框 41"/>
          <p:cNvSpPr txBox="1"/>
          <p:nvPr/>
        </p:nvSpPr>
        <p:spPr>
          <a:xfrm>
            <a:off x="9413314" y="4691404"/>
            <a:ext cx="108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/>
                </a:solidFill>
              </a:rPr>
              <a:t>+</a:t>
            </a:r>
            <a:r>
              <a:rPr lang="en-US" altLang="zh-CN" sz="2400" dirty="0" err="1">
                <a:solidFill>
                  <a:schemeClr val="accent6"/>
                </a:solidFill>
              </a:rPr>
              <a:t>src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0148428" y="2581982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</a:rPr>
              <a:t>res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46" name="任意多边形 45"/>
          <p:cNvSpPr/>
          <p:nvPr/>
        </p:nvSpPr>
        <p:spPr>
          <a:xfrm>
            <a:off x="9429248" y="3970925"/>
            <a:ext cx="924462" cy="783889"/>
          </a:xfrm>
          <a:custGeom>
            <a:avLst/>
            <a:gdLst>
              <a:gd name="connsiteX0" fmla="*/ 810555 w 924462"/>
              <a:gd name="connsiteY0" fmla="*/ 72689 h 783889"/>
              <a:gd name="connsiteX1" fmla="*/ 912155 w 924462"/>
              <a:gd name="connsiteY1" fmla="*/ 218739 h 783889"/>
              <a:gd name="connsiteX2" fmla="*/ 918505 w 924462"/>
              <a:gd name="connsiteY2" fmla="*/ 434639 h 783889"/>
              <a:gd name="connsiteX3" fmla="*/ 874055 w 924462"/>
              <a:gd name="connsiteY3" fmla="*/ 625139 h 783889"/>
              <a:gd name="connsiteX4" fmla="*/ 658155 w 924462"/>
              <a:gd name="connsiteY4" fmla="*/ 758489 h 783889"/>
              <a:gd name="connsiteX5" fmla="*/ 372405 w 924462"/>
              <a:gd name="connsiteY5" fmla="*/ 777539 h 783889"/>
              <a:gd name="connsiteX6" fmla="*/ 42205 w 924462"/>
              <a:gd name="connsiteY6" fmla="*/ 682289 h 783889"/>
              <a:gd name="connsiteX7" fmla="*/ 16805 w 924462"/>
              <a:gd name="connsiteY7" fmla="*/ 421939 h 783889"/>
              <a:gd name="connsiteX8" fmla="*/ 156505 w 924462"/>
              <a:gd name="connsiteY8" fmla="*/ 79039 h 783889"/>
              <a:gd name="connsiteX9" fmla="*/ 359705 w 924462"/>
              <a:gd name="connsiteY9" fmla="*/ 9189 h 783889"/>
              <a:gd name="connsiteX10" fmla="*/ 499405 w 924462"/>
              <a:gd name="connsiteY10" fmla="*/ 2839 h 78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24462" h="783889">
                <a:moveTo>
                  <a:pt x="810555" y="72689"/>
                </a:moveTo>
                <a:cubicBezTo>
                  <a:pt x="852359" y="115551"/>
                  <a:pt x="894163" y="158414"/>
                  <a:pt x="912155" y="218739"/>
                </a:cubicBezTo>
                <a:cubicBezTo>
                  <a:pt x="930147" y="279064"/>
                  <a:pt x="924855" y="366906"/>
                  <a:pt x="918505" y="434639"/>
                </a:cubicBezTo>
                <a:cubicBezTo>
                  <a:pt x="912155" y="502372"/>
                  <a:pt x="917447" y="571164"/>
                  <a:pt x="874055" y="625139"/>
                </a:cubicBezTo>
                <a:cubicBezTo>
                  <a:pt x="830663" y="679114"/>
                  <a:pt x="741763" y="733089"/>
                  <a:pt x="658155" y="758489"/>
                </a:cubicBezTo>
                <a:cubicBezTo>
                  <a:pt x="574547" y="783889"/>
                  <a:pt x="475063" y="790239"/>
                  <a:pt x="372405" y="777539"/>
                </a:cubicBezTo>
                <a:cubicBezTo>
                  <a:pt x="269747" y="764839"/>
                  <a:pt x="101472" y="741556"/>
                  <a:pt x="42205" y="682289"/>
                </a:cubicBezTo>
                <a:cubicBezTo>
                  <a:pt x="-17062" y="623022"/>
                  <a:pt x="-2245" y="522481"/>
                  <a:pt x="16805" y="421939"/>
                </a:cubicBezTo>
                <a:cubicBezTo>
                  <a:pt x="35855" y="321397"/>
                  <a:pt x="99355" y="147831"/>
                  <a:pt x="156505" y="79039"/>
                </a:cubicBezTo>
                <a:cubicBezTo>
                  <a:pt x="213655" y="10247"/>
                  <a:pt x="302555" y="21889"/>
                  <a:pt x="359705" y="9189"/>
                </a:cubicBezTo>
                <a:cubicBezTo>
                  <a:pt x="416855" y="-3511"/>
                  <a:pt x="458130" y="-336"/>
                  <a:pt x="499405" y="2839"/>
                </a:cubicBezTo>
              </a:path>
            </a:pathLst>
          </a:custGeom>
          <a:noFill/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485068" y="5754890"/>
            <a:ext cx="1018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进位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8982568" y="1159647"/>
            <a:ext cx="2331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包括</a:t>
            </a:r>
            <a:r>
              <a:rPr lang="en-US" altLang="zh-CN" sz="2800" dirty="0"/>
              <a:t>0</a:t>
            </a:r>
            <a:r>
              <a:rPr lang="zh-CN" altLang="en-US" sz="2800" dirty="0"/>
              <a:t>？</a:t>
            </a:r>
            <a:r>
              <a:rPr lang="en-US" altLang="zh-CN" sz="2800" dirty="0"/>
              <a:t>yes</a:t>
            </a:r>
          </a:p>
          <a:p>
            <a:r>
              <a:rPr lang="zh-CN" altLang="en-US" sz="2800" dirty="0"/>
              <a:t>包括</a:t>
            </a:r>
            <a:r>
              <a:rPr lang="en-US" altLang="zh-CN" sz="2800" dirty="0" err="1"/>
              <a:t>dest</a:t>
            </a:r>
            <a:r>
              <a:rPr lang="zh-CN" altLang="en-US" sz="2800" dirty="0"/>
              <a:t>？</a:t>
            </a:r>
            <a:r>
              <a:rPr lang="en-US" altLang="zh-CN" sz="2800" dirty="0"/>
              <a:t>no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5668" y="137340"/>
            <a:ext cx="11340663" cy="5955476"/>
          </a:xfrm>
          <a:prstGeom prst="rect">
            <a:avLst/>
          </a:prstGeom>
          <a:ln w="12700"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CF contains information relevant to unsigned integers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void set_CF_add(uint32_t result, uint32_t sr</a:t>
            </a:r>
            <a:r>
              <a:rPr lang="en-US" altLang="zh-CN" sz="1900" dirty="0">
                <a:latin typeface="Consolas" panose="020B0609020204030204" pitchFamily="49" charset="0"/>
              </a:rPr>
              <a:t>c,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cpu.eflags.CF = result &lt; </a:t>
            </a:r>
            <a:r>
              <a:rPr lang="en-US" altLang="zh-CN" sz="1900" dirty="0" err="1">
                <a:solidFill>
                  <a:srgbClr val="C00000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;  //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}</a:t>
            </a:r>
            <a:endParaRPr lang="en-US" altLang="zh-CN" sz="1900" dirty="0">
              <a:latin typeface="Consolas" panose="020B0609020204030204" pitchFamily="49" charset="0"/>
            </a:endParaRP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set_ZF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cpu.eflags.ZF</a:t>
            </a:r>
            <a:r>
              <a:rPr lang="en-US" altLang="zh-CN" sz="1900" dirty="0">
                <a:latin typeface="Consolas" panose="020B0609020204030204" pitchFamily="49" charset="0"/>
              </a:rPr>
              <a:t> = (result == 0);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SF and OF contain information relevant to signed integers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set_SF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cpu.eflags.SF</a:t>
            </a:r>
            <a:r>
              <a:rPr lang="en-US" altLang="zh-CN" sz="1900" dirty="0">
                <a:latin typeface="Consolas" panose="020B0609020204030204" pitchFamily="49" charset="0"/>
              </a:rPr>
              <a:t> = sign(result);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set_PF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result) { … } // </a:t>
            </a:r>
            <a:r>
              <a:rPr lang="zh-CN" altLang="en-US" sz="1900" dirty="0">
                <a:latin typeface="Consolas" panose="020B0609020204030204" pitchFamily="49" charset="0"/>
              </a:rPr>
              <a:t>简单暴力穷举也行</a:t>
            </a:r>
          </a:p>
        </p:txBody>
      </p:sp>
      <p:sp>
        <p:nvSpPr>
          <p:cNvPr id="8" name="矩形 7"/>
          <p:cNvSpPr/>
          <p:nvPr/>
        </p:nvSpPr>
        <p:spPr>
          <a:xfrm>
            <a:off x="8011910" y="5046377"/>
            <a:ext cx="374653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src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alu.c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add</a:t>
            </a:r>
            <a:r>
              <a:rPr lang="zh-CN" altLang="en-US" sz="2800" dirty="0">
                <a:solidFill>
                  <a:srgbClr val="0070C0"/>
                </a:solidFill>
              </a:rPr>
              <a:t>的参考实现方案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817477" y="1313793"/>
            <a:ext cx="5165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对</a:t>
            </a:r>
            <a:r>
              <a:rPr lang="en-US" altLang="zh-CN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cpu</a:t>
            </a:r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中</a:t>
            </a:r>
            <a:r>
              <a:rPr lang="en-US" altLang="zh-CN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eflags</a:t>
            </a:r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寄存器的访问</a:t>
            </a:r>
            <a:endParaRPr lang="en-US" altLang="zh-CN" sz="28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C00000"/>
                </a:solidFill>
              </a:rPr>
              <a:t>i386</a:t>
            </a:r>
            <a:r>
              <a:rPr lang="zh-CN" altLang="en-US" sz="2800" b="1" dirty="0">
                <a:solidFill>
                  <a:srgbClr val="C00000"/>
                </a:solidFill>
              </a:rPr>
              <a:t>手册 </a:t>
            </a:r>
            <a:r>
              <a:rPr lang="en-US" altLang="zh-CN" sz="2800" b="1" dirty="0">
                <a:solidFill>
                  <a:srgbClr val="C00000"/>
                </a:solidFill>
              </a:rPr>
              <a:t>sec 2.3.4.1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5668" y="137340"/>
            <a:ext cx="11340663" cy="5955476"/>
          </a:xfrm>
          <a:prstGeom prst="rect">
            <a:avLst/>
          </a:prstGeom>
          <a:ln w="12700"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CF contains information relevant to unsigned integers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void set_CF_add(uint32_t result, uint32_t sr</a:t>
            </a:r>
            <a:r>
              <a:rPr lang="en-US" altLang="zh-CN" sz="1900" dirty="0">
                <a:latin typeface="Consolas" panose="020B0609020204030204" pitchFamily="49" charset="0"/>
              </a:rPr>
              <a:t>c,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cpu.eflags.CF = result &lt; </a:t>
            </a:r>
            <a:r>
              <a:rPr lang="en-US" altLang="zh-CN" sz="1900" dirty="0" err="1">
                <a:solidFill>
                  <a:srgbClr val="C00000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; //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}</a:t>
            </a:r>
            <a:endParaRPr lang="en-US" altLang="zh-CN" sz="1900" dirty="0">
              <a:latin typeface="Consolas" panose="020B0609020204030204" pitchFamily="49" charset="0"/>
            </a:endParaRP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set_ZF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cpu.eflags.ZF</a:t>
            </a:r>
            <a:r>
              <a:rPr lang="en-US" altLang="zh-CN" sz="1900" dirty="0">
                <a:latin typeface="Consolas" panose="020B0609020204030204" pitchFamily="49" charset="0"/>
              </a:rPr>
              <a:t> = (result == 0);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SF and OF contain information relevant to signed integers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set_SF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cpu.eflags.SF</a:t>
            </a:r>
            <a:r>
              <a:rPr lang="en-US" altLang="zh-CN" sz="1900" dirty="0">
                <a:latin typeface="Consolas" panose="020B0609020204030204" pitchFamily="49" charset="0"/>
              </a:rPr>
              <a:t> = sign(result);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set_PF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result) { … } // </a:t>
            </a:r>
            <a:r>
              <a:rPr lang="zh-CN" altLang="en-US" sz="1900" dirty="0">
                <a:latin typeface="Consolas" panose="020B0609020204030204" pitchFamily="49" charset="0"/>
              </a:rPr>
              <a:t>简单暴力穷举也行</a:t>
            </a:r>
          </a:p>
        </p:txBody>
      </p:sp>
      <p:sp>
        <p:nvSpPr>
          <p:cNvPr id="8" name="矩形 7"/>
          <p:cNvSpPr/>
          <p:nvPr/>
        </p:nvSpPr>
        <p:spPr>
          <a:xfrm>
            <a:off x="8011910" y="5046377"/>
            <a:ext cx="374653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src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alu.c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add</a:t>
            </a:r>
            <a:r>
              <a:rPr lang="zh-CN" altLang="en-US" sz="2800" dirty="0">
                <a:solidFill>
                  <a:srgbClr val="0070C0"/>
                </a:solidFill>
              </a:rPr>
              <a:t>的参考实现方案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817477" y="1313793"/>
            <a:ext cx="5165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对</a:t>
            </a:r>
            <a:r>
              <a:rPr lang="en-US" altLang="zh-CN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cpu</a:t>
            </a:r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中</a:t>
            </a:r>
            <a:r>
              <a:rPr lang="en-US" altLang="zh-CN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eflags</a:t>
            </a:r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寄存器的访问</a:t>
            </a:r>
            <a:endParaRPr lang="en-US" altLang="zh-CN" sz="28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C00000"/>
                </a:solidFill>
              </a:rPr>
              <a:t>i386</a:t>
            </a:r>
            <a:r>
              <a:rPr lang="zh-CN" altLang="en-US" sz="2800" b="1" dirty="0">
                <a:solidFill>
                  <a:srgbClr val="C00000"/>
                </a:solidFill>
              </a:rPr>
              <a:t>手册 </a:t>
            </a:r>
            <a:r>
              <a:rPr lang="en-US" altLang="zh-CN" sz="2800" b="1" dirty="0">
                <a:solidFill>
                  <a:srgbClr val="C00000"/>
                </a:solidFill>
              </a:rPr>
              <a:t>sec 2.3.4.1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32875" y="1313793"/>
            <a:ext cx="7702062" cy="5016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822" y="2247110"/>
            <a:ext cx="6754168" cy="37533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939113" y="1504367"/>
            <a:ext cx="4746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3200" i="1">
                <a:solidFill>
                  <a:schemeClr val="bg1"/>
                </a:solidFill>
              </a:rPr>
              <a:t>nemu/include/cpu/alu.h</a:t>
            </a:r>
            <a:endParaRPr lang="zh-CN" altLang="en-US" sz="3200" i="1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10313" y="3481388"/>
            <a:ext cx="1004887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048626" y="3481388"/>
            <a:ext cx="1004887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91038" y="3412348"/>
            <a:ext cx="1004887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5668" y="137340"/>
            <a:ext cx="11340663" cy="5955476"/>
          </a:xfrm>
          <a:prstGeom prst="rect">
            <a:avLst/>
          </a:prstGeom>
          <a:ln w="12700"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CF contains information relevant to unsigned integers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void set_CF_add(uint32_t result, uint32_t sr</a:t>
            </a:r>
            <a:r>
              <a:rPr lang="en-US" altLang="zh-CN" sz="1900" dirty="0">
                <a:latin typeface="Consolas" panose="020B0609020204030204" pitchFamily="49" charset="0"/>
              </a:rPr>
              <a:t>c,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zh-CN" altLang="en-US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cpu.eflags.CF = result &lt; </a:t>
            </a:r>
            <a:r>
              <a:rPr lang="en-US" altLang="zh-CN" sz="1900" dirty="0" err="1">
                <a:solidFill>
                  <a:srgbClr val="C00000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; //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1900" dirty="0">
                <a:latin typeface="Consolas" panose="020B0609020204030204" pitchFamily="49" charset="0"/>
              </a:rPr>
              <a:t>}</a:t>
            </a:r>
            <a:endParaRPr lang="en-US" altLang="zh-CN" sz="1900" dirty="0">
              <a:latin typeface="Consolas" panose="020B0609020204030204" pitchFamily="49" charset="0"/>
            </a:endParaRP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set_ZF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cpu.eflags.ZF</a:t>
            </a:r>
            <a:r>
              <a:rPr lang="en-US" altLang="zh-CN" sz="1900" dirty="0">
                <a:latin typeface="Consolas" panose="020B0609020204030204" pitchFamily="49" charset="0"/>
              </a:rPr>
              <a:t> = (result == 0);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SF and OF contain information relevant to signed integers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set_SF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(0xFFFFFFFF &gt;&gt; (32 -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)),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cpu.eflags.SF</a:t>
            </a:r>
            <a:r>
              <a:rPr lang="en-US" altLang="zh-CN" sz="1900" dirty="0">
                <a:latin typeface="Consolas" panose="020B0609020204030204" pitchFamily="49" charset="0"/>
              </a:rPr>
              <a:t> = sign(result);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900" dirty="0">
              <a:latin typeface="Consolas" panose="020B0609020204030204" pitchFamily="49" charset="0"/>
            </a:endParaRPr>
          </a:p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set_PF</a:t>
            </a:r>
            <a:r>
              <a:rPr lang="en-US" altLang="zh-CN" sz="1900" dirty="0">
                <a:latin typeface="Consolas" panose="020B0609020204030204" pitchFamily="49" charset="0"/>
              </a:rPr>
              <a:t>(uint32_t result) { … } // </a:t>
            </a:r>
            <a:r>
              <a:rPr lang="zh-CN" altLang="en-US" sz="1900" dirty="0">
                <a:latin typeface="Consolas" panose="020B0609020204030204" pitchFamily="49" charset="0"/>
              </a:rPr>
              <a:t>简单暴力穷举也行</a:t>
            </a:r>
          </a:p>
        </p:txBody>
      </p:sp>
      <p:sp>
        <p:nvSpPr>
          <p:cNvPr id="8" name="矩形 7"/>
          <p:cNvSpPr/>
          <p:nvPr/>
        </p:nvSpPr>
        <p:spPr>
          <a:xfrm>
            <a:off x="8011910" y="5046377"/>
            <a:ext cx="374653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src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alu.c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add</a:t>
            </a:r>
            <a:r>
              <a:rPr lang="zh-CN" altLang="en-US" sz="2800" dirty="0">
                <a:solidFill>
                  <a:srgbClr val="0070C0"/>
                </a:solidFill>
              </a:rPr>
              <a:t>的参考实现方案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817477" y="1313793"/>
            <a:ext cx="5165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对</a:t>
            </a:r>
            <a:r>
              <a:rPr lang="en-US" altLang="zh-CN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cpu</a:t>
            </a:r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中</a:t>
            </a:r>
            <a:r>
              <a:rPr lang="en-US" altLang="zh-CN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eflags</a:t>
            </a:r>
            <a:r>
              <a:rPr lang="zh-CN" alt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寄存器的访问</a:t>
            </a:r>
            <a:endParaRPr lang="en-US" altLang="zh-CN" sz="28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C00000"/>
                </a:solidFill>
              </a:rPr>
              <a:t>i386</a:t>
            </a:r>
            <a:r>
              <a:rPr lang="zh-CN" altLang="en-US" sz="2800" b="1" dirty="0">
                <a:solidFill>
                  <a:srgbClr val="C00000"/>
                </a:solidFill>
              </a:rPr>
              <a:t>手册 </a:t>
            </a:r>
            <a:r>
              <a:rPr lang="en-US" altLang="zh-CN" sz="2800" b="1" dirty="0">
                <a:solidFill>
                  <a:srgbClr val="C00000"/>
                </a:solidFill>
              </a:rPr>
              <a:t>sec 2.3.4.1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42603" y="164799"/>
            <a:ext cx="7892334" cy="616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288940" y="5595632"/>
            <a:ext cx="3027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000" i="1">
                <a:solidFill>
                  <a:schemeClr val="bg1"/>
                </a:solidFill>
              </a:rPr>
              <a:t>nemu/include/cpu/</a:t>
            </a:r>
            <a:r>
              <a:rPr lang="en-US" altLang="zh-CN" sz="2000" i="1">
                <a:solidFill>
                  <a:schemeClr val="bg1"/>
                </a:solidFill>
              </a:rPr>
              <a:t>reg</a:t>
            </a:r>
            <a:r>
              <a:rPr lang="pt-BR" altLang="zh-CN" sz="2000" i="1">
                <a:solidFill>
                  <a:schemeClr val="bg1"/>
                </a:solidFill>
              </a:rPr>
              <a:t>.h</a:t>
            </a:r>
            <a:endParaRPr lang="zh-CN" altLang="en-US" sz="2000" i="1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268" y="328469"/>
            <a:ext cx="2734408" cy="514937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14" y="3956908"/>
            <a:ext cx="2388795" cy="2254731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052714" y="4256804"/>
            <a:ext cx="23887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l-PL" altLang="zh-CN" sz="2000" i="1">
                <a:solidFill>
                  <a:schemeClr val="bg1"/>
                </a:solidFill>
              </a:rPr>
              <a:t>nemu/src/cpu/cpu.c</a:t>
            </a:r>
            <a:endParaRPr lang="zh-CN" altLang="en-US" sz="2000" i="1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02" y="328469"/>
            <a:ext cx="4657807" cy="34517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59" y="19729"/>
            <a:ext cx="11498317" cy="6817251"/>
          </a:xfrm>
          <a:prstGeom prst="rect">
            <a:avLst/>
          </a:prstGeom>
          <a:ln w="12700"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 err="1">
                <a:latin typeface="Consolas" panose="020B0609020204030204" pitchFamily="49" charset="0"/>
              </a:rPr>
              <a:t>set_OF_add</a:t>
            </a:r>
            <a:r>
              <a:rPr lang="en-US" altLang="zh-CN" sz="1900" dirty="0">
                <a:latin typeface="Consolas" panose="020B0609020204030204" pitchFamily="49" charset="0"/>
              </a:rPr>
              <a:t>(uint32_t result, uint32_t 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, uint32_t </a:t>
            </a:r>
            <a:r>
              <a:rPr lang="en-US" altLang="zh-CN" sz="1900" dirty="0" err="1">
                <a:latin typeface="Consolas" panose="020B0609020204030204" pitchFamily="49" charset="0"/>
              </a:rPr>
              <a:t>dest</a:t>
            </a:r>
            <a:r>
              <a:rPr lang="en-US" altLang="zh-CN" sz="1900" dirty="0">
                <a:latin typeface="Consolas" panose="020B0609020204030204" pitchFamily="49" charset="0"/>
              </a:rPr>
              <a:t>, </a:t>
            </a:r>
            <a:r>
              <a:rPr lang="en-US" altLang="zh-CN" sz="1900" dirty="0" err="1">
                <a:latin typeface="Consolas" panose="020B0609020204030204" pitchFamily="49" charset="0"/>
              </a:rPr>
              <a:t>size_t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switch(</a:t>
            </a:r>
            <a:r>
              <a:rPr lang="en-US" altLang="zh-CN" sz="1900" dirty="0" err="1">
                <a:latin typeface="Consolas" panose="020B0609020204030204" pitchFamily="49" charset="0"/>
              </a:rPr>
              <a:t>data_size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case 8: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0xFF, 8);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&amp; 0xFF, 8);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</a:t>
            </a:r>
            <a:r>
              <a:rPr lang="en-US" altLang="zh-CN" sz="1900" dirty="0" err="1">
                <a:latin typeface="Consolas" panose="020B0609020204030204" pitchFamily="49" charset="0"/>
              </a:rPr>
              <a:t>dest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 err="1">
                <a:latin typeface="Consolas" panose="020B0609020204030204" pitchFamily="49" charset="0"/>
              </a:rPr>
              <a:t>dest</a:t>
            </a:r>
            <a:r>
              <a:rPr lang="en-US" altLang="zh-CN" sz="1900" dirty="0">
                <a:latin typeface="Consolas" panose="020B0609020204030204" pitchFamily="49" charset="0"/>
              </a:rPr>
              <a:t> &amp; 0xFF, 8);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break;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case 16: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result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(result &amp; 0xFFFF, 16);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 &amp; 0xFFFF, 16);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</a:t>
            </a:r>
            <a:r>
              <a:rPr lang="en-US" altLang="zh-CN" sz="1900" dirty="0" err="1">
                <a:latin typeface="Consolas" panose="020B0609020204030204" pitchFamily="49" charset="0"/>
              </a:rPr>
              <a:t>dest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 err="1">
                <a:latin typeface="Consolas" panose="020B0609020204030204" pitchFamily="49" charset="0"/>
              </a:rPr>
              <a:t>sign_ext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 err="1">
                <a:latin typeface="Consolas" panose="020B0609020204030204" pitchFamily="49" charset="0"/>
              </a:rPr>
              <a:t>dest</a:t>
            </a:r>
            <a:r>
              <a:rPr lang="en-US" altLang="zh-CN" sz="1900" dirty="0">
                <a:latin typeface="Consolas" panose="020B0609020204030204" pitchFamily="49" charset="0"/>
              </a:rPr>
              <a:t> &amp; 0xFFFF, 16); 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break;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default: break;// do nothing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}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if(sign(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) == sign(</a:t>
            </a:r>
            <a:r>
              <a:rPr lang="en-US" altLang="zh-CN" sz="1900" dirty="0" err="1">
                <a:latin typeface="Consolas" panose="020B0609020204030204" pitchFamily="49" charset="0"/>
              </a:rPr>
              <a:t>dest</a:t>
            </a:r>
            <a:r>
              <a:rPr lang="en-US" altLang="zh-CN" sz="1900" dirty="0">
                <a:latin typeface="Consolas" panose="020B0609020204030204" pitchFamily="49" charset="0"/>
              </a:rPr>
              <a:t>))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if(sign(</a:t>
            </a:r>
            <a:r>
              <a:rPr lang="en-US" altLang="zh-CN" sz="1900" dirty="0" err="1">
                <a:latin typeface="Consolas" panose="020B0609020204030204" pitchFamily="49" charset="0"/>
              </a:rPr>
              <a:t>src</a:t>
            </a:r>
            <a:r>
              <a:rPr lang="en-US" altLang="zh-CN" sz="1900" dirty="0">
                <a:latin typeface="Consolas" panose="020B0609020204030204" pitchFamily="49" charset="0"/>
              </a:rPr>
              <a:t>) != sign(result))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cpu.eflags.OF</a:t>
            </a:r>
            <a:r>
              <a:rPr lang="en-US" altLang="zh-CN" sz="1900" dirty="0"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else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cpu.eflags.OF</a:t>
            </a:r>
            <a:r>
              <a:rPr lang="en-US" altLang="zh-CN" sz="1900" dirty="0">
                <a:latin typeface="Consolas" panose="020B0609020204030204" pitchFamily="49" charset="0"/>
              </a:rPr>
              <a:t> = 0;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} else {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	</a:t>
            </a:r>
            <a:r>
              <a:rPr lang="en-US" altLang="zh-CN" sz="1900" dirty="0" err="1">
                <a:latin typeface="Consolas" panose="020B0609020204030204" pitchFamily="49" charset="0"/>
              </a:rPr>
              <a:t>cpu.eflags.OF</a:t>
            </a:r>
            <a:r>
              <a:rPr lang="en-US" altLang="zh-CN" sz="1900" dirty="0">
                <a:latin typeface="Consolas" panose="020B0609020204030204" pitchFamily="49" charset="0"/>
              </a:rPr>
              <a:t> = 0;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	}</a:t>
            </a:r>
          </a:p>
          <a:p>
            <a:r>
              <a:rPr lang="en-US" altLang="zh-CN" sz="1900" dirty="0">
                <a:latin typeface="Consolas" panose="020B0609020204030204" pitchFamily="49" charset="0"/>
              </a:rPr>
              <a:t>}</a:t>
            </a:r>
            <a:endParaRPr lang="zh-CN" altLang="en-US" sz="19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14842" y="5016167"/>
            <a:ext cx="374653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src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alu.c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add</a:t>
            </a:r>
            <a:r>
              <a:rPr lang="zh-CN" altLang="en-US" sz="2800" dirty="0">
                <a:solidFill>
                  <a:srgbClr val="0070C0"/>
                </a:solidFill>
              </a:rPr>
              <a:t>的参考实现方案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梳理一下</a:t>
            </a:r>
            <a:r>
              <a:rPr lang="en-US" altLang="zh-CN" dirty="0"/>
              <a:t>ADD</a:t>
            </a:r>
            <a:r>
              <a:rPr lang="zh-CN" altLang="en-US" dirty="0"/>
              <a:t>运算在模拟</a:t>
            </a:r>
            <a:r>
              <a:rPr lang="en-US" altLang="zh-CN" dirty="0"/>
              <a:t>ALU</a:t>
            </a:r>
            <a:r>
              <a:rPr lang="zh-CN" altLang="en-US" dirty="0"/>
              <a:t>中的实现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要学会查看</a:t>
            </a:r>
            <a:r>
              <a:rPr lang="en-US" altLang="zh-CN" dirty="0"/>
              <a:t>i386</a:t>
            </a:r>
            <a:r>
              <a:rPr lang="zh-CN" altLang="en-US" dirty="0"/>
              <a:t>手册对应指令的说明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正确理解各标志位的含义和设置逻辑</a:t>
            </a:r>
            <a:endParaRPr lang="en-US" altLang="zh-CN" dirty="0"/>
          </a:p>
          <a:p>
            <a:pPr lvl="1"/>
            <a:r>
              <a:rPr lang="zh-CN" altLang="en-US" dirty="0"/>
              <a:t>附：找到</a:t>
            </a:r>
            <a:r>
              <a:rPr lang="en-US" altLang="zh-CN" dirty="0" err="1"/>
              <a:t>sign_ext</a:t>
            </a:r>
            <a:r>
              <a:rPr lang="en-US" altLang="zh-CN" dirty="0"/>
              <a:t>()</a:t>
            </a:r>
            <a:r>
              <a:rPr lang="zh-CN" altLang="en-US" dirty="0"/>
              <a:t>函数并了解其实现，以后会经常用到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了解模拟</a:t>
            </a:r>
            <a:r>
              <a:rPr lang="en-US" altLang="zh-CN" dirty="0"/>
              <a:t>CPU</a:t>
            </a:r>
            <a:r>
              <a:rPr lang="zh-CN" altLang="en-US" dirty="0"/>
              <a:t>中</a:t>
            </a:r>
            <a:r>
              <a:rPr lang="en-US" altLang="zh-CN" dirty="0"/>
              <a:t>EFLAGS</a:t>
            </a:r>
            <a:r>
              <a:rPr lang="zh-CN" altLang="en-US" dirty="0"/>
              <a:t>寄存器的结构和标志位的设置方法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对于</a:t>
            </a:r>
            <a:r>
              <a:rPr lang="en-US" altLang="zh-CN"/>
              <a:t>ADC</a:t>
            </a:r>
            <a:r>
              <a:rPr lang="zh-CN" altLang="en-US"/>
              <a:t>和</a:t>
            </a:r>
            <a:r>
              <a:rPr lang="en-US" altLang="zh-CN"/>
              <a:t>SUB</a:t>
            </a:r>
            <a:r>
              <a:rPr lang="zh-CN" altLang="en-US"/>
              <a:t>的特殊说明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ADC</a:t>
            </a:r>
            <a:r>
              <a:rPr lang="zh-CN" altLang="en-US"/>
              <a:t>需要结合</a:t>
            </a:r>
            <a:r>
              <a:rPr lang="en-US" altLang="zh-CN"/>
              <a:t>CF</a:t>
            </a:r>
            <a:r>
              <a:rPr lang="zh-CN" altLang="en-US"/>
              <a:t>的取值判断</a:t>
            </a:r>
            <a:endParaRPr lang="en-US" altLang="zh-CN"/>
          </a:p>
          <a:p>
            <a:pPr lvl="1"/>
            <a:r>
              <a:rPr lang="zh-CN" altLang="en-US"/>
              <a:t>考虑</a:t>
            </a:r>
            <a:r>
              <a:rPr lang="en-US" altLang="zh-CN"/>
              <a:t>CF == 1</a:t>
            </a:r>
            <a:r>
              <a:rPr lang="zh-CN" altLang="en-US"/>
              <a:t>时，</a:t>
            </a:r>
            <a:r>
              <a:rPr lang="en-US" altLang="zh-CN"/>
              <a:t>src == res</a:t>
            </a:r>
            <a:r>
              <a:rPr lang="zh-CN" altLang="en-US"/>
              <a:t>的情况是否产生进位？</a:t>
            </a:r>
            <a:endParaRPr lang="en-US" altLang="zh-CN"/>
          </a:p>
          <a:p>
            <a:r>
              <a:rPr lang="en-US" altLang="zh-CN"/>
              <a:t>SUB</a:t>
            </a:r>
            <a:r>
              <a:rPr lang="zh-CN" altLang="en-US"/>
              <a:t>为什么不能对减数取补码后，简单复用</a:t>
            </a:r>
            <a:r>
              <a:rPr lang="en-US" altLang="zh-CN"/>
              <a:t>add</a:t>
            </a:r>
            <a:r>
              <a:rPr lang="zh-CN" altLang="en-US"/>
              <a:t>的</a:t>
            </a:r>
            <a:r>
              <a:rPr lang="en-US" altLang="zh-CN"/>
              <a:t>CF</a:t>
            </a:r>
            <a:r>
              <a:rPr lang="zh-CN" altLang="en-US"/>
              <a:t>判断标准？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实现对一种运算的模拟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38200" y="1621764"/>
            <a:ext cx="107877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重复第一步：找到需要实现的函数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test_pa-1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遇到错误提示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09192" y="2671577"/>
            <a:ext cx="7911662" cy="2446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zh-CN" sz="2400" dirty="0">
                <a:latin typeface="Consolas" panose="020B0609020204030204" pitchFamily="49" charset="0"/>
              </a:rPr>
              <a:t>./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 --test-</a:t>
            </a:r>
            <a:r>
              <a:rPr lang="en-US" altLang="zh-CN" sz="2400" dirty="0" err="1">
                <a:latin typeface="Consolas" panose="020B0609020204030204" pitchFamily="49" charset="0"/>
              </a:rPr>
              <a:t>alu</a:t>
            </a:r>
            <a:r>
              <a:rPr lang="en-US" altLang="zh-CN" sz="2400" dirty="0">
                <a:latin typeface="Consolas" panose="020B0609020204030204" pitchFamily="49" charset="0"/>
              </a:rPr>
              <a:t> add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NEMU execute built-in tests</a:t>
            </a:r>
          </a:p>
          <a:p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</a:rPr>
              <a:t>alu_test_add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()  </a:t>
            </a:r>
            <a:r>
              <a:rPr lang="en-US" altLang="zh-CN" sz="2400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./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latin typeface="Consolas" panose="020B0609020204030204" pitchFamily="49" charset="0"/>
              </a:rPr>
              <a:t> --test-</a:t>
            </a:r>
            <a:r>
              <a:rPr lang="en-US" altLang="zh-CN" sz="2400" dirty="0" err="1">
                <a:latin typeface="Consolas" panose="020B0609020204030204" pitchFamily="49" charset="0"/>
              </a:rPr>
              <a:t>alu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adc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NEMU execute built-in tests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Please implement me at </a:t>
            </a:r>
            <a:r>
              <a:rPr lang="en-US" altLang="zh-CN" sz="2400" dirty="0" err="1">
                <a:latin typeface="Consolas" panose="020B0609020204030204" pitchFamily="49" charset="0"/>
              </a:rPr>
              <a:t>alu.c</a:t>
            </a:r>
            <a:endParaRPr lang="en-US" altLang="zh-CN" sz="2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358758" y="3736006"/>
            <a:ext cx="861848" cy="6411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99283" y="3770018"/>
            <a:ext cx="2711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需要实现</a:t>
            </a:r>
            <a:r>
              <a:rPr lang="en-US" altLang="zh-CN" sz="3200" b="1" dirty="0" err="1">
                <a:solidFill>
                  <a:srgbClr val="C00000"/>
                </a:solidFill>
              </a:rPr>
              <a:t>adc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实现对</a:t>
            </a:r>
            <a:r>
              <a:rPr lang="en-US" altLang="zh-CN" dirty="0"/>
              <a:t>ALU</a:t>
            </a:r>
            <a:r>
              <a:rPr lang="zh-CN" altLang="en-US" dirty="0"/>
              <a:t>的模拟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48457" y="1911858"/>
            <a:ext cx="3260178" cy="4247317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alu_test_add()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alu_test_adc()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alu_test_sub()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alu_test_sbb()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alu_test_and()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alu_test_or() 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alu_test_xor()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alu_test_shl()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alu_test_shr()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alu_test_sal()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alu_test_sar()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alu_test_mul()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alu_test_div() 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alu_test_imul()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alu_test_idiv() </a:t>
            </a:r>
            <a:r>
              <a:rPr lang="zh-CN" altLang="en-US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48457" y="1339230"/>
            <a:ext cx="3026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完成对</a:t>
            </a:r>
            <a:r>
              <a:rPr lang="en-US" altLang="zh-CN" sz="2800" dirty="0"/>
              <a:t>ALU</a:t>
            </a:r>
            <a:r>
              <a:rPr lang="zh-CN" altLang="en-US" sz="2800" dirty="0"/>
              <a:t>的模拟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900979" y="2591034"/>
            <a:ext cx="5810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注意：  移位操作不测试</a:t>
            </a:r>
            <a:r>
              <a:rPr lang="en-US" altLang="zh-CN" sz="2400" dirty="0">
                <a:solidFill>
                  <a:srgbClr val="C00000"/>
                </a:solidFill>
              </a:rPr>
              <a:t>OF</a:t>
            </a:r>
            <a:r>
              <a:rPr lang="zh-CN" altLang="en-US" sz="2400" dirty="0">
                <a:solidFill>
                  <a:srgbClr val="C00000"/>
                </a:solidFill>
              </a:rPr>
              <a:t>位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>
                <a:solidFill>
                  <a:srgbClr val="C00000"/>
                </a:solidFill>
              </a:rPr>
              <a:t>             </a:t>
            </a:r>
            <a:r>
              <a:rPr lang="zh-CN" altLang="en-US" sz="2400" dirty="0">
                <a:solidFill>
                  <a:srgbClr val="C00000"/>
                </a:solidFill>
              </a:rPr>
              <a:t>所有操作都不测试</a:t>
            </a:r>
            <a:r>
              <a:rPr lang="en-US" altLang="zh-CN" sz="2400" dirty="0">
                <a:solidFill>
                  <a:srgbClr val="C00000"/>
                </a:solidFill>
              </a:rPr>
              <a:t>AF</a:t>
            </a:r>
            <a:r>
              <a:rPr lang="zh-CN" altLang="en-US" sz="2400" dirty="0">
                <a:solidFill>
                  <a:srgbClr val="C00000"/>
                </a:solidFill>
              </a:rPr>
              <a:t>位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>
                <a:solidFill>
                  <a:srgbClr val="C00000"/>
                </a:solidFill>
              </a:rPr>
              <a:t>             </a:t>
            </a:r>
            <a:r>
              <a:rPr lang="en-US" altLang="zh-CN" sz="2400" dirty="0" err="1">
                <a:solidFill>
                  <a:srgbClr val="C00000"/>
                </a:solidFill>
              </a:rPr>
              <a:t>imul</a:t>
            </a:r>
            <a:r>
              <a:rPr lang="zh-CN" altLang="en-US" sz="2400" dirty="0">
                <a:solidFill>
                  <a:srgbClr val="C00000"/>
                </a:solidFill>
              </a:rPr>
              <a:t>操作所有标志位都不测试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900978" y="4222725"/>
            <a:ext cx="6618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注意：禁止采用测试用例里面使用内联汇编进行实现的方法，但是可以学习这种交叉验证的方法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00979" y="1339230"/>
            <a:ext cx="71277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测试用例代码：</a:t>
            </a:r>
            <a:endParaRPr lang="en-US" altLang="zh-CN" sz="2800" dirty="0"/>
          </a:p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/test/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alu_test.c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00978" y="5408129"/>
            <a:ext cx="6452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说明：其中</a:t>
            </a:r>
            <a:r>
              <a:rPr lang="en-US" altLang="zh-CN" sz="2400" dirty="0">
                <a:solidFill>
                  <a:srgbClr val="C00000"/>
                </a:solidFill>
              </a:rPr>
              <a:t>mod</a:t>
            </a:r>
            <a:r>
              <a:rPr lang="zh-CN" altLang="en-US" sz="2400" dirty="0">
                <a:solidFill>
                  <a:srgbClr val="C00000"/>
                </a:solidFill>
              </a:rPr>
              <a:t>和</a:t>
            </a:r>
            <a:r>
              <a:rPr lang="en-US" altLang="zh-CN" sz="2400" dirty="0" err="1">
                <a:solidFill>
                  <a:srgbClr val="C00000"/>
                </a:solidFill>
              </a:rPr>
              <a:t>imod</a:t>
            </a:r>
            <a:r>
              <a:rPr lang="zh-CN" altLang="en-US" sz="2400" dirty="0">
                <a:solidFill>
                  <a:srgbClr val="C00000"/>
                </a:solidFill>
              </a:rPr>
              <a:t>运算是我们单独抽象出来的，需参照</a:t>
            </a:r>
            <a:r>
              <a:rPr lang="en-US" altLang="zh-CN" sz="2400" dirty="0">
                <a:solidFill>
                  <a:srgbClr val="C00000"/>
                </a:solidFill>
              </a:rPr>
              <a:t>div</a:t>
            </a:r>
            <a:r>
              <a:rPr lang="zh-CN" altLang="en-US" sz="2400" dirty="0">
                <a:solidFill>
                  <a:srgbClr val="C00000"/>
                </a:solidFill>
              </a:rPr>
              <a:t>和</a:t>
            </a:r>
            <a:r>
              <a:rPr lang="en-US" altLang="zh-CN" sz="2400" dirty="0" err="1">
                <a:solidFill>
                  <a:srgbClr val="C00000"/>
                </a:solidFill>
              </a:rPr>
              <a:t>idiv</a:t>
            </a:r>
            <a:r>
              <a:rPr lang="zh-CN" altLang="en-US" sz="2400" dirty="0">
                <a:solidFill>
                  <a:srgbClr val="C00000"/>
                </a:solidFill>
              </a:rPr>
              <a:t>的说明进行实现并测试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框架代码对于</a:t>
            </a:r>
            <a:r>
              <a:rPr lang="en-US" altLang="zh-CN"/>
              <a:t>ALU</a:t>
            </a:r>
            <a:r>
              <a:rPr lang="zh-CN" altLang="en-US"/>
              <a:t>运算的测试方法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953022" y="1688278"/>
            <a:ext cx="4009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/>
              <a:t>测试输入</a:t>
            </a:r>
          </a:p>
        </p:txBody>
      </p:sp>
      <p:sp>
        <p:nvSpPr>
          <p:cNvPr id="7" name="矩形 6"/>
          <p:cNvSpPr/>
          <p:nvPr/>
        </p:nvSpPr>
        <p:spPr>
          <a:xfrm>
            <a:off x="2667000" y="3227709"/>
            <a:ext cx="2067951" cy="664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我的实现</a:t>
            </a:r>
          </a:p>
        </p:txBody>
      </p:sp>
      <p:sp>
        <p:nvSpPr>
          <p:cNvPr id="14" name="矩形 13"/>
          <p:cNvSpPr/>
          <p:nvPr/>
        </p:nvSpPr>
        <p:spPr>
          <a:xfrm>
            <a:off x="7576624" y="3227709"/>
            <a:ext cx="2067951" cy="664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黄金版本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213274" y="2301890"/>
            <a:ext cx="837028" cy="703384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696329" y="4826062"/>
            <a:ext cx="4009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/>
              <a:t>输出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605953" y="4826062"/>
            <a:ext cx="4009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/>
              <a:t>输出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6897858" y="2301890"/>
            <a:ext cx="837028" cy="703384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700975" y="4032216"/>
            <a:ext cx="0" cy="71041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8630528" y="4032216"/>
            <a:ext cx="0" cy="71041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箭头: 左右 15"/>
          <p:cNvSpPr/>
          <p:nvPr/>
        </p:nvSpPr>
        <p:spPr>
          <a:xfrm>
            <a:off x="4756051" y="4644539"/>
            <a:ext cx="2792436" cy="886265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对比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框架代码对于</a:t>
            </a:r>
            <a:r>
              <a:rPr lang="en-US" altLang="zh-CN"/>
              <a:t>ALU</a:t>
            </a:r>
            <a:r>
              <a:rPr lang="zh-CN" altLang="en-US"/>
              <a:t>运算的测试方法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936" y="1431503"/>
            <a:ext cx="6142864" cy="485362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44" y="1431503"/>
            <a:ext cx="4629412" cy="103983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21" y="3111881"/>
            <a:ext cx="4654335" cy="2549559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H="1" flipV="1">
            <a:off x="3953023" y="1709226"/>
            <a:ext cx="2342269" cy="14560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1589649" y="2471340"/>
            <a:ext cx="218050" cy="6100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985333" y="939317"/>
            <a:ext cx="45672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i="1">
                <a:solidFill>
                  <a:srgbClr val="0070C0"/>
                </a:solidFill>
              </a:rPr>
              <a:t>nemu/src/cpu/test/alu_test.c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后续阶段对</a:t>
            </a:r>
            <a:r>
              <a:rPr lang="en-US" altLang="zh-CN"/>
              <a:t>ALU</a:t>
            </a:r>
            <a:r>
              <a:rPr lang="zh-CN" altLang="en-US"/>
              <a:t>模拟的依赖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57533"/>
            <a:ext cx="10515600" cy="4819430"/>
          </a:xfrm>
        </p:spPr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PA 2-1</a:t>
            </a:r>
            <a:r>
              <a:rPr lang="zh-CN" altLang="en-US"/>
              <a:t>阶段的算术运算指令中，调用本阶段所实现的</a:t>
            </a:r>
            <a:r>
              <a:rPr lang="en-US" altLang="zh-CN"/>
              <a:t>alu</a:t>
            </a:r>
            <a:r>
              <a:rPr lang="zh-CN" altLang="en-US"/>
              <a:t>函数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474" y="2496909"/>
            <a:ext cx="7822599" cy="29402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实现对</a:t>
            </a:r>
            <a:r>
              <a:rPr lang="en-US" altLang="zh-CN" dirty="0"/>
              <a:t>ALU</a:t>
            </a:r>
            <a:r>
              <a:rPr lang="zh-CN" altLang="en-US" dirty="0"/>
              <a:t>的模拟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02526" y="1510315"/>
            <a:ext cx="11689474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实现</a:t>
            </a:r>
            <a:r>
              <a:rPr lang="en-US" altLang="zh-CN" dirty="0"/>
              <a:t>ALU</a:t>
            </a:r>
            <a:r>
              <a:rPr lang="zh-CN" altLang="en-US" dirty="0"/>
              <a:t>的目的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复习课本第二章内容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在</a:t>
            </a:r>
            <a:r>
              <a:rPr lang="en-US" altLang="zh-CN" dirty="0" err="1"/>
              <a:t>alu.c</a:t>
            </a:r>
            <a:r>
              <a:rPr lang="zh-CN" altLang="en-US" dirty="0"/>
              <a:t>中实现的这些函数，到了</a:t>
            </a:r>
            <a:r>
              <a:rPr lang="en-US" altLang="zh-CN" dirty="0"/>
              <a:t>PA 2</a:t>
            </a:r>
            <a:r>
              <a:rPr lang="zh-CN" altLang="en-US" dirty="0"/>
              <a:t>实现对应指令的时候，就可以直接调用了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PA 1不设置小的阶段截止</a:t>
            </a:r>
            <a:r>
              <a:rPr lang="zh-CN" altLang="en-US" dirty="0"/>
              <a:t>，</a:t>
            </a:r>
            <a:r>
              <a:rPr lang="en-US" altLang="zh-CN"/>
              <a:t>PA 1-1~3</a:t>
            </a:r>
            <a:r>
              <a:rPr lang="zh-CN" altLang="en-US" dirty="0"/>
              <a:t>完成后统一提交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en-US" altLang="zh-CN" dirty="0"/>
              <a:t>建议PA 1-1</a:t>
            </a:r>
            <a:r>
              <a:rPr lang="zh-CN" altLang="en-US" dirty="0"/>
              <a:t>和</a:t>
            </a:r>
            <a:r>
              <a:rPr lang="en-US" altLang="zh-CN" dirty="0"/>
              <a:t>PA 1-2在一周内完成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3055967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1-2 </a:t>
            </a:r>
            <a:r>
              <a:rPr lang="zh-CN" altLang="en-US" b="1" dirty="0">
                <a:solidFill>
                  <a:srgbClr val="C00000"/>
                </a:solidFill>
              </a:rPr>
              <a:t>整数的表示和运算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pPr lvl="1"/>
            <a:r>
              <a:rPr lang="zh-CN" altLang="en-US" dirty="0"/>
              <a:t>无符号整数和带符号整数的机器级表示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对</a:t>
            </a:r>
            <a:r>
              <a:rPr lang="en-US" altLang="zh-CN" dirty="0"/>
              <a:t>ALU</a:t>
            </a:r>
            <a:r>
              <a:rPr lang="zh-CN" altLang="en-US" dirty="0"/>
              <a:t>的模拟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en-US" altLang="zh-CN" dirty="0"/>
              <a:t>ADD</a:t>
            </a:r>
            <a:r>
              <a:rPr lang="zh-CN" altLang="en-US" dirty="0"/>
              <a:t>运算为例，在模拟</a:t>
            </a:r>
            <a:r>
              <a:rPr lang="en-US" altLang="zh-CN" dirty="0"/>
              <a:t>ALU</a:t>
            </a:r>
            <a:r>
              <a:rPr lang="zh-CN" altLang="en-US" dirty="0"/>
              <a:t>中实现运算功能并测试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AC22-F84A-46D4-B659-10301641531F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 1-2 </a:t>
            </a:r>
            <a:r>
              <a:rPr lang="zh-CN" altLang="en-US" dirty="0"/>
              <a:t>结束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05AE-46D6-4DBC-9686-0EE90ACC3BD7}" type="datetime3">
              <a:rPr lang="zh-CN" altLang="en-US" smtClean="0"/>
              <a:t>2025年9月7日星期日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AB2AF-F699-4493-A230-66784F1A7FC0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193</TotalTime>
  <Words>3045</Words>
  <Application>Microsoft Office PowerPoint</Application>
  <PresentationFormat>宽屏</PresentationFormat>
  <Paragraphs>513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等线</vt:lpstr>
      <vt:lpstr>微软雅黑</vt:lpstr>
      <vt:lpstr>幼圆</vt:lpstr>
      <vt:lpstr>Arial</vt:lpstr>
      <vt:lpstr>Consolas</vt:lpstr>
      <vt:lpstr>2020_spring_pa_0</vt:lpstr>
      <vt:lpstr>PA 1-2 – 整数的表示和运算</vt:lpstr>
      <vt:lpstr>机器数的存取</vt:lpstr>
      <vt:lpstr>PowerPoint 演示文稿</vt:lpstr>
      <vt:lpstr>目录</vt:lpstr>
      <vt:lpstr>知识点</vt:lpstr>
      <vt:lpstr>知识点</vt:lpstr>
      <vt:lpstr>数据的类型及其机器级表示</vt:lpstr>
      <vt:lpstr>整数的表示和运算</vt:lpstr>
      <vt:lpstr>整数的表示和运算</vt:lpstr>
      <vt:lpstr>数据的类型及其机器级表示</vt:lpstr>
      <vt:lpstr>机器数存储到存储器</vt:lpstr>
      <vt:lpstr>知识点</vt:lpstr>
      <vt:lpstr>整数的运算部件</vt:lpstr>
      <vt:lpstr>算术逻辑单元</vt:lpstr>
      <vt:lpstr>知识点</vt:lpstr>
      <vt:lpstr>实现对一种运算的模拟</vt:lpstr>
      <vt:lpstr>算术逻辑单元的模拟</vt:lpstr>
      <vt:lpstr>实现对一种运算的模拟</vt:lpstr>
      <vt:lpstr>实现对一种运算的模拟</vt:lpstr>
      <vt:lpstr>ADD运算CF的判断逻辑</vt:lpstr>
      <vt:lpstr>ADD运算CF的判断逻辑</vt:lpstr>
      <vt:lpstr>ADD运算CF的判断逻辑</vt:lpstr>
      <vt:lpstr>PowerPoint 演示文稿</vt:lpstr>
      <vt:lpstr>PowerPoint 演示文稿</vt:lpstr>
      <vt:lpstr>PowerPoint 演示文稿</vt:lpstr>
      <vt:lpstr>PowerPoint 演示文稿</vt:lpstr>
      <vt:lpstr>梳理一下ADD运算在模拟ALU中的实现</vt:lpstr>
      <vt:lpstr>对于ADC和SUB的特殊说明</vt:lpstr>
      <vt:lpstr>实现对一种运算的模拟</vt:lpstr>
      <vt:lpstr>实现对ALU的模拟</vt:lpstr>
      <vt:lpstr>框架代码对于ALU运算的测试方法</vt:lpstr>
      <vt:lpstr>框架代码对于ALU运算的测试方法</vt:lpstr>
      <vt:lpstr>后续阶段对ALU模拟的依赖</vt:lpstr>
      <vt:lpstr>实现对ALU的模拟</vt:lpstr>
      <vt:lpstr>知识点</vt:lpstr>
      <vt:lpstr>PA 1-2 结束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1 – 数据的表示、存取和运算</dc:title>
  <dc:creator>wangliang</dc:creator>
  <cp:lastModifiedBy>zhiyu yang</cp:lastModifiedBy>
  <cp:revision>347</cp:revision>
  <dcterms:created xsi:type="dcterms:W3CDTF">2020-02-28T02:08:00Z</dcterms:created>
  <dcterms:modified xsi:type="dcterms:W3CDTF">2025-09-07T10:53:56Z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751A1D3230C84022BCCC3D93F14D1523_12</vt:lpwstr>
  </property>
  <property fmtid="{D5CDD505-2E9C-101B-9397-08002B2CF9AE}" pid="3" name="KSOProductBuildVer">
    <vt:lpwstr>2052-12.1.0.22529</vt:lpwstr>
  </property>
</Properties>
</file>