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79" r:id="rId7"/>
    <p:sldId id="261" r:id="rId8"/>
    <p:sldId id="280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25" autoAdjust="0"/>
    <p:restoredTop sz="93963" autoAdjust="0"/>
  </p:normalViewPr>
  <p:slideViewPr>
    <p:cSldViewPr snapToGrid="0">
      <p:cViewPr varScale="1">
        <p:scale>
          <a:sx n="76" d="100"/>
          <a:sy n="76" d="100"/>
        </p:scale>
        <p:origin x="840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70B295-4411-4E67-85D5-737829779A85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3BCD20-3821-4D70-8EBF-7018A8A6DF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C1961-490D-4BAE-B9BF-807CF63ECB5D}" type="datetime1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7725B-6B6E-48AF-B2E8-4D27612ECBB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648" y="390127"/>
            <a:ext cx="1077598" cy="125052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013" y="304800"/>
            <a:ext cx="1345787" cy="14234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  <a14:imgEffect>
                      <a14:colorTemperature colorTemp="6494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1" y="365126"/>
            <a:ext cx="5105400" cy="639876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801F4-5984-4E7B-B4F6-7115A214F9A7}" type="datetime1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7725B-6B6E-48AF-B2E8-4D27612ECBB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62133-2A45-4483-AFFE-84780CDE65EC}" type="datetime1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7725B-6B6E-48AF-B2E8-4D27612ECBB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648" y="390127"/>
            <a:ext cx="1077598" cy="1250521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013" y="304800"/>
            <a:ext cx="1345787" cy="14234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6A7EE-67E1-4852-AAC3-EC1F9EC4B372}" type="datetime1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7725B-6B6E-48AF-B2E8-4D27612ECBB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6620D-0DF7-4182-8472-BA87F6950F6A}" type="datetime1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7725B-6B6E-48AF-B2E8-4D27612ECBB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595FF-676B-4623-8C2B-21A7F77303BE}" type="datetime1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7725B-6B6E-48AF-B2E8-4D27612ECBB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A3A90-D3F1-4C84-9846-B5B0036038D9}" type="datetime1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7725B-6B6E-48AF-B2E8-4D27612ECBB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C2EE5-EC88-4B99-9073-9B7F43F9BBA5}" type="datetime1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7725B-6B6E-48AF-B2E8-4D27612ECBB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B2CA7-962F-4D6C-89D2-EF92A57BA3E7}" type="datetime1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7725B-6B6E-48AF-B2E8-4D27612ECBB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29104-01B7-4675-93AF-BEFCBF2696E9}" type="datetime1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7725B-6B6E-48AF-B2E8-4D27612ECBB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4C4E1-E585-4A4F-BE3D-D1DE157D9AA3}" type="datetime1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7725B-6B6E-48AF-B2E8-4D27612ECBB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40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348509"/>
            <a:ext cx="10515600" cy="48284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48843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0">
                <a:solidFill>
                  <a:schemeClr val="tx1"/>
                </a:solidFill>
              </a:defRPr>
            </a:lvl1pPr>
          </a:lstStyle>
          <a:p>
            <a:fld id="{2D96274A-3956-48D5-9A3D-9630A1CCAEF2}" type="datetime1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48843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48843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0">
                <a:solidFill>
                  <a:schemeClr val="tx1"/>
                </a:solidFill>
              </a:defRPr>
            </a:lvl1pPr>
          </a:lstStyle>
          <a:p>
            <a:fld id="{42C7725B-6B6E-48AF-B2E8-4D27612ECBB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0.jpeg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ctrTitle"/>
          </p:nvPr>
        </p:nvSpPr>
        <p:spPr>
          <a:xfrm>
            <a:off x="1524000" y="1762443"/>
            <a:ext cx="9144000" cy="2387600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3200" dirty="0"/>
              <a:t>PA 4 </a:t>
            </a:r>
            <a:r>
              <a:rPr lang="zh-CN" altLang="en-US" sz="3200" dirty="0"/>
              <a:t>异常、中断与</a:t>
            </a:r>
            <a:r>
              <a:rPr lang="en-US" altLang="zh-CN" sz="3200" dirty="0"/>
              <a:t>I/O</a:t>
            </a:r>
            <a:br>
              <a:rPr lang="en-US" altLang="zh-CN" sz="3200" dirty="0"/>
            </a:br>
            <a:r>
              <a:rPr lang="en-US" altLang="zh-CN" sz="3200" dirty="0"/>
              <a:t>                          ——PA 4-2 </a:t>
            </a:r>
            <a:r>
              <a:rPr lang="zh-CN" altLang="en-US" sz="3200" dirty="0"/>
              <a:t>外设与</a:t>
            </a:r>
            <a:r>
              <a:rPr lang="en-US" altLang="zh-CN" sz="3200" dirty="0"/>
              <a:t>I/O</a:t>
            </a:r>
            <a:endParaRPr lang="zh-CN" altLang="en-US" sz="3200" dirty="0"/>
          </a:p>
        </p:txBody>
      </p:sp>
      <p:sp>
        <p:nvSpPr>
          <p:cNvPr id="5" name="副标题 2"/>
          <p:cNvSpPr>
            <a:spLocks noGrp="1"/>
          </p:cNvSpPr>
          <p:nvPr>
            <p:ph type="subTitle" idx="1"/>
          </p:nvPr>
        </p:nvSpPr>
        <p:spPr>
          <a:xfrm>
            <a:off x="1524000" y="4351020"/>
            <a:ext cx="9144000" cy="1501140"/>
          </a:xfrm>
        </p:spPr>
        <p:txBody>
          <a:bodyPr/>
          <a:lstStyle/>
          <a:p>
            <a:pPr algn="r"/>
            <a:r>
              <a:rPr lang="en-US" altLang="zh-CN" dirty="0"/>
              <a:t>2025</a:t>
            </a:r>
            <a:r>
              <a:rPr lang="zh-CN" altLang="en-US" dirty="0"/>
              <a:t>年</a:t>
            </a:r>
            <a:r>
              <a:rPr lang="en-US" altLang="zh-CN" dirty="0"/>
              <a:t>12</a:t>
            </a:r>
            <a:r>
              <a:rPr lang="zh-CN" altLang="en-US" dirty="0"/>
              <a:t>月</a:t>
            </a:r>
            <a:r>
              <a:rPr lang="en-US" altLang="zh-CN" dirty="0"/>
              <a:t>02</a:t>
            </a:r>
            <a:r>
              <a:rPr lang="zh-CN" altLang="en-US"/>
              <a:t>日</a:t>
            </a:r>
          </a:p>
          <a:p>
            <a:pPr algn="r"/>
            <a:r>
              <a:rPr lang="en-US" altLang="zh-CN" dirty="0">
                <a:sym typeface="+mn-ea"/>
              </a:rPr>
              <a:t>2025</a:t>
            </a:r>
            <a:r>
              <a:rPr lang="zh-CN" altLang="en-US" dirty="0">
                <a:sym typeface="+mn-ea"/>
              </a:rPr>
              <a:t>年</a:t>
            </a:r>
            <a:r>
              <a:rPr lang="en-US" altLang="zh-CN" dirty="0">
                <a:sym typeface="+mn-ea"/>
              </a:rPr>
              <a:t>12</a:t>
            </a:r>
            <a:r>
              <a:rPr lang="zh-CN" altLang="en-US" dirty="0">
                <a:sym typeface="+mn-ea"/>
              </a:rPr>
              <a:t>月</a:t>
            </a:r>
            <a:r>
              <a:rPr lang="en-US" altLang="zh-CN" dirty="0">
                <a:sym typeface="+mn-ea"/>
              </a:rPr>
              <a:t>03</a:t>
            </a:r>
            <a:r>
              <a:rPr lang="zh-CN" altLang="en-US">
                <a:sym typeface="+mn-ea"/>
              </a:rPr>
              <a:t>日</a:t>
            </a:r>
            <a:endParaRPr lang="en-US" altLang="zh-CN" dirty="0"/>
          </a:p>
          <a:p>
            <a:pPr algn="r"/>
            <a:r>
              <a:rPr lang="zh-CN" altLang="en-US" dirty="0"/>
              <a:t>南京大学</a:t>
            </a:r>
            <a:r>
              <a:rPr lang="en-US" altLang="zh-CN" dirty="0"/>
              <a:t>《</a:t>
            </a:r>
            <a:r>
              <a:rPr lang="zh-CN" altLang="en-US" dirty="0"/>
              <a:t>计算机系统基础</a:t>
            </a:r>
            <a:r>
              <a:rPr lang="en-US" altLang="zh-CN" dirty="0"/>
              <a:t>》</a:t>
            </a:r>
            <a:r>
              <a:rPr lang="zh-CN" altLang="en-US" dirty="0"/>
              <a:t>课程组</a:t>
            </a:r>
          </a:p>
        </p:txBody>
      </p:sp>
      <p:sp>
        <p:nvSpPr>
          <p:cNvPr id="6" name="标题 1"/>
          <p:cNvSpPr txBox="1"/>
          <p:nvPr/>
        </p:nvSpPr>
        <p:spPr>
          <a:xfrm>
            <a:off x="1555750" y="1185444"/>
            <a:ext cx="6858000" cy="13329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计算机系统基础</a:t>
            </a:r>
            <a:br>
              <a:rPr lang="en-US" altLang="zh-CN" sz="2400" dirty="0">
                <a:latin typeface="幼圆" panose="02010509060101010101" pitchFamily="49" charset="-122"/>
                <a:ea typeface="幼圆" panose="02010509060101010101" pitchFamily="49" charset="-122"/>
              </a:rPr>
            </a:br>
            <a:r>
              <a:rPr lang="en-US" altLang="zh-CN" sz="2400" dirty="0">
                <a:latin typeface="幼圆" panose="02010509060101010101" pitchFamily="49" charset="-122"/>
                <a:ea typeface="幼圆" panose="02010509060101010101" pitchFamily="49" charset="-122"/>
              </a:rPr>
              <a:t>Programming Assignment</a:t>
            </a:r>
            <a:endParaRPr lang="zh-CN" altLang="en-US" sz="24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89E52-0B37-4CFF-80B9-3FC62AC22690}" type="datetime1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7725B-6B6E-48AF-B2E8-4D27612ECBB4}" type="slidenum">
              <a:rPr lang="zh-CN" altLang="en-US" smtClean="0"/>
              <a:t>1</a:t>
            </a:fld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87985" y="5229225"/>
            <a:ext cx="46983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solidFill>
                  <a:srgbClr val="FF0000"/>
                </a:solidFill>
              </a:rPr>
              <a:t>PA 3-3</a:t>
            </a:r>
            <a:r>
              <a:rPr lang="zh-CN" altLang="en-US" b="1">
                <a:solidFill>
                  <a:srgbClr val="FF0000"/>
                </a:solidFill>
              </a:rPr>
              <a:t>截止时间</a:t>
            </a:r>
            <a:r>
              <a:rPr lang="en-US" altLang="zh-CN" b="1">
                <a:solidFill>
                  <a:srgbClr val="FF0000"/>
                </a:solidFill>
              </a:rPr>
              <a:t>25</a:t>
            </a:r>
            <a:r>
              <a:rPr lang="zh-CN" altLang="en-US" b="1">
                <a:solidFill>
                  <a:srgbClr val="FF0000"/>
                </a:solidFill>
              </a:rPr>
              <a:t>年</a:t>
            </a:r>
            <a:r>
              <a:rPr lang="en-US" altLang="zh-CN" b="1">
                <a:solidFill>
                  <a:srgbClr val="FF0000"/>
                </a:solidFill>
              </a:rPr>
              <a:t>12</a:t>
            </a:r>
            <a:r>
              <a:rPr lang="zh-CN" altLang="en-US" b="1">
                <a:solidFill>
                  <a:srgbClr val="FF0000"/>
                </a:solidFill>
              </a:rPr>
              <a:t>月</a:t>
            </a:r>
            <a:r>
              <a:rPr lang="en-US" altLang="zh-CN" b="1">
                <a:solidFill>
                  <a:srgbClr val="FF0000"/>
                </a:solidFill>
              </a:rPr>
              <a:t>7</a:t>
            </a:r>
            <a:r>
              <a:rPr lang="zh-CN" altLang="en-US" b="1">
                <a:solidFill>
                  <a:srgbClr val="FF0000"/>
                </a:solidFill>
              </a:rPr>
              <a:t>日（周日）</a:t>
            </a:r>
            <a:r>
              <a:rPr lang="en-US" altLang="zh-CN" b="1">
                <a:solidFill>
                  <a:srgbClr val="FF0000"/>
                </a:solidFill>
              </a:rPr>
              <a:t>24</a:t>
            </a:r>
            <a:r>
              <a:rPr lang="zh-CN" altLang="en-US" b="1">
                <a:solidFill>
                  <a:srgbClr val="FF0000"/>
                </a:solidFill>
              </a:rPr>
              <a:t>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419600" y="3170258"/>
            <a:ext cx="4359819" cy="3124442"/>
          </a:xfrm>
          <a:prstGeom prst="rect">
            <a:avLst/>
          </a:prstGeom>
        </p:spPr>
      </p:pic>
      <p:sp>
        <p:nvSpPr>
          <p:cNvPr id="7" name="云形标注 6"/>
          <p:cNvSpPr/>
          <p:nvPr/>
        </p:nvSpPr>
        <p:spPr>
          <a:xfrm>
            <a:off x="2116753" y="980249"/>
            <a:ext cx="4360248" cy="2223968"/>
          </a:xfrm>
          <a:prstGeom prst="cloudCallout">
            <a:avLst>
              <a:gd name="adj1" fmla="val 30857"/>
              <a:gd name="adj2" fmla="val 68698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前情提要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7764" y="1444023"/>
            <a:ext cx="958226" cy="99742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693" y="1464435"/>
            <a:ext cx="1013323" cy="104542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8332" y="1373275"/>
            <a:ext cx="1087624" cy="1087624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904989" y="4454811"/>
            <a:ext cx="24537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使用</a:t>
            </a:r>
            <a:r>
              <a:rPr lang="en-US" altLang="zh-CN" dirty="0"/>
              <a:t>PA 4-1</a:t>
            </a:r>
            <a:r>
              <a:rPr lang="zh-CN" altLang="en-US" dirty="0"/>
              <a:t>模拟的中断机制能够让机器对外部中断产生响应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120901" y="3399833"/>
            <a:ext cx="28265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PA 1 ~ PA 3</a:t>
            </a:r>
            <a:r>
              <a:rPr lang="zh-CN" altLang="en-US" dirty="0"/>
              <a:t>构建的由</a:t>
            </a:r>
            <a:r>
              <a:rPr lang="en-US" altLang="zh-CN" dirty="0"/>
              <a:t>CPU</a:t>
            </a:r>
            <a:r>
              <a:rPr lang="zh-CN" altLang="en-US" dirty="0"/>
              <a:t>和内存构成的计算机，配合</a:t>
            </a:r>
            <a:r>
              <a:rPr lang="en-US" altLang="zh-CN" dirty="0"/>
              <a:t>Kernel</a:t>
            </a:r>
            <a:r>
              <a:rPr lang="zh-CN" altLang="en-US" dirty="0"/>
              <a:t>的支持，已经拥有了很强的运算能力</a:t>
            </a:r>
          </a:p>
        </p:txBody>
      </p:sp>
      <p:sp>
        <p:nvSpPr>
          <p:cNvPr id="6" name="左箭头 5"/>
          <p:cNvSpPr/>
          <p:nvPr/>
        </p:nvSpPr>
        <p:spPr>
          <a:xfrm rot="19691870">
            <a:off x="7264400" y="2546351"/>
            <a:ext cx="2571750" cy="996950"/>
          </a:xfrm>
          <a:prstGeom prst="lef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dirty="0"/>
              <a:t>中断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C8614-0BFB-4EC0-A20B-73C29BB60199}" type="datetime1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7725B-6B6E-48AF-B2E8-4D27612ECBB4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/>
        </p:nvSpPr>
        <p:spPr>
          <a:xfrm>
            <a:off x="4486275" y="2560900"/>
            <a:ext cx="4248150" cy="42209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4743450" y="2828925"/>
            <a:ext cx="3733800" cy="37338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前情提要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954294" y="1257301"/>
            <a:ext cx="53562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但是！缺少输入和输出的能力，基本上还是封闭在机箱的内部。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419600" y="3170258"/>
            <a:ext cx="4359819" cy="3124442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6BFE9-6D40-4A62-9B49-510C4F668D92}" type="datetime1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7725B-6B6E-48AF-B2E8-4D27612ECBB4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/>
        </p:nvSpPr>
        <p:spPr>
          <a:xfrm>
            <a:off x="4486275" y="2560900"/>
            <a:ext cx="4248150" cy="42209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4743450" y="2828925"/>
            <a:ext cx="3733800" cy="37338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 4-2</a:t>
            </a:r>
            <a:r>
              <a:rPr lang="zh-CN" altLang="en-US" dirty="0"/>
              <a:t>的任务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954294" y="1257301"/>
            <a:ext cx="68135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为它接上眼睛和嘴巴，完成实现一台现代计算机的“最后的拼图”。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71" r="18898"/>
          <a:stretch>
            <a:fillRect/>
          </a:stretch>
        </p:blipFill>
        <p:spPr>
          <a:xfrm flipH="1">
            <a:off x="5243512" y="3170258"/>
            <a:ext cx="2800351" cy="3124442"/>
          </a:xfrm>
          <a:prstGeom prst="rect">
            <a:avLst/>
          </a:prstGeom>
        </p:spPr>
      </p:pic>
      <p:pic>
        <p:nvPicPr>
          <p:cNvPr id="3074" name="Picture 2" descr="https://timgsa.baidu.com/timg?image&amp;quality=80&amp;size=b9999_10000&amp;sec=1515653061&amp;di=f38f2dbb8d9a1ab42bcf591cadbe6599&amp;imgtype=jpg&amp;er=1&amp;src=http%3A%2F%2Fghr-japan.greater.jp%2Fproductsimage%2F1086794n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0626" y="5901436"/>
            <a:ext cx="1935853" cy="786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肘形连接符 4"/>
          <p:cNvCxnSpPr>
            <a:stCxn id="3074" idx="0"/>
            <a:endCxn id="15" idx="3"/>
          </p:cNvCxnSpPr>
          <p:nvPr/>
        </p:nvCxnSpPr>
        <p:spPr>
          <a:xfrm rot="5400000" flipH="1" flipV="1">
            <a:off x="3431553" y="4089479"/>
            <a:ext cx="1168956" cy="2454959"/>
          </a:xfrm>
          <a:prstGeom prst="bentConnector2">
            <a:avLst/>
          </a:prstGeom>
          <a:ln w="38100">
            <a:solidFill>
              <a:srgbClr val="C0000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6" name="Picture 4" descr="https://timgsa.baidu.com/timg?image&amp;quality=80&amp;size=b9999_10000&amp;sec=1515058462462&amp;di=112597d052c25150114ea41868a5938c&amp;imgtype=0&amp;src=http%3A%2F%2Foss.huangye88.net%2Flive%2Fuser%2F1760137%2F1461634479059590900-0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8832" y="2560901"/>
            <a:ext cx="2697413" cy="1882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肘形连接符 15"/>
          <p:cNvCxnSpPr>
            <a:stCxn id="15" idx="0"/>
            <a:endCxn id="3076" idx="3"/>
          </p:cNvCxnSpPr>
          <p:nvPr/>
        </p:nvCxnSpPr>
        <p:spPr>
          <a:xfrm rot="16200000" flipH="1" flipV="1">
            <a:off x="5273945" y="2132557"/>
            <a:ext cx="332040" cy="2407442"/>
          </a:xfrm>
          <a:prstGeom prst="bentConnector4">
            <a:avLst>
              <a:gd name="adj1" fmla="val -68847"/>
              <a:gd name="adj2" fmla="val 63254"/>
            </a:avLst>
          </a:prstGeom>
          <a:ln w="38100">
            <a:solidFill>
              <a:schemeClr val="accent4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80" name="Picture 8" descr="https://timgsa.baidu.com/timg?image&amp;quality=80&amp;size=b9999_10000&amp;sec=1515058658898&amp;di=3442e2ae48f724c723158c1d4e4fd295&amp;imgtype=0&amp;src=http%3A%2F%2Fwww.udaxia.com%2Fuploads%2Fallimg%2F140507%2F3-14050G40635A5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5382" y="2628900"/>
            <a:ext cx="1592618" cy="1287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5" name="肘形连接符 24"/>
          <p:cNvCxnSpPr>
            <a:stCxn id="15" idx="1"/>
            <a:endCxn id="3080" idx="2"/>
          </p:cNvCxnSpPr>
          <p:nvPr/>
        </p:nvCxnSpPr>
        <p:spPr>
          <a:xfrm flipV="1">
            <a:off x="8043863" y="3916647"/>
            <a:ext cx="1827829" cy="815833"/>
          </a:xfrm>
          <a:prstGeom prst="bentConnector2">
            <a:avLst/>
          </a:prstGeom>
          <a:ln w="38100">
            <a:solidFill>
              <a:srgbClr val="00B05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C5858-3C57-40EF-8F73-11A27B4DFA07}" type="datetime1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7725B-6B6E-48AF-B2E8-4D27612ECBB4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外设与</a:t>
            </a:r>
            <a:r>
              <a:rPr lang="en-US" altLang="zh-CN" dirty="0"/>
              <a:t>I/O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52650" y="1811547"/>
            <a:ext cx="7886700" cy="436541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/>
              <a:t>CPU</a:t>
            </a:r>
            <a:r>
              <a:rPr lang="zh-CN" altLang="en-US" dirty="0"/>
              <a:t>完成与外设通信的几种方式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方式</a:t>
            </a:r>
            <a:r>
              <a:rPr lang="en-US" altLang="zh-CN" dirty="0"/>
              <a:t>1</a:t>
            </a:r>
            <a:r>
              <a:rPr lang="zh-CN" altLang="en-US" dirty="0"/>
              <a:t>：端口映射</a:t>
            </a:r>
            <a:r>
              <a:rPr lang="en-US" altLang="zh-CN" dirty="0"/>
              <a:t>I/O(port-mapped I/O)</a:t>
            </a:r>
            <a:endParaRPr lang="zh-CN" altLang="en-US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方式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lang="zh-CN" altLang="zh-CN" dirty="0"/>
              <a:t>内存映射</a:t>
            </a:r>
            <a:r>
              <a:rPr lang="en-US" altLang="zh-CN" dirty="0"/>
              <a:t>I/O (Memory Mapped I/O, </a:t>
            </a:r>
            <a:r>
              <a:rPr lang="en-US" altLang="zh-CN" dirty="0" err="1"/>
              <a:t>mmio</a:t>
            </a:r>
            <a:r>
              <a:rPr lang="en-US" altLang="zh-CN" dirty="0"/>
              <a:t>)</a:t>
            </a:r>
          </a:p>
          <a:p>
            <a:pPr lvl="1">
              <a:lnSpc>
                <a:spcPct val="150000"/>
              </a:lnSpc>
            </a:pP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A24AE-6C0E-4769-A448-98B4CB22394E}" type="datetime1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7725B-6B6E-48AF-B2E8-4D27612ECBB4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801F4-5984-4E7B-B4F6-7115A214F9A7}" type="datetime1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7725B-6B6E-48AF-B2E8-4D27612ECBB4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2048933" y="1122892"/>
            <a:ext cx="7755467" cy="4351338"/>
          </a:xfrm>
          <a:solidFill>
            <a:schemeClr val="bg1"/>
          </a:solidFill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NEMU</a:t>
            </a:r>
            <a:r>
              <a:rPr lang="zh-CN" altLang="en-US" dirty="0"/>
              <a:t>中</a:t>
            </a:r>
            <a:r>
              <a:rPr lang="en-US" altLang="zh-CN" dirty="0"/>
              <a:t>CPU</a:t>
            </a:r>
            <a:r>
              <a:rPr lang="zh-CN" altLang="en-US" dirty="0"/>
              <a:t>完成与外设通信的几种方式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方式</a:t>
            </a:r>
            <a:r>
              <a:rPr lang="en-US" altLang="zh-CN" dirty="0"/>
              <a:t>1</a:t>
            </a:r>
            <a:r>
              <a:rPr lang="zh-CN" altLang="en-US" dirty="0"/>
              <a:t>：端口映射</a:t>
            </a:r>
            <a:r>
              <a:rPr lang="en-US" altLang="zh-CN" dirty="0"/>
              <a:t>I/O(port-mapped I/O)</a:t>
            </a:r>
          </a:p>
          <a:p>
            <a:pPr lvl="2">
              <a:lnSpc>
                <a:spcPct val="150000"/>
              </a:lnSpc>
            </a:pPr>
            <a:r>
              <a:rPr lang="zh-CN" altLang="en-US" dirty="0"/>
              <a:t>串口（</a:t>
            </a:r>
            <a:r>
              <a:rPr lang="en-US" altLang="zh-CN" dirty="0"/>
              <a:t>Serial</a:t>
            </a:r>
            <a:r>
              <a:rPr lang="zh-CN" altLang="en-US" dirty="0"/>
              <a:t>）、键盘（</a:t>
            </a:r>
            <a:r>
              <a:rPr lang="en-US" altLang="zh-CN" dirty="0"/>
              <a:t>Keyboard</a:t>
            </a:r>
            <a:r>
              <a:rPr lang="zh-CN" altLang="en-US" dirty="0"/>
              <a:t>）、硬盘（</a:t>
            </a:r>
            <a:r>
              <a:rPr lang="en-US" altLang="zh-CN" dirty="0"/>
              <a:t>IDE</a:t>
            </a:r>
            <a:r>
              <a:rPr lang="zh-CN" altLang="en-US" dirty="0"/>
              <a:t>）</a:t>
            </a:r>
          </a:p>
          <a:p>
            <a:pPr lvl="1">
              <a:lnSpc>
                <a:spcPct val="150000"/>
              </a:lnSpc>
            </a:pPr>
            <a:r>
              <a:rPr lang="zh-CN" altLang="en-US" dirty="0"/>
              <a:t>方式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lang="zh-CN" altLang="zh-CN" dirty="0"/>
              <a:t>内存映射</a:t>
            </a:r>
            <a:r>
              <a:rPr lang="en-US" altLang="zh-CN" dirty="0"/>
              <a:t>I/O (Memory Mapped I/O, </a:t>
            </a:r>
            <a:r>
              <a:rPr lang="en-US" altLang="zh-CN" dirty="0" err="1"/>
              <a:t>mmio</a:t>
            </a:r>
            <a:r>
              <a:rPr lang="en-US" altLang="zh-CN" dirty="0"/>
              <a:t>)</a:t>
            </a:r>
          </a:p>
          <a:p>
            <a:pPr lvl="2">
              <a:lnSpc>
                <a:spcPct val="150000"/>
              </a:lnSpc>
            </a:pPr>
            <a:r>
              <a:rPr lang="zh-CN" altLang="en-US" dirty="0"/>
              <a:t>显卡（</a:t>
            </a:r>
            <a:r>
              <a:rPr lang="en-US" altLang="zh-CN" dirty="0"/>
              <a:t>VGA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其它只需要理解：</a:t>
            </a:r>
            <a:endParaRPr lang="en-US" altLang="zh-CN" dirty="0"/>
          </a:p>
          <a:p>
            <a:pPr lvl="2">
              <a:lnSpc>
                <a:spcPct val="150000"/>
              </a:lnSpc>
            </a:pPr>
            <a:r>
              <a:rPr lang="zh-CN" altLang="en-US" dirty="0"/>
              <a:t>声卡（</a:t>
            </a:r>
            <a:r>
              <a:rPr lang="en-US" altLang="zh-CN" dirty="0"/>
              <a:t>Audio</a:t>
            </a:r>
            <a:r>
              <a:rPr lang="zh-CN" altLang="en-US" dirty="0"/>
              <a:t>）实验性质</a:t>
            </a:r>
            <a:endParaRPr lang="en-US" altLang="zh-CN" dirty="0"/>
          </a:p>
          <a:p>
            <a:pPr lvl="2">
              <a:lnSpc>
                <a:spcPct val="150000"/>
              </a:lnSpc>
            </a:pPr>
            <a:r>
              <a:rPr lang="zh-CN" altLang="en-US" dirty="0"/>
              <a:t>时钟（</a:t>
            </a:r>
            <a:r>
              <a:rPr lang="en-US" altLang="zh-CN" dirty="0"/>
              <a:t>Timer</a:t>
            </a:r>
            <a:r>
              <a:rPr lang="zh-CN" altLang="en-US" dirty="0"/>
              <a:t>）只产生时钟中断</a:t>
            </a:r>
            <a:r>
              <a:rPr lang="en-US" altLang="zh-CN" dirty="0"/>
              <a:t>PA 4-1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外设与</a:t>
            </a:r>
            <a:r>
              <a:rPr lang="en-US" altLang="zh-CN" dirty="0"/>
              <a:t>I/O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52650" y="1182256"/>
            <a:ext cx="7886700" cy="1103745"/>
          </a:xfrm>
        </p:spPr>
        <p:txBody>
          <a:bodyPr/>
          <a:lstStyle/>
          <a:p>
            <a:r>
              <a:rPr lang="en-US" altLang="zh-CN" dirty="0"/>
              <a:t>CPU</a:t>
            </a:r>
            <a:r>
              <a:rPr lang="zh-CN" altLang="en-US" dirty="0"/>
              <a:t>如何向外设进行输入输出？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方式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：端口映射</a:t>
            </a:r>
            <a:r>
              <a:rPr lang="en-US" altLang="zh-CN" dirty="0">
                <a:solidFill>
                  <a:srgbClr val="FF0000"/>
                </a:solidFill>
              </a:rPr>
              <a:t>I/O(port-mapped I/O)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8643" y="2853722"/>
            <a:ext cx="1998471" cy="2080228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776219" y="4933951"/>
            <a:ext cx="7505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i="1" dirty="0"/>
              <a:t>CPU</a:t>
            </a:r>
            <a:endParaRPr lang="zh-CN" altLang="en-US" sz="2400" i="1" dirty="0"/>
          </a:p>
        </p:txBody>
      </p:sp>
      <p:pic>
        <p:nvPicPr>
          <p:cNvPr id="4098" name="Picture 2" descr="https://timgsa.baidu.com/timg?image&amp;quality=80&amp;size=b9999_10000&amp;sec=1515075884824&amp;di=634e8449a2eb053dca6c7e00f82d3842&amp;imgtype=0&amp;src=http%3A%2F%2Fpic.58pic.com%2F58pic%2F15%2F48%2F79%2F49458PICeyH_1024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6628" y="3348588"/>
            <a:ext cx="1684163" cy="1090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https://timgsa.baidu.com/timg?image&amp;quality=80&amp;size=b9999_10000&amp;sec=1515653061&amp;di=f38f2dbb8d9a1ab42bcf591cadbe6599&amp;imgtype=jpg&amp;er=1&amp;src=http%3A%2F%2Fghr-japan.greater.jp%2Fproductsimage%2F1086794n1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4969" y="2460458"/>
            <a:ext cx="1935853" cy="786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肘形连接符 9"/>
          <p:cNvCxnSpPr>
            <a:stCxn id="4098" idx="3"/>
            <a:endCxn id="7" idx="0"/>
          </p:cNvCxnSpPr>
          <p:nvPr/>
        </p:nvCxnSpPr>
        <p:spPr>
          <a:xfrm flipV="1">
            <a:off x="6640791" y="2460458"/>
            <a:ext cx="2592105" cy="1433379"/>
          </a:xfrm>
          <a:prstGeom prst="bentConnector4">
            <a:avLst>
              <a:gd name="adj1" fmla="val 30340"/>
              <a:gd name="adj2" fmla="val 115948"/>
            </a:avLst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8406616" y="1830579"/>
            <a:ext cx="1112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0x60</a:t>
            </a:r>
            <a:r>
              <a:rPr lang="zh-CN" altLang="en-US" dirty="0"/>
              <a:t>号线</a:t>
            </a:r>
          </a:p>
        </p:txBody>
      </p:sp>
      <p:pic>
        <p:nvPicPr>
          <p:cNvPr id="13" name="Picture 8" descr="https://timgsa.baidu.com/timg?image&amp;quality=80&amp;size=b9999_10000&amp;sec=1515058658898&amp;di=3442e2ae48f724c723158c1d4e4fd295&amp;imgtype=0&amp;src=http%3A%2F%2Fwww.udaxia.com%2Fuploads%2Fallimg%2F140507%2F3-14050G40635A5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7081" y="4639129"/>
            <a:ext cx="1592618" cy="1287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肘形连接符 13"/>
          <p:cNvCxnSpPr>
            <a:stCxn id="4098" idx="3"/>
            <a:endCxn id="13" idx="0"/>
          </p:cNvCxnSpPr>
          <p:nvPr/>
        </p:nvCxnSpPr>
        <p:spPr>
          <a:xfrm>
            <a:off x="6640790" y="3893837"/>
            <a:ext cx="2862600" cy="745293"/>
          </a:xfrm>
          <a:prstGeom prst="bentConnector2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7936842" y="3481198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0x1F0</a:t>
            </a:r>
            <a:r>
              <a:rPr lang="zh-CN" altLang="en-US" dirty="0"/>
              <a:t>号线</a:t>
            </a:r>
          </a:p>
        </p:txBody>
      </p:sp>
      <p:pic>
        <p:nvPicPr>
          <p:cNvPr id="4100" name="Picture 4" descr="https://timgsa.baidu.com/timg?image&amp;quality=80&amp;size=b9999_10000&amp;sec=1515076270910&amp;di=fa6809862066f3e8d7f6378ba37e5224&amp;imgtype=0&amp;src=http%3A%2F%2Fwww.waveshare.net%2Fphoto%2FaccBoard%2FMAX3232-RS232-Board%2FMAX3232-RS232-Board-1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4809" y="5283002"/>
            <a:ext cx="1965986" cy="147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" name="肘形连接符 19"/>
          <p:cNvCxnSpPr>
            <a:stCxn id="4098" idx="3"/>
            <a:endCxn id="4100" idx="0"/>
          </p:cNvCxnSpPr>
          <p:nvPr/>
        </p:nvCxnSpPr>
        <p:spPr>
          <a:xfrm>
            <a:off x="6640790" y="3893836"/>
            <a:ext cx="1157012" cy="1389166"/>
          </a:xfrm>
          <a:prstGeom prst="bentConnector2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6618009" y="4729004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0x3F8</a:t>
            </a:r>
            <a:r>
              <a:rPr lang="zh-CN" altLang="en-US" dirty="0"/>
              <a:t>号线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5190789" y="2649990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i="1" dirty="0"/>
              <a:t>I/O</a:t>
            </a:r>
            <a:r>
              <a:rPr lang="zh-CN" altLang="en-US" i="1" dirty="0"/>
              <a:t>桥接器</a:t>
            </a:r>
            <a:endParaRPr lang="en-US" altLang="zh-CN" i="1" dirty="0"/>
          </a:p>
          <a:p>
            <a:pPr algn="ctr"/>
            <a:r>
              <a:rPr lang="zh-CN" altLang="en-US" i="1" dirty="0"/>
              <a:t>（南桥芯片）</a:t>
            </a:r>
          </a:p>
        </p:txBody>
      </p:sp>
      <p:sp>
        <p:nvSpPr>
          <p:cNvPr id="26" name="左右箭头 25"/>
          <p:cNvSpPr/>
          <p:nvPr/>
        </p:nvSpPr>
        <p:spPr>
          <a:xfrm>
            <a:off x="4133946" y="3698956"/>
            <a:ext cx="716816" cy="194881"/>
          </a:xfrm>
          <a:prstGeom prst="left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844550" y="5333822"/>
            <a:ext cx="47446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将外设的数据、状态、控制寄存器称为</a:t>
            </a:r>
            <a:r>
              <a:rPr lang="en-US" altLang="zh-CN" dirty="0"/>
              <a:t>I/O</a:t>
            </a:r>
            <a:r>
              <a:rPr lang="zh-CN" altLang="en-US" dirty="0"/>
              <a:t>端口；对端口进行编号；</a:t>
            </a:r>
            <a:r>
              <a:rPr lang="en-US" altLang="zh-CN" dirty="0"/>
              <a:t>CPU</a:t>
            </a:r>
            <a:r>
              <a:rPr lang="zh-CN" altLang="en-US" dirty="0"/>
              <a:t>使用</a:t>
            </a:r>
            <a:r>
              <a:rPr lang="en-US" altLang="zh-CN" dirty="0"/>
              <a:t>in</a:t>
            </a:r>
            <a:r>
              <a:rPr lang="zh-CN" altLang="en-US" dirty="0"/>
              <a:t>与</a:t>
            </a:r>
            <a:r>
              <a:rPr lang="en-US" altLang="zh-CN" dirty="0"/>
              <a:t>out</a:t>
            </a:r>
            <a:r>
              <a:rPr lang="zh-CN" altLang="en-US" dirty="0"/>
              <a:t>指令同端口间通过按编号“打电话”的方式通信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6079E-92FE-467A-9C6D-421D232D1B20}" type="datetime1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7725B-6B6E-48AF-B2E8-4D27612ECBB4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801F4-5984-4E7B-B4F6-7115A214F9A7}" type="datetime1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7725B-6B6E-48AF-B2E8-4D27612ECBB4}" type="slidenum">
              <a:rPr lang="zh-CN" altLang="en-US" smtClean="0"/>
              <a:t>8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47" y="3034122"/>
            <a:ext cx="1739383" cy="1295841"/>
          </a:xfrm>
          <a:prstGeom prst="rect">
            <a:avLst/>
          </a:prstGeom>
        </p:spPr>
      </p:pic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6445189" y="1296711"/>
          <a:ext cx="745724" cy="464348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457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5943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字节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943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字节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943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字节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5943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字节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5943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字节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5943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字节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594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5943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字节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5943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字节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6347534" y="79898"/>
            <a:ext cx="26455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I/O</a:t>
            </a:r>
            <a:r>
              <a:rPr lang="zh-CN" altLang="en-US" dirty="0"/>
              <a:t>端口</a:t>
            </a:r>
            <a:endParaRPr lang="en-US" altLang="zh-CN" dirty="0"/>
          </a:p>
          <a:p>
            <a:pPr algn="ctr"/>
            <a:r>
              <a:rPr lang="zh-CN" altLang="en-US" dirty="0"/>
              <a:t>（设备控制器中的数据、状态、控制寄存器）</a:t>
            </a:r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5237825" y="1298191"/>
          <a:ext cx="1004657" cy="464348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4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5943"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943"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943"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5943"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5943"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5943"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5943"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5943"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65534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5943"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65535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3952042" y="633896"/>
            <a:ext cx="2645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I/O</a:t>
            </a:r>
            <a:r>
              <a:rPr lang="zh-CN" altLang="en-US" dirty="0"/>
              <a:t>端口地址（编号）</a:t>
            </a:r>
          </a:p>
        </p:txBody>
      </p:sp>
      <p:sp>
        <p:nvSpPr>
          <p:cNvPr id="12" name="左大括号 11"/>
          <p:cNvSpPr/>
          <p:nvPr/>
        </p:nvSpPr>
        <p:spPr>
          <a:xfrm>
            <a:off x="5246703" y="1331651"/>
            <a:ext cx="159798" cy="4527612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835155" y="3018408"/>
            <a:ext cx="13849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65536</a:t>
            </a:r>
            <a:r>
              <a:rPr lang="zh-CN" altLang="en-US" dirty="0"/>
              <a:t>个</a:t>
            </a:r>
            <a:r>
              <a:rPr lang="en-US" altLang="zh-CN" dirty="0"/>
              <a:t>I/O</a:t>
            </a:r>
            <a:r>
              <a:rPr lang="zh-CN" altLang="en-US" dirty="0"/>
              <a:t>端口，可以由</a:t>
            </a:r>
            <a:r>
              <a:rPr lang="en-US" altLang="zh-CN" dirty="0"/>
              <a:t>16</a:t>
            </a:r>
            <a:r>
              <a:rPr lang="zh-CN" altLang="en-US" dirty="0"/>
              <a:t>位无符号整型编码</a:t>
            </a:r>
          </a:p>
        </p:txBody>
      </p:sp>
      <p:cxnSp>
        <p:nvCxnSpPr>
          <p:cNvPr id="14" name="直接箭头连接符 13"/>
          <p:cNvCxnSpPr/>
          <p:nvPr/>
        </p:nvCxnSpPr>
        <p:spPr>
          <a:xfrm flipH="1">
            <a:off x="2032986" y="3302493"/>
            <a:ext cx="1544715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2317072" y="2831978"/>
            <a:ext cx="1944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in </a:t>
            </a:r>
            <a:r>
              <a:rPr lang="zh-CN" altLang="en-US" dirty="0"/>
              <a:t>端口号</a:t>
            </a:r>
          </a:p>
        </p:txBody>
      </p:sp>
      <p:cxnSp>
        <p:nvCxnSpPr>
          <p:cNvPr id="16" name="直接箭头连接符 15"/>
          <p:cNvCxnSpPr/>
          <p:nvPr/>
        </p:nvCxnSpPr>
        <p:spPr>
          <a:xfrm>
            <a:off x="2105487" y="3872143"/>
            <a:ext cx="1544715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2194264" y="4005310"/>
            <a:ext cx="2191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out </a:t>
            </a:r>
            <a:r>
              <a:rPr lang="zh-CN" altLang="en-US" dirty="0"/>
              <a:t>端口号</a:t>
            </a:r>
          </a:p>
        </p:txBody>
      </p:sp>
      <p:cxnSp>
        <p:nvCxnSpPr>
          <p:cNvPr id="18" name="直接箭头连接符 17"/>
          <p:cNvCxnSpPr/>
          <p:nvPr/>
        </p:nvCxnSpPr>
        <p:spPr>
          <a:xfrm>
            <a:off x="7912962" y="5246703"/>
            <a:ext cx="1970843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8014444" y="4771293"/>
            <a:ext cx="16065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0x3F8 </a:t>
            </a:r>
            <a:r>
              <a:rPr lang="en-US" altLang="zh-CN" dirty="0"/>
              <a:t>~ 0x3FF</a:t>
            </a:r>
            <a:endParaRPr lang="zh-CN" altLang="en-US" dirty="0"/>
          </a:p>
        </p:txBody>
      </p:sp>
      <p:sp>
        <p:nvSpPr>
          <p:cNvPr id="20" name="文本框 19"/>
          <p:cNvSpPr txBox="1"/>
          <p:nvPr/>
        </p:nvSpPr>
        <p:spPr>
          <a:xfrm>
            <a:off x="10159013" y="5078028"/>
            <a:ext cx="1438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串口</a:t>
            </a:r>
          </a:p>
        </p:txBody>
      </p:sp>
      <p:sp>
        <p:nvSpPr>
          <p:cNvPr id="21" name="矩形 20"/>
          <p:cNvSpPr/>
          <p:nvPr/>
        </p:nvSpPr>
        <p:spPr>
          <a:xfrm>
            <a:off x="8014444" y="3288721"/>
            <a:ext cx="16177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0x1F0 </a:t>
            </a:r>
            <a:r>
              <a:rPr lang="en-US" altLang="zh-CN" dirty="0"/>
              <a:t>~ 0x1F7</a:t>
            </a:r>
            <a:endParaRPr lang="zh-CN" altLang="en-US" dirty="0"/>
          </a:p>
        </p:txBody>
      </p:sp>
      <p:cxnSp>
        <p:nvCxnSpPr>
          <p:cNvPr id="22" name="直接箭头连接符 21"/>
          <p:cNvCxnSpPr/>
          <p:nvPr/>
        </p:nvCxnSpPr>
        <p:spPr>
          <a:xfrm>
            <a:off x="7912962" y="3863265"/>
            <a:ext cx="1970843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10159013" y="3685710"/>
            <a:ext cx="1438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硬盘</a:t>
            </a:r>
          </a:p>
        </p:txBody>
      </p:sp>
      <p:sp>
        <p:nvSpPr>
          <p:cNvPr id="24" name="矩形 23"/>
          <p:cNvSpPr/>
          <p:nvPr/>
        </p:nvSpPr>
        <p:spPr>
          <a:xfrm>
            <a:off x="8493837" y="1752886"/>
            <a:ext cx="6511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0x60</a:t>
            </a:r>
          </a:p>
        </p:txBody>
      </p:sp>
      <p:cxnSp>
        <p:nvCxnSpPr>
          <p:cNvPr id="25" name="直接箭头连接符 24"/>
          <p:cNvCxnSpPr/>
          <p:nvPr/>
        </p:nvCxnSpPr>
        <p:spPr>
          <a:xfrm>
            <a:off x="7912962" y="2293399"/>
            <a:ext cx="1970843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10159013" y="2106965"/>
            <a:ext cx="1438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键盘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8593584" y="5797118"/>
            <a:ext cx="21306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/>
              <a:t>NEMU</a:t>
            </a:r>
            <a:r>
              <a:rPr lang="zh-CN" altLang="en-US" i="1" dirty="0"/>
              <a:t>中</a:t>
            </a:r>
            <a:r>
              <a:rPr lang="en-US" altLang="zh-CN" i="1" dirty="0"/>
              <a:t>I/O</a:t>
            </a:r>
            <a:r>
              <a:rPr lang="zh-CN" altLang="en-US" i="1" dirty="0"/>
              <a:t>端口和设备间的对应关系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9883805" y="4161120"/>
            <a:ext cx="31870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Consolas" panose="020B0609020204030204" pitchFamily="49" charset="0"/>
              </a:rPr>
              <a:t>movb</a:t>
            </a:r>
            <a:r>
              <a:rPr lang="en-US" altLang="zh-CN" dirty="0">
                <a:latin typeface="Consolas" panose="020B0609020204030204" pitchFamily="49" charset="0"/>
              </a:rPr>
              <a:t> $’A’, %al</a:t>
            </a:r>
          </a:p>
          <a:p>
            <a:r>
              <a:rPr lang="en-US" altLang="zh-CN" dirty="0" err="1">
                <a:latin typeface="Consolas" panose="020B0609020204030204" pitchFamily="49" charset="0"/>
              </a:rPr>
              <a:t>movw</a:t>
            </a:r>
            <a:r>
              <a:rPr lang="en-US" altLang="zh-CN" dirty="0">
                <a:latin typeface="Consolas" panose="020B0609020204030204" pitchFamily="49" charset="0"/>
              </a:rPr>
              <a:t> $0x3F8, %dx</a:t>
            </a:r>
          </a:p>
          <a:p>
            <a:r>
              <a:rPr lang="en-US" altLang="zh-CN" dirty="0" err="1">
                <a:latin typeface="Consolas" panose="020B0609020204030204" pitchFamily="49" charset="0"/>
              </a:rPr>
              <a:t>outb</a:t>
            </a:r>
            <a:r>
              <a:rPr lang="en-US" altLang="zh-CN" dirty="0">
                <a:latin typeface="Consolas" panose="020B0609020204030204" pitchFamily="49" charset="0"/>
              </a:rPr>
              <a:t> %al, %dx</a:t>
            </a:r>
            <a:endParaRPr lang="zh-CN" altLang="en-US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外设与</a:t>
            </a:r>
            <a:r>
              <a:rPr lang="en-US" altLang="zh-CN" dirty="0"/>
              <a:t>I/O</a:t>
            </a:r>
            <a:endParaRPr lang="zh-CN" altLang="en-US" dirty="0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2152650" y="1182256"/>
            <a:ext cx="7886700" cy="1103745"/>
          </a:xfrm>
        </p:spPr>
        <p:txBody>
          <a:bodyPr/>
          <a:lstStyle/>
          <a:p>
            <a:r>
              <a:rPr lang="en-US" altLang="zh-CN" dirty="0"/>
              <a:t>CPU</a:t>
            </a:r>
            <a:r>
              <a:rPr lang="zh-CN" altLang="en-US" dirty="0"/>
              <a:t>如何向外设进行输入输出？</a:t>
            </a:r>
            <a:endParaRPr lang="en-US" altLang="zh-CN" dirty="0"/>
          </a:p>
          <a:p>
            <a:pPr lvl="1"/>
            <a:r>
              <a:rPr lang="zh-CN" altLang="en-US" dirty="0"/>
              <a:t>方式</a:t>
            </a:r>
            <a:r>
              <a:rPr lang="en-US" altLang="zh-CN" dirty="0"/>
              <a:t>1</a:t>
            </a:r>
            <a:r>
              <a:rPr lang="zh-CN" altLang="en-US" dirty="0"/>
              <a:t>：端口映射</a:t>
            </a:r>
            <a:r>
              <a:rPr lang="en-US" altLang="zh-CN" dirty="0"/>
              <a:t>I/O(port-mapped I/O)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657662" y="2924419"/>
            <a:ext cx="5913325" cy="33239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#define </a:t>
            </a:r>
            <a:r>
              <a:rPr lang="en-US" altLang="zh-CN" sz="1400" dirty="0">
                <a:solidFill>
                  <a:srgbClr val="C0000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IO_PORT_SPACE 65536</a:t>
            </a:r>
          </a:p>
          <a:p>
            <a:r>
              <a:rPr lang="zh-CN" altLang="en-US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static uint8_t io_port[</a:t>
            </a:r>
            <a:r>
              <a:rPr lang="zh-CN" altLang="en-US" sz="1400" dirty="0">
                <a:solidFill>
                  <a:srgbClr val="C0000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IO_PORT_SPACE</a:t>
            </a:r>
            <a:r>
              <a:rPr lang="zh-CN" altLang="en-US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]; </a:t>
            </a:r>
            <a:r>
              <a:rPr lang="en-US" altLang="zh-CN" sz="14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// 65535</a:t>
            </a:r>
            <a:r>
              <a:rPr lang="zh-CN" altLang="en-US" sz="14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个</a:t>
            </a:r>
            <a:r>
              <a:rPr lang="en-US" altLang="zh-CN" sz="14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8</a:t>
            </a:r>
            <a:r>
              <a:rPr lang="zh-CN" altLang="en-US" sz="14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位的</a:t>
            </a:r>
            <a:r>
              <a:rPr lang="en-US" altLang="zh-CN" sz="14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I/O</a:t>
            </a:r>
            <a:r>
              <a:rPr lang="zh-CN" altLang="en-US" sz="14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端口</a:t>
            </a:r>
            <a:endParaRPr lang="en-US" altLang="zh-CN" sz="1400" dirty="0">
              <a:solidFill>
                <a:srgbClr val="00B050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endParaRPr lang="en-US" altLang="zh-CN" sz="1400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static </a:t>
            </a:r>
            <a:r>
              <a:rPr lang="en-US" altLang="zh-CN" sz="1400" dirty="0" err="1">
                <a:latin typeface="MS Gothic" panose="020B0609070205080204" pitchFamily="49" charset="-128"/>
                <a:ea typeface="MS Gothic" panose="020B0609070205080204" pitchFamily="49" charset="-128"/>
              </a:rPr>
              <a:t>struct</a:t>
            </a:r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 </a:t>
            </a:r>
            <a:r>
              <a:rPr lang="en-US" altLang="zh-CN" sz="1400" dirty="0" err="1">
                <a:latin typeface="MS Gothic" panose="020B0609070205080204" pitchFamily="49" charset="-128"/>
                <a:ea typeface="MS Gothic" panose="020B0609070205080204" pitchFamily="49" charset="-128"/>
              </a:rPr>
              <a:t>pio_handler_map</a:t>
            </a:r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 {</a:t>
            </a:r>
          </a:p>
          <a:p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        </a:t>
            </a:r>
            <a:r>
              <a:rPr lang="en-US" altLang="zh-CN" sz="1400" dirty="0">
                <a:solidFill>
                  <a:srgbClr val="C0000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uint16_t port;</a:t>
            </a:r>
          </a:p>
          <a:p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        </a:t>
            </a:r>
            <a:r>
              <a:rPr lang="en-US" altLang="zh-CN" sz="1400" dirty="0" err="1">
                <a:solidFill>
                  <a:srgbClr val="7030A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pio_handler</a:t>
            </a:r>
            <a:r>
              <a:rPr lang="en-US" altLang="zh-CN" sz="1400" dirty="0">
                <a:solidFill>
                  <a:srgbClr val="7030A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handler;</a:t>
            </a:r>
          </a:p>
          <a:p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} </a:t>
            </a:r>
            <a:r>
              <a:rPr lang="en-US" altLang="zh-CN" sz="1400" dirty="0" err="1">
                <a:latin typeface="MS Gothic" panose="020B0609070205080204" pitchFamily="49" charset="-128"/>
                <a:ea typeface="MS Gothic" panose="020B0609070205080204" pitchFamily="49" charset="-128"/>
              </a:rPr>
              <a:t>pio_handler_table</a:t>
            </a:r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 [] = { </a:t>
            </a:r>
            <a:r>
              <a:rPr lang="en-US" altLang="zh-CN" sz="14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// </a:t>
            </a:r>
            <a:r>
              <a:rPr lang="zh-CN" altLang="en-US" sz="14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端口映射表</a:t>
            </a:r>
            <a:endParaRPr lang="en-US" altLang="zh-CN" sz="1400" dirty="0">
              <a:solidFill>
                <a:srgbClr val="00B050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lvl="1"/>
            <a:r>
              <a:rPr lang="en-US" altLang="zh-CN" sz="14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// </a:t>
            </a:r>
            <a:r>
              <a:rPr lang="zh-CN" altLang="en-US" sz="14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格式 </a:t>
            </a:r>
            <a:r>
              <a:rPr lang="en-US" altLang="zh-CN" sz="14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{</a:t>
            </a:r>
            <a:r>
              <a:rPr lang="en-US" altLang="zh-CN" sz="1400" dirty="0">
                <a:solidFill>
                  <a:srgbClr val="C0000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port</a:t>
            </a:r>
            <a:r>
              <a:rPr lang="en-US" altLang="zh-CN" sz="14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, </a:t>
            </a:r>
            <a:r>
              <a:rPr lang="en-US" altLang="zh-CN" sz="1400" dirty="0">
                <a:solidFill>
                  <a:srgbClr val="7030A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handler</a:t>
            </a:r>
            <a:r>
              <a:rPr lang="en-US" altLang="zh-CN" sz="14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}</a:t>
            </a:r>
          </a:p>
          <a:p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};</a:t>
            </a:r>
          </a:p>
          <a:p>
            <a:endParaRPr lang="en-US" altLang="zh-CN" sz="1400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r>
              <a:rPr lang="en-US" altLang="zh-CN" sz="14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// called by the out instruction</a:t>
            </a:r>
            <a:r>
              <a:rPr lang="zh-CN" altLang="en-US" sz="14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，写端口</a:t>
            </a:r>
            <a:endParaRPr lang="en-US" altLang="zh-CN" sz="1400" dirty="0">
              <a:solidFill>
                <a:srgbClr val="00B050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void </a:t>
            </a:r>
            <a:r>
              <a:rPr lang="en-US" altLang="zh-CN" sz="1400" dirty="0" err="1">
                <a:latin typeface="MS Gothic" panose="020B0609070205080204" pitchFamily="49" charset="-128"/>
                <a:ea typeface="MS Gothic" panose="020B0609070205080204" pitchFamily="49" charset="-128"/>
              </a:rPr>
              <a:t>pio_write</a:t>
            </a:r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(uint16_t port, </a:t>
            </a:r>
            <a:r>
              <a:rPr lang="en-US" altLang="zh-CN" sz="1400" dirty="0" err="1">
                <a:latin typeface="MS Gothic" panose="020B0609070205080204" pitchFamily="49" charset="-128"/>
                <a:ea typeface="MS Gothic" panose="020B0609070205080204" pitchFamily="49" charset="-128"/>
              </a:rPr>
              <a:t>size_t</a:t>
            </a:r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 </a:t>
            </a:r>
            <a:r>
              <a:rPr lang="en-US" altLang="zh-CN" sz="1400" dirty="0" err="1">
                <a:latin typeface="MS Gothic" panose="020B0609070205080204" pitchFamily="49" charset="-128"/>
                <a:ea typeface="MS Gothic" panose="020B0609070205080204" pitchFamily="49" charset="-128"/>
              </a:rPr>
              <a:t>len</a:t>
            </a:r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, uint32_t data) {…}</a:t>
            </a:r>
          </a:p>
          <a:p>
            <a:endParaRPr lang="en-US" altLang="zh-CN" sz="1400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r>
              <a:rPr lang="en-US" altLang="zh-CN" sz="14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// called by the in instruction</a:t>
            </a:r>
            <a:r>
              <a:rPr lang="zh-CN" altLang="en-US" sz="14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，读端口</a:t>
            </a:r>
            <a:endParaRPr lang="en-US" altLang="zh-CN" sz="1400" dirty="0">
              <a:solidFill>
                <a:srgbClr val="00B050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uint32_t </a:t>
            </a:r>
            <a:r>
              <a:rPr lang="en-US" altLang="zh-CN" sz="1400" dirty="0" err="1">
                <a:latin typeface="MS Gothic" panose="020B0609070205080204" pitchFamily="49" charset="-128"/>
                <a:ea typeface="MS Gothic" panose="020B0609070205080204" pitchFamily="49" charset="-128"/>
              </a:rPr>
              <a:t>pio_read</a:t>
            </a:r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(uint16_t port, </a:t>
            </a:r>
            <a:r>
              <a:rPr lang="en-US" altLang="zh-CN" sz="1400" dirty="0" err="1">
                <a:latin typeface="MS Gothic" panose="020B0609070205080204" pitchFamily="49" charset="-128"/>
                <a:ea typeface="MS Gothic" panose="020B0609070205080204" pitchFamily="49" charset="-128"/>
              </a:rPr>
              <a:t>size_t</a:t>
            </a:r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 </a:t>
            </a:r>
            <a:r>
              <a:rPr lang="en-US" altLang="zh-CN" sz="1400" dirty="0" err="1">
                <a:latin typeface="MS Gothic" panose="020B0609070205080204" pitchFamily="49" charset="-128"/>
                <a:ea typeface="MS Gothic" panose="020B0609070205080204" pitchFamily="49" charset="-128"/>
              </a:rPr>
              <a:t>len</a:t>
            </a:r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) {…}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581462" y="2480928"/>
            <a:ext cx="3046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 err="1">
                <a:solidFill>
                  <a:srgbClr val="0070C0"/>
                </a:solidFill>
              </a:rPr>
              <a:t>nemu</a:t>
            </a:r>
            <a:r>
              <a:rPr lang="en-US" altLang="zh-CN" i="1" dirty="0">
                <a:solidFill>
                  <a:srgbClr val="0070C0"/>
                </a:solidFill>
              </a:rPr>
              <a:t>/</a:t>
            </a:r>
            <a:r>
              <a:rPr lang="en-US" altLang="zh-CN" i="1" dirty="0" err="1">
                <a:solidFill>
                  <a:srgbClr val="0070C0"/>
                </a:solidFill>
              </a:rPr>
              <a:t>src</a:t>
            </a:r>
            <a:r>
              <a:rPr lang="en-US" altLang="zh-CN" i="1" dirty="0">
                <a:solidFill>
                  <a:srgbClr val="0070C0"/>
                </a:solidFill>
              </a:rPr>
              <a:t>/device/</a:t>
            </a:r>
            <a:r>
              <a:rPr lang="en-US" altLang="zh-CN" i="1" dirty="0" err="1">
                <a:solidFill>
                  <a:srgbClr val="0070C0"/>
                </a:solidFill>
              </a:rPr>
              <a:t>io</a:t>
            </a:r>
            <a:r>
              <a:rPr lang="en-US" altLang="zh-CN" i="1" dirty="0">
                <a:solidFill>
                  <a:srgbClr val="0070C0"/>
                </a:solidFill>
              </a:rPr>
              <a:t>/</a:t>
            </a:r>
            <a:r>
              <a:rPr lang="en-US" altLang="zh-CN" i="1" dirty="0" err="1">
                <a:solidFill>
                  <a:srgbClr val="0070C0"/>
                </a:solidFill>
              </a:rPr>
              <a:t>port_io.c</a:t>
            </a:r>
            <a:endParaRPr lang="zh-CN" altLang="en-US" i="1" dirty="0">
              <a:solidFill>
                <a:srgbClr val="0070C0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3B591-2D96-4695-B02E-8B143B7424F7}" type="datetime1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7725B-6B6E-48AF-B2E8-4D27612ECBB4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外设与</a:t>
            </a:r>
            <a:r>
              <a:rPr lang="en-US" altLang="zh-CN" dirty="0"/>
              <a:t>I/O</a:t>
            </a:r>
            <a:endParaRPr lang="zh-CN" altLang="en-US" dirty="0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2152650" y="1182256"/>
            <a:ext cx="7886700" cy="1103745"/>
          </a:xfrm>
        </p:spPr>
        <p:txBody>
          <a:bodyPr/>
          <a:lstStyle/>
          <a:p>
            <a:r>
              <a:rPr lang="en-US" altLang="zh-CN" dirty="0"/>
              <a:t>CPU</a:t>
            </a:r>
            <a:r>
              <a:rPr lang="zh-CN" altLang="en-US" dirty="0"/>
              <a:t>如何向外设进行输入输出？</a:t>
            </a:r>
            <a:endParaRPr lang="en-US" altLang="zh-CN" dirty="0"/>
          </a:p>
          <a:p>
            <a:pPr lvl="1"/>
            <a:r>
              <a:rPr lang="zh-CN" altLang="en-US" dirty="0"/>
              <a:t>方式</a:t>
            </a:r>
            <a:r>
              <a:rPr lang="en-US" altLang="zh-CN" dirty="0"/>
              <a:t>1</a:t>
            </a:r>
            <a:r>
              <a:rPr lang="zh-CN" altLang="en-US" dirty="0"/>
              <a:t>：端口映射</a:t>
            </a:r>
            <a:r>
              <a:rPr lang="en-US" altLang="zh-CN" dirty="0"/>
              <a:t>I/O(port-mapped I/O)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657662" y="2924419"/>
            <a:ext cx="5913325" cy="33239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#define </a:t>
            </a:r>
            <a:r>
              <a:rPr lang="en-US" altLang="zh-CN" sz="1400" dirty="0">
                <a:solidFill>
                  <a:srgbClr val="C0000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IO_PORT_SPACE 65536</a:t>
            </a:r>
          </a:p>
          <a:p>
            <a:r>
              <a:rPr lang="zh-CN" altLang="en-US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static uint8_t io_port[</a:t>
            </a:r>
            <a:r>
              <a:rPr lang="zh-CN" altLang="en-US" sz="1400" dirty="0">
                <a:solidFill>
                  <a:srgbClr val="C0000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IO_PORT_SPACE</a:t>
            </a:r>
            <a:r>
              <a:rPr lang="zh-CN" altLang="en-US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]; </a:t>
            </a:r>
            <a:r>
              <a:rPr lang="en-US" altLang="zh-CN" sz="14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// 65535</a:t>
            </a:r>
            <a:r>
              <a:rPr lang="zh-CN" altLang="en-US" sz="14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个</a:t>
            </a:r>
            <a:r>
              <a:rPr lang="en-US" altLang="zh-CN" sz="14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8</a:t>
            </a:r>
            <a:r>
              <a:rPr lang="zh-CN" altLang="en-US" sz="14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位的</a:t>
            </a:r>
            <a:r>
              <a:rPr lang="en-US" altLang="zh-CN" sz="14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I/O</a:t>
            </a:r>
            <a:r>
              <a:rPr lang="zh-CN" altLang="en-US" sz="14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端口</a:t>
            </a:r>
            <a:endParaRPr lang="en-US" altLang="zh-CN" sz="1400" dirty="0">
              <a:solidFill>
                <a:srgbClr val="00B050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endParaRPr lang="en-US" altLang="zh-CN" sz="1400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static </a:t>
            </a:r>
            <a:r>
              <a:rPr lang="en-US" altLang="zh-CN" sz="1400" dirty="0" err="1">
                <a:latin typeface="MS Gothic" panose="020B0609070205080204" pitchFamily="49" charset="-128"/>
                <a:ea typeface="MS Gothic" panose="020B0609070205080204" pitchFamily="49" charset="-128"/>
              </a:rPr>
              <a:t>struct</a:t>
            </a:r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 </a:t>
            </a:r>
            <a:r>
              <a:rPr lang="en-US" altLang="zh-CN" sz="1400" dirty="0" err="1">
                <a:latin typeface="MS Gothic" panose="020B0609070205080204" pitchFamily="49" charset="-128"/>
                <a:ea typeface="MS Gothic" panose="020B0609070205080204" pitchFamily="49" charset="-128"/>
              </a:rPr>
              <a:t>pio_handler_map</a:t>
            </a:r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 {</a:t>
            </a:r>
          </a:p>
          <a:p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        </a:t>
            </a:r>
            <a:r>
              <a:rPr lang="en-US" altLang="zh-CN" sz="1400" dirty="0">
                <a:solidFill>
                  <a:srgbClr val="C0000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uint16_t port;</a:t>
            </a:r>
          </a:p>
          <a:p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        </a:t>
            </a:r>
            <a:r>
              <a:rPr lang="en-US" altLang="zh-CN" sz="1400" dirty="0" err="1">
                <a:solidFill>
                  <a:srgbClr val="7030A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pio_handler</a:t>
            </a:r>
            <a:r>
              <a:rPr lang="en-US" altLang="zh-CN" sz="1400" dirty="0">
                <a:solidFill>
                  <a:srgbClr val="7030A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handler;</a:t>
            </a:r>
          </a:p>
          <a:p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} </a:t>
            </a:r>
            <a:r>
              <a:rPr lang="en-US" altLang="zh-CN" sz="1400" dirty="0" err="1">
                <a:latin typeface="MS Gothic" panose="020B0609070205080204" pitchFamily="49" charset="-128"/>
                <a:ea typeface="MS Gothic" panose="020B0609070205080204" pitchFamily="49" charset="-128"/>
              </a:rPr>
              <a:t>pio_handler_table</a:t>
            </a:r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 [] = { </a:t>
            </a:r>
            <a:r>
              <a:rPr lang="en-US" altLang="zh-CN" sz="14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// </a:t>
            </a:r>
            <a:r>
              <a:rPr lang="zh-CN" altLang="en-US" sz="14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端口映射表</a:t>
            </a:r>
            <a:endParaRPr lang="en-US" altLang="zh-CN" sz="1400" dirty="0">
              <a:solidFill>
                <a:srgbClr val="00B050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lvl="1"/>
            <a:r>
              <a:rPr lang="en-US" altLang="zh-CN" sz="14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// </a:t>
            </a:r>
            <a:r>
              <a:rPr lang="zh-CN" altLang="en-US" sz="14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格式 </a:t>
            </a:r>
            <a:r>
              <a:rPr lang="en-US" altLang="zh-CN" sz="14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{</a:t>
            </a:r>
            <a:r>
              <a:rPr lang="en-US" altLang="zh-CN" sz="1400" dirty="0">
                <a:solidFill>
                  <a:srgbClr val="C0000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port</a:t>
            </a:r>
            <a:r>
              <a:rPr lang="en-US" altLang="zh-CN" sz="14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, </a:t>
            </a:r>
            <a:r>
              <a:rPr lang="en-US" altLang="zh-CN" sz="1400" dirty="0">
                <a:solidFill>
                  <a:srgbClr val="7030A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handler</a:t>
            </a:r>
            <a:r>
              <a:rPr lang="en-US" altLang="zh-CN" sz="14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}</a:t>
            </a:r>
          </a:p>
          <a:p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};</a:t>
            </a:r>
          </a:p>
          <a:p>
            <a:endParaRPr lang="en-US" altLang="zh-CN" sz="1400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r>
              <a:rPr lang="en-US" altLang="zh-CN" sz="14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// called by the out instruction</a:t>
            </a:r>
            <a:r>
              <a:rPr lang="zh-CN" altLang="en-US" sz="14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，写端口</a:t>
            </a:r>
            <a:endParaRPr lang="en-US" altLang="zh-CN" sz="1400" dirty="0">
              <a:solidFill>
                <a:srgbClr val="00B050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void </a:t>
            </a:r>
            <a:r>
              <a:rPr lang="en-US" altLang="zh-CN" sz="1400" dirty="0" err="1">
                <a:latin typeface="MS Gothic" panose="020B0609070205080204" pitchFamily="49" charset="-128"/>
                <a:ea typeface="MS Gothic" panose="020B0609070205080204" pitchFamily="49" charset="-128"/>
              </a:rPr>
              <a:t>pio_write</a:t>
            </a:r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(uint16_t </a:t>
            </a:r>
            <a:r>
              <a:rPr lang="en-US" altLang="zh-CN" sz="1400" dirty="0">
                <a:solidFill>
                  <a:srgbClr val="C0000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port</a:t>
            </a:r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, </a:t>
            </a:r>
            <a:r>
              <a:rPr lang="en-US" altLang="zh-CN" sz="1400" dirty="0" err="1">
                <a:latin typeface="MS Gothic" panose="020B0609070205080204" pitchFamily="49" charset="-128"/>
                <a:ea typeface="MS Gothic" panose="020B0609070205080204" pitchFamily="49" charset="-128"/>
              </a:rPr>
              <a:t>size_t</a:t>
            </a:r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 </a:t>
            </a:r>
            <a:r>
              <a:rPr lang="en-US" altLang="zh-CN" sz="1400" dirty="0" err="1">
                <a:latin typeface="MS Gothic" panose="020B0609070205080204" pitchFamily="49" charset="-128"/>
                <a:ea typeface="MS Gothic" panose="020B0609070205080204" pitchFamily="49" charset="-128"/>
              </a:rPr>
              <a:t>len</a:t>
            </a:r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, uint32_t data) {…}</a:t>
            </a:r>
          </a:p>
          <a:p>
            <a:endParaRPr lang="en-US" altLang="zh-CN" sz="1400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r>
              <a:rPr lang="en-US" altLang="zh-CN" sz="14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// called by the in instruction</a:t>
            </a:r>
            <a:r>
              <a:rPr lang="zh-CN" altLang="en-US" sz="14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，读端口</a:t>
            </a:r>
            <a:endParaRPr lang="en-US" altLang="zh-CN" sz="1400" dirty="0">
              <a:solidFill>
                <a:srgbClr val="00B050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uint32_t </a:t>
            </a:r>
            <a:r>
              <a:rPr lang="en-US" altLang="zh-CN" sz="1400" dirty="0" err="1">
                <a:latin typeface="MS Gothic" panose="020B0609070205080204" pitchFamily="49" charset="-128"/>
                <a:ea typeface="MS Gothic" panose="020B0609070205080204" pitchFamily="49" charset="-128"/>
              </a:rPr>
              <a:t>pio_read</a:t>
            </a:r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(uint16_t </a:t>
            </a:r>
            <a:r>
              <a:rPr lang="en-US" altLang="zh-CN" sz="1400" dirty="0">
                <a:solidFill>
                  <a:srgbClr val="C0000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port</a:t>
            </a:r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, </a:t>
            </a:r>
            <a:r>
              <a:rPr lang="en-US" altLang="zh-CN" sz="1400" dirty="0" err="1">
                <a:latin typeface="MS Gothic" panose="020B0609070205080204" pitchFamily="49" charset="-128"/>
                <a:ea typeface="MS Gothic" panose="020B0609070205080204" pitchFamily="49" charset="-128"/>
              </a:rPr>
              <a:t>size_t</a:t>
            </a:r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 </a:t>
            </a:r>
            <a:r>
              <a:rPr lang="en-US" altLang="zh-CN" sz="1400" dirty="0" err="1">
                <a:latin typeface="MS Gothic" panose="020B0609070205080204" pitchFamily="49" charset="-128"/>
                <a:ea typeface="MS Gothic" panose="020B0609070205080204" pitchFamily="49" charset="-128"/>
              </a:rPr>
              <a:t>len</a:t>
            </a:r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) {…}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581462" y="2480928"/>
            <a:ext cx="3046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 err="1">
                <a:solidFill>
                  <a:srgbClr val="0070C0"/>
                </a:solidFill>
              </a:rPr>
              <a:t>nemu</a:t>
            </a:r>
            <a:r>
              <a:rPr lang="en-US" altLang="zh-CN" i="1" dirty="0">
                <a:solidFill>
                  <a:srgbClr val="0070C0"/>
                </a:solidFill>
              </a:rPr>
              <a:t>/</a:t>
            </a:r>
            <a:r>
              <a:rPr lang="en-US" altLang="zh-CN" i="1" dirty="0" err="1">
                <a:solidFill>
                  <a:srgbClr val="0070C0"/>
                </a:solidFill>
              </a:rPr>
              <a:t>src</a:t>
            </a:r>
            <a:r>
              <a:rPr lang="en-US" altLang="zh-CN" i="1" dirty="0">
                <a:solidFill>
                  <a:srgbClr val="0070C0"/>
                </a:solidFill>
              </a:rPr>
              <a:t>/device/</a:t>
            </a:r>
            <a:r>
              <a:rPr lang="en-US" altLang="zh-CN" i="1" dirty="0" err="1">
                <a:solidFill>
                  <a:srgbClr val="0070C0"/>
                </a:solidFill>
              </a:rPr>
              <a:t>io</a:t>
            </a:r>
            <a:r>
              <a:rPr lang="en-US" altLang="zh-CN" i="1" dirty="0">
                <a:solidFill>
                  <a:srgbClr val="0070C0"/>
                </a:solidFill>
              </a:rPr>
              <a:t>/</a:t>
            </a:r>
            <a:r>
              <a:rPr lang="en-US" altLang="zh-CN" i="1" dirty="0" err="1">
                <a:solidFill>
                  <a:srgbClr val="0070C0"/>
                </a:solidFill>
              </a:rPr>
              <a:t>port_io.c</a:t>
            </a:r>
            <a:endParaRPr lang="zh-CN" altLang="en-US" i="1" dirty="0">
              <a:solidFill>
                <a:srgbClr val="0070C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7637819" y="2924418"/>
            <a:ext cx="2993423" cy="73866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1400" dirty="0" err="1">
                <a:solidFill>
                  <a:srgbClr val="7030A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make_pio_handler</a:t>
            </a:r>
            <a:r>
              <a:rPr lang="en-US" altLang="zh-CN" sz="1400" dirty="0">
                <a:solidFill>
                  <a:srgbClr val="7030A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(</a:t>
            </a:r>
            <a:r>
              <a:rPr lang="en-US" altLang="zh-CN" sz="1400" dirty="0" err="1">
                <a:solidFill>
                  <a:srgbClr val="7030A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handler_xxx</a:t>
            </a:r>
            <a:r>
              <a:rPr lang="en-US" altLang="zh-CN" sz="1400" dirty="0">
                <a:solidFill>
                  <a:srgbClr val="7030A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) {</a:t>
            </a:r>
          </a:p>
          <a:p>
            <a:r>
              <a:rPr lang="en-US" altLang="zh-CN" sz="1400" dirty="0">
                <a:solidFill>
                  <a:srgbClr val="7030A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	…</a:t>
            </a:r>
          </a:p>
          <a:p>
            <a:r>
              <a:rPr lang="en-US" altLang="zh-CN" sz="1400" dirty="0">
                <a:solidFill>
                  <a:srgbClr val="7030A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}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7570986" y="2480928"/>
            <a:ext cx="2824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 err="1">
                <a:solidFill>
                  <a:srgbClr val="0070C0"/>
                </a:solidFill>
              </a:rPr>
              <a:t>nemu</a:t>
            </a:r>
            <a:r>
              <a:rPr lang="en-US" altLang="zh-CN" i="1" dirty="0">
                <a:solidFill>
                  <a:srgbClr val="0070C0"/>
                </a:solidFill>
              </a:rPr>
              <a:t>/</a:t>
            </a:r>
            <a:r>
              <a:rPr lang="en-US" altLang="zh-CN" i="1" dirty="0" err="1">
                <a:solidFill>
                  <a:srgbClr val="0070C0"/>
                </a:solidFill>
              </a:rPr>
              <a:t>src</a:t>
            </a:r>
            <a:r>
              <a:rPr lang="en-US" altLang="zh-CN" i="1" dirty="0">
                <a:solidFill>
                  <a:srgbClr val="0070C0"/>
                </a:solidFill>
              </a:rPr>
              <a:t>/device/dev/</a:t>
            </a:r>
            <a:r>
              <a:rPr lang="en-US" altLang="zh-CN" i="1" dirty="0" err="1">
                <a:solidFill>
                  <a:srgbClr val="0070C0"/>
                </a:solidFill>
              </a:rPr>
              <a:t>xxx.c</a:t>
            </a:r>
            <a:endParaRPr lang="zh-CN" altLang="en-US" i="1" dirty="0">
              <a:solidFill>
                <a:srgbClr val="0070C0"/>
              </a:solidFill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 flipV="1">
            <a:off x="4179895" y="3221077"/>
            <a:ext cx="3740310" cy="1365334"/>
          </a:xfrm>
          <a:prstGeom prst="straightConnector1">
            <a:avLst/>
          </a:prstGeom>
          <a:ln w="25400">
            <a:solidFill>
              <a:srgbClr val="7030A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4795623" y="4447912"/>
            <a:ext cx="26007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访问（读</a:t>
            </a:r>
            <a:r>
              <a:rPr lang="en-US" altLang="zh-CN" dirty="0">
                <a:solidFill>
                  <a:srgbClr val="C00000"/>
                </a:solidFill>
              </a:rPr>
              <a:t>/</a:t>
            </a:r>
            <a:r>
              <a:rPr lang="zh-CN" altLang="en-US" dirty="0">
                <a:solidFill>
                  <a:srgbClr val="C00000"/>
                </a:solidFill>
              </a:rPr>
              <a:t>写）这个端口</a:t>
            </a:r>
            <a:r>
              <a:rPr lang="zh-CN" altLang="en-US" dirty="0">
                <a:solidFill>
                  <a:srgbClr val="7030A0"/>
                </a:solidFill>
              </a:rPr>
              <a:t>，引起对</a:t>
            </a:r>
            <a:r>
              <a:rPr lang="en-US" altLang="zh-CN" dirty="0">
                <a:solidFill>
                  <a:srgbClr val="7030A0"/>
                </a:solidFill>
              </a:rPr>
              <a:t>handler</a:t>
            </a:r>
            <a:r>
              <a:rPr lang="zh-CN" altLang="en-US" dirty="0">
                <a:solidFill>
                  <a:srgbClr val="7030A0"/>
                </a:solidFill>
              </a:rPr>
              <a:t>的调用</a:t>
            </a:r>
          </a:p>
        </p:txBody>
      </p:sp>
      <p:cxnSp>
        <p:nvCxnSpPr>
          <p:cNvPr id="10" name="直接箭头连接符 9"/>
          <p:cNvCxnSpPr/>
          <p:nvPr/>
        </p:nvCxnSpPr>
        <p:spPr>
          <a:xfrm flipH="1" flipV="1">
            <a:off x="3316040" y="4719040"/>
            <a:ext cx="680056" cy="634107"/>
          </a:xfrm>
          <a:prstGeom prst="straightConnector1">
            <a:avLst/>
          </a:prstGeom>
          <a:ln w="2540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H="1" flipV="1">
            <a:off x="3389560" y="4797087"/>
            <a:ext cx="891426" cy="1162597"/>
          </a:xfrm>
          <a:prstGeom prst="straightConnector1">
            <a:avLst/>
          </a:prstGeom>
          <a:ln w="25400">
            <a:solidFill>
              <a:srgbClr val="C00000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E08D3-DB7F-4B89-9269-9E19213378C3}" type="datetime1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13" name="页脚占位符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7725B-6B6E-48AF-B2E8-4D27612ECBB4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外设与</a:t>
            </a:r>
            <a:r>
              <a:rPr lang="en-US" altLang="zh-CN" dirty="0"/>
              <a:t>I/O</a:t>
            </a:r>
            <a:endParaRPr lang="zh-CN" altLang="en-US" dirty="0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2152650" y="1182256"/>
            <a:ext cx="7886700" cy="1103745"/>
          </a:xfrm>
        </p:spPr>
        <p:txBody>
          <a:bodyPr/>
          <a:lstStyle/>
          <a:p>
            <a:r>
              <a:rPr lang="en-US" altLang="zh-CN" dirty="0"/>
              <a:t>CPU</a:t>
            </a:r>
            <a:r>
              <a:rPr lang="zh-CN" altLang="en-US" dirty="0"/>
              <a:t>如何向外设进行输入输出？</a:t>
            </a:r>
            <a:endParaRPr lang="en-US" altLang="zh-CN" dirty="0"/>
          </a:p>
          <a:p>
            <a:pPr lvl="1"/>
            <a:r>
              <a:rPr lang="zh-CN" altLang="en-US" dirty="0"/>
              <a:t>方式</a:t>
            </a:r>
            <a:r>
              <a:rPr lang="en-US" altLang="zh-CN" dirty="0"/>
              <a:t>1</a:t>
            </a:r>
            <a:r>
              <a:rPr lang="zh-CN" altLang="en-US" dirty="0"/>
              <a:t>：端口映射</a:t>
            </a:r>
            <a:r>
              <a:rPr lang="en-US" altLang="zh-CN" dirty="0"/>
              <a:t>I/O(port-mapped I/O)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1657662" y="2924419"/>
            <a:ext cx="5913325" cy="33239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#define </a:t>
            </a:r>
            <a:r>
              <a:rPr lang="en-US" altLang="zh-CN" sz="1400" dirty="0">
                <a:solidFill>
                  <a:srgbClr val="C0000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IO_PORT_SPACE 65536</a:t>
            </a:r>
          </a:p>
          <a:p>
            <a:r>
              <a:rPr lang="zh-CN" altLang="en-US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static uint8_t io_port[</a:t>
            </a:r>
            <a:r>
              <a:rPr lang="zh-CN" altLang="en-US" sz="1400" dirty="0">
                <a:solidFill>
                  <a:srgbClr val="C0000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IO_PORT_SPACE</a:t>
            </a:r>
            <a:r>
              <a:rPr lang="zh-CN" altLang="en-US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]; </a:t>
            </a:r>
            <a:r>
              <a:rPr lang="en-US" altLang="zh-CN" sz="14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// 65535</a:t>
            </a:r>
            <a:r>
              <a:rPr lang="zh-CN" altLang="en-US" sz="14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个</a:t>
            </a:r>
            <a:r>
              <a:rPr lang="en-US" altLang="zh-CN" sz="14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8</a:t>
            </a:r>
            <a:r>
              <a:rPr lang="zh-CN" altLang="en-US" sz="14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位的</a:t>
            </a:r>
            <a:r>
              <a:rPr lang="en-US" altLang="zh-CN" sz="14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I/O</a:t>
            </a:r>
            <a:r>
              <a:rPr lang="zh-CN" altLang="en-US" sz="14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端口</a:t>
            </a:r>
            <a:endParaRPr lang="en-US" altLang="zh-CN" sz="1400" dirty="0">
              <a:solidFill>
                <a:srgbClr val="00B050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endParaRPr lang="en-US" altLang="zh-CN" sz="1400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static </a:t>
            </a:r>
            <a:r>
              <a:rPr lang="en-US" altLang="zh-CN" sz="1400" dirty="0" err="1">
                <a:latin typeface="MS Gothic" panose="020B0609070205080204" pitchFamily="49" charset="-128"/>
                <a:ea typeface="MS Gothic" panose="020B0609070205080204" pitchFamily="49" charset="-128"/>
              </a:rPr>
              <a:t>struct</a:t>
            </a:r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 </a:t>
            </a:r>
            <a:r>
              <a:rPr lang="en-US" altLang="zh-CN" sz="1400" dirty="0" err="1">
                <a:latin typeface="MS Gothic" panose="020B0609070205080204" pitchFamily="49" charset="-128"/>
                <a:ea typeface="MS Gothic" panose="020B0609070205080204" pitchFamily="49" charset="-128"/>
              </a:rPr>
              <a:t>pio_handler_map</a:t>
            </a:r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 {</a:t>
            </a:r>
          </a:p>
          <a:p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        </a:t>
            </a:r>
            <a:r>
              <a:rPr lang="en-US" altLang="zh-CN" sz="1400" dirty="0">
                <a:solidFill>
                  <a:srgbClr val="C0000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uint16_t port;</a:t>
            </a:r>
          </a:p>
          <a:p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        </a:t>
            </a:r>
            <a:r>
              <a:rPr lang="en-US" altLang="zh-CN" sz="1400" dirty="0" err="1">
                <a:solidFill>
                  <a:srgbClr val="7030A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pio_handler</a:t>
            </a:r>
            <a:r>
              <a:rPr lang="en-US" altLang="zh-CN" sz="1400" dirty="0">
                <a:solidFill>
                  <a:srgbClr val="7030A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handler;</a:t>
            </a:r>
          </a:p>
          <a:p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} </a:t>
            </a:r>
            <a:r>
              <a:rPr lang="en-US" altLang="zh-CN" sz="1400" dirty="0" err="1">
                <a:latin typeface="MS Gothic" panose="020B0609070205080204" pitchFamily="49" charset="-128"/>
                <a:ea typeface="MS Gothic" panose="020B0609070205080204" pitchFamily="49" charset="-128"/>
              </a:rPr>
              <a:t>pio_handler_table</a:t>
            </a:r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 [] = { </a:t>
            </a:r>
            <a:r>
              <a:rPr lang="en-US" altLang="zh-CN" sz="14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// </a:t>
            </a:r>
            <a:r>
              <a:rPr lang="zh-CN" altLang="en-US" sz="14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端口映射表</a:t>
            </a:r>
            <a:endParaRPr lang="en-US" altLang="zh-CN" sz="1400" dirty="0">
              <a:solidFill>
                <a:srgbClr val="00B050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lvl="1"/>
            <a:r>
              <a:rPr lang="en-US" altLang="zh-CN" sz="14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// </a:t>
            </a:r>
            <a:r>
              <a:rPr lang="zh-CN" altLang="en-US" sz="14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格式 </a:t>
            </a:r>
            <a:r>
              <a:rPr lang="en-US" altLang="zh-CN" sz="14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{</a:t>
            </a:r>
            <a:r>
              <a:rPr lang="en-US" altLang="zh-CN" sz="1400" dirty="0">
                <a:solidFill>
                  <a:srgbClr val="C0000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port</a:t>
            </a:r>
            <a:r>
              <a:rPr lang="en-US" altLang="zh-CN" sz="14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, </a:t>
            </a:r>
            <a:r>
              <a:rPr lang="en-US" altLang="zh-CN" sz="1400" dirty="0">
                <a:solidFill>
                  <a:srgbClr val="7030A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handler</a:t>
            </a:r>
            <a:r>
              <a:rPr lang="en-US" altLang="zh-CN" sz="14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}</a:t>
            </a:r>
          </a:p>
          <a:p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};</a:t>
            </a:r>
          </a:p>
          <a:p>
            <a:endParaRPr lang="en-US" altLang="zh-CN" sz="1400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r>
              <a:rPr lang="en-US" altLang="zh-CN" sz="14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// called by the out instruction</a:t>
            </a:r>
            <a:r>
              <a:rPr lang="zh-CN" altLang="en-US" sz="14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，写端口</a:t>
            </a:r>
            <a:endParaRPr lang="en-US" altLang="zh-CN" sz="1400" dirty="0">
              <a:solidFill>
                <a:srgbClr val="00B050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void </a:t>
            </a:r>
            <a:r>
              <a:rPr lang="en-US" altLang="zh-CN" sz="1400" dirty="0" err="1">
                <a:latin typeface="MS Gothic" panose="020B0609070205080204" pitchFamily="49" charset="-128"/>
                <a:ea typeface="MS Gothic" panose="020B0609070205080204" pitchFamily="49" charset="-128"/>
              </a:rPr>
              <a:t>pio_write</a:t>
            </a:r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(uint16_t </a:t>
            </a:r>
            <a:r>
              <a:rPr lang="en-US" altLang="zh-CN" sz="1400" dirty="0">
                <a:solidFill>
                  <a:srgbClr val="C0000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port</a:t>
            </a:r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, </a:t>
            </a:r>
            <a:r>
              <a:rPr lang="en-US" altLang="zh-CN" sz="1400" dirty="0" err="1">
                <a:latin typeface="MS Gothic" panose="020B0609070205080204" pitchFamily="49" charset="-128"/>
                <a:ea typeface="MS Gothic" panose="020B0609070205080204" pitchFamily="49" charset="-128"/>
              </a:rPr>
              <a:t>size_t</a:t>
            </a:r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 </a:t>
            </a:r>
            <a:r>
              <a:rPr lang="en-US" altLang="zh-CN" sz="1400" dirty="0" err="1">
                <a:latin typeface="MS Gothic" panose="020B0609070205080204" pitchFamily="49" charset="-128"/>
                <a:ea typeface="MS Gothic" panose="020B0609070205080204" pitchFamily="49" charset="-128"/>
              </a:rPr>
              <a:t>len</a:t>
            </a:r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, uint32_t data) {…}</a:t>
            </a:r>
          </a:p>
          <a:p>
            <a:endParaRPr lang="en-US" altLang="zh-CN" sz="1400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r>
              <a:rPr lang="en-US" altLang="zh-CN" sz="14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// called by the in instruction</a:t>
            </a:r>
            <a:r>
              <a:rPr lang="zh-CN" altLang="en-US" sz="14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，读端口</a:t>
            </a:r>
            <a:endParaRPr lang="en-US" altLang="zh-CN" sz="1400" dirty="0">
              <a:solidFill>
                <a:srgbClr val="00B050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uint32_t </a:t>
            </a:r>
            <a:r>
              <a:rPr lang="en-US" altLang="zh-CN" sz="1400" dirty="0" err="1">
                <a:latin typeface="MS Gothic" panose="020B0609070205080204" pitchFamily="49" charset="-128"/>
                <a:ea typeface="MS Gothic" panose="020B0609070205080204" pitchFamily="49" charset="-128"/>
              </a:rPr>
              <a:t>pio_read</a:t>
            </a:r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(uint16_t </a:t>
            </a:r>
            <a:r>
              <a:rPr lang="en-US" altLang="zh-CN" sz="1400" dirty="0">
                <a:solidFill>
                  <a:srgbClr val="C0000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port</a:t>
            </a:r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, </a:t>
            </a:r>
            <a:r>
              <a:rPr lang="en-US" altLang="zh-CN" sz="1400" dirty="0" err="1">
                <a:latin typeface="MS Gothic" panose="020B0609070205080204" pitchFamily="49" charset="-128"/>
                <a:ea typeface="MS Gothic" panose="020B0609070205080204" pitchFamily="49" charset="-128"/>
              </a:rPr>
              <a:t>size_t</a:t>
            </a:r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 </a:t>
            </a:r>
            <a:r>
              <a:rPr lang="en-US" altLang="zh-CN" sz="1400" dirty="0" err="1">
                <a:latin typeface="MS Gothic" panose="020B0609070205080204" pitchFamily="49" charset="-128"/>
                <a:ea typeface="MS Gothic" panose="020B0609070205080204" pitchFamily="49" charset="-128"/>
              </a:rPr>
              <a:t>len</a:t>
            </a:r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) {…}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1581462" y="2480928"/>
            <a:ext cx="3046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 err="1">
                <a:solidFill>
                  <a:srgbClr val="0070C0"/>
                </a:solidFill>
              </a:rPr>
              <a:t>nemu</a:t>
            </a:r>
            <a:r>
              <a:rPr lang="en-US" altLang="zh-CN" i="1" dirty="0">
                <a:solidFill>
                  <a:srgbClr val="0070C0"/>
                </a:solidFill>
              </a:rPr>
              <a:t>/</a:t>
            </a:r>
            <a:r>
              <a:rPr lang="en-US" altLang="zh-CN" i="1" dirty="0" err="1">
                <a:solidFill>
                  <a:srgbClr val="0070C0"/>
                </a:solidFill>
              </a:rPr>
              <a:t>src</a:t>
            </a:r>
            <a:r>
              <a:rPr lang="en-US" altLang="zh-CN" i="1" dirty="0">
                <a:solidFill>
                  <a:srgbClr val="0070C0"/>
                </a:solidFill>
              </a:rPr>
              <a:t>/device/</a:t>
            </a:r>
            <a:r>
              <a:rPr lang="en-US" altLang="zh-CN" i="1" dirty="0" err="1">
                <a:solidFill>
                  <a:srgbClr val="0070C0"/>
                </a:solidFill>
              </a:rPr>
              <a:t>io</a:t>
            </a:r>
            <a:r>
              <a:rPr lang="en-US" altLang="zh-CN" i="1" dirty="0">
                <a:solidFill>
                  <a:srgbClr val="0070C0"/>
                </a:solidFill>
              </a:rPr>
              <a:t>/</a:t>
            </a:r>
            <a:r>
              <a:rPr lang="en-US" altLang="zh-CN" i="1" dirty="0" err="1">
                <a:solidFill>
                  <a:srgbClr val="0070C0"/>
                </a:solidFill>
              </a:rPr>
              <a:t>port_io.c</a:t>
            </a:r>
            <a:endParaRPr lang="zh-CN" altLang="en-US" i="1" dirty="0">
              <a:solidFill>
                <a:srgbClr val="0070C0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637819" y="2924418"/>
            <a:ext cx="2993423" cy="73866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1400" dirty="0" err="1">
                <a:solidFill>
                  <a:srgbClr val="7030A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make_pio_handler</a:t>
            </a:r>
            <a:r>
              <a:rPr lang="en-US" altLang="zh-CN" sz="1400" dirty="0">
                <a:solidFill>
                  <a:srgbClr val="7030A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(</a:t>
            </a:r>
            <a:r>
              <a:rPr lang="en-US" altLang="zh-CN" sz="1400" dirty="0" err="1">
                <a:solidFill>
                  <a:srgbClr val="7030A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handler_xxx</a:t>
            </a:r>
            <a:r>
              <a:rPr lang="en-US" altLang="zh-CN" sz="1400" dirty="0">
                <a:solidFill>
                  <a:srgbClr val="7030A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) {</a:t>
            </a:r>
          </a:p>
          <a:p>
            <a:r>
              <a:rPr lang="en-US" altLang="zh-CN" sz="1400" dirty="0">
                <a:solidFill>
                  <a:srgbClr val="7030A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	…</a:t>
            </a:r>
          </a:p>
          <a:p>
            <a:r>
              <a:rPr lang="en-US" altLang="zh-CN" sz="1400" dirty="0">
                <a:solidFill>
                  <a:srgbClr val="7030A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}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7570986" y="2480928"/>
            <a:ext cx="2824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 err="1">
                <a:solidFill>
                  <a:srgbClr val="0070C0"/>
                </a:solidFill>
              </a:rPr>
              <a:t>nemu</a:t>
            </a:r>
            <a:r>
              <a:rPr lang="en-US" altLang="zh-CN" i="1" dirty="0">
                <a:solidFill>
                  <a:srgbClr val="0070C0"/>
                </a:solidFill>
              </a:rPr>
              <a:t>/</a:t>
            </a:r>
            <a:r>
              <a:rPr lang="en-US" altLang="zh-CN" i="1" dirty="0" err="1">
                <a:solidFill>
                  <a:srgbClr val="0070C0"/>
                </a:solidFill>
              </a:rPr>
              <a:t>src</a:t>
            </a:r>
            <a:r>
              <a:rPr lang="en-US" altLang="zh-CN" i="1" dirty="0">
                <a:solidFill>
                  <a:srgbClr val="0070C0"/>
                </a:solidFill>
              </a:rPr>
              <a:t>/device/dev/</a:t>
            </a:r>
            <a:r>
              <a:rPr lang="en-US" altLang="zh-CN" i="1" dirty="0" err="1">
                <a:solidFill>
                  <a:srgbClr val="0070C0"/>
                </a:solidFill>
              </a:rPr>
              <a:t>xxx.c</a:t>
            </a:r>
            <a:endParaRPr lang="zh-CN" altLang="en-US" i="1" dirty="0">
              <a:solidFill>
                <a:srgbClr val="0070C0"/>
              </a:solidFill>
            </a:endParaRPr>
          </a:p>
        </p:txBody>
      </p:sp>
      <p:cxnSp>
        <p:nvCxnSpPr>
          <p:cNvPr id="16" name="直接箭头连接符 15"/>
          <p:cNvCxnSpPr/>
          <p:nvPr/>
        </p:nvCxnSpPr>
        <p:spPr>
          <a:xfrm flipV="1">
            <a:off x="4179895" y="3221077"/>
            <a:ext cx="3740310" cy="1365334"/>
          </a:xfrm>
          <a:prstGeom prst="straightConnector1">
            <a:avLst/>
          </a:prstGeom>
          <a:ln w="25400">
            <a:solidFill>
              <a:srgbClr val="7030A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4795623" y="4447912"/>
            <a:ext cx="26007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访问（读</a:t>
            </a:r>
            <a:r>
              <a:rPr lang="en-US" altLang="zh-CN" dirty="0">
                <a:solidFill>
                  <a:srgbClr val="C00000"/>
                </a:solidFill>
              </a:rPr>
              <a:t>/</a:t>
            </a:r>
            <a:r>
              <a:rPr lang="zh-CN" altLang="en-US" dirty="0">
                <a:solidFill>
                  <a:srgbClr val="C00000"/>
                </a:solidFill>
              </a:rPr>
              <a:t>写）这个端口</a:t>
            </a:r>
            <a:r>
              <a:rPr lang="zh-CN" altLang="en-US" dirty="0">
                <a:solidFill>
                  <a:srgbClr val="7030A0"/>
                </a:solidFill>
              </a:rPr>
              <a:t>，引起对</a:t>
            </a:r>
            <a:r>
              <a:rPr lang="en-US" altLang="zh-CN" dirty="0">
                <a:solidFill>
                  <a:srgbClr val="7030A0"/>
                </a:solidFill>
              </a:rPr>
              <a:t>handler</a:t>
            </a:r>
            <a:r>
              <a:rPr lang="zh-CN" altLang="en-US" dirty="0">
                <a:solidFill>
                  <a:srgbClr val="7030A0"/>
                </a:solidFill>
              </a:rPr>
              <a:t>的调用</a:t>
            </a:r>
          </a:p>
        </p:txBody>
      </p:sp>
      <p:cxnSp>
        <p:nvCxnSpPr>
          <p:cNvPr id="18" name="直接箭头连接符 17"/>
          <p:cNvCxnSpPr/>
          <p:nvPr/>
        </p:nvCxnSpPr>
        <p:spPr>
          <a:xfrm flipH="1" flipV="1">
            <a:off x="3316040" y="4719040"/>
            <a:ext cx="680056" cy="634107"/>
          </a:xfrm>
          <a:prstGeom prst="straightConnector1">
            <a:avLst/>
          </a:prstGeom>
          <a:ln w="2540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 flipH="1" flipV="1">
            <a:off x="3389560" y="4797087"/>
            <a:ext cx="891426" cy="1162597"/>
          </a:xfrm>
          <a:prstGeom prst="straightConnector1">
            <a:avLst/>
          </a:prstGeom>
          <a:ln w="25400">
            <a:solidFill>
              <a:srgbClr val="C00000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8758406" y="1329059"/>
            <a:ext cx="27477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设备制造商和</a:t>
            </a:r>
            <a:r>
              <a:rPr lang="en-US" altLang="zh-CN" dirty="0"/>
              <a:t>OS</a:t>
            </a:r>
            <a:r>
              <a:rPr lang="zh-CN" altLang="en-US" dirty="0"/>
              <a:t>可以约定，如：我占用哪几个端口，控制端口写</a:t>
            </a:r>
            <a:r>
              <a:rPr lang="en-US" altLang="zh-CN" dirty="0"/>
              <a:t>0</a:t>
            </a:r>
            <a:r>
              <a:rPr lang="zh-CN" altLang="en-US" dirty="0"/>
              <a:t>我就读，端口写</a:t>
            </a:r>
            <a:r>
              <a:rPr lang="en-US" altLang="zh-CN" dirty="0"/>
              <a:t>1</a:t>
            </a:r>
            <a:r>
              <a:rPr lang="zh-CN" altLang="en-US" dirty="0"/>
              <a:t>我就写</a:t>
            </a:r>
            <a:r>
              <a:rPr lang="en-US" altLang="zh-CN" dirty="0"/>
              <a:t>……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9D89D-B85E-4844-86F3-EE833714AE3D}" type="datetime1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7725B-6B6E-48AF-B2E8-4D27612ECBB4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外设与</a:t>
            </a:r>
            <a:r>
              <a:rPr lang="en-US" altLang="zh-CN" dirty="0"/>
              <a:t>I/O</a:t>
            </a:r>
            <a:endParaRPr lang="zh-CN" altLang="en-US" dirty="0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2152650" y="1182256"/>
            <a:ext cx="7886700" cy="1103745"/>
          </a:xfrm>
        </p:spPr>
        <p:txBody>
          <a:bodyPr/>
          <a:lstStyle/>
          <a:p>
            <a:r>
              <a:rPr lang="en-US" altLang="zh-CN" dirty="0"/>
              <a:t>CPU</a:t>
            </a:r>
            <a:r>
              <a:rPr lang="zh-CN" altLang="en-US" dirty="0"/>
              <a:t>如何向外设进行输入输出？</a:t>
            </a:r>
            <a:endParaRPr lang="en-US" altLang="zh-CN" dirty="0"/>
          </a:p>
          <a:p>
            <a:pPr lvl="1"/>
            <a:r>
              <a:rPr lang="zh-CN" altLang="en-US" dirty="0"/>
              <a:t>方式</a:t>
            </a:r>
            <a:r>
              <a:rPr lang="en-US" altLang="zh-CN" dirty="0"/>
              <a:t>1</a:t>
            </a:r>
            <a:r>
              <a:rPr lang="zh-CN" altLang="en-US" dirty="0"/>
              <a:t>：端口映射</a:t>
            </a:r>
            <a:r>
              <a:rPr lang="en-US" altLang="zh-CN" dirty="0"/>
              <a:t>I/O(port-mapped I/O)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1657662" y="2924419"/>
            <a:ext cx="5913325" cy="33239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#define </a:t>
            </a:r>
            <a:r>
              <a:rPr lang="en-US" altLang="zh-CN" sz="1400" dirty="0">
                <a:solidFill>
                  <a:srgbClr val="C0000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IO_PORT_SPACE 65536</a:t>
            </a:r>
          </a:p>
          <a:p>
            <a:r>
              <a:rPr lang="zh-CN" altLang="en-US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static uint8_t io_port[</a:t>
            </a:r>
            <a:r>
              <a:rPr lang="zh-CN" altLang="en-US" sz="1400" dirty="0">
                <a:solidFill>
                  <a:srgbClr val="C0000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IO_PORT_SPACE</a:t>
            </a:r>
            <a:r>
              <a:rPr lang="zh-CN" altLang="en-US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]; </a:t>
            </a:r>
            <a:r>
              <a:rPr lang="en-US" altLang="zh-CN" sz="14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// 65535</a:t>
            </a:r>
            <a:r>
              <a:rPr lang="zh-CN" altLang="en-US" sz="14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个</a:t>
            </a:r>
            <a:r>
              <a:rPr lang="en-US" altLang="zh-CN" sz="14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8</a:t>
            </a:r>
            <a:r>
              <a:rPr lang="zh-CN" altLang="en-US" sz="14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位的</a:t>
            </a:r>
            <a:r>
              <a:rPr lang="en-US" altLang="zh-CN" sz="14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I/O</a:t>
            </a:r>
            <a:r>
              <a:rPr lang="zh-CN" altLang="en-US" sz="14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端口</a:t>
            </a:r>
            <a:endParaRPr lang="en-US" altLang="zh-CN" sz="1400" dirty="0">
              <a:solidFill>
                <a:srgbClr val="00B050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endParaRPr lang="en-US" altLang="zh-CN" sz="1400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static </a:t>
            </a:r>
            <a:r>
              <a:rPr lang="en-US" altLang="zh-CN" sz="1400" dirty="0" err="1">
                <a:latin typeface="MS Gothic" panose="020B0609070205080204" pitchFamily="49" charset="-128"/>
                <a:ea typeface="MS Gothic" panose="020B0609070205080204" pitchFamily="49" charset="-128"/>
              </a:rPr>
              <a:t>struct</a:t>
            </a:r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 </a:t>
            </a:r>
            <a:r>
              <a:rPr lang="en-US" altLang="zh-CN" sz="1400" dirty="0" err="1">
                <a:latin typeface="MS Gothic" panose="020B0609070205080204" pitchFamily="49" charset="-128"/>
                <a:ea typeface="MS Gothic" panose="020B0609070205080204" pitchFamily="49" charset="-128"/>
              </a:rPr>
              <a:t>pio_handler_map</a:t>
            </a:r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 {</a:t>
            </a:r>
          </a:p>
          <a:p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        </a:t>
            </a:r>
            <a:r>
              <a:rPr lang="en-US" altLang="zh-CN" sz="1400" dirty="0">
                <a:solidFill>
                  <a:srgbClr val="C0000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uint16_t port;</a:t>
            </a:r>
          </a:p>
          <a:p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        </a:t>
            </a:r>
            <a:r>
              <a:rPr lang="en-US" altLang="zh-CN" sz="1400" dirty="0" err="1">
                <a:solidFill>
                  <a:srgbClr val="7030A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pio_handler</a:t>
            </a:r>
            <a:r>
              <a:rPr lang="en-US" altLang="zh-CN" sz="1400" dirty="0">
                <a:solidFill>
                  <a:srgbClr val="7030A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handler;</a:t>
            </a:r>
          </a:p>
          <a:p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} </a:t>
            </a:r>
            <a:r>
              <a:rPr lang="en-US" altLang="zh-CN" sz="1400" dirty="0" err="1">
                <a:latin typeface="MS Gothic" panose="020B0609070205080204" pitchFamily="49" charset="-128"/>
                <a:ea typeface="MS Gothic" panose="020B0609070205080204" pitchFamily="49" charset="-128"/>
              </a:rPr>
              <a:t>pio_handler_table</a:t>
            </a:r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 [] = { </a:t>
            </a:r>
            <a:r>
              <a:rPr lang="en-US" altLang="zh-CN" sz="14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// </a:t>
            </a:r>
            <a:r>
              <a:rPr lang="zh-CN" altLang="en-US" sz="14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端口映射表</a:t>
            </a:r>
            <a:endParaRPr lang="en-US" altLang="zh-CN" sz="1400" dirty="0">
              <a:solidFill>
                <a:srgbClr val="00B050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lvl="1"/>
            <a:r>
              <a:rPr lang="en-US" altLang="zh-CN" sz="14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// </a:t>
            </a:r>
            <a:r>
              <a:rPr lang="zh-CN" altLang="en-US" sz="14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格式 </a:t>
            </a:r>
            <a:r>
              <a:rPr lang="en-US" altLang="zh-CN" sz="14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{</a:t>
            </a:r>
            <a:r>
              <a:rPr lang="en-US" altLang="zh-CN" sz="1400" dirty="0">
                <a:solidFill>
                  <a:srgbClr val="C0000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port</a:t>
            </a:r>
            <a:r>
              <a:rPr lang="en-US" altLang="zh-CN" sz="14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, </a:t>
            </a:r>
            <a:r>
              <a:rPr lang="en-US" altLang="zh-CN" sz="1400" dirty="0">
                <a:solidFill>
                  <a:srgbClr val="7030A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handler</a:t>
            </a:r>
            <a:r>
              <a:rPr lang="en-US" altLang="zh-CN" sz="14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}</a:t>
            </a:r>
          </a:p>
          <a:p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};</a:t>
            </a:r>
          </a:p>
          <a:p>
            <a:endParaRPr lang="en-US" altLang="zh-CN" sz="1400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r>
              <a:rPr lang="en-US" altLang="zh-CN" sz="14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// called by the out instruction</a:t>
            </a:r>
            <a:r>
              <a:rPr lang="zh-CN" altLang="en-US" sz="14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，写端口</a:t>
            </a:r>
            <a:endParaRPr lang="en-US" altLang="zh-CN" sz="1400" dirty="0">
              <a:solidFill>
                <a:srgbClr val="00B050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void </a:t>
            </a:r>
            <a:r>
              <a:rPr lang="en-US" altLang="zh-CN" sz="1400" dirty="0" err="1">
                <a:latin typeface="MS Gothic" panose="020B0609070205080204" pitchFamily="49" charset="-128"/>
                <a:ea typeface="MS Gothic" panose="020B0609070205080204" pitchFamily="49" charset="-128"/>
              </a:rPr>
              <a:t>pio_write</a:t>
            </a:r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(uint16_t </a:t>
            </a:r>
            <a:r>
              <a:rPr lang="en-US" altLang="zh-CN" sz="1400" dirty="0">
                <a:solidFill>
                  <a:srgbClr val="C0000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port</a:t>
            </a:r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, </a:t>
            </a:r>
            <a:r>
              <a:rPr lang="en-US" altLang="zh-CN" sz="1400" dirty="0" err="1">
                <a:latin typeface="MS Gothic" panose="020B0609070205080204" pitchFamily="49" charset="-128"/>
                <a:ea typeface="MS Gothic" panose="020B0609070205080204" pitchFamily="49" charset="-128"/>
              </a:rPr>
              <a:t>size_t</a:t>
            </a:r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 </a:t>
            </a:r>
            <a:r>
              <a:rPr lang="en-US" altLang="zh-CN" sz="1400" dirty="0" err="1">
                <a:latin typeface="MS Gothic" panose="020B0609070205080204" pitchFamily="49" charset="-128"/>
                <a:ea typeface="MS Gothic" panose="020B0609070205080204" pitchFamily="49" charset="-128"/>
              </a:rPr>
              <a:t>len</a:t>
            </a:r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, uint32_t data) {…}</a:t>
            </a:r>
          </a:p>
          <a:p>
            <a:endParaRPr lang="en-US" altLang="zh-CN" sz="1400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r>
              <a:rPr lang="en-US" altLang="zh-CN" sz="14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// called by the in instruction</a:t>
            </a:r>
            <a:r>
              <a:rPr lang="zh-CN" altLang="en-US" sz="1400" dirty="0">
                <a:solidFill>
                  <a:srgbClr val="00B05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，读端口</a:t>
            </a:r>
            <a:endParaRPr lang="en-US" altLang="zh-CN" sz="1400" dirty="0">
              <a:solidFill>
                <a:srgbClr val="00B050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uint32_t </a:t>
            </a:r>
            <a:r>
              <a:rPr lang="en-US" altLang="zh-CN" sz="1400" dirty="0" err="1">
                <a:latin typeface="MS Gothic" panose="020B0609070205080204" pitchFamily="49" charset="-128"/>
                <a:ea typeface="MS Gothic" panose="020B0609070205080204" pitchFamily="49" charset="-128"/>
              </a:rPr>
              <a:t>pio_read</a:t>
            </a:r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(uint16_t </a:t>
            </a:r>
            <a:r>
              <a:rPr lang="en-US" altLang="zh-CN" sz="1400" dirty="0">
                <a:solidFill>
                  <a:srgbClr val="C0000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port</a:t>
            </a:r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, </a:t>
            </a:r>
            <a:r>
              <a:rPr lang="en-US" altLang="zh-CN" sz="1400" dirty="0" err="1">
                <a:latin typeface="MS Gothic" panose="020B0609070205080204" pitchFamily="49" charset="-128"/>
                <a:ea typeface="MS Gothic" panose="020B0609070205080204" pitchFamily="49" charset="-128"/>
              </a:rPr>
              <a:t>size_t</a:t>
            </a:r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 </a:t>
            </a:r>
            <a:r>
              <a:rPr lang="en-US" altLang="zh-CN" sz="1400" dirty="0" err="1">
                <a:latin typeface="MS Gothic" panose="020B0609070205080204" pitchFamily="49" charset="-128"/>
                <a:ea typeface="MS Gothic" panose="020B0609070205080204" pitchFamily="49" charset="-128"/>
              </a:rPr>
              <a:t>len</a:t>
            </a:r>
            <a:r>
              <a:rPr lang="en-US" altLang="zh-CN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) {…}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1581462" y="2480928"/>
            <a:ext cx="3046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 err="1">
                <a:solidFill>
                  <a:srgbClr val="0070C0"/>
                </a:solidFill>
              </a:rPr>
              <a:t>nemu</a:t>
            </a:r>
            <a:r>
              <a:rPr lang="en-US" altLang="zh-CN" i="1" dirty="0">
                <a:solidFill>
                  <a:srgbClr val="0070C0"/>
                </a:solidFill>
              </a:rPr>
              <a:t>/</a:t>
            </a:r>
            <a:r>
              <a:rPr lang="en-US" altLang="zh-CN" i="1" dirty="0" err="1">
                <a:solidFill>
                  <a:srgbClr val="0070C0"/>
                </a:solidFill>
              </a:rPr>
              <a:t>src</a:t>
            </a:r>
            <a:r>
              <a:rPr lang="en-US" altLang="zh-CN" i="1" dirty="0">
                <a:solidFill>
                  <a:srgbClr val="0070C0"/>
                </a:solidFill>
              </a:rPr>
              <a:t>/device/</a:t>
            </a:r>
            <a:r>
              <a:rPr lang="en-US" altLang="zh-CN" i="1" dirty="0" err="1">
                <a:solidFill>
                  <a:srgbClr val="0070C0"/>
                </a:solidFill>
              </a:rPr>
              <a:t>io</a:t>
            </a:r>
            <a:r>
              <a:rPr lang="en-US" altLang="zh-CN" i="1" dirty="0">
                <a:solidFill>
                  <a:srgbClr val="0070C0"/>
                </a:solidFill>
              </a:rPr>
              <a:t>/</a:t>
            </a:r>
            <a:r>
              <a:rPr lang="en-US" altLang="zh-CN" i="1" dirty="0" err="1">
                <a:solidFill>
                  <a:srgbClr val="0070C0"/>
                </a:solidFill>
              </a:rPr>
              <a:t>port_io.c</a:t>
            </a:r>
            <a:endParaRPr lang="zh-CN" altLang="en-US" i="1" dirty="0">
              <a:solidFill>
                <a:srgbClr val="0070C0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637819" y="2924418"/>
            <a:ext cx="2993423" cy="73866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1400" dirty="0" err="1">
                <a:solidFill>
                  <a:srgbClr val="7030A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make_pio_handler</a:t>
            </a:r>
            <a:r>
              <a:rPr lang="en-US" altLang="zh-CN" sz="1400" dirty="0">
                <a:solidFill>
                  <a:srgbClr val="7030A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(</a:t>
            </a:r>
            <a:r>
              <a:rPr lang="en-US" altLang="zh-CN" sz="1400" dirty="0" err="1">
                <a:solidFill>
                  <a:srgbClr val="7030A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handler_xxx</a:t>
            </a:r>
            <a:r>
              <a:rPr lang="en-US" altLang="zh-CN" sz="1400" dirty="0">
                <a:solidFill>
                  <a:srgbClr val="7030A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) {</a:t>
            </a:r>
          </a:p>
          <a:p>
            <a:r>
              <a:rPr lang="en-US" altLang="zh-CN" sz="1400" dirty="0">
                <a:solidFill>
                  <a:srgbClr val="7030A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	…</a:t>
            </a:r>
          </a:p>
          <a:p>
            <a:r>
              <a:rPr lang="en-US" altLang="zh-CN" sz="1400" dirty="0">
                <a:solidFill>
                  <a:srgbClr val="7030A0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}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7570986" y="2480928"/>
            <a:ext cx="2824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 err="1">
                <a:solidFill>
                  <a:srgbClr val="0070C0"/>
                </a:solidFill>
              </a:rPr>
              <a:t>nemu</a:t>
            </a:r>
            <a:r>
              <a:rPr lang="en-US" altLang="zh-CN" i="1" dirty="0">
                <a:solidFill>
                  <a:srgbClr val="0070C0"/>
                </a:solidFill>
              </a:rPr>
              <a:t>/</a:t>
            </a:r>
            <a:r>
              <a:rPr lang="en-US" altLang="zh-CN" i="1" dirty="0" err="1">
                <a:solidFill>
                  <a:srgbClr val="0070C0"/>
                </a:solidFill>
              </a:rPr>
              <a:t>src</a:t>
            </a:r>
            <a:r>
              <a:rPr lang="en-US" altLang="zh-CN" i="1" dirty="0">
                <a:solidFill>
                  <a:srgbClr val="0070C0"/>
                </a:solidFill>
              </a:rPr>
              <a:t>/device/dev/</a:t>
            </a:r>
            <a:r>
              <a:rPr lang="en-US" altLang="zh-CN" i="1" dirty="0" err="1">
                <a:solidFill>
                  <a:srgbClr val="0070C0"/>
                </a:solidFill>
              </a:rPr>
              <a:t>xxx.c</a:t>
            </a:r>
            <a:endParaRPr lang="zh-CN" altLang="en-US" i="1" dirty="0">
              <a:solidFill>
                <a:srgbClr val="0070C0"/>
              </a:solidFill>
            </a:endParaRPr>
          </a:p>
        </p:txBody>
      </p:sp>
      <p:cxnSp>
        <p:nvCxnSpPr>
          <p:cNvPr id="16" name="直接箭头连接符 15"/>
          <p:cNvCxnSpPr/>
          <p:nvPr/>
        </p:nvCxnSpPr>
        <p:spPr>
          <a:xfrm flipV="1">
            <a:off x="4179895" y="3221077"/>
            <a:ext cx="3740310" cy="1365334"/>
          </a:xfrm>
          <a:prstGeom prst="straightConnector1">
            <a:avLst/>
          </a:prstGeom>
          <a:ln w="25400">
            <a:solidFill>
              <a:srgbClr val="7030A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4795623" y="4447912"/>
            <a:ext cx="26007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访问（读</a:t>
            </a:r>
            <a:r>
              <a:rPr lang="en-US" altLang="zh-CN" dirty="0">
                <a:solidFill>
                  <a:srgbClr val="C00000"/>
                </a:solidFill>
              </a:rPr>
              <a:t>/</a:t>
            </a:r>
            <a:r>
              <a:rPr lang="zh-CN" altLang="en-US" dirty="0">
                <a:solidFill>
                  <a:srgbClr val="C00000"/>
                </a:solidFill>
              </a:rPr>
              <a:t>写）这个端口</a:t>
            </a:r>
            <a:r>
              <a:rPr lang="zh-CN" altLang="en-US" dirty="0">
                <a:solidFill>
                  <a:srgbClr val="7030A0"/>
                </a:solidFill>
              </a:rPr>
              <a:t>，引起对</a:t>
            </a:r>
            <a:r>
              <a:rPr lang="en-US" altLang="zh-CN" dirty="0">
                <a:solidFill>
                  <a:srgbClr val="7030A0"/>
                </a:solidFill>
              </a:rPr>
              <a:t>handler</a:t>
            </a:r>
            <a:r>
              <a:rPr lang="zh-CN" altLang="en-US" dirty="0">
                <a:solidFill>
                  <a:srgbClr val="7030A0"/>
                </a:solidFill>
              </a:rPr>
              <a:t>的调用</a:t>
            </a:r>
          </a:p>
        </p:txBody>
      </p:sp>
      <p:cxnSp>
        <p:nvCxnSpPr>
          <p:cNvPr id="18" name="直接箭头连接符 17"/>
          <p:cNvCxnSpPr/>
          <p:nvPr/>
        </p:nvCxnSpPr>
        <p:spPr>
          <a:xfrm flipH="1" flipV="1">
            <a:off x="3316040" y="4719040"/>
            <a:ext cx="680056" cy="634107"/>
          </a:xfrm>
          <a:prstGeom prst="straightConnector1">
            <a:avLst/>
          </a:prstGeom>
          <a:ln w="2540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 flipH="1" flipV="1">
            <a:off x="3389560" y="4797087"/>
            <a:ext cx="891426" cy="1162597"/>
          </a:xfrm>
          <a:prstGeom prst="straightConnector1">
            <a:avLst/>
          </a:prstGeom>
          <a:ln w="25400">
            <a:solidFill>
              <a:srgbClr val="C00000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图片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258627" y="5428885"/>
            <a:ext cx="1225450" cy="1264267"/>
          </a:xfrm>
          <a:prstGeom prst="rect">
            <a:avLst/>
          </a:prstGeom>
        </p:spPr>
      </p:pic>
      <p:pic>
        <p:nvPicPr>
          <p:cNvPr id="6148" name="Picture 4" descr="“齿轮”的图片搜索结果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1519" y="5504713"/>
            <a:ext cx="799437" cy="799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文本框 20"/>
          <p:cNvSpPr txBox="1"/>
          <p:nvPr/>
        </p:nvSpPr>
        <p:spPr>
          <a:xfrm>
            <a:off x="7700897" y="3832512"/>
            <a:ext cx="28672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OS</a:t>
            </a:r>
            <a:r>
              <a:rPr lang="zh-CN" altLang="en-US" dirty="0"/>
              <a:t>中包含的驱动程序熟知这些约定，便可通过</a:t>
            </a:r>
            <a:r>
              <a:rPr lang="en-US" altLang="zh-CN" dirty="0"/>
              <a:t>in</a:t>
            </a:r>
            <a:r>
              <a:rPr lang="zh-CN" altLang="en-US" dirty="0"/>
              <a:t>和</a:t>
            </a:r>
            <a:r>
              <a:rPr lang="en-US" altLang="zh-CN" dirty="0"/>
              <a:t>out</a:t>
            </a:r>
            <a:r>
              <a:rPr lang="zh-CN" altLang="en-US" dirty="0"/>
              <a:t>指令完成对设备的控制和数据读写（直接控制法）</a:t>
            </a:r>
          </a:p>
        </p:txBody>
      </p:sp>
      <p:cxnSp>
        <p:nvCxnSpPr>
          <p:cNvPr id="22" name="直接箭头连接符 21"/>
          <p:cNvCxnSpPr/>
          <p:nvPr/>
        </p:nvCxnSpPr>
        <p:spPr>
          <a:xfrm flipH="1" flipV="1">
            <a:off x="7230961" y="5428885"/>
            <a:ext cx="1415251" cy="346999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7930769" y="5202269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out</a:t>
            </a:r>
            <a:endParaRPr lang="zh-CN" altLang="en-US" dirty="0">
              <a:solidFill>
                <a:srgbClr val="C00000"/>
              </a:solidFill>
            </a:endParaRPr>
          </a:p>
        </p:txBody>
      </p:sp>
      <p:cxnSp>
        <p:nvCxnSpPr>
          <p:cNvPr id="23" name="直接箭头连接符 22"/>
          <p:cNvCxnSpPr/>
          <p:nvPr/>
        </p:nvCxnSpPr>
        <p:spPr>
          <a:xfrm flipV="1">
            <a:off x="6184781" y="6002499"/>
            <a:ext cx="2431915" cy="4097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7685951" y="6014606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in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26187-00E6-4A84-9E43-FB066BA9CD6B}" type="datetime1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7725B-6B6E-48AF-B2E8-4D27612ECBB4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8758406" y="1329059"/>
            <a:ext cx="27477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设备制造商和</a:t>
            </a:r>
            <a:r>
              <a:rPr lang="en-US" altLang="zh-CN" dirty="0"/>
              <a:t>OS</a:t>
            </a:r>
            <a:r>
              <a:rPr lang="zh-CN" altLang="en-US" dirty="0"/>
              <a:t>可以约定，如：我占用哪几个端口，控制端口写</a:t>
            </a:r>
            <a:r>
              <a:rPr lang="en-US" altLang="zh-CN" dirty="0"/>
              <a:t>0</a:t>
            </a:r>
            <a:r>
              <a:rPr lang="zh-CN" altLang="en-US" dirty="0"/>
              <a:t>我就读，端口写</a:t>
            </a:r>
            <a:r>
              <a:rPr lang="en-US" altLang="zh-CN" dirty="0"/>
              <a:t>1</a:t>
            </a:r>
            <a:r>
              <a:rPr lang="zh-CN" altLang="en-US" dirty="0"/>
              <a:t>我就写</a:t>
            </a:r>
            <a:r>
              <a:rPr lang="en-US" altLang="zh-CN" dirty="0"/>
              <a:t>……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10568940" y="614172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看代码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外设与</a:t>
            </a:r>
            <a:r>
              <a:rPr lang="en-US" altLang="zh-CN" dirty="0"/>
              <a:t>I/O</a:t>
            </a:r>
            <a:endParaRPr lang="zh-CN" altLang="en-US" dirty="0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2152650" y="1182255"/>
            <a:ext cx="8276411" cy="3922762"/>
          </a:xfrm>
        </p:spPr>
        <p:txBody>
          <a:bodyPr/>
          <a:lstStyle/>
          <a:p>
            <a:r>
              <a:rPr lang="en-US" altLang="zh-CN" dirty="0"/>
              <a:t>CPU</a:t>
            </a:r>
            <a:r>
              <a:rPr lang="zh-CN" altLang="en-US" dirty="0"/>
              <a:t>如何向外设进行输入输出？</a:t>
            </a:r>
            <a:endParaRPr lang="en-US" altLang="zh-CN" dirty="0"/>
          </a:p>
          <a:p>
            <a:pPr lvl="1"/>
            <a:r>
              <a:rPr lang="zh-CN" altLang="en-US" dirty="0"/>
              <a:t>方式</a:t>
            </a:r>
            <a:r>
              <a:rPr lang="en-US" altLang="zh-CN" dirty="0"/>
              <a:t>1</a:t>
            </a:r>
            <a:r>
              <a:rPr lang="zh-CN" altLang="en-US" dirty="0"/>
              <a:t>：端口映射</a:t>
            </a:r>
            <a:r>
              <a:rPr lang="en-US" altLang="zh-CN" dirty="0"/>
              <a:t>I/O(port-mapped I/O)</a:t>
            </a:r>
          </a:p>
          <a:p>
            <a:pPr lvl="1"/>
            <a:r>
              <a:rPr lang="en-US" altLang="zh-CN" dirty="0"/>
              <a:t>NEMU</a:t>
            </a:r>
            <a:r>
              <a:rPr lang="zh-CN" altLang="en-US" dirty="0"/>
              <a:t>中典型的端口映射</a:t>
            </a:r>
            <a:r>
              <a:rPr lang="en-US" altLang="zh-CN" dirty="0"/>
              <a:t>I/O</a:t>
            </a:r>
            <a:r>
              <a:rPr lang="zh-CN" altLang="en-US" dirty="0"/>
              <a:t>设备</a:t>
            </a:r>
            <a:endParaRPr lang="en-US" altLang="zh-CN" dirty="0"/>
          </a:p>
          <a:p>
            <a:pPr lvl="2"/>
            <a:r>
              <a:rPr lang="zh-CN" altLang="en-US" dirty="0"/>
              <a:t>串口（</a:t>
            </a:r>
            <a:r>
              <a:rPr lang="en-US" altLang="zh-CN" dirty="0"/>
              <a:t>Serial</a:t>
            </a:r>
            <a:r>
              <a:rPr lang="zh-CN" altLang="en-US" dirty="0"/>
              <a:t>）</a:t>
            </a:r>
            <a:endParaRPr lang="en-US" altLang="zh-CN" dirty="0"/>
          </a:p>
          <a:p>
            <a:pPr lvl="3"/>
            <a:r>
              <a:rPr lang="zh-CN" altLang="en-US" dirty="0"/>
              <a:t>端口映射：</a:t>
            </a:r>
            <a:r>
              <a:rPr lang="en-US" altLang="zh-CN" dirty="0" err="1">
                <a:solidFill>
                  <a:srgbClr val="0070C0"/>
                </a:solidFill>
              </a:rPr>
              <a:t>nemu</a:t>
            </a:r>
            <a:r>
              <a:rPr lang="en-US" altLang="zh-CN" dirty="0">
                <a:solidFill>
                  <a:srgbClr val="0070C0"/>
                </a:solidFill>
              </a:rPr>
              <a:t>/</a:t>
            </a:r>
            <a:r>
              <a:rPr lang="en-US" altLang="zh-CN" dirty="0" err="1">
                <a:solidFill>
                  <a:srgbClr val="0070C0"/>
                </a:solidFill>
              </a:rPr>
              <a:t>src</a:t>
            </a:r>
            <a:r>
              <a:rPr lang="en-US" altLang="zh-CN" dirty="0">
                <a:solidFill>
                  <a:srgbClr val="0070C0"/>
                </a:solidFill>
              </a:rPr>
              <a:t>/device/</a:t>
            </a:r>
            <a:r>
              <a:rPr lang="en-US" altLang="zh-CN" dirty="0" err="1">
                <a:solidFill>
                  <a:srgbClr val="0070C0"/>
                </a:solidFill>
              </a:rPr>
              <a:t>io</a:t>
            </a:r>
            <a:r>
              <a:rPr lang="en-US" altLang="zh-CN" dirty="0">
                <a:solidFill>
                  <a:srgbClr val="0070C0"/>
                </a:solidFill>
              </a:rPr>
              <a:t>/</a:t>
            </a:r>
            <a:r>
              <a:rPr lang="en-US" altLang="zh-CN" dirty="0" err="1">
                <a:solidFill>
                  <a:srgbClr val="0070C0"/>
                </a:solidFill>
              </a:rPr>
              <a:t>port_io.c</a:t>
            </a:r>
            <a:endParaRPr lang="en-US" altLang="zh-CN" dirty="0">
              <a:solidFill>
                <a:srgbClr val="0070C0"/>
              </a:solidFill>
            </a:endParaRPr>
          </a:p>
          <a:p>
            <a:pPr marL="1371600" lvl="3" indent="0">
              <a:buNone/>
            </a:pPr>
            <a:r>
              <a:rPr lang="en-US" altLang="zh-CN" dirty="0"/>
              <a:t>		</a:t>
            </a:r>
          </a:p>
          <a:p>
            <a:pPr marL="1371600" lvl="3" indent="0">
              <a:buNone/>
            </a:pPr>
            <a:endParaRPr lang="en-US" altLang="zh-CN" dirty="0"/>
          </a:p>
          <a:p>
            <a:pPr lvl="3"/>
            <a:r>
              <a:rPr lang="zh-CN" altLang="en-US" dirty="0"/>
              <a:t>设备模拟：</a:t>
            </a:r>
            <a:r>
              <a:rPr lang="en-US" altLang="zh-CN" dirty="0" err="1">
                <a:solidFill>
                  <a:srgbClr val="0070C0"/>
                </a:solidFill>
              </a:rPr>
              <a:t>nemu</a:t>
            </a:r>
            <a:r>
              <a:rPr lang="en-US" altLang="zh-CN" dirty="0">
                <a:solidFill>
                  <a:srgbClr val="0070C0"/>
                </a:solidFill>
              </a:rPr>
              <a:t>/</a:t>
            </a:r>
            <a:r>
              <a:rPr lang="en-US" altLang="zh-CN" dirty="0" err="1">
                <a:solidFill>
                  <a:srgbClr val="0070C0"/>
                </a:solidFill>
              </a:rPr>
              <a:t>src</a:t>
            </a:r>
            <a:r>
              <a:rPr lang="en-US" altLang="zh-CN" dirty="0">
                <a:solidFill>
                  <a:srgbClr val="0070C0"/>
                </a:solidFill>
              </a:rPr>
              <a:t>/device/dev/</a:t>
            </a:r>
            <a:r>
              <a:rPr lang="en-US" altLang="zh-CN" dirty="0" err="1">
                <a:solidFill>
                  <a:srgbClr val="0070C0"/>
                </a:solidFill>
              </a:rPr>
              <a:t>serial.c</a:t>
            </a:r>
            <a:endParaRPr lang="en-US" altLang="zh-CN" dirty="0">
              <a:solidFill>
                <a:srgbClr val="0070C0"/>
              </a:solidFill>
            </a:endParaRPr>
          </a:p>
          <a:p>
            <a:pPr marL="1371600" lvl="3" indent="0">
              <a:buNone/>
            </a:pPr>
            <a:r>
              <a:rPr lang="en-US" altLang="zh-CN" dirty="0"/>
              <a:t>		</a:t>
            </a:r>
          </a:p>
          <a:p>
            <a:pPr marL="1371600" lvl="3" indent="0">
              <a:buNone/>
            </a:pPr>
            <a:endParaRPr lang="en-US" altLang="zh-CN" dirty="0">
              <a:solidFill>
                <a:srgbClr val="00B050"/>
              </a:solidFill>
            </a:endParaRPr>
          </a:p>
          <a:p>
            <a:pPr lvl="3"/>
            <a:r>
              <a:rPr lang="zh-CN" altLang="en-US" dirty="0"/>
              <a:t>驱动程序：</a:t>
            </a:r>
            <a:r>
              <a:rPr lang="en-US" altLang="zh-CN" dirty="0">
                <a:solidFill>
                  <a:srgbClr val="0070C0"/>
                </a:solidFill>
              </a:rPr>
              <a:t>kernel/</a:t>
            </a:r>
            <a:r>
              <a:rPr lang="en-US" altLang="zh-CN" dirty="0" err="1">
                <a:solidFill>
                  <a:srgbClr val="0070C0"/>
                </a:solidFill>
              </a:rPr>
              <a:t>src</a:t>
            </a:r>
            <a:r>
              <a:rPr lang="en-US" altLang="zh-CN" dirty="0">
                <a:solidFill>
                  <a:srgbClr val="0070C0"/>
                </a:solidFill>
              </a:rPr>
              <a:t>/lib/</a:t>
            </a:r>
            <a:r>
              <a:rPr lang="en-US" altLang="zh-CN" dirty="0" err="1">
                <a:solidFill>
                  <a:srgbClr val="0070C0"/>
                </a:solidFill>
              </a:rPr>
              <a:t>serial.c</a:t>
            </a:r>
            <a:endParaRPr lang="en-US" altLang="zh-CN" dirty="0">
              <a:solidFill>
                <a:srgbClr val="00B050"/>
              </a:solidFill>
            </a:endParaRPr>
          </a:p>
          <a:p>
            <a:pPr marL="1371600" lvl="3" indent="0">
              <a:buNone/>
            </a:pP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4903603" y="4135109"/>
            <a:ext cx="5598977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dirty="0" err="1"/>
              <a:t>make_pio_handler</a:t>
            </a:r>
            <a:r>
              <a:rPr lang="en-US" altLang="zh-CN" dirty="0"/>
              <a:t>(</a:t>
            </a:r>
            <a:r>
              <a:rPr lang="en-US" altLang="zh-CN" dirty="0" err="1">
                <a:solidFill>
                  <a:srgbClr val="7030A0"/>
                </a:solidFill>
              </a:rPr>
              <a:t>handler_serial</a:t>
            </a:r>
            <a:r>
              <a:rPr lang="en-US" altLang="zh-CN" dirty="0"/>
              <a:t>) {…}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en-US" dirty="0">
                <a:solidFill>
                  <a:srgbClr val="00B050"/>
                </a:solidFill>
              </a:rPr>
              <a:t>响应端口读写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4903603" y="3148611"/>
            <a:ext cx="5598977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dirty="0"/>
              <a:t>{</a:t>
            </a:r>
            <a:r>
              <a:rPr lang="en-US" altLang="zh-CN" dirty="0">
                <a:solidFill>
                  <a:srgbClr val="C00000"/>
                </a:solidFill>
              </a:rPr>
              <a:t>SERIAL_PORT + [0-7], </a:t>
            </a:r>
            <a:r>
              <a:rPr lang="en-US" altLang="zh-CN" dirty="0" err="1">
                <a:solidFill>
                  <a:srgbClr val="7030A0"/>
                </a:solidFill>
              </a:rPr>
              <a:t>handler_serial</a:t>
            </a:r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4903603" y="5222384"/>
            <a:ext cx="5598977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dirty="0"/>
              <a:t>void </a:t>
            </a:r>
            <a:r>
              <a:rPr lang="en-US" altLang="zh-CN" dirty="0" err="1"/>
              <a:t>serial_printc</a:t>
            </a:r>
            <a:r>
              <a:rPr lang="en-US" altLang="zh-CN" dirty="0"/>
              <a:t>(char </a:t>
            </a:r>
            <a:r>
              <a:rPr lang="en-US" altLang="zh-CN" dirty="0" err="1"/>
              <a:t>ch</a:t>
            </a:r>
            <a:r>
              <a:rPr lang="en-US" altLang="zh-CN" dirty="0"/>
              <a:t>) {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en-US" dirty="0">
                <a:solidFill>
                  <a:srgbClr val="00B050"/>
                </a:solidFill>
              </a:rPr>
              <a:t>请你实现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	while (!</a:t>
            </a:r>
            <a:r>
              <a:rPr lang="en-US" altLang="zh-CN" dirty="0" err="1"/>
              <a:t>serial_idle</a:t>
            </a:r>
            <a:r>
              <a:rPr lang="en-US" altLang="zh-CN" dirty="0"/>
              <a:t>()); // wait until serial is idle</a:t>
            </a:r>
          </a:p>
          <a:p>
            <a:r>
              <a:rPr lang="en-US" altLang="zh-CN" dirty="0"/>
              <a:t>}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1BC47-ADEF-4902-8D46-5F6F9BB71886}" type="datetime1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7725B-6B6E-48AF-B2E8-4D27612ECBB4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0568940" y="614172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看代码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外设与</a:t>
            </a:r>
            <a:r>
              <a:rPr lang="en-US" altLang="zh-CN" dirty="0"/>
              <a:t>I/O</a:t>
            </a:r>
            <a:endParaRPr lang="zh-CN" altLang="en-US" dirty="0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3681905" y="483318"/>
            <a:ext cx="8276411" cy="3922762"/>
          </a:xfrm>
        </p:spPr>
        <p:txBody>
          <a:bodyPr/>
          <a:lstStyle/>
          <a:p>
            <a:r>
              <a:rPr lang="en-US" altLang="zh-CN" dirty="0"/>
              <a:t>CPU</a:t>
            </a:r>
            <a:r>
              <a:rPr lang="zh-CN" altLang="en-US" dirty="0"/>
              <a:t>如何向外设进行输入输出？</a:t>
            </a:r>
            <a:endParaRPr lang="en-US" altLang="zh-CN" dirty="0"/>
          </a:p>
          <a:p>
            <a:pPr lvl="1"/>
            <a:r>
              <a:rPr lang="zh-CN" altLang="en-US" dirty="0"/>
              <a:t>方式</a:t>
            </a:r>
            <a:r>
              <a:rPr lang="en-US" altLang="zh-CN" dirty="0"/>
              <a:t>1</a:t>
            </a:r>
            <a:r>
              <a:rPr lang="zh-CN" altLang="en-US" dirty="0"/>
              <a:t>：端口映射</a:t>
            </a:r>
            <a:r>
              <a:rPr lang="en-US" altLang="zh-CN" dirty="0"/>
              <a:t>I/O(port-mapped I/O)</a:t>
            </a:r>
          </a:p>
          <a:p>
            <a:pPr lvl="1"/>
            <a:r>
              <a:rPr lang="en-US" altLang="zh-CN" dirty="0"/>
              <a:t>NEMU</a:t>
            </a:r>
            <a:r>
              <a:rPr lang="zh-CN" altLang="en-US" dirty="0"/>
              <a:t>中典型的端口映射</a:t>
            </a:r>
            <a:r>
              <a:rPr lang="en-US" altLang="zh-CN" dirty="0"/>
              <a:t>I/O</a:t>
            </a:r>
            <a:r>
              <a:rPr lang="zh-CN" altLang="en-US" dirty="0"/>
              <a:t>设备</a:t>
            </a:r>
            <a:endParaRPr lang="en-US" altLang="zh-CN" dirty="0"/>
          </a:p>
          <a:p>
            <a:pPr lvl="2"/>
            <a:r>
              <a:rPr lang="zh-CN" altLang="en-US" dirty="0"/>
              <a:t>串口（</a:t>
            </a:r>
            <a:r>
              <a:rPr lang="en-US" altLang="zh-CN" dirty="0"/>
              <a:t>Serial</a:t>
            </a:r>
            <a:r>
              <a:rPr lang="zh-CN" altLang="en-US" dirty="0"/>
              <a:t>）</a:t>
            </a:r>
            <a:endParaRPr lang="en-US" altLang="zh-CN" dirty="0"/>
          </a:p>
          <a:p>
            <a:pPr lvl="3"/>
            <a:r>
              <a:rPr lang="zh-CN" altLang="en-US" dirty="0"/>
              <a:t>端口映射：</a:t>
            </a:r>
            <a:r>
              <a:rPr lang="en-US" altLang="zh-CN" dirty="0" err="1">
                <a:solidFill>
                  <a:srgbClr val="0070C0"/>
                </a:solidFill>
              </a:rPr>
              <a:t>nemu</a:t>
            </a:r>
            <a:r>
              <a:rPr lang="en-US" altLang="zh-CN" dirty="0">
                <a:solidFill>
                  <a:srgbClr val="0070C0"/>
                </a:solidFill>
              </a:rPr>
              <a:t>/</a:t>
            </a:r>
            <a:r>
              <a:rPr lang="en-US" altLang="zh-CN" dirty="0" err="1">
                <a:solidFill>
                  <a:srgbClr val="0070C0"/>
                </a:solidFill>
              </a:rPr>
              <a:t>src</a:t>
            </a:r>
            <a:r>
              <a:rPr lang="en-US" altLang="zh-CN" dirty="0">
                <a:solidFill>
                  <a:srgbClr val="0070C0"/>
                </a:solidFill>
              </a:rPr>
              <a:t>/device/</a:t>
            </a:r>
            <a:r>
              <a:rPr lang="en-US" altLang="zh-CN" dirty="0" err="1">
                <a:solidFill>
                  <a:srgbClr val="0070C0"/>
                </a:solidFill>
              </a:rPr>
              <a:t>io</a:t>
            </a:r>
            <a:r>
              <a:rPr lang="en-US" altLang="zh-CN" dirty="0">
                <a:solidFill>
                  <a:srgbClr val="0070C0"/>
                </a:solidFill>
              </a:rPr>
              <a:t>/</a:t>
            </a:r>
            <a:r>
              <a:rPr lang="en-US" altLang="zh-CN" dirty="0" err="1">
                <a:solidFill>
                  <a:srgbClr val="0070C0"/>
                </a:solidFill>
              </a:rPr>
              <a:t>port_io.c</a:t>
            </a:r>
            <a:endParaRPr lang="en-US" altLang="zh-CN" dirty="0">
              <a:solidFill>
                <a:srgbClr val="0070C0"/>
              </a:solidFill>
            </a:endParaRPr>
          </a:p>
          <a:p>
            <a:pPr marL="1371600" lvl="3" indent="0">
              <a:buNone/>
            </a:pPr>
            <a:r>
              <a:rPr lang="en-US" altLang="zh-CN" dirty="0"/>
              <a:t>		</a:t>
            </a:r>
          </a:p>
          <a:p>
            <a:pPr marL="1371600" lvl="3" indent="0">
              <a:buNone/>
            </a:pPr>
            <a:endParaRPr lang="en-US" altLang="zh-CN" dirty="0"/>
          </a:p>
          <a:p>
            <a:pPr lvl="3"/>
            <a:r>
              <a:rPr lang="zh-CN" altLang="en-US" dirty="0"/>
              <a:t>设备模拟：</a:t>
            </a:r>
            <a:r>
              <a:rPr lang="en-US" altLang="zh-CN" dirty="0" err="1">
                <a:solidFill>
                  <a:srgbClr val="0070C0"/>
                </a:solidFill>
              </a:rPr>
              <a:t>nemu</a:t>
            </a:r>
            <a:r>
              <a:rPr lang="en-US" altLang="zh-CN" dirty="0">
                <a:solidFill>
                  <a:srgbClr val="0070C0"/>
                </a:solidFill>
              </a:rPr>
              <a:t>/</a:t>
            </a:r>
            <a:r>
              <a:rPr lang="en-US" altLang="zh-CN" dirty="0" err="1">
                <a:solidFill>
                  <a:srgbClr val="0070C0"/>
                </a:solidFill>
              </a:rPr>
              <a:t>src</a:t>
            </a:r>
            <a:r>
              <a:rPr lang="en-US" altLang="zh-CN" dirty="0">
                <a:solidFill>
                  <a:srgbClr val="0070C0"/>
                </a:solidFill>
              </a:rPr>
              <a:t>/device/dev/</a:t>
            </a:r>
            <a:r>
              <a:rPr lang="en-US" altLang="zh-CN" dirty="0" err="1">
                <a:solidFill>
                  <a:srgbClr val="0070C0"/>
                </a:solidFill>
              </a:rPr>
              <a:t>serial.c</a:t>
            </a:r>
            <a:endParaRPr lang="en-US" altLang="zh-CN" dirty="0">
              <a:solidFill>
                <a:srgbClr val="0070C0"/>
              </a:solidFill>
            </a:endParaRPr>
          </a:p>
          <a:p>
            <a:pPr marL="1371600" lvl="3" indent="0">
              <a:buNone/>
            </a:pPr>
            <a:r>
              <a:rPr lang="en-US" altLang="zh-CN" dirty="0"/>
              <a:t>		</a:t>
            </a:r>
          </a:p>
          <a:p>
            <a:pPr marL="1371600" lvl="3" indent="0">
              <a:buNone/>
            </a:pPr>
            <a:endParaRPr lang="en-US" altLang="zh-CN" dirty="0">
              <a:solidFill>
                <a:srgbClr val="00B050"/>
              </a:solidFill>
            </a:endParaRPr>
          </a:p>
          <a:p>
            <a:pPr lvl="3"/>
            <a:r>
              <a:rPr lang="zh-CN" altLang="en-US" dirty="0"/>
              <a:t>驱动程序：</a:t>
            </a:r>
            <a:r>
              <a:rPr lang="en-US" altLang="zh-CN" dirty="0">
                <a:solidFill>
                  <a:srgbClr val="0070C0"/>
                </a:solidFill>
              </a:rPr>
              <a:t>kernel/</a:t>
            </a:r>
            <a:r>
              <a:rPr lang="en-US" altLang="zh-CN" dirty="0" err="1">
                <a:solidFill>
                  <a:srgbClr val="0070C0"/>
                </a:solidFill>
              </a:rPr>
              <a:t>src</a:t>
            </a:r>
            <a:r>
              <a:rPr lang="en-US" altLang="zh-CN" dirty="0">
                <a:solidFill>
                  <a:srgbClr val="0070C0"/>
                </a:solidFill>
              </a:rPr>
              <a:t>/lib/</a:t>
            </a:r>
            <a:r>
              <a:rPr lang="en-US" altLang="zh-CN" dirty="0" err="1">
                <a:solidFill>
                  <a:srgbClr val="0070C0"/>
                </a:solidFill>
              </a:rPr>
              <a:t>serial.c</a:t>
            </a:r>
            <a:endParaRPr lang="en-US" altLang="zh-CN" dirty="0">
              <a:solidFill>
                <a:srgbClr val="00B050"/>
              </a:solidFill>
            </a:endParaRPr>
          </a:p>
          <a:p>
            <a:pPr marL="1371600" lvl="3" indent="0">
              <a:buNone/>
            </a:pP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6432858" y="3436172"/>
            <a:ext cx="5598977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dirty="0" err="1"/>
              <a:t>make_pio_handler</a:t>
            </a:r>
            <a:r>
              <a:rPr lang="en-US" altLang="zh-CN" dirty="0"/>
              <a:t>(</a:t>
            </a:r>
            <a:r>
              <a:rPr lang="en-US" altLang="zh-CN" dirty="0" err="1">
                <a:solidFill>
                  <a:srgbClr val="7030A0"/>
                </a:solidFill>
              </a:rPr>
              <a:t>handler_serial</a:t>
            </a:r>
            <a:r>
              <a:rPr lang="en-US" altLang="zh-CN" dirty="0"/>
              <a:t>) {…}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en-US" dirty="0">
                <a:solidFill>
                  <a:srgbClr val="00B050"/>
                </a:solidFill>
              </a:rPr>
              <a:t>响应端口读写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6432858" y="2449674"/>
            <a:ext cx="5598977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/>
              <a:t>{</a:t>
            </a:r>
            <a:r>
              <a:rPr lang="en-US" altLang="zh-CN">
                <a:solidFill>
                  <a:srgbClr val="C00000"/>
                </a:solidFill>
              </a:rPr>
              <a:t>SERIAL_PORT </a:t>
            </a:r>
            <a:r>
              <a:rPr lang="en-US" altLang="zh-CN" dirty="0">
                <a:solidFill>
                  <a:srgbClr val="C00000"/>
                </a:solidFill>
              </a:rPr>
              <a:t>+ [0-7], </a:t>
            </a:r>
            <a:r>
              <a:rPr lang="en-US" altLang="zh-CN" dirty="0" err="1">
                <a:solidFill>
                  <a:srgbClr val="7030A0"/>
                </a:solidFill>
              </a:rPr>
              <a:t>handler_serial</a:t>
            </a:r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6432858" y="4523447"/>
            <a:ext cx="5598977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dirty="0"/>
              <a:t>void </a:t>
            </a:r>
            <a:r>
              <a:rPr lang="en-US" altLang="zh-CN" dirty="0" err="1"/>
              <a:t>serial_printc</a:t>
            </a:r>
            <a:r>
              <a:rPr lang="en-US" altLang="zh-CN" dirty="0"/>
              <a:t>(char </a:t>
            </a:r>
            <a:r>
              <a:rPr lang="en-US" altLang="zh-CN" dirty="0" err="1"/>
              <a:t>ch</a:t>
            </a:r>
            <a:r>
              <a:rPr lang="en-US" altLang="zh-CN" dirty="0"/>
              <a:t>) {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en-US" dirty="0">
                <a:solidFill>
                  <a:srgbClr val="00B050"/>
                </a:solidFill>
              </a:rPr>
              <a:t>请你实现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/>
              <a:t>	while (!</a:t>
            </a:r>
            <a:r>
              <a:rPr lang="en-US" altLang="zh-CN" dirty="0" err="1"/>
              <a:t>serial_idle</a:t>
            </a:r>
            <a:r>
              <a:rPr lang="en-US" altLang="zh-CN" dirty="0"/>
              <a:t>()); // wait until serial is idle</a:t>
            </a:r>
          </a:p>
          <a:p>
            <a:r>
              <a:rPr lang="en-US" altLang="zh-CN" dirty="0"/>
              <a:t>}</a:t>
            </a:r>
          </a:p>
        </p:txBody>
      </p:sp>
      <p:sp>
        <p:nvSpPr>
          <p:cNvPr id="9" name="矩形 8"/>
          <p:cNvSpPr/>
          <p:nvPr/>
        </p:nvSpPr>
        <p:spPr>
          <a:xfrm>
            <a:off x="239493" y="3563317"/>
            <a:ext cx="4842259" cy="291926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56000"/>
              </a:lnSpc>
              <a:spcBef>
                <a:spcPts val="600"/>
              </a:spcBef>
              <a:spcAft>
                <a:spcPts val="1450"/>
              </a:spcAft>
            </a:pPr>
            <a:r>
              <a:rPr lang="en-US" altLang="zh-CN" sz="2000" b="1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§4-2.3.1 </a:t>
            </a:r>
            <a:r>
              <a:rPr lang="zh-CN" altLang="zh-CN" sz="2000" b="1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完成串口的模拟</a:t>
            </a:r>
          </a:p>
          <a:p>
            <a:pPr marL="342900" indent="-342900" algn="just">
              <a:spcBef>
                <a:spcPts val="600"/>
              </a:spcBef>
              <a:buFont typeface="+mj-lt"/>
              <a:buAutoNum type="arabicPeriod"/>
            </a:pPr>
            <a:r>
              <a:rPr lang="zh-CN" altLang="zh-CN" sz="2000" kern="100" dirty="0">
                <a:latin typeface="等线" panose="02010600030101010101" charset="-122"/>
                <a:cs typeface="Times New Roman" panose="02020603050405020304" pitchFamily="18" charset="0"/>
              </a:rPr>
              <a:t>在</a:t>
            </a:r>
            <a:r>
              <a:rPr lang="en-US" altLang="zh-CN" sz="2000" kern="100" dirty="0">
                <a:solidFill>
                  <a:srgbClr val="1F4E79"/>
                </a:solidFill>
                <a:latin typeface="等线" panose="02010600030101010101" charset="-122"/>
                <a:cs typeface="Times New Roman" panose="02020603050405020304" pitchFamily="18" charset="0"/>
              </a:rPr>
              <a:t>include/</a:t>
            </a:r>
            <a:r>
              <a:rPr lang="en-US" altLang="zh-CN" sz="2000" kern="100" dirty="0" err="1">
                <a:solidFill>
                  <a:srgbClr val="1F4E79"/>
                </a:solidFill>
                <a:latin typeface="等线" panose="02010600030101010101" charset="-122"/>
                <a:cs typeface="Times New Roman" panose="02020603050405020304" pitchFamily="18" charset="0"/>
              </a:rPr>
              <a:t>config.h</a:t>
            </a:r>
            <a:r>
              <a:rPr lang="zh-CN" altLang="zh-CN" sz="2000" kern="100" dirty="0">
                <a:latin typeface="等线" panose="02010600030101010101" charset="-122"/>
                <a:cs typeface="Times New Roman" panose="02020603050405020304" pitchFamily="18" charset="0"/>
              </a:rPr>
              <a:t>中定义宏</a:t>
            </a:r>
            <a:r>
              <a:rPr lang="en-US" altLang="zh-CN" sz="2000" kern="100" dirty="0">
                <a:solidFill>
                  <a:srgbClr val="1F4E79"/>
                </a:solidFill>
                <a:latin typeface="等线" panose="02010600030101010101" charset="-122"/>
                <a:cs typeface="Times New Roman" panose="02020603050405020304" pitchFamily="18" charset="0"/>
              </a:rPr>
              <a:t>HAS_DEVICE_SERIAL</a:t>
            </a:r>
            <a:r>
              <a:rPr lang="zh-CN" altLang="zh-CN" sz="2000" kern="100" dirty="0">
                <a:latin typeface="等线" panose="02010600030101010101" charset="-122"/>
                <a:cs typeface="Times New Roman" panose="02020603050405020304" pitchFamily="18" charset="0"/>
              </a:rPr>
              <a:t>并</a:t>
            </a:r>
            <a:r>
              <a:rPr lang="en-US" altLang="zh-CN" sz="2000" kern="100" dirty="0">
                <a:solidFill>
                  <a:srgbClr val="1F4E79"/>
                </a:solidFill>
                <a:latin typeface="等线" panose="02010600030101010101" charset="-122"/>
                <a:cs typeface="Times New Roman" panose="02020603050405020304" pitchFamily="18" charset="0"/>
              </a:rPr>
              <a:t>make clean</a:t>
            </a:r>
            <a:r>
              <a:rPr lang="zh-CN" altLang="zh-CN" sz="2000" kern="100" dirty="0">
                <a:latin typeface="等线" panose="02010600030101010101" charset="-122"/>
                <a:cs typeface="Times New Roman" panose="02020603050405020304" pitchFamily="18" charset="0"/>
              </a:rPr>
              <a:t>；</a:t>
            </a:r>
          </a:p>
          <a:p>
            <a:pPr marL="342900" indent="-342900" algn="just">
              <a:spcBef>
                <a:spcPts val="600"/>
              </a:spcBef>
              <a:buFont typeface="+mj-lt"/>
              <a:buAutoNum type="arabicPeriod"/>
            </a:pPr>
            <a:r>
              <a:rPr lang="zh-CN" altLang="zh-CN" sz="2000" kern="100" dirty="0">
                <a:latin typeface="等线" panose="02010600030101010101" charset="-122"/>
                <a:cs typeface="Times New Roman" panose="02020603050405020304" pitchFamily="18" charset="0"/>
              </a:rPr>
              <a:t>实现</a:t>
            </a:r>
            <a:r>
              <a:rPr lang="en-US" altLang="zh-CN" sz="2000" kern="100" dirty="0">
                <a:solidFill>
                  <a:srgbClr val="1F4E79"/>
                </a:solidFill>
                <a:latin typeface="等线" panose="02010600030101010101" charset="-122"/>
                <a:cs typeface="Times New Roman" panose="02020603050405020304" pitchFamily="18" charset="0"/>
              </a:rPr>
              <a:t>in</a:t>
            </a:r>
            <a:r>
              <a:rPr lang="zh-CN" altLang="zh-CN" sz="2000" kern="100" dirty="0">
                <a:latin typeface="等线" panose="02010600030101010101" charset="-122"/>
                <a:cs typeface="Times New Roman" panose="02020603050405020304" pitchFamily="18" charset="0"/>
              </a:rPr>
              <a:t>和</a:t>
            </a:r>
            <a:r>
              <a:rPr lang="en-US" altLang="zh-CN" sz="2000" kern="100" dirty="0">
                <a:solidFill>
                  <a:srgbClr val="1F4E79"/>
                </a:solidFill>
                <a:latin typeface="等线" panose="02010600030101010101" charset="-122"/>
                <a:cs typeface="Times New Roman" panose="02020603050405020304" pitchFamily="18" charset="0"/>
              </a:rPr>
              <a:t>out</a:t>
            </a:r>
            <a:r>
              <a:rPr lang="zh-CN" altLang="zh-CN" sz="2000" kern="100" dirty="0">
                <a:latin typeface="等线" panose="02010600030101010101" charset="-122"/>
                <a:cs typeface="Times New Roman" panose="02020603050405020304" pitchFamily="18" charset="0"/>
              </a:rPr>
              <a:t>指令；</a:t>
            </a:r>
          </a:p>
          <a:p>
            <a:pPr marL="342900" indent="-342900" algn="just">
              <a:spcBef>
                <a:spcPts val="600"/>
              </a:spcBef>
              <a:buFont typeface="+mj-lt"/>
              <a:buAutoNum type="arabicPeriod"/>
            </a:pPr>
            <a:r>
              <a:rPr lang="zh-CN" altLang="zh-CN" sz="2000" kern="100" dirty="0">
                <a:latin typeface="等线" panose="02010600030101010101" charset="-122"/>
                <a:cs typeface="Times New Roman" panose="02020603050405020304" pitchFamily="18" charset="0"/>
              </a:rPr>
              <a:t>实现</a:t>
            </a:r>
            <a:r>
              <a:rPr lang="en-US" altLang="zh-CN" sz="2000" kern="100" dirty="0" err="1">
                <a:solidFill>
                  <a:srgbClr val="1F4E79"/>
                </a:solidFill>
                <a:latin typeface="等线" panose="02010600030101010101" charset="-122"/>
                <a:cs typeface="Times New Roman" panose="02020603050405020304" pitchFamily="18" charset="0"/>
              </a:rPr>
              <a:t>serial_printc</a:t>
            </a:r>
            <a:r>
              <a:rPr lang="en-US" altLang="zh-CN" sz="2000" kern="100" dirty="0">
                <a:solidFill>
                  <a:srgbClr val="1F4E79"/>
                </a:solidFill>
                <a:latin typeface="等线" panose="02010600030101010101" charset="-122"/>
                <a:cs typeface="Times New Roman" panose="02020603050405020304" pitchFamily="18" charset="0"/>
              </a:rPr>
              <a:t>()</a:t>
            </a:r>
            <a:r>
              <a:rPr lang="zh-CN" altLang="zh-CN" sz="2000" kern="100" dirty="0">
                <a:latin typeface="等线" panose="02010600030101010101" charset="-122"/>
                <a:cs typeface="Times New Roman" panose="02020603050405020304" pitchFamily="18" charset="0"/>
              </a:rPr>
              <a:t>函数；</a:t>
            </a:r>
          </a:p>
          <a:p>
            <a:pPr marL="342900" indent="-342900" algn="just">
              <a:spcBef>
                <a:spcPts val="600"/>
              </a:spcBef>
              <a:buFont typeface="+mj-lt"/>
              <a:buAutoNum type="arabicPeriod"/>
            </a:pPr>
            <a:r>
              <a:rPr lang="zh-CN" altLang="zh-CN" sz="2000" kern="100" dirty="0">
                <a:latin typeface="等线" panose="02010600030101010101" charset="-122"/>
                <a:cs typeface="Times New Roman" panose="02020603050405020304" pitchFamily="18" charset="0"/>
              </a:rPr>
              <a:t>运行</a:t>
            </a:r>
            <a:r>
              <a:rPr lang="en-US" altLang="zh-CN" sz="2000" kern="100" dirty="0">
                <a:solidFill>
                  <a:srgbClr val="1F4E79"/>
                </a:solidFill>
                <a:latin typeface="等线" panose="02010600030101010101" charset="-122"/>
                <a:cs typeface="Times New Roman" panose="02020603050405020304" pitchFamily="18" charset="0"/>
              </a:rPr>
              <a:t>hello-inline</a:t>
            </a:r>
            <a:r>
              <a:rPr lang="zh-CN" altLang="zh-CN" sz="2000" kern="100" dirty="0">
                <a:latin typeface="等线" panose="02010600030101010101" charset="-122"/>
                <a:cs typeface="Times New Roman" panose="02020603050405020304" pitchFamily="18" charset="0"/>
              </a:rPr>
              <a:t>测试用例，对比实现串口前后的输出内容的区别。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16762" y="281900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任务</a:t>
            </a:r>
          </a:p>
        </p:txBody>
      </p:sp>
      <p:cxnSp>
        <p:nvCxnSpPr>
          <p:cNvPr id="11" name="直接箭头连接符 10"/>
          <p:cNvCxnSpPr>
            <a:stCxn id="5" idx="2"/>
          </p:cNvCxnSpPr>
          <p:nvPr/>
        </p:nvCxnSpPr>
        <p:spPr>
          <a:xfrm>
            <a:off x="939927" y="3188338"/>
            <a:ext cx="90382" cy="356674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D352D-7D87-4419-BDFC-B4811534EDBC}" type="datetime1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7725B-6B6E-48AF-B2E8-4D27612ECBB4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2686460" y="1731080"/>
            <a:ext cx="7392118" cy="153888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zh-CN" sz="2800" kern="100" dirty="0">
                <a:latin typeface="Consolas" panose="020B0609020204030204" pitchFamily="49" charset="0"/>
                <a:cs typeface="Times New Roman" panose="02020603050405020304" pitchFamily="18" charset="0"/>
              </a:rPr>
              <a:t>执行</a:t>
            </a:r>
            <a:r>
              <a:rPr lang="en-US" altLang="zh-CN" sz="2800" kern="100" dirty="0">
                <a:solidFill>
                  <a:srgbClr val="1F4E79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hello-inline</a:t>
            </a:r>
            <a:r>
              <a:rPr lang="zh-CN" altLang="zh-CN" sz="2800" kern="100" dirty="0">
                <a:latin typeface="Consolas" panose="020B0609020204030204" pitchFamily="49" charset="0"/>
                <a:cs typeface="Times New Roman" panose="02020603050405020304" pitchFamily="18" charset="0"/>
              </a:rPr>
              <a:t>测试用例并看到屏幕输出</a:t>
            </a:r>
            <a:endParaRPr lang="en-US" altLang="zh-CN" sz="2800" kern="100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 algn="ctr">
              <a:spcBef>
                <a:spcPts val="600"/>
              </a:spcBef>
            </a:pPr>
            <a:endParaRPr lang="en-US" altLang="zh-CN" sz="2800" kern="100" dirty="0">
              <a:solidFill>
                <a:srgbClr val="FF0000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 algn="ctr">
              <a:spcBef>
                <a:spcPts val="600"/>
              </a:spcBef>
            </a:pPr>
            <a:r>
              <a:rPr lang="en-US" altLang="zh-CN" sz="2800" kern="100" dirty="0" err="1">
                <a:solidFill>
                  <a:srgbClr val="FF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nemu</a:t>
            </a:r>
            <a:r>
              <a:rPr lang="en-US" altLang="zh-CN" sz="2800" kern="100" dirty="0">
                <a:solidFill>
                  <a:srgbClr val="FF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trap output:</a:t>
            </a:r>
            <a:r>
              <a:rPr lang="en-US" altLang="zh-CN" sz="2800" kern="100" dirty="0">
                <a:latin typeface="Consolas" panose="020B0609020204030204" pitchFamily="49" charset="0"/>
                <a:cs typeface="Times New Roman" panose="02020603050405020304" pitchFamily="18" charset="0"/>
              </a:rPr>
              <a:t> Hello, world!</a:t>
            </a:r>
            <a:endParaRPr lang="zh-CN" altLang="zh-CN" sz="2800" kern="100" dirty="0"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外设与</a:t>
            </a:r>
            <a:r>
              <a:rPr lang="en-US" altLang="zh-CN" dirty="0"/>
              <a:t>I/O</a:t>
            </a:r>
            <a:endParaRPr lang="zh-CN" altLang="en-US" dirty="0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2152650" y="1182255"/>
            <a:ext cx="8712200" cy="5080696"/>
          </a:xfrm>
        </p:spPr>
        <p:txBody>
          <a:bodyPr/>
          <a:lstStyle/>
          <a:p>
            <a:r>
              <a:rPr lang="en-US" altLang="zh-CN" dirty="0"/>
              <a:t>CPU</a:t>
            </a:r>
            <a:r>
              <a:rPr lang="zh-CN" altLang="en-US" dirty="0"/>
              <a:t>如何向外设进行输入输出？</a:t>
            </a:r>
            <a:endParaRPr lang="en-US" altLang="zh-CN" dirty="0"/>
          </a:p>
          <a:p>
            <a:pPr lvl="1"/>
            <a:r>
              <a:rPr lang="zh-CN" altLang="en-US" dirty="0"/>
              <a:t>方式</a:t>
            </a:r>
            <a:r>
              <a:rPr lang="en-US" altLang="zh-CN" dirty="0"/>
              <a:t>1</a:t>
            </a:r>
            <a:r>
              <a:rPr lang="zh-CN" altLang="en-US" dirty="0"/>
              <a:t>：端口映射</a:t>
            </a:r>
            <a:r>
              <a:rPr lang="en-US" altLang="zh-CN" dirty="0"/>
              <a:t>I/O(port-mapped I/O)</a:t>
            </a:r>
          </a:p>
          <a:p>
            <a:pPr lvl="1"/>
            <a:r>
              <a:rPr lang="en-US" altLang="zh-CN" dirty="0"/>
              <a:t>NEMU</a:t>
            </a:r>
            <a:r>
              <a:rPr lang="zh-CN" altLang="en-US" dirty="0"/>
              <a:t>中典型的端口映射</a:t>
            </a:r>
            <a:r>
              <a:rPr lang="en-US" altLang="zh-CN" dirty="0"/>
              <a:t>I/O</a:t>
            </a:r>
            <a:r>
              <a:rPr lang="zh-CN" altLang="en-US" dirty="0"/>
              <a:t>设备</a:t>
            </a:r>
            <a:endParaRPr lang="en-US" altLang="zh-CN" dirty="0"/>
          </a:p>
          <a:p>
            <a:pPr lvl="2"/>
            <a:r>
              <a:rPr lang="zh-CN" altLang="en-US" dirty="0"/>
              <a:t>硬盘（</a:t>
            </a:r>
            <a:r>
              <a:rPr lang="en-US" altLang="zh-CN" dirty="0"/>
              <a:t>IDE</a:t>
            </a:r>
            <a:r>
              <a:rPr lang="zh-CN" altLang="en-US" dirty="0"/>
              <a:t>）</a:t>
            </a:r>
            <a:endParaRPr lang="en-US" altLang="zh-CN" dirty="0"/>
          </a:p>
          <a:p>
            <a:pPr lvl="3"/>
            <a:r>
              <a:rPr lang="zh-CN" altLang="en-US" dirty="0"/>
              <a:t>端口映射：</a:t>
            </a:r>
            <a:r>
              <a:rPr lang="en-US" altLang="zh-CN" dirty="0" err="1">
                <a:solidFill>
                  <a:srgbClr val="0070C0"/>
                </a:solidFill>
              </a:rPr>
              <a:t>nemu</a:t>
            </a:r>
            <a:r>
              <a:rPr lang="en-US" altLang="zh-CN" dirty="0">
                <a:solidFill>
                  <a:srgbClr val="0070C0"/>
                </a:solidFill>
              </a:rPr>
              <a:t>/</a:t>
            </a:r>
            <a:r>
              <a:rPr lang="en-US" altLang="zh-CN" dirty="0" err="1">
                <a:solidFill>
                  <a:srgbClr val="0070C0"/>
                </a:solidFill>
              </a:rPr>
              <a:t>src</a:t>
            </a:r>
            <a:r>
              <a:rPr lang="en-US" altLang="zh-CN" dirty="0">
                <a:solidFill>
                  <a:srgbClr val="0070C0"/>
                </a:solidFill>
              </a:rPr>
              <a:t>/device/</a:t>
            </a:r>
            <a:r>
              <a:rPr lang="en-US" altLang="zh-CN" dirty="0" err="1">
                <a:solidFill>
                  <a:srgbClr val="0070C0"/>
                </a:solidFill>
              </a:rPr>
              <a:t>io</a:t>
            </a:r>
            <a:r>
              <a:rPr lang="en-US" altLang="zh-CN" dirty="0">
                <a:solidFill>
                  <a:srgbClr val="0070C0"/>
                </a:solidFill>
              </a:rPr>
              <a:t>/</a:t>
            </a:r>
            <a:r>
              <a:rPr lang="en-US" altLang="zh-CN" dirty="0" err="1">
                <a:solidFill>
                  <a:srgbClr val="0070C0"/>
                </a:solidFill>
              </a:rPr>
              <a:t>port_io.c</a:t>
            </a:r>
            <a:endParaRPr lang="en-US" altLang="zh-CN" dirty="0">
              <a:solidFill>
                <a:srgbClr val="0070C0"/>
              </a:solidFill>
            </a:endParaRPr>
          </a:p>
          <a:p>
            <a:pPr marL="1371600" lvl="3" indent="0">
              <a:buNone/>
            </a:pPr>
            <a:r>
              <a:rPr lang="en-US" altLang="zh-CN" dirty="0"/>
              <a:t>		</a:t>
            </a:r>
          </a:p>
          <a:p>
            <a:pPr marL="1371600" lvl="3" indent="0">
              <a:buNone/>
            </a:pPr>
            <a:endParaRPr lang="en-US" altLang="zh-CN" dirty="0"/>
          </a:p>
          <a:p>
            <a:pPr lvl="3"/>
            <a:r>
              <a:rPr lang="zh-CN" altLang="en-US" dirty="0"/>
              <a:t>设备模拟：</a:t>
            </a:r>
            <a:r>
              <a:rPr lang="en-US" altLang="zh-CN" dirty="0" err="1">
                <a:solidFill>
                  <a:srgbClr val="0070C0"/>
                </a:solidFill>
              </a:rPr>
              <a:t>nemu</a:t>
            </a:r>
            <a:r>
              <a:rPr lang="en-US" altLang="zh-CN" dirty="0">
                <a:solidFill>
                  <a:srgbClr val="0070C0"/>
                </a:solidFill>
              </a:rPr>
              <a:t>/</a:t>
            </a:r>
            <a:r>
              <a:rPr lang="en-US" altLang="zh-CN" dirty="0" err="1">
                <a:solidFill>
                  <a:srgbClr val="0070C0"/>
                </a:solidFill>
              </a:rPr>
              <a:t>src</a:t>
            </a:r>
            <a:r>
              <a:rPr lang="en-US" altLang="zh-CN" dirty="0">
                <a:solidFill>
                  <a:srgbClr val="0070C0"/>
                </a:solidFill>
              </a:rPr>
              <a:t>/device/dev/</a:t>
            </a:r>
            <a:r>
              <a:rPr lang="en-US" altLang="zh-CN" dirty="0" err="1">
                <a:solidFill>
                  <a:srgbClr val="0070C0"/>
                </a:solidFill>
              </a:rPr>
              <a:t>ide.c</a:t>
            </a:r>
            <a:endParaRPr lang="en-US" altLang="zh-CN" dirty="0">
              <a:solidFill>
                <a:srgbClr val="0070C0"/>
              </a:solidFill>
            </a:endParaRPr>
          </a:p>
          <a:p>
            <a:pPr marL="1371600" lvl="3" indent="0">
              <a:buNone/>
            </a:pPr>
            <a:r>
              <a:rPr lang="en-US" altLang="zh-CN" dirty="0"/>
              <a:t>		</a:t>
            </a:r>
          </a:p>
          <a:p>
            <a:pPr marL="1371600" lvl="3" indent="0">
              <a:buNone/>
            </a:pPr>
            <a:endParaRPr lang="en-US" altLang="zh-CN" dirty="0">
              <a:solidFill>
                <a:srgbClr val="00B050"/>
              </a:solidFill>
            </a:endParaRPr>
          </a:p>
          <a:p>
            <a:pPr lvl="3"/>
            <a:r>
              <a:rPr lang="zh-CN" altLang="en-US" dirty="0"/>
              <a:t>驱动程序：</a:t>
            </a:r>
            <a:r>
              <a:rPr lang="en-US" altLang="zh-CN" dirty="0">
                <a:solidFill>
                  <a:srgbClr val="0070C0"/>
                </a:solidFill>
              </a:rPr>
              <a:t>kernel/</a:t>
            </a:r>
            <a:r>
              <a:rPr lang="en-US" altLang="zh-CN" dirty="0" err="1">
                <a:solidFill>
                  <a:srgbClr val="0070C0"/>
                </a:solidFill>
              </a:rPr>
              <a:t>src</a:t>
            </a:r>
            <a:r>
              <a:rPr lang="en-US" altLang="zh-CN" dirty="0">
                <a:solidFill>
                  <a:srgbClr val="0070C0"/>
                </a:solidFill>
              </a:rPr>
              <a:t>/driver/</a:t>
            </a:r>
            <a:r>
              <a:rPr lang="en-US" altLang="zh-CN" dirty="0" err="1">
                <a:solidFill>
                  <a:srgbClr val="0070C0"/>
                </a:solidFill>
              </a:rPr>
              <a:t>disk.c</a:t>
            </a:r>
            <a:r>
              <a:rPr lang="en-US" altLang="zh-CN" dirty="0"/>
              <a:t>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en-US" dirty="0">
                <a:solidFill>
                  <a:srgbClr val="00B050"/>
                </a:solidFill>
              </a:rPr>
              <a:t>底层驱动</a:t>
            </a:r>
            <a:endParaRPr lang="en-US" altLang="zh-CN" dirty="0">
              <a:solidFill>
                <a:srgbClr val="00B050"/>
              </a:solidFill>
            </a:endParaRPr>
          </a:p>
          <a:p>
            <a:pPr marL="1371600" lvl="3" indent="0">
              <a:buNone/>
            </a:pPr>
            <a:r>
              <a:rPr lang="en-US" altLang="zh-CN" dirty="0">
                <a:solidFill>
                  <a:srgbClr val="00B050"/>
                </a:solidFill>
              </a:rPr>
              <a:t>		</a:t>
            </a:r>
            <a:r>
              <a:rPr lang="en-US" altLang="zh-CN" dirty="0">
                <a:solidFill>
                  <a:srgbClr val="0070C0"/>
                </a:solidFill>
              </a:rPr>
              <a:t>kernel/</a:t>
            </a:r>
            <a:r>
              <a:rPr lang="en-US" altLang="zh-CN" dirty="0" err="1">
                <a:solidFill>
                  <a:srgbClr val="0070C0"/>
                </a:solidFill>
              </a:rPr>
              <a:t>src</a:t>
            </a:r>
            <a:r>
              <a:rPr lang="en-US" altLang="zh-CN" dirty="0">
                <a:solidFill>
                  <a:srgbClr val="0070C0"/>
                </a:solidFill>
              </a:rPr>
              <a:t>/driver/</a:t>
            </a:r>
            <a:r>
              <a:rPr lang="en-US" altLang="zh-CN" dirty="0" err="1">
                <a:solidFill>
                  <a:srgbClr val="0070C0"/>
                </a:solidFill>
              </a:rPr>
              <a:t>ide.c</a:t>
            </a:r>
            <a:r>
              <a:rPr lang="en-US" altLang="zh-CN" dirty="0"/>
              <a:t>   </a:t>
            </a:r>
            <a:r>
              <a:rPr lang="en-US" altLang="zh-CN" dirty="0">
                <a:solidFill>
                  <a:srgbClr val="00B050"/>
                </a:solidFill>
              </a:rPr>
              <a:t>  // </a:t>
            </a:r>
            <a:r>
              <a:rPr lang="zh-CN" altLang="en-US" dirty="0">
                <a:solidFill>
                  <a:srgbClr val="00B050"/>
                </a:solidFill>
              </a:rPr>
              <a:t>上层磁盘读写接口</a:t>
            </a:r>
            <a:endParaRPr lang="en-US" altLang="zh-CN" dirty="0">
              <a:solidFill>
                <a:srgbClr val="00B050"/>
              </a:solidFill>
            </a:endParaRPr>
          </a:p>
          <a:p>
            <a:pPr marL="1371600" lvl="3" indent="0">
              <a:buNone/>
            </a:pP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4903603" y="4135109"/>
            <a:ext cx="5598977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dirty="0" err="1"/>
              <a:t>make_pio_handler</a:t>
            </a:r>
            <a:r>
              <a:rPr lang="en-US" altLang="zh-CN" dirty="0"/>
              <a:t>(</a:t>
            </a:r>
            <a:r>
              <a:rPr lang="en-US" altLang="zh-CN" dirty="0" err="1">
                <a:solidFill>
                  <a:srgbClr val="7030A0"/>
                </a:solidFill>
              </a:rPr>
              <a:t>handler_ide</a:t>
            </a:r>
            <a:r>
              <a:rPr lang="en-US" altLang="zh-CN" dirty="0"/>
              <a:t>) {…}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en-US" dirty="0">
                <a:solidFill>
                  <a:srgbClr val="00B050"/>
                </a:solidFill>
              </a:rPr>
              <a:t>响应端口读写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4903603" y="3148611"/>
            <a:ext cx="5598977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dirty="0"/>
              <a:t>{</a:t>
            </a:r>
            <a:r>
              <a:rPr lang="en-US" altLang="zh-CN" dirty="0">
                <a:solidFill>
                  <a:srgbClr val="C00000"/>
                </a:solidFill>
              </a:rPr>
              <a:t>IDE_PORT_BASE + [0-7], </a:t>
            </a:r>
            <a:r>
              <a:rPr lang="en-US" altLang="zh-CN" dirty="0" err="1">
                <a:solidFill>
                  <a:srgbClr val="7030A0"/>
                </a:solidFill>
              </a:rPr>
              <a:t>handler_ide</a:t>
            </a:r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4903603" y="5401590"/>
            <a:ext cx="5598977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void ide_read(uint8_t *buf, uint32_t offset, uint32_t len)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void </a:t>
            </a:r>
            <a:r>
              <a:rPr lang="en-US" altLang="zh-CN" dirty="0" err="1"/>
              <a:t>ide_write</a:t>
            </a:r>
            <a:r>
              <a:rPr lang="en-US" altLang="zh-CN" dirty="0"/>
              <a:t>(uint8_t *</a:t>
            </a:r>
            <a:r>
              <a:rPr lang="en-US" altLang="zh-CN" dirty="0" err="1"/>
              <a:t>buf</a:t>
            </a:r>
            <a:r>
              <a:rPr lang="en-US" altLang="zh-CN" dirty="0"/>
              <a:t>, uint32_t offset, uint32_t </a:t>
            </a:r>
            <a:r>
              <a:rPr lang="en-US" altLang="zh-CN" dirty="0" err="1"/>
              <a:t>len</a:t>
            </a:r>
            <a:r>
              <a:rPr lang="en-US" altLang="zh-CN" dirty="0"/>
              <a:t>);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55495-9ACA-4B88-9135-CD26ADB23C44}" type="datetime1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7725B-6B6E-48AF-B2E8-4D27612ECBB4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0568940" y="614172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看代码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外设与</a:t>
            </a:r>
            <a:r>
              <a:rPr lang="en-US" altLang="zh-CN" dirty="0"/>
              <a:t>I/O</a:t>
            </a:r>
            <a:endParaRPr lang="zh-CN" altLang="en-US" dirty="0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3645548" y="298957"/>
            <a:ext cx="9213850" cy="5080696"/>
          </a:xfrm>
        </p:spPr>
        <p:txBody>
          <a:bodyPr/>
          <a:lstStyle/>
          <a:p>
            <a:r>
              <a:rPr lang="en-US" altLang="zh-CN" dirty="0"/>
              <a:t>CPU</a:t>
            </a:r>
            <a:r>
              <a:rPr lang="zh-CN" altLang="en-US" dirty="0"/>
              <a:t>如何向外设进行输入输出？</a:t>
            </a:r>
            <a:endParaRPr lang="en-US" altLang="zh-CN" dirty="0"/>
          </a:p>
          <a:p>
            <a:pPr lvl="1"/>
            <a:r>
              <a:rPr lang="zh-CN" altLang="en-US" dirty="0"/>
              <a:t>方式</a:t>
            </a:r>
            <a:r>
              <a:rPr lang="en-US" altLang="zh-CN" dirty="0"/>
              <a:t>1</a:t>
            </a:r>
            <a:r>
              <a:rPr lang="zh-CN" altLang="en-US" dirty="0"/>
              <a:t>：端口映射</a:t>
            </a:r>
            <a:r>
              <a:rPr lang="en-US" altLang="zh-CN" dirty="0"/>
              <a:t>I/O(port-mapped I/O)</a:t>
            </a:r>
          </a:p>
          <a:p>
            <a:pPr lvl="1"/>
            <a:r>
              <a:rPr lang="en-US" altLang="zh-CN" dirty="0"/>
              <a:t>NEMU</a:t>
            </a:r>
            <a:r>
              <a:rPr lang="zh-CN" altLang="en-US" dirty="0"/>
              <a:t>中典型的端口映射</a:t>
            </a:r>
            <a:r>
              <a:rPr lang="en-US" altLang="zh-CN" dirty="0"/>
              <a:t>I/O</a:t>
            </a:r>
            <a:r>
              <a:rPr lang="zh-CN" altLang="en-US" dirty="0"/>
              <a:t>设备</a:t>
            </a:r>
            <a:endParaRPr lang="en-US" altLang="zh-CN" dirty="0"/>
          </a:p>
          <a:p>
            <a:pPr lvl="2"/>
            <a:r>
              <a:rPr lang="zh-CN" altLang="en-US" dirty="0"/>
              <a:t>硬盘（</a:t>
            </a:r>
            <a:r>
              <a:rPr lang="en-US" altLang="zh-CN" dirty="0"/>
              <a:t>IDE</a:t>
            </a:r>
            <a:r>
              <a:rPr lang="zh-CN" altLang="en-US" dirty="0"/>
              <a:t>）</a:t>
            </a:r>
            <a:endParaRPr lang="en-US" altLang="zh-CN" dirty="0"/>
          </a:p>
          <a:p>
            <a:pPr lvl="3"/>
            <a:r>
              <a:rPr lang="zh-CN" altLang="en-US" dirty="0"/>
              <a:t>端口映射：</a:t>
            </a:r>
            <a:r>
              <a:rPr lang="en-US" altLang="zh-CN" dirty="0" err="1">
                <a:solidFill>
                  <a:srgbClr val="0070C0"/>
                </a:solidFill>
              </a:rPr>
              <a:t>nemu</a:t>
            </a:r>
            <a:r>
              <a:rPr lang="en-US" altLang="zh-CN" dirty="0">
                <a:solidFill>
                  <a:srgbClr val="0070C0"/>
                </a:solidFill>
              </a:rPr>
              <a:t>/</a:t>
            </a:r>
            <a:r>
              <a:rPr lang="en-US" altLang="zh-CN" dirty="0" err="1">
                <a:solidFill>
                  <a:srgbClr val="0070C0"/>
                </a:solidFill>
              </a:rPr>
              <a:t>src</a:t>
            </a:r>
            <a:r>
              <a:rPr lang="en-US" altLang="zh-CN" dirty="0">
                <a:solidFill>
                  <a:srgbClr val="0070C0"/>
                </a:solidFill>
              </a:rPr>
              <a:t>/device/</a:t>
            </a:r>
            <a:r>
              <a:rPr lang="en-US" altLang="zh-CN" dirty="0" err="1">
                <a:solidFill>
                  <a:srgbClr val="0070C0"/>
                </a:solidFill>
              </a:rPr>
              <a:t>io</a:t>
            </a:r>
            <a:r>
              <a:rPr lang="en-US" altLang="zh-CN" dirty="0">
                <a:solidFill>
                  <a:srgbClr val="0070C0"/>
                </a:solidFill>
              </a:rPr>
              <a:t>/</a:t>
            </a:r>
            <a:r>
              <a:rPr lang="en-US" altLang="zh-CN" dirty="0" err="1">
                <a:solidFill>
                  <a:srgbClr val="0070C0"/>
                </a:solidFill>
              </a:rPr>
              <a:t>port_io.c</a:t>
            </a:r>
            <a:endParaRPr lang="en-US" altLang="zh-CN" dirty="0">
              <a:solidFill>
                <a:srgbClr val="0070C0"/>
              </a:solidFill>
            </a:endParaRPr>
          </a:p>
          <a:p>
            <a:pPr marL="1371600" lvl="3" indent="0">
              <a:buNone/>
            </a:pPr>
            <a:r>
              <a:rPr lang="en-US" altLang="zh-CN" dirty="0"/>
              <a:t>		</a:t>
            </a:r>
          </a:p>
          <a:p>
            <a:pPr marL="1371600" lvl="3" indent="0">
              <a:buNone/>
            </a:pPr>
            <a:endParaRPr lang="en-US" altLang="zh-CN" dirty="0"/>
          </a:p>
          <a:p>
            <a:pPr lvl="3"/>
            <a:r>
              <a:rPr lang="zh-CN" altLang="en-US" dirty="0"/>
              <a:t>设备模拟：</a:t>
            </a:r>
            <a:r>
              <a:rPr lang="en-US" altLang="zh-CN" dirty="0" err="1">
                <a:solidFill>
                  <a:srgbClr val="0070C0"/>
                </a:solidFill>
              </a:rPr>
              <a:t>nemu</a:t>
            </a:r>
            <a:r>
              <a:rPr lang="en-US" altLang="zh-CN" dirty="0">
                <a:solidFill>
                  <a:srgbClr val="0070C0"/>
                </a:solidFill>
              </a:rPr>
              <a:t>/</a:t>
            </a:r>
            <a:r>
              <a:rPr lang="en-US" altLang="zh-CN" dirty="0" err="1">
                <a:solidFill>
                  <a:srgbClr val="0070C0"/>
                </a:solidFill>
              </a:rPr>
              <a:t>src</a:t>
            </a:r>
            <a:r>
              <a:rPr lang="en-US" altLang="zh-CN" dirty="0">
                <a:solidFill>
                  <a:srgbClr val="0070C0"/>
                </a:solidFill>
              </a:rPr>
              <a:t>/device/dev/</a:t>
            </a:r>
            <a:r>
              <a:rPr lang="en-US" altLang="zh-CN" dirty="0" err="1">
                <a:solidFill>
                  <a:srgbClr val="0070C0"/>
                </a:solidFill>
              </a:rPr>
              <a:t>ide.c</a:t>
            </a:r>
            <a:endParaRPr lang="en-US" altLang="zh-CN" dirty="0">
              <a:solidFill>
                <a:srgbClr val="0070C0"/>
              </a:solidFill>
            </a:endParaRPr>
          </a:p>
          <a:p>
            <a:pPr marL="1371600" lvl="3" indent="0">
              <a:buNone/>
            </a:pPr>
            <a:r>
              <a:rPr lang="en-US" altLang="zh-CN" dirty="0"/>
              <a:t>		</a:t>
            </a:r>
          </a:p>
          <a:p>
            <a:pPr marL="1371600" lvl="3" indent="0">
              <a:buNone/>
            </a:pPr>
            <a:endParaRPr lang="en-US" altLang="zh-CN" dirty="0">
              <a:solidFill>
                <a:srgbClr val="00B050"/>
              </a:solidFill>
            </a:endParaRPr>
          </a:p>
          <a:p>
            <a:pPr lvl="3"/>
            <a:r>
              <a:rPr lang="zh-CN" altLang="en-US" dirty="0"/>
              <a:t>驱动程序：</a:t>
            </a:r>
            <a:r>
              <a:rPr lang="en-US" altLang="zh-CN" dirty="0">
                <a:solidFill>
                  <a:srgbClr val="0070C0"/>
                </a:solidFill>
              </a:rPr>
              <a:t>kernel/</a:t>
            </a:r>
            <a:r>
              <a:rPr lang="en-US" altLang="zh-CN" dirty="0" err="1">
                <a:solidFill>
                  <a:srgbClr val="0070C0"/>
                </a:solidFill>
              </a:rPr>
              <a:t>src</a:t>
            </a:r>
            <a:r>
              <a:rPr lang="en-US" altLang="zh-CN" dirty="0">
                <a:solidFill>
                  <a:srgbClr val="0070C0"/>
                </a:solidFill>
              </a:rPr>
              <a:t>/driver/</a:t>
            </a:r>
            <a:r>
              <a:rPr lang="en-US" altLang="zh-CN" dirty="0" err="1">
                <a:solidFill>
                  <a:srgbClr val="0070C0"/>
                </a:solidFill>
              </a:rPr>
              <a:t>disk.c</a:t>
            </a:r>
            <a:r>
              <a:rPr lang="en-US" altLang="zh-CN" dirty="0"/>
              <a:t>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en-US" dirty="0">
                <a:solidFill>
                  <a:srgbClr val="00B050"/>
                </a:solidFill>
              </a:rPr>
              <a:t>底层驱动</a:t>
            </a:r>
            <a:endParaRPr lang="en-US" altLang="zh-CN" dirty="0">
              <a:solidFill>
                <a:srgbClr val="00B050"/>
              </a:solidFill>
            </a:endParaRPr>
          </a:p>
          <a:p>
            <a:pPr marL="1371600" lvl="3" indent="0">
              <a:buNone/>
            </a:pPr>
            <a:r>
              <a:rPr lang="en-US" altLang="zh-CN" dirty="0">
                <a:solidFill>
                  <a:srgbClr val="00B050"/>
                </a:solidFill>
              </a:rPr>
              <a:t>		</a:t>
            </a:r>
            <a:r>
              <a:rPr lang="en-US" altLang="zh-CN" dirty="0">
                <a:solidFill>
                  <a:srgbClr val="0070C0"/>
                </a:solidFill>
              </a:rPr>
              <a:t>kernel/</a:t>
            </a:r>
            <a:r>
              <a:rPr lang="en-US" altLang="zh-CN" dirty="0" err="1">
                <a:solidFill>
                  <a:srgbClr val="0070C0"/>
                </a:solidFill>
              </a:rPr>
              <a:t>src</a:t>
            </a:r>
            <a:r>
              <a:rPr lang="en-US" altLang="zh-CN" dirty="0">
                <a:solidFill>
                  <a:srgbClr val="0070C0"/>
                </a:solidFill>
              </a:rPr>
              <a:t>/driver/</a:t>
            </a:r>
            <a:r>
              <a:rPr lang="en-US" altLang="zh-CN" dirty="0" err="1">
                <a:solidFill>
                  <a:srgbClr val="0070C0"/>
                </a:solidFill>
              </a:rPr>
              <a:t>ide.c</a:t>
            </a:r>
            <a:r>
              <a:rPr lang="en-US" altLang="zh-CN" dirty="0"/>
              <a:t>   </a:t>
            </a:r>
            <a:r>
              <a:rPr lang="en-US" altLang="zh-CN" dirty="0">
                <a:solidFill>
                  <a:srgbClr val="00B050"/>
                </a:solidFill>
              </a:rPr>
              <a:t>  // </a:t>
            </a:r>
            <a:r>
              <a:rPr lang="zh-CN" altLang="en-US" dirty="0">
                <a:solidFill>
                  <a:srgbClr val="00B050"/>
                </a:solidFill>
              </a:rPr>
              <a:t>上层磁盘读写接口</a:t>
            </a:r>
            <a:endParaRPr lang="en-US" altLang="zh-CN" dirty="0">
              <a:solidFill>
                <a:srgbClr val="00B050"/>
              </a:solidFill>
            </a:endParaRPr>
          </a:p>
          <a:p>
            <a:pPr marL="1371600" lvl="3" indent="0">
              <a:buNone/>
            </a:pP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6396501" y="3251811"/>
            <a:ext cx="5598977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dirty="0" err="1"/>
              <a:t>make_pio_handler</a:t>
            </a:r>
            <a:r>
              <a:rPr lang="en-US" altLang="zh-CN" dirty="0"/>
              <a:t>(</a:t>
            </a:r>
            <a:r>
              <a:rPr lang="en-US" altLang="zh-CN" dirty="0" err="1">
                <a:solidFill>
                  <a:srgbClr val="7030A0"/>
                </a:solidFill>
              </a:rPr>
              <a:t>handler_ide</a:t>
            </a:r>
            <a:r>
              <a:rPr lang="en-US" altLang="zh-CN" dirty="0"/>
              <a:t>) {…}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en-US" dirty="0">
                <a:solidFill>
                  <a:srgbClr val="00B050"/>
                </a:solidFill>
              </a:rPr>
              <a:t>响应端口读写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6396501" y="2265313"/>
            <a:ext cx="5598977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dirty="0"/>
              <a:t>{</a:t>
            </a:r>
            <a:r>
              <a:rPr lang="en-US" altLang="zh-CN" dirty="0">
                <a:solidFill>
                  <a:srgbClr val="C00000"/>
                </a:solidFill>
              </a:rPr>
              <a:t>IDE_PORT_BASE + [0-7], </a:t>
            </a:r>
            <a:r>
              <a:rPr lang="en-US" altLang="zh-CN" dirty="0" err="1">
                <a:solidFill>
                  <a:srgbClr val="7030A0"/>
                </a:solidFill>
              </a:rPr>
              <a:t>handler_ide</a:t>
            </a:r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6396501" y="4518292"/>
            <a:ext cx="5598977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void ide_read(uint8_t *buf, uint32_t offset, uint32_t len)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void </a:t>
            </a:r>
            <a:r>
              <a:rPr lang="en-US" altLang="zh-CN" dirty="0" err="1"/>
              <a:t>ide_write</a:t>
            </a:r>
            <a:r>
              <a:rPr lang="en-US" altLang="zh-CN" dirty="0"/>
              <a:t>(uint8_t *</a:t>
            </a:r>
            <a:r>
              <a:rPr lang="en-US" altLang="zh-CN" dirty="0" err="1"/>
              <a:t>buf</a:t>
            </a:r>
            <a:r>
              <a:rPr lang="en-US" altLang="zh-CN" dirty="0"/>
              <a:t>, uint32_t offset, uint32_t </a:t>
            </a:r>
            <a:r>
              <a:rPr lang="en-US" altLang="zh-CN" dirty="0" err="1"/>
              <a:t>len</a:t>
            </a:r>
            <a:r>
              <a:rPr lang="en-US" altLang="zh-CN" dirty="0"/>
              <a:t>);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885505" y="195571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任务</a:t>
            </a:r>
          </a:p>
        </p:txBody>
      </p:sp>
      <p:cxnSp>
        <p:nvCxnSpPr>
          <p:cNvPr id="9" name="直接箭头连接符 8"/>
          <p:cNvCxnSpPr>
            <a:stCxn id="8" idx="2"/>
          </p:cNvCxnSpPr>
          <p:nvPr/>
        </p:nvCxnSpPr>
        <p:spPr>
          <a:xfrm>
            <a:off x="1208670" y="2325046"/>
            <a:ext cx="90382" cy="356674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20572" y="3308936"/>
            <a:ext cx="6103446" cy="2842317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56000"/>
              </a:lnSpc>
              <a:spcBef>
                <a:spcPts val="600"/>
              </a:spcBef>
              <a:spcAft>
                <a:spcPts val="1450"/>
              </a:spcAft>
            </a:pPr>
            <a:r>
              <a:rPr lang="en-US" altLang="zh-CN" sz="2000" b="1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§4-2.3.2 </a:t>
            </a:r>
            <a:r>
              <a:rPr lang="zh-CN" altLang="zh-CN" sz="2000" b="1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通过硬盘加载程序</a:t>
            </a:r>
          </a:p>
          <a:p>
            <a:pPr marL="342900" indent="-342900" algn="just">
              <a:spcBef>
                <a:spcPts val="600"/>
              </a:spcBef>
              <a:buFont typeface="+mj-lt"/>
              <a:buAutoNum type="arabicPeriod"/>
            </a:pPr>
            <a:r>
              <a:rPr lang="zh-CN" altLang="zh-CN" sz="2000" kern="100" dirty="0">
                <a:latin typeface="等线" panose="02010600030101010101" charset="-122"/>
                <a:cs typeface="Times New Roman" panose="02020603050405020304" pitchFamily="18" charset="0"/>
              </a:rPr>
              <a:t>在</a:t>
            </a:r>
            <a:r>
              <a:rPr lang="en-US" altLang="zh-CN" sz="2000" kern="100" dirty="0">
                <a:solidFill>
                  <a:srgbClr val="1F4E79"/>
                </a:solidFill>
                <a:latin typeface="等线" panose="02010600030101010101" charset="-122"/>
                <a:cs typeface="Times New Roman" panose="02020603050405020304" pitchFamily="18" charset="0"/>
              </a:rPr>
              <a:t>include/</a:t>
            </a:r>
            <a:r>
              <a:rPr lang="en-US" altLang="zh-CN" sz="2000" kern="100" dirty="0" err="1">
                <a:solidFill>
                  <a:srgbClr val="1F4E79"/>
                </a:solidFill>
                <a:latin typeface="等线" panose="02010600030101010101" charset="-122"/>
                <a:cs typeface="Times New Roman" panose="02020603050405020304" pitchFamily="18" charset="0"/>
              </a:rPr>
              <a:t>config.h</a:t>
            </a:r>
            <a:r>
              <a:rPr lang="zh-CN" altLang="zh-CN" sz="2000" kern="100" dirty="0">
                <a:latin typeface="等线" panose="02010600030101010101" charset="-122"/>
                <a:cs typeface="Times New Roman" panose="02020603050405020304" pitchFamily="18" charset="0"/>
              </a:rPr>
              <a:t>中定义宏</a:t>
            </a:r>
            <a:r>
              <a:rPr lang="en-US" altLang="zh-CN" sz="2000" kern="100" dirty="0">
                <a:solidFill>
                  <a:srgbClr val="1F4E79"/>
                </a:solidFill>
                <a:latin typeface="等线" panose="02010600030101010101" charset="-122"/>
                <a:cs typeface="Times New Roman" panose="02020603050405020304" pitchFamily="18" charset="0"/>
              </a:rPr>
              <a:t>HAS_DEVICE_IDE</a:t>
            </a:r>
            <a:r>
              <a:rPr lang="zh-CN" altLang="zh-CN" sz="2000" kern="100" dirty="0">
                <a:latin typeface="等线" panose="02010600030101010101" charset="-122"/>
                <a:cs typeface="Times New Roman" panose="02020603050405020304" pitchFamily="18" charset="0"/>
              </a:rPr>
              <a:t>并</a:t>
            </a:r>
            <a:r>
              <a:rPr lang="en-US" altLang="zh-CN" sz="2000" kern="100" dirty="0">
                <a:solidFill>
                  <a:srgbClr val="1F4E79"/>
                </a:solidFill>
                <a:latin typeface="等线" panose="02010600030101010101" charset="-122"/>
                <a:cs typeface="Times New Roman" panose="02020603050405020304" pitchFamily="18" charset="0"/>
              </a:rPr>
              <a:t>make clean</a:t>
            </a:r>
            <a:r>
              <a:rPr lang="zh-CN" altLang="zh-CN" sz="2000" kern="100" dirty="0">
                <a:latin typeface="等线" panose="02010600030101010101" charset="-122"/>
                <a:cs typeface="Times New Roman" panose="02020603050405020304" pitchFamily="18" charset="0"/>
              </a:rPr>
              <a:t>；</a:t>
            </a:r>
          </a:p>
          <a:p>
            <a:pPr marL="342900" indent="-342900" algn="just">
              <a:spcBef>
                <a:spcPts val="600"/>
              </a:spcBef>
              <a:buFont typeface="+mj-lt"/>
              <a:buAutoNum type="arabicPeriod"/>
            </a:pPr>
            <a:r>
              <a:rPr lang="zh-CN" altLang="zh-CN" sz="2000" kern="100" dirty="0">
                <a:latin typeface="等线" panose="02010600030101010101" charset="-122"/>
                <a:cs typeface="Times New Roman" panose="02020603050405020304" pitchFamily="18" charset="0"/>
              </a:rPr>
              <a:t>修改</a:t>
            </a:r>
            <a:r>
              <a:rPr lang="en-US" altLang="zh-CN" sz="2000" kern="100" dirty="0">
                <a:latin typeface="等线" panose="02010600030101010101" charset="-122"/>
                <a:cs typeface="Times New Roman" panose="02020603050405020304" pitchFamily="18" charset="0"/>
              </a:rPr>
              <a:t>Kernel</a:t>
            </a:r>
            <a:r>
              <a:rPr lang="zh-CN" altLang="zh-CN" sz="2000" kern="100" dirty="0">
                <a:latin typeface="等线" panose="02010600030101010101" charset="-122"/>
                <a:cs typeface="Times New Roman" panose="02020603050405020304" pitchFamily="18" charset="0"/>
              </a:rPr>
              <a:t>中的</a:t>
            </a:r>
            <a:r>
              <a:rPr lang="en-US" altLang="zh-CN" sz="2000" kern="100" dirty="0">
                <a:solidFill>
                  <a:srgbClr val="1F4E79"/>
                </a:solidFill>
                <a:latin typeface="等线" panose="02010600030101010101" charset="-122"/>
                <a:cs typeface="Times New Roman" panose="02020603050405020304" pitchFamily="18" charset="0"/>
              </a:rPr>
              <a:t>loader()</a:t>
            </a:r>
            <a:r>
              <a:rPr lang="zh-CN" altLang="zh-CN" sz="2000" kern="100" dirty="0">
                <a:latin typeface="等线" panose="02010600030101010101" charset="-122"/>
                <a:cs typeface="Times New Roman" panose="02020603050405020304" pitchFamily="18" charset="0"/>
              </a:rPr>
              <a:t>，使其通过</a:t>
            </a:r>
            <a:r>
              <a:rPr lang="en-US" altLang="zh-CN" sz="2000" kern="100" dirty="0" err="1">
                <a:solidFill>
                  <a:srgbClr val="1F4E79"/>
                </a:solidFill>
                <a:latin typeface="等线" panose="02010600030101010101" charset="-122"/>
                <a:cs typeface="Times New Roman" panose="02020603050405020304" pitchFamily="18" charset="0"/>
              </a:rPr>
              <a:t>ide_read</a:t>
            </a:r>
            <a:r>
              <a:rPr lang="en-US" altLang="zh-CN" sz="2000" kern="100" dirty="0">
                <a:solidFill>
                  <a:srgbClr val="1F4E79"/>
                </a:solidFill>
                <a:latin typeface="等线" panose="02010600030101010101" charset="-122"/>
                <a:cs typeface="Times New Roman" panose="02020603050405020304" pitchFamily="18" charset="0"/>
              </a:rPr>
              <a:t>()</a:t>
            </a:r>
            <a:r>
              <a:rPr lang="zh-CN" altLang="zh-CN" sz="2000" kern="100" dirty="0">
                <a:latin typeface="等线" panose="02010600030101010101" charset="-122"/>
                <a:cs typeface="Times New Roman" panose="02020603050405020304" pitchFamily="18" charset="0"/>
              </a:rPr>
              <a:t>和</a:t>
            </a:r>
            <a:r>
              <a:rPr lang="en-US" altLang="zh-CN" sz="2000" kern="100" dirty="0" err="1">
                <a:solidFill>
                  <a:srgbClr val="1F4E79"/>
                </a:solidFill>
                <a:latin typeface="等线" panose="02010600030101010101" charset="-122"/>
                <a:cs typeface="Times New Roman" panose="02020603050405020304" pitchFamily="18" charset="0"/>
              </a:rPr>
              <a:t>ide_write</a:t>
            </a:r>
            <a:r>
              <a:rPr lang="en-US" altLang="zh-CN" sz="2000" kern="100" dirty="0">
                <a:solidFill>
                  <a:srgbClr val="1F4E79"/>
                </a:solidFill>
                <a:latin typeface="等线" panose="02010600030101010101" charset="-122"/>
                <a:cs typeface="Times New Roman" panose="02020603050405020304" pitchFamily="18" charset="0"/>
              </a:rPr>
              <a:t>()</a:t>
            </a:r>
            <a:r>
              <a:rPr lang="zh-CN" altLang="zh-CN" sz="2000" kern="100" dirty="0">
                <a:latin typeface="等线" panose="02010600030101010101" charset="-122"/>
                <a:cs typeface="Times New Roman" panose="02020603050405020304" pitchFamily="18" charset="0"/>
              </a:rPr>
              <a:t>接口实现从模拟硬盘加载用户程序；</a:t>
            </a:r>
            <a:endParaRPr lang="en-US" altLang="zh-CN" sz="2000" kern="100" dirty="0">
              <a:latin typeface="等线" panose="02010600030101010101" charset="-122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ts val="600"/>
              </a:spcBef>
              <a:buFont typeface="+mj-lt"/>
              <a:buAutoNum type="arabicPeriod"/>
            </a:pPr>
            <a:r>
              <a:rPr lang="zh-CN" altLang="zh-CN" sz="2000" dirty="0">
                <a:cs typeface="Times New Roman" panose="02020603050405020304" pitchFamily="18" charset="0"/>
              </a:rPr>
              <a:t>通过</a:t>
            </a:r>
            <a:r>
              <a:rPr lang="en-US" altLang="zh-CN" sz="2000" dirty="0">
                <a:solidFill>
                  <a:srgbClr val="1F4E79"/>
                </a:solidFill>
                <a:latin typeface="等线" panose="02010600030101010101" charset="-122"/>
                <a:cs typeface="Times New Roman" panose="02020603050405020304" pitchFamily="18" charset="0"/>
              </a:rPr>
              <a:t>make test_pa-4-2</a:t>
            </a:r>
            <a:r>
              <a:rPr lang="zh-CN" altLang="zh-CN" sz="2000" dirty="0">
                <a:cs typeface="Times New Roman" panose="02020603050405020304" pitchFamily="18" charset="0"/>
              </a:rPr>
              <a:t>执行测试用例，验证加载过程是否正确。</a:t>
            </a:r>
            <a:endParaRPr lang="zh-CN" altLang="zh-CN" sz="2000" dirty="0"/>
          </a:p>
        </p:txBody>
      </p:sp>
      <p:sp>
        <p:nvSpPr>
          <p:cNvPr id="5" name="文本框 4"/>
          <p:cNvSpPr txBox="1"/>
          <p:nvPr/>
        </p:nvSpPr>
        <p:spPr>
          <a:xfrm>
            <a:off x="595815" y="6151253"/>
            <a:ext cx="390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提示：有些接口这里用不到咱就不用</a:t>
            </a:r>
          </a:p>
        </p:txBody>
      </p:sp>
      <p:sp>
        <p:nvSpPr>
          <p:cNvPr id="11" name="日期占位符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9A526-4831-49A8-B587-2C48E9B99588}" type="datetime1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7725B-6B6E-48AF-B2E8-4D27612ECBB4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外设与</a:t>
            </a:r>
            <a:r>
              <a:rPr lang="en-US" altLang="zh-CN" dirty="0"/>
              <a:t>I/O</a:t>
            </a:r>
            <a:endParaRPr lang="zh-CN" altLang="en-US" dirty="0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2152650" y="1182255"/>
            <a:ext cx="8938089" cy="1878826"/>
          </a:xfrm>
        </p:spPr>
        <p:txBody>
          <a:bodyPr/>
          <a:lstStyle/>
          <a:p>
            <a:r>
              <a:rPr lang="en-US" altLang="zh-CN" dirty="0"/>
              <a:t>CPU</a:t>
            </a:r>
            <a:r>
              <a:rPr lang="zh-CN" altLang="en-US" dirty="0"/>
              <a:t>如何向外设进行输入输出？</a:t>
            </a:r>
            <a:endParaRPr lang="en-US" altLang="zh-CN" dirty="0"/>
          </a:p>
          <a:p>
            <a:pPr lvl="1"/>
            <a:r>
              <a:rPr lang="zh-CN" altLang="en-US" dirty="0"/>
              <a:t>方式</a:t>
            </a:r>
            <a:r>
              <a:rPr lang="en-US" altLang="zh-CN" dirty="0"/>
              <a:t>1</a:t>
            </a:r>
            <a:r>
              <a:rPr lang="zh-CN" altLang="en-US" dirty="0"/>
              <a:t>：端口映射</a:t>
            </a:r>
            <a:r>
              <a:rPr lang="en-US" altLang="zh-CN" dirty="0"/>
              <a:t>I/O(port-mapped I/O)</a:t>
            </a:r>
          </a:p>
          <a:p>
            <a:pPr lvl="1"/>
            <a:r>
              <a:rPr lang="en-US" altLang="zh-CN" dirty="0"/>
              <a:t>NEMU</a:t>
            </a:r>
            <a:r>
              <a:rPr lang="zh-CN" altLang="en-US" dirty="0"/>
              <a:t>中典型的端口映射</a:t>
            </a:r>
            <a:r>
              <a:rPr lang="en-US" altLang="zh-CN" dirty="0"/>
              <a:t>I/O</a:t>
            </a:r>
            <a:r>
              <a:rPr lang="zh-CN" altLang="en-US" dirty="0"/>
              <a:t>设备</a:t>
            </a:r>
            <a:endParaRPr lang="en-US" altLang="zh-CN" dirty="0"/>
          </a:p>
          <a:p>
            <a:pPr lvl="2"/>
            <a:r>
              <a:rPr lang="zh-CN" altLang="en-US" dirty="0"/>
              <a:t>键盘（</a:t>
            </a:r>
            <a:r>
              <a:rPr lang="en-US" altLang="zh-CN" dirty="0"/>
              <a:t>Keyboard</a:t>
            </a:r>
            <a:r>
              <a:rPr lang="zh-CN" altLang="en-US" dirty="0"/>
              <a:t>）：结合</a:t>
            </a:r>
            <a:r>
              <a:rPr lang="en-US" altLang="zh-CN" dirty="0"/>
              <a:t>echo</a:t>
            </a:r>
            <a:r>
              <a:rPr lang="zh-CN" altLang="en-US" dirty="0"/>
              <a:t>程序彻底理解流程，这里给点提示</a:t>
            </a:r>
            <a:endParaRPr lang="en-US" altLang="zh-CN" dirty="0"/>
          </a:p>
          <a:p>
            <a:pPr marL="1371600" lvl="3" indent="0">
              <a:buNone/>
            </a:pPr>
            <a:endParaRPr lang="zh-CN" altLang="en-US" dirty="0">
              <a:solidFill>
                <a:srgbClr val="00B050"/>
              </a:solidFill>
            </a:endParaRPr>
          </a:p>
        </p:txBody>
      </p:sp>
      <p:pic>
        <p:nvPicPr>
          <p:cNvPr id="11" name="Picture 2" descr="https://timgsa.baidu.com/timg?image&amp;quality=80&amp;size=b9999_10000&amp;sec=1515653061&amp;di=f38f2dbb8d9a1ab42bcf591cadbe6599&amp;imgtype=jpg&amp;er=1&amp;src=http%3A%2F%2Fghr-japan.greater.jp%2Fproductsimage%2F1086794n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6419" y="4375530"/>
            <a:ext cx="1935853" cy="786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图片 3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2717" y="5162059"/>
            <a:ext cx="2922404" cy="1485481"/>
          </a:xfrm>
          <a:prstGeom prst="rect">
            <a:avLst/>
          </a:prstGeom>
          <a:ln w="34925">
            <a:solidFill>
              <a:schemeClr val="tx1"/>
            </a:solidFill>
            <a:prstDash val="dash"/>
          </a:ln>
        </p:spPr>
      </p:pic>
      <p:cxnSp>
        <p:nvCxnSpPr>
          <p:cNvPr id="41" name="直接箭头连接符 40"/>
          <p:cNvCxnSpPr>
            <a:stCxn id="11" idx="3"/>
          </p:cNvCxnSpPr>
          <p:nvPr/>
        </p:nvCxnSpPr>
        <p:spPr>
          <a:xfrm>
            <a:off x="4852272" y="4768795"/>
            <a:ext cx="676507" cy="863181"/>
          </a:xfrm>
          <a:prstGeom prst="straightConnector1">
            <a:avLst/>
          </a:prstGeom>
          <a:ln w="2540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/>
        </p:nvSpPr>
        <p:spPr>
          <a:xfrm>
            <a:off x="5089845" y="4661857"/>
            <a:ext cx="1335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2. </a:t>
            </a:r>
            <a:r>
              <a:rPr lang="zh-CN" altLang="en-US" dirty="0">
                <a:solidFill>
                  <a:srgbClr val="C00000"/>
                </a:solidFill>
              </a:rPr>
              <a:t>按一个键</a:t>
            </a:r>
          </a:p>
        </p:txBody>
      </p:sp>
      <p:cxnSp>
        <p:nvCxnSpPr>
          <p:cNvPr id="44" name="曲线连接符 43"/>
          <p:cNvCxnSpPr>
            <a:stCxn id="39" idx="3"/>
            <a:endCxn id="47" idx="2"/>
          </p:cNvCxnSpPr>
          <p:nvPr/>
        </p:nvCxnSpPr>
        <p:spPr>
          <a:xfrm flipH="1" flipV="1">
            <a:off x="6071859" y="3532075"/>
            <a:ext cx="2473262" cy="2372724"/>
          </a:xfrm>
          <a:prstGeom prst="curvedConnector4">
            <a:avLst>
              <a:gd name="adj1" fmla="val -9243"/>
              <a:gd name="adj2" fmla="val 65652"/>
            </a:avLst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/>
          <p:cNvSpPr txBox="1"/>
          <p:nvPr/>
        </p:nvSpPr>
        <p:spPr>
          <a:xfrm>
            <a:off x="5035578" y="3954036"/>
            <a:ext cx="1276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7030A0"/>
                </a:solidFill>
              </a:rPr>
              <a:t>4. </a:t>
            </a:r>
            <a:r>
              <a:rPr lang="zh-CN" altLang="en-US" dirty="0">
                <a:solidFill>
                  <a:srgbClr val="7030A0"/>
                </a:solidFill>
              </a:rPr>
              <a:t>读扫描码得字符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5574767" y="2947301"/>
            <a:ext cx="10438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C00000"/>
                </a:solidFill>
              </a:rPr>
              <a:t>echo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pic>
        <p:nvPicPr>
          <p:cNvPr id="48" name="图片 4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789522" y="2985270"/>
            <a:ext cx="702041" cy="724279"/>
          </a:xfrm>
          <a:prstGeom prst="rect">
            <a:avLst/>
          </a:prstGeom>
        </p:spPr>
      </p:pic>
      <p:cxnSp>
        <p:nvCxnSpPr>
          <p:cNvPr id="50" name="直接箭头连接符 49"/>
          <p:cNvCxnSpPr>
            <a:stCxn id="39" idx="0"/>
            <a:endCxn id="48" idx="3"/>
          </p:cNvCxnSpPr>
          <p:nvPr/>
        </p:nvCxnSpPr>
        <p:spPr>
          <a:xfrm flipV="1">
            <a:off x="7083919" y="3347410"/>
            <a:ext cx="1705602" cy="1814649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/>
          <p:cNvSpPr txBox="1"/>
          <p:nvPr/>
        </p:nvSpPr>
        <p:spPr>
          <a:xfrm>
            <a:off x="6850407" y="3157491"/>
            <a:ext cx="17427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</a:rPr>
              <a:t>1. </a:t>
            </a:r>
            <a:r>
              <a:rPr lang="zh-CN" altLang="en-US" dirty="0">
                <a:solidFill>
                  <a:srgbClr val="0070C0"/>
                </a:solidFill>
              </a:rPr>
              <a:t>打一声招呼</a:t>
            </a:r>
            <a:endParaRPr lang="en-US" altLang="zh-CN" dirty="0">
              <a:solidFill>
                <a:srgbClr val="0070C0"/>
              </a:solidFill>
            </a:endParaRPr>
          </a:p>
          <a:p>
            <a:r>
              <a:rPr lang="en-US" altLang="zh-CN" dirty="0" err="1">
                <a:solidFill>
                  <a:srgbClr val="0070C0"/>
                </a:solidFill>
              </a:rPr>
              <a:t>int</a:t>
            </a:r>
            <a:r>
              <a:rPr lang="en-US" altLang="zh-CN" dirty="0">
                <a:solidFill>
                  <a:srgbClr val="0070C0"/>
                </a:solidFill>
              </a:rPr>
              <a:t> 0x80, </a:t>
            </a:r>
            <a:r>
              <a:rPr lang="en-US" altLang="zh-CN" dirty="0" err="1">
                <a:solidFill>
                  <a:srgbClr val="0070C0"/>
                </a:solidFill>
              </a:rPr>
              <a:t>irq</a:t>
            </a:r>
            <a:r>
              <a:rPr lang="en-US" altLang="zh-CN" dirty="0">
                <a:solidFill>
                  <a:srgbClr val="0070C0"/>
                </a:solidFill>
              </a:rPr>
              <a:t> = 0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8692369" y="4308623"/>
            <a:ext cx="18469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3. </a:t>
            </a:r>
            <a:r>
              <a:rPr lang="zh-CN" altLang="en-US" dirty="0"/>
              <a:t>怎么就走到</a:t>
            </a:r>
            <a:r>
              <a:rPr lang="en-US" altLang="zh-CN" dirty="0"/>
              <a:t>echo</a:t>
            </a:r>
            <a:r>
              <a:rPr lang="zh-CN" altLang="en-US" dirty="0"/>
              <a:t>里的函数了</a:t>
            </a:r>
          </a:p>
        </p:txBody>
      </p:sp>
      <p:cxnSp>
        <p:nvCxnSpPr>
          <p:cNvPr id="57" name="直接箭头连接符 56"/>
          <p:cNvCxnSpPr>
            <a:stCxn id="11" idx="0"/>
          </p:cNvCxnSpPr>
          <p:nvPr/>
        </p:nvCxnSpPr>
        <p:spPr>
          <a:xfrm flipV="1">
            <a:off x="3884345" y="3496777"/>
            <a:ext cx="1857842" cy="878752"/>
          </a:xfrm>
          <a:prstGeom prst="straightConnector1">
            <a:avLst/>
          </a:prstGeom>
          <a:ln w="25400">
            <a:solidFill>
              <a:srgbClr val="7030A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本框 59"/>
          <p:cNvSpPr txBox="1"/>
          <p:nvPr/>
        </p:nvSpPr>
        <p:spPr>
          <a:xfrm>
            <a:off x="2038637" y="3028088"/>
            <a:ext cx="2021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Serial&gt; HAHAHA…</a:t>
            </a:r>
            <a:endParaRPr lang="zh-CN" altLang="en-US" dirty="0"/>
          </a:p>
        </p:txBody>
      </p:sp>
      <p:cxnSp>
        <p:nvCxnSpPr>
          <p:cNvPr id="61" name="直接箭头连接符 60"/>
          <p:cNvCxnSpPr>
            <a:stCxn id="47" idx="1"/>
            <a:endCxn id="60" idx="3"/>
          </p:cNvCxnSpPr>
          <p:nvPr/>
        </p:nvCxnSpPr>
        <p:spPr>
          <a:xfrm flipH="1" flipV="1">
            <a:off x="4060425" y="3212754"/>
            <a:ext cx="1514342" cy="26934"/>
          </a:xfrm>
          <a:prstGeom prst="straightConnector1">
            <a:avLst/>
          </a:prstGeom>
          <a:ln w="25400">
            <a:solidFill>
              <a:srgbClr val="7030A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66"/>
          <p:cNvSpPr txBox="1"/>
          <p:nvPr/>
        </p:nvSpPr>
        <p:spPr>
          <a:xfrm>
            <a:off x="3179913" y="3321573"/>
            <a:ext cx="17334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7030A0"/>
                </a:solidFill>
              </a:rPr>
              <a:t>5. </a:t>
            </a:r>
            <a:r>
              <a:rPr lang="zh-CN" altLang="en-US" dirty="0">
                <a:solidFill>
                  <a:srgbClr val="7030A0"/>
                </a:solidFill>
              </a:rPr>
              <a:t>输出到串口（控制台模拟）</a:t>
            </a:r>
          </a:p>
        </p:txBody>
      </p:sp>
      <p:cxnSp>
        <p:nvCxnSpPr>
          <p:cNvPr id="20" name="直接箭头连接符 19"/>
          <p:cNvCxnSpPr>
            <a:stCxn id="47" idx="3"/>
            <a:endCxn id="39" idx="0"/>
          </p:cNvCxnSpPr>
          <p:nvPr/>
        </p:nvCxnSpPr>
        <p:spPr>
          <a:xfrm>
            <a:off x="6568951" y="3239688"/>
            <a:ext cx="514969" cy="1922370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E7608-E326-47BB-8220-F3886AB5015B}" type="datetime1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1441450" y="6492875"/>
            <a:ext cx="4114800" cy="365125"/>
          </a:xfrm>
        </p:spPr>
        <p:txBody>
          <a:bodyPr/>
          <a:lstStyle/>
          <a:p>
            <a:r>
              <a:rPr lang="zh-CN" altLang="en-US" dirty="0"/>
              <a:t>南京大学</a:t>
            </a:r>
            <a:r>
              <a:rPr lang="en-US" altLang="zh-CN" dirty="0"/>
              <a:t>-</a:t>
            </a:r>
            <a:r>
              <a:rPr lang="zh-CN" altLang="en-US" dirty="0"/>
              <a:t>计算机系统基础</a:t>
            </a:r>
            <a:r>
              <a:rPr lang="en-US" altLang="zh-CN" dirty="0"/>
              <a:t>-PA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7725B-6B6E-48AF-B2E8-4D27612ECBB4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外设与</a:t>
            </a:r>
            <a:r>
              <a:rPr lang="en-US" altLang="zh-CN" dirty="0"/>
              <a:t>I/O</a:t>
            </a:r>
            <a:endParaRPr lang="zh-CN" altLang="en-US" dirty="0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2152650" y="1182255"/>
            <a:ext cx="8938089" cy="1878826"/>
          </a:xfrm>
        </p:spPr>
        <p:txBody>
          <a:bodyPr/>
          <a:lstStyle/>
          <a:p>
            <a:r>
              <a:rPr lang="en-US" altLang="zh-CN" dirty="0"/>
              <a:t>CPU</a:t>
            </a:r>
            <a:r>
              <a:rPr lang="zh-CN" altLang="en-US" dirty="0"/>
              <a:t>如何向外设进行输入输出？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方式</a:t>
            </a:r>
            <a:r>
              <a:rPr lang="en-US" altLang="zh-CN" dirty="0">
                <a:solidFill>
                  <a:srgbClr val="FF0000"/>
                </a:solidFill>
              </a:rPr>
              <a:t>2</a:t>
            </a:r>
            <a:r>
              <a:rPr lang="zh-CN" altLang="en-US" dirty="0">
                <a:solidFill>
                  <a:srgbClr val="FF0000"/>
                </a:solidFill>
              </a:rPr>
              <a:t>：</a:t>
            </a:r>
            <a:r>
              <a:rPr lang="zh-CN" altLang="zh-CN" dirty="0">
                <a:solidFill>
                  <a:srgbClr val="FF0000"/>
                </a:solidFill>
              </a:rPr>
              <a:t>内存映射</a:t>
            </a:r>
            <a:r>
              <a:rPr lang="en-US" altLang="zh-CN" dirty="0">
                <a:solidFill>
                  <a:srgbClr val="FF0000"/>
                </a:solidFill>
              </a:rPr>
              <a:t>I/O (Memory Mapped I/O, </a:t>
            </a:r>
            <a:r>
              <a:rPr lang="en-US" altLang="zh-CN" dirty="0" err="1">
                <a:solidFill>
                  <a:srgbClr val="FF0000"/>
                </a:solidFill>
              </a:rPr>
              <a:t>mmio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</a:p>
          <a:p>
            <a:pPr lvl="1"/>
            <a:r>
              <a:rPr lang="en-US" altLang="zh-CN" dirty="0"/>
              <a:t>NEMU</a:t>
            </a:r>
            <a:r>
              <a:rPr lang="zh-CN" altLang="en-US" dirty="0"/>
              <a:t>中典型的</a:t>
            </a:r>
            <a:r>
              <a:rPr lang="zh-CN" altLang="zh-CN" dirty="0"/>
              <a:t>内存</a:t>
            </a:r>
            <a:r>
              <a:rPr lang="zh-CN" altLang="en-US" dirty="0"/>
              <a:t>映射</a:t>
            </a:r>
            <a:r>
              <a:rPr lang="en-US" altLang="zh-CN" dirty="0"/>
              <a:t>I/O</a:t>
            </a:r>
            <a:r>
              <a:rPr lang="zh-CN" altLang="en-US" dirty="0"/>
              <a:t>设备</a:t>
            </a:r>
            <a:endParaRPr lang="en-US" altLang="zh-CN" dirty="0"/>
          </a:p>
          <a:p>
            <a:pPr lvl="2"/>
            <a:r>
              <a:rPr lang="en-US" altLang="zh-CN" dirty="0"/>
              <a:t>VGA</a:t>
            </a:r>
          </a:p>
          <a:p>
            <a:pPr marL="1371600" lvl="3" indent="0">
              <a:buNone/>
            </a:pPr>
            <a:endParaRPr lang="zh-CN" altLang="en-US" dirty="0">
              <a:solidFill>
                <a:srgbClr val="00B050"/>
              </a:solidFill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2110" y="3061081"/>
            <a:ext cx="1998471" cy="208022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7017" y="2849712"/>
            <a:ext cx="2374934" cy="2374934"/>
          </a:xfrm>
          <a:prstGeom prst="rect">
            <a:avLst/>
          </a:prstGeom>
        </p:spPr>
      </p:pic>
      <p:pic>
        <p:nvPicPr>
          <p:cNvPr id="21" name="Picture 4" descr="https://timgsa.baidu.com/timg?image&amp;quality=80&amp;size=b9999_10000&amp;sec=1515058462462&amp;di=112597d052c25150114ea41868a5938c&amp;imgtype=0&amp;src=http%3A%2F%2Foss.huangye88.net%2Flive%2Fuser%2F1760137%2F1461634479059590900-0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4503" y="4803249"/>
            <a:ext cx="2697413" cy="1882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/>
          <p:cNvSpPr/>
          <p:nvPr/>
        </p:nvSpPr>
        <p:spPr>
          <a:xfrm>
            <a:off x="5764484" y="4204402"/>
            <a:ext cx="1031238" cy="983484"/>
          </a:xfrm>
          <a:prstGeom prst="rect">
            <a:avLst/>
          </a:prstGeom>
          <a:noFill/>
          <a:ln w="539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形标注 22"/>
          <p:cNvSpPr/>
          <p:nvPr/>
        </p:nvSpPr>
        <p:spPr>
          <a:xfrm>
            <a:off x="6863361" y="2208495"/>
            <a:ext cx="2053603" cy="1424247"/>
          </a:xfrm>
          <a:prstGeom prst="wedgeEllipseCallout">
            <a:avLst>
              <a:gd name="adj1" fmla="val 52199"/>
              <a:gd name="adj2" fmla="val 3460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dirty="0"/>
              <a:t>我在冰箱这一块地方放的小纸条就是给你看的</a:t>
            </a:r>
          </a:p>
        </p:txBody>
      </p:sp>
      <p:cxnSp>
        <p:nvCxnSpPr>
          <p:cNvPr id="24" name="直接箭头连接符 23"/>
          <p:cNvCxnSpPr/>
          <p:nvPr/>
        </p:nvCxnSpPr>
        <p:spPr>
          <a:xfrm flipH="1">
            <a:off x="6437314" y="3850266"/>
            <a:ext cx="1185505" cy="808715"/>
          </a:xfrm>
          <a:prstGeom prst="straightConnector1">
            <a:avLst/>
          </a:prstGeom>
          <a:ln w="2540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形标注 26"/>
          <p:cNvSpPr/>
          <p:nvPr/>
        </p:nvSpPr>
        <p:spPr>
          <a:xfrm>
            <a:off x="4453758" y="5363183"/>
            <a:ext cx="1031121" cy="762924"/>
          </a:xfrm>
          <a:prstGeom prst="wedgeEllipseCallout">
            <a:avLst>
              <a:gd name="adj1" fmla="val -77721"/>
              <a:gd name="adj2" fmla="val 3804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哦</a:t>
            </a:r>
          </a:p>
        </p:txBody>
      </p:sp>
      <p:sp>
        <p:nvSpPr>
          <p:cNvPr id="5" name="矩形 4"/>
          <p:cNvSpPr/>
          <p:nvPr/>
        </p:nvSpPr>
        <p:spPr>
          <a:xfrm>
            <a:off x="5764484" y="542148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zh-CN" dirty="0">
                <a:solidFill>
                  <a:srgbClr val="C00000"/>
                </a:solidFill>
                <a:cs typeface="Times New Roman" panose="02020603050405020304" pitchFamily="18" charset="0"/>
              </a:rPr>
              <a:t>我们约定内存从物理地址</a:t>
            </a:r>
            <a:r>
              <a:rPr lang="en-US" altLang="zh-CN" dirty="0">
                <a:solidFill>
                  <a:srgbClr val="C00000"/>
                </a:solidFill>
                <a:latin typeface="等线" panose="02010600030101010101" charset="-122"/>
                <a:cs typeface="Times New Roman" panose="02020603050405020304" pitchFamily="18" charset="0"/>
              </a:rPr>
              <a:t>0xa0000</a:t>
            </a:r>
            <a:r>
              <a:rPr lang="zh-CN" altLang="zh-CN" dirty="0">
                <a:solidFill>
                  <a:srgbClr val="C00000"/>
                </a:solidFill>
                <a:cs typeface="Times New Roman" panose="02020603050405020304" pitchFamily="18" charset="0"/>
              </a:rPr>
              <a:t>开始，长度为 </a:t>
            </a:r>
            <a:r>
              <a:rPr lang="en-US" altLang="zh-CN" dirty="0">
                <a:solidFill>
                  <a:srgbClr val="C00000"/>
                </a:solidFill>
                <a:latin typeface="等线" panose="02010600030101010101" charset="-122"/>
                <a:cs typeface="Times New Roman" panose="02020603050405020304" pitchFamily="18" charset="0"/>
              </a:rPr>
              <a:t>320 * 200</a:t>
            </a:r>
            <a:r>
              <a:rPr lang="zh-CN" altLang="zh-CN" dirty="0">
                <a:solidFill>
                  <a:srgbClr val="C00000"/>
                </a:solidFill>
                <a:cs typeface="Times New Roman" panose="02020603050405020304" pitchFamily="18" charset="0"/>
              </a:rPr>
              <a:t>字节的区间为显存区间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60569-2D7D-411A-9F5D-D92BA62C33D3}" type="datetime1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7725B-6B6E-48AF-B2E8-4D27612ECBB4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外设与</a:t>
            </a:r>
            <a:r>
              <a:rPr lang="en-US" altLang="zh-CN" dirty="0"/>
              <a:t>I/O</a:t>
            </a:r>
            <a:endParaRPr lang="zh-CN" altLang="en-US" dirty="0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2152650" y="1182255"/>
            <a:ext cx="8938089" cy="1878826"/>
          </a:xfrm>
        </p:spPr>
        <p:txBody>
          <a:bodyPr/>
          <a:lstStyle/>
          <a:p>
            <a:r>
              <a:rPr lang="en-US" altLang="zh-CN" dirty="0"/>
              <a:t>CPU</a:t>
            </a:r>
            <a:r>
              <a:rPr lang="zh-CN" altLang="en-US" dirty="0"/>
              <a:t>如何向外设进行输入输出？</a:t>
            </a:r>
            <a:endParaRPr lang="en-US" altLang="zh-CN" dirty="0"/>
          </a:p>
          <a:p>
            <a:pPr lvl="1"/>
            <a:r>
              <a:rPr lang="zh-CN" altLang="en-US" dirty="0"/>
              <a:t>方式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lang="zh-CN" altLang="zh-CN" dirty="0"/>
              <a:t>内存映射</a:t>
            </a:r>
            <a:r>
              <a:rPr lang="en-US" altLang="zh-CN" dirty="0"/>
              <a:t>I/O (Memory Mapped I/O, </a:t>
            </a:r>
            <a:r>
              <a:rPr lang="en-US" altLang="zh-CN" dirty="0" err="1"/>
              <a:t>mmio</a:t>
            </a:r>
            <a:r>
              <a:rPr lang="en-US" altLang="zh-CN" dirty="0"/>
              <a:t>)</a:t>
            </a:r>
          </a:p>
          <a:p>
            <a:pPr lvl="1"/>
            <a:r>
              <a:rPr lang="en-US" altLang="zh-CN" dirty="0"/>
              <a:t>NEMU</a:t>
            </a:r>
            <a:r>
              <a:rPr lang="zh-CN" altLang="en-US" dirty="0"/>
              <a:t>中典型的</a:t>
            </a:r>
            <a:r>
              <a:rPr lang="zh-CN" altLang="zh-CN" dirty="0"/>
              <a:t>内存</a:t>
            </a:r>
            <a:r>
              <a:rPr lang="zh-CN" altLang="en-US" dirty="0"/>
              <a:t>映射</a:t>
            </a:r>
            <a:r>
              <a:rPr lang="en-US" altLang="zh-CN" dirty="0"/>
              <a:t>I/O</a:t>
            </a:r>
            <a:r>
              <a:rPr lang="zh-CN" altLang="en-US" dirty="0"/>
              <a:t>设备</a:t>
            </a:r>
            <a:endParaRPr lang="en-US" altLang="zh-CN" dirty="0"/>
          </a:p>
          <a:p>
            <a:pPr lvl="2"/>
            <a:r>
              <a:rPr lang="en-US" altLang="zh-CN" dirty="0"/>
              <a:t>VGA</a:t>
            </a:r>
          </a:p>
          <a:p>
            <a:pPr marL="1371600" lvl="3" indent="0">
              <a:buNone/>
            </a:pP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635300" y="3544796"/>
            <a:ext cx="5857700" cy="27345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6000"/>
              </a:lnSpc>
              <a:spcBef>
                <a:spcPts val="600"/>
              </a:spcBef>
              <a:spcAft>
                <a:spcPts val="1450"/>
              </a:spcAft>
            </a:pPr>
            <a:r>
              <a:rPr lang="en-US" altLang="zh-CN" sz="2000" b="1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§4-2.3.4 </a:t>
            </a:r>
            <a:r>
              <a:rPr lang="zh-CN" altLang="zh-CN" sz="2000" b="1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实现</a:t>
            </a:r>
            <a:r>
              <a:rPr lang="en-US" altLang="zh-CN" sz="2000" b="1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VGA</a:t>
            </a:r>
            <a:r>
              <a:rPr lang="zh-CN" altLang="zh-CN" sz="2000" b="1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2000" b="1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MMIO</a:t>
            </a:r>
            <a:endParaRPr lang="zh-CN" altLang="zh-CN" sz="2000" b="1" kern="100" dirty="0">
              <a:latin typeface="等线 Light" panose="02010600030101010101" pitchFamily="2" charset="-122"/>
              <a:ea typeface="等线 Light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ts val="600"/>
              </a:spcBef>
              <a:buFont typeface="+mj-lt"/>
              <a:buAutoNum type="arabicPeriod"/>
            </a:pPr>
            <a:r>
              <a:rPr lang="zh-CN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在</a:t>
            </a:r>
            <a:r>
              <a:rPr lang="en-US" altLang="zh-CN" kern="100" dirty="0">
                <a:solidFill>
                  <a:srgbClr val="1F4E79"/>
                </a:solidFill>
                <a:latin typeface="等线" panose="02010600030101010101" charset="-122"/>
                <a:cs typeface="Times New Roman" panose="02020603050405020304" pitchFamily="18" charset="0"/>
              </a:rPr>
              <a:t>include/</a:t>
            </a:r>
            <a:r>
              <a:rPr lang="en-US" altLang="zh-CN" kern="100" dirty="0" err="1">
                <a:solidFill>
                  <a:srgbClr val="1F4E79"/>
                </a:solidFill>
                <a:latin typeface="等线" panose="02010600030101010101" charset="-122"/>
                <a:cs typeface="Times New Roman" panose="02020603050405020304" pitchFamily="18" charset="0"/>
              </a:rPr>
              <a:t>config.h</a:t>
            </a:r>
            <a:r>
              <a:rPr lang="zh-CN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中定义宏</a:t>
            </a:r>
            <a:r>
              <a:rPr lang="en-US" altLang="zh-CN" kern="100" dirty="0">
                <a:solidFill>
                  <a:srgbClr val="1F4E79"/>
                </a:solidFill>
                <a:latin typeface="等线" panose="02010600030101010101" charset="-122"/>
                <a:cs typeface="Times New Roman" panose="02020603050405020304" pitchFamily="18" charset="0"/>
              </a:rPr>
              <a:t>HAS_DEVICE_VGA</a:t>
            </a:r>
            <a:r>
              <a:rPr lang="zh-CN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；</a:t>
            </a:r>
          </a:p>
          <a:p>
            <a:pPr marL="342900" indent="-342900" algn="just">
              <a:spcBef>
                <a:spcPts val="600"/>
              </a:spcBef>
              <a:buFont typeface="+mj-lt"/>
              <a:buAutoNum type="arabicPeriod"/>
            </a:pPr>
            <a:r>
              <a:rPr lang="zh-CN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在</a:t>
            </a:r>
            <a:r>
              <a:rPr lang="en-US" altLang="zh-CN" kern="100" dirty="0" err="1">
                <a:solidFill>
                  <a:srgbClr val="1F4E79"/>
                </a:solidFill>
                <a:latin typeface="等线" panose="02010600030101010101" charset="-122"/>
                <a:cs typeface="Times New Roman" panose="02020603050405020304" pitchFamily="18" charset="0"/>
              </a:rPr>
              <a:t>nemu</a:t>
            </a:r>
            <a:r>
              <a:rPr lang="en-US" altLang="zh-CN" kern="100" dirty="0">
                <a:solidFill>
                  <a:srgbClr val="1F4E79"/>
                </a:solidFill>
                <a:latin typeface="等线" panose="02010600030101010101" charset="-122"/>
                <a:cs typeface="Times New Roman" panose="02020603050405020304" pitchFamily="18" charset="0"/>
              </a:rPr>
              <a:t>/</a:t>
            </a:r>
            <a:r>
              <a:rPr lang="en-US" altLang="zh-CN" kern="100" dirty="0" err="1">
                <a:solidFill>
                  <a:srgbClr val="1F4E79"/>
                </a:solidFill>
                <a:latin typeface="等线" panose="02010600030101010101" charset="-122"/>
                <a:cs typeface="Times New Roman" panose="02020603050405020304" pitchFamily="18" charset="0"/>
              </a:rPr>
              <a:t>src</a:t>
            </a:r>
            <a:r>
              <a:rPr lang="en-US" altLang="zh-CN" kern="100" dirty="0">
                <a:solidFill>
                  <a:srgbClr val="1F4E79"/>
                </a:solidFill>
                <a:latin typeface="等线" panose="02010600030101010101" charset="-122"/>
                <a:cs typeface="Times New Roman" panose="02020603050405020304" pitchFamily="18" charset="0"/>
              </a:rPr>
              <a:t>/memory/</a:t>
            </a:r>
            <a:r>
              <a:rPr lang="en-US" altLang="zh-CN" kern="100" dirty="0" err="1">
                <a:solidFill>
                  <a:srgbClr val="1F4E79"/>
                </a:solidFill>
                <a:latin typeface="等线" panose="02010600030101010101" charset="-122"/>
                <a:cs typeface="Times New Roman" panose="02020603050405020304" pitchFamily="18" charset="0"/>
              </a:rPr>
              <a:t>memory.c</a:t>
            </a:r>
            <a:r>
              <a:rPr lang="zh-CN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中添加</a:t>
            </a:r>
            <a:r>
              <a:rPr lang="en-US" altLang="zh-CN" kern="100" dirty="0" err="1">
                <a:solidFill>
                  <a:srgbClr val="1F4E79"/>
                </a:solidFill>
                <a:latin typeface="等线" panose="02010600030101010101" charset="-122"/>
                <a:cs typeface="Times New Roman" panose="02020603050405020304" pitchFamily="18" charset="0"/>
              </a:rPr>
              <a:t>mm_io</a:t>
            </a:r>
            <a:r>
              <a:rPr lang="zh-CN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判断和对应的读写操作；</a:t>
            </a:r>
          </a:p>
          <a:p>
            <a:pPr marL="342900" indent="-342900" algn="just">
              <a:spcBef>
                <a:spcPts val="600"/>
              </a:spcBef>
              <a:buFont typeface="+mj-lt"/>
              <a:buAutoNum type="arabicPeriod"/>
            </a:pPr>
            <a:r>
              <a:rPr lang="zh-CN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在</a:t>
            </a:r>
            <a:r>
              <a:rPr lang="en-US" altLang="zh-CN" kern="100" dirty="0">
                <a:solidFill>
                  <a:srgbClr val="1F4E79"/>
                </a:solidFill>
                <a:latin typeface="等线" panose="02010600030101010101" charset="-122"/>
                <a:cs typeface="Times New Roman" panose="02020603050405020304" pitchFamily="18" charset="0"/>
              </a:rPr>
              <a:t>kernel/</a:t>
            </a:r>
            <a:r>
              <a:rPr lang="en-US" altLang="zh-CN" kern="100" dirty="0" err="1">
                <a:solidFill>
                  <a:srgbClr val="1F4E79"/>
                </a:solidFill>
                <a:latin typeface="等线" panose="02010600030101010101" charset="-122"/>
                <a:cs typeface="Times New Roman" panose="02020603050405020304" pitchFamily="18" charset="0"/>
              </a:rPr>
              <a:t>src</a:t>
            </a:r>
            <a:r>
              <a:rPr lang="en-US" altLang="zh-CN" kern="100" dirty="0">
                <a:solidFill>
                  <a:srgbClr val="1F4E79"/>
                </a:solidFill>
                <a:latin typeface="等线" panose="02010600030101010101" charset="-122"/>
                <a:cs typeface="Times New Roman" panose="02020603050405020304" pitchFamily="18" charset="0"/>
              </a:rPr>
              <a:t>/memory/</a:t>
            </a:r>
            <a:r>
              <a:rPr lang="en-US" altLang="zh-CN" kern="100" dirty="0" err="1">
                <a:solidFill>
                  <a:srgbClr val="1F4E79"/>
                </a:solidFill>
                <a:latin typeface="等线" panose="02010600030101010101" charset="-122"/>
                <a:cs typeface="Times New Roman" panose="02020603050405020304" pitchFamily="18" charset="0"/>
              </a:rPr>
              <a:t>vmem.c</a:t>
            </a:r>
            <a:r>
              <a:rPr lang="zh-CN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中完成显存的恒等映射；</a:t>
            </a:r>
          </a:p>
          <a:p>
            <a:pPr marL="342900" indent="-342900" algn="just">
              <a:spcBef>
                <a:spcPts val="600"/>
              </a:spcBef>
              <a:buFont typeface="+mj-lt"/>
              <a:buAutoNum type="arabicPeriod"/>
            </a:pPr>
            <a:r>
              <a:rPr lang="zh-CN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通过</a:t>
            </a:r>
            <a:r>
              <a:rPr lang="en-US" altLang="zh-CN" kern="100" dirty="0">
                <a:solidFill>
                  <a:srgbClr val="1F4E79"/>
                </a:solidFill>
                <a:latin typeface="等线" panose="02010600030101010101" charset="-122"/>
                <a:cs typeface="Times New Roman" panose="02020603050405020304" pitchFamily="18" charset="0"/>
              </a:rPr>
              <a:t>make </a:t>
            </a:r>
            <a:r>
              <a:rPr lang="en-US" altLang="zh-CN" dirty="0">
                <a:solidFill>
                  <a:srgbClr val="1F4E79"/>
                </a:solidFill>
                <a:latin typeface="等线" panose="02010600030101010101" charset="-122"/>
                <a:cs typeface="Times New Roman" panose="02020603050405020304" pitchFamily="18" charset="0"/>
              </a:rPr>
              <a:t>test_pa-4-2</a:t>
            </a:r>
            <a:r>
              <a:rPr lang="zh-CN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执行测试用例，观察输出测试颜色信息，并通过</a:t>
            </a:r>
            <a:r>
              <a:rPr lang="en-US" altLang="zh-CN" kern="100" dirty="0" err="1">
                <a:solidFill>
                  <a:srgbClr val="1F4E79"/>
                </a:solidFill>
                <a:latin typeface="等线" panose="02010600030101010101" charset="-122"/>
                <a:cs typeface="Times New Roman" panose="02020603050405020304" pitchFamily="18" charset="0"/>
              </a:rPr>
              <a:t>video_mapping_read_test</a:t>
            </a:r>
            <a:r>
              <a:rPr lang="en-US" altLang="zh-CN" kern="100" dirty="0">
                <a:solidFill>
                  <a:srgbClr val="1F4E79"/>
                </a:solidFill>
                <a:latin typeface="等线" panose="02010600030101010101" charset="-122"/>
                <a:cs typeface="Times New Roman" panose="02020603050405020304" pitchFamily="18" charset="0"/>
              </a:rPr>
              <a:t>()</a:t>
            </a:r>
            <a:r>
              <a:rPr lang="zh-CN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7259554" y="2121668"/>
            <a:ext cx="4559222" cy="2246769"/>
          </a:xfrm>
          <a:prstGeom prst="rect">
            <a:avLst/>
          </a:prstGeom>
          <a:solidFill>
            <a:schemeClr val="bg1"/>
          </a:solidFill>
          <a:ln>
            <a:solidFill>
              <a:schemeClr val="dk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sz="2000" dirty="0" err="1"/>
              <a:t>paddr_read</a:t>
            </a:r>
            <a:r>
              <a:rPr lang="en-US" altLang="zh-CN" sz="2000" dirty="0"/>
              <a:t>/write() {</a:t>
            </a:r>
          </a:p>
          <a:p>
            <a:r>
              <a:rPr lang="en-US" altLang="zh-CN" sz="2000" dirty="0"/>
              <a:t>	if(</a:t>
            </a:r>
            <a:r>
              <a:rPr lang="en-US" altLang="zh-CN" sz="2000" dirty="0" err="1"/>
              <a:t>is_mmio</a:t>
            </a:r>
            <a:r>
              <a:rPr lang="en-US" altLang="zh-CN" sz="2000" dirty="0"/>
              <a:t>(</a:t>
            </a:r>
            <a:r>
              <a:rPr lang="en-US" altLang="zh-CN" sz="2000" dirty="0" err="1"/>
              <a:t>paddr</a:t>
            </a:r>
            <a:r>
              <a:rPr lang="en-US" altLang="zh-CN" sz="2000" dirty="0"/>
              <a:t>) == -1) {</a:t>
            </a:r>
          </a:p>
          <a:p>
            <a:r>
              <a:rPr lang="en-US" altLang="zh-CN" sz="2000" dirty="0"/>
              <a:t>		…</a:t>
            </a:r>
          </a:p>
          <a:p>
            <a:r>
              <a:rPr lang="en-US" altLang="zh-CN" sz="2000" dirty="0"/>
              <a:t>	} else {</a:t>
            </a:r>
          </a:p>
          <a:p>
            <a:r>
              <a:rPr lang="en-US" altLang="zh-CN" sz="2000" dirty="0"/>
              <a:t>		</a:t>
            </a:r>
            <a:r>
              <a:rPr lang="en-US" altLang="zh-CN" sz="2000" dirty="0" err="1"/>
              <a:t>mmio_read</a:t>
            </a:r>
            <a:r>
              <a:rPr lang="en-US" altLang="zh-CN" sz="2000" dirty="0"/>
              <a:t>/write()</a:t>
            </a:r>
          </a:p>
          <a:p>
            <a:r>
              <a:rPr lang="en-US" altLang="zh-CN" sz="2000" dirty="0"/>
              <a:t>	}</a:t>
            </a:r>
          </a:p>
          <a:p>
            <a:r>
              <a:rPr lang="en-US" altLang="zh-CN" sz="2000" dirty="0"/>
              <a:t>}</a:t>
            </a:r>
            <a:endParaRPr lang="zh-CN" altLang="en-US" sz="2000" dirty="0"/>
          </a:p>
        </p:txBody>
      </p:sp>
      <p:cxnSp>
        <p:nvCxnSpPr>
          <p:cNvPr id="9" name="直接箭头连接符 8"/>
          <p:cNvCxnSpPr/>
          <p:nvPr/>
        </p:nvCxnSpPr>
        <p:spPr>
          <a:xfrm flipV="1">
            <a:off x="7654845" y="4241413"/>
            <a:ext cx="955755" cy="891425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32909-6854-41DC-9510-C167706EFB01}" type="datetime1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7725B-6B6E-48AF-B2E8-4D27612ECBB4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外设与</a:t>
            </a:r>
            <a:r>
              <a:rPr lang="en-US" altLang="zh-CN" dirty="0"/>
              <a:t>I/O</a:t>
            </a:r>
            <a:endParaRPr lang="zh-CN" altLang="en-US" dirty="0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2152650" y="1182255"/>
            <a:ext cx="8938089" cy="1878826"/>
          </a:xfrm>
        </p:spPr>
        <p:txBody>
          <a:bodyPr/>
          <a:lstStyle/>
          <a:p>
            <a:r>
              <a:rPr lang="en-US" altLang="zh-CN" dirty="0"/>
              <a:t>CPU</a:t>
            </a:r>
            <a:r>
              <a:rPr lang="zh-CN" altLang="en-US" dirty="0"/>
              <a:t>如何向外设进行输入输出？</a:t>
            </a:r>
            <a:endParaRPr lang="en-US" altLang="zh-CN" dirty="0"/>
          </a:p>
          <a:p>
            <a:pPr lvl="1"/>
            <a:r>
              <a:rPr lang="zh-CN" altLang="en-US" dirty="0"/>
              <a:t>方式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lang="zh-CN" altLang="zh-CN" dirty="0"/>
              <a:t>内存映射</a:t>
            </a:r>
            <a:r>
              <a:rPr lang="en-US" altLang="zh-CN" dirty="0"/>
              <a:t>I/O (Memory Mapped I/O, </a:t>
            </a:r>
            <a:r>
              <a:rPr lang="en-US" altLang="zh-CN" dirty="0" err="1"/>
              <a:t>mmio</a:t>
            </a:r>
            <a:r>
              <a:rPr lang="en-US" altLang="zh-CN" dirty="0"/>
              <a:t>)</a:t>
            </a:r>
          </a:p>
          <a:p>
            <a:pPr lvl="1"/>
            <a:r>
              <a:rPr lang="en-US" altLang="zh-CN" dirty="0"/>
              <a:t>NEMU</a:t>
            </a:r>
            <a:r>
              <a:rPr lang="zh-CN" altLang="en-US" dirty="0"/>
              <a:t>中典型的</a:t>
            </a:r>
            <a:r>
              <a:rPr lang="zh-CN" altLang="zh-CN" dirty="0"/>
              <a:t>内存</a:t>
            </a:r>
            <a:r>
              <a:rPr lang="zh-CN" altLang="en-US" dirty="0"/>
              <a:t>映射</a:t>
            </a:r>
            <a:r>
              <a:rPr lang="en-US" altLang="zh-CN" dirty="0"/>
              <a:t>I/O</a:t>
            </a:r>
            <a:r>
              <a:rPr lang="zh-CN" altLang="en-US" dirty="0"/>
              <a:t>设备</a:t>
            </a:r>
            <a:endParaRPr lang="en-US" altLang="zh-CN" dirty="0"/>
          </a:p>
          <a:p>
            <a:pPr lvl="2"/>
            <a:r>
              <a:rPr lang="en-US" altLang="zh-CN" dirty="0"/>
              <a:t>VGA</a:t>
            </a:r>
          </a:p>
          <a:p>
            <a:pPr marL="1371600" lvl="3" indent="0">
              <a:buNone/>
            </a:pP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866656" y="2573925"/>
            <a:ext cx="5151173" cy="1631216"/>
          </a:xfrm>
          <a:prstGeom prst="rect">
            <a:avLst/>
          </a:prstGeom>
          <a:solidFill>
            <a:schemeClr val="bg1"/>
          </a:solidFill>
          <a:ln>
            <a:solidFill>
              <a:schemeClr val="dk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sz="2000" dirty="0" err="1"/>
              <a:t>create_video_mapping</a:t>
            </a:r>
            <a:r>
              <a:rPr lang="en-US" altLang="zh-CN" sz="2000" dirty="0"/>
              <a:t>() {</a:t>
            </a:r>
          </a:p>
          <a:p>
            <a:pPr lvl="1"/>
            <a:r>
              <a:rPr lang="en-US" altLang="zh-CN" sz="2000" dirty="0">
                <a:solidFill>
                  <a:srgbClr val="00B050"/>
                </a:solidFill>
              </a:rPr>
              <a:t>// 0xa0000            -&gt;      0xa0000</a:t>
            </a:r>
          </a:p>
          <a:p>
            <a:pPr lvl="1"/>
            <a:r>
              <a:rPr lang="en-US" altLang="zh-CN" sz="2000" dirty="0">
                <a:solidFill>
                  <a:srgbClr val="00B050"/>
                </a:solidFill>
              </a:rPr>
              <a:t>//     + SCR_SIZE   -&gt;          + SCR_SIZE</a:t>
            </a:r>
          </a:p>
          <a:p>
            <a:pPr lvl="1"/>
            <a:r>
              <a:rPr lang="en-US" altLang="zh-CN" sz="2000" dirty="0">
                <a:solidFill>
                  <a:srgbClr val="00B050"/>
                </a:solidFill>
              </a:rPr>
              <a:t>// </a:t>
            </a:r>
            <a:r>
              <a:rPr lang="zh-CN" altLang="en-US" sz="2000" dirty="0">
                <a:solidFill>
                  <a:srgbClr val="00B050"/>
                </a:solidFill>
              </a:rPr>
              <a:t>虚拟地址                物理地址</a:t>
            </a:r>
            <a:endParaRPr lang="en-US" altLang="zh-CN" sz="2000" dirty="0">
              <a:solidFill>
                <a:srgbClr val="00B050"/>
              </a:solidFill>
            </a:endParaRPr>
          </a:p>
          <a:p>
            <a:r>
              <a:rPr lang="en-US" altLang="zh-CN" sz="2000" dirty="0"/>
              <a:t>}</a:t>
            </a:r>
            <a:endParaRPr lang="zh-CN" altLang="en-US" sz="2000" dirty="0"/>
          </a:p>
        </p:txBody>
      </p:sp>
      <p:cxnSp>
        <p:nvCxnSpPr>
          <p:cNvPr id="9" name="直接箭头连接符 8"/>
          <p:cNvCxnSpPr/>
          <p:nvPr/>
        </p:nvCxnSpPr>
        <p:spPr>
          <a:xfrm flipV="1">
            <a:off x="7423948" y="3818426"/>
            <a:ext cx="1075224" cy="1507151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2F6D9-9614-4267-ADB9-B22F2FB75DC8}" type="datetime1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7725B-6B6E-48AF-B2E8-4D27612ECBB4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635300" y="3544796"/>
            <a:ext cx="5857700" cy="27345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6000"/>
              </a:lnSpc>
              <a:spcBef>
                <a:spcPts val="600"/>
              </a:spcBef>
              <a:spcAft>
                <a:spcPts val="1450"/>
              </a:spcAft>
            </a:pPr>
            <a:r>
              <a:rPr lang="en-US" altLang="zh-CN" sz="2000" b="1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§4-2.3.4 </a:t>
            </a:r>
            <a:r>
              <a:rPr lang="zh-CN" altLang="zh-CN" sz="2000" b="1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实现</a:t>
            </a:r>
            <a:r>
              <a:rPr lang="en-US" altLang="zh-CN" sz="2000" b="1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VGA</a:t>
            </a:r>
            <a:r>
              <a:rPr lang="zh-CN" altLang="zh-CN" sz="2000" b="1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2000" b="1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MMIO</a:t>
            </a:r>
            <a:endParaRPr lang="zh-CN" altLang="zh-CN" sz="2000" b="1" kern="100" dirty="0">
              <a:latin typeface="等线 Light" panose="02010600030101010101" pitchFamily="2" charset="-122"/>
              <a:ea typeface="等线 Light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ts val="600"/>
              </a:spcBef>
              <a:buFont typeface="+mj-lt"/>
              <a:buAutoNum type="arabicPeriod"/>
            </a:pPr>
            <a:r>
              <a:rPr lang="zh-CN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在</a:t>
            </a:r>
            <a:r>
              <a:rPr lang="en-US" altLang="zh-CN" kern="100" dirty="0">
                <a:solidFill>
                  <a:srgbClr val="1F4E79"/>
                </a:solidFill>
                <a:latin typeface="等线" panose="02010600030101010101" charset="-122"/>
                <a:cs typeface="Times New Roman" panose="02020603050405020304" pitchFamily="18" charset="0"/>
              </a:rPr>
              <a:t>include/</a:t>
            </a:r>
            <a:r>
              <a:rPr lang="en-US" altLang="zh-CN" kern="100" dirty="0" err="1">
                <a:solidFill>
                  <a:srgbClr val="1F4E79"/>
                </a:solidFill>
                <a:latin typeface="等线" panose="02010600030101010101" charset="-122"/>
                <a:cs typeface="Times New Roman" panose="02020603050405020304" pitchFamily="18" charset="0"/>
              </a:rPr>
              <a:t>config.h</a:t>
            </a:r>
            <a:r>
              <a:rPr lang="zh-CN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中定义宏</a:t>
            </a:r>
            <a:r>
              <a:rPr lang="en-US" altLang="zh-CN" kern="100" dirty="0">
                <a:solidFill>
                  <a:srgbClr val="1F4E79"/>
                </a:solidFill>
                <a:latin typeface="等线" panose="02010600030101010101" charset="-122"/>
                <a:cs typeface="Times New Roman" panose="02020603050405020304" pitchFamily="18" charset="0"/>
              </a:rPr>
              <a:t>HAS_DEVICE_VGA</a:t>
            </a:r>
            <a:r>
              <a:rPr lang="zh-CN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；</a:t>
            </a:r>
          </a:p>
          <a:p>
            <a:pPr marL="342900" indent="-342900" algn="just">
              <a:spcBef>
                <a:spcPts val="600"/>
              </a:spcBef>
              <a:buFont typeface="+mj-lt"/>
              <a:buAutoNum type="arabicPeriod"/>
            </a:pPr>
            <a:r>
              <a:rPr lang="zh-CN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在</a:t>
            </a:r>
            <a:r>
              <a:rPr lang="en-US" altLang="zh-CN" kern="100" dirty="0" err="1">
                <a:solidFill>
                  <a:srgbClr val="1F4E79"/>
                </a:solidFill>
                <a:latin typeface="等线" panose="02010600030101010101" charset="-122"/>
                <a:cs typeface="Times New Roman" panose="02020603050405020304" pitchFamily="18" charset="0"/>
              </a:rPr>
              <a:t>nemu</a:t>
            </a:r>
            <a:r>
              <a:rPr lang="en-US" altLang="zh-CN" kern="100" dirty="0">
                <a:solidFill>
                  <a:srgbClr val="1F4E79"/>
                </a:solidFill>
                <a:latin typeface="等线" panose="02010600030101010101" charset="-122"/>
                <a:cs typeface="Times New Roman" panose="02020603050405020304" pitchFamily="18" charset="0"/>
              </a:rPr>
              <a:t>/</a:t>
            </a:r>
            <a:r>
              <a:rPr lang="en-US" altLang="zh-CN" kern="100" dirty="0" err="1">
                <a:solidFill>
                  <a:srgbClr val="1F4E79"/>
                </a:solidFill>
                <a:latin typeface="等线" panose="02010600030101010101" charset="-122"/>
                <a:cs typeface="Times New Roman" panose="02020603050405020304" pitchFamily="18" charset="0"/>
              </a:rPr>
              <a:t>src</a:t>
            </a:r>
            <a:r>
              <a:rPr lang="en-US" altLang="zh-CN" kern="100" dirty="0">
                <a:solidFill>
                  <a:srgbClr val="1F4E79"/>
                </a:solidFill>
                <a:latin typeface="等线" panose="02010600030101010101" charset="-122"/>
                <a:cs typeface="Times New Roman" panose="02020603050405020304" pitchFamily="18" charset="0"/>
              </a:rPr>
              <a:t>/memory/</a:t>
            </a:r>
            <a:r>
              <a:rPr lang="en-US" altLang="zh-CN" kern="100" dirty="0" err="1">
                <a:solidFill>
                  <a:srgbClr val="1F4E79"/>
                </a:solidFill>
                <a:latin typeface="等线" panose="02010600030101010101" charset="-122"/>
                <a:cs typeface="Times New Roman" panose="02020603050405020304" pitchFamily="18" charset="0"/>
              </a:rPr>
              <a:t>memory.c</a:t>
            </a:r>
            <a:r>
              <a:rPr lang="zh-CN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中添加</a:t>
            </a:r>
            <a:r>
              <a:rPr lang="en-US" altLang="zh-CN" kern="100" dirty="0" err="1">
                <a:solidFill>
                  <a:srgbClr val="1F4E79"/>
                </a:solidFill>
                <a:latin typeface="等线" panose="02010600030101010101" charset="-122"/>
                <a:cs typeface="Times New Roman" panose="02020603050405020304" pitchFamily="18" charset="0"/>
              </a:rPr>
              <a:t>mm_io</a:t>
            </a:r>
            <a:r>
              <a:rPr lang="zh-CN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判断和对应的读写操作；</a:t>
            </a:r>
          </a:p>
          <a:p>
            <a:pPr marL="342900" indent="-342900" algn="just">
              <a:spcBef>
                <a:spcPts val="600"/>
              </a:spcBef>
              <a:buFont typeface="+mj-lt"/>
              <a:buAutoNum type="arabicPeriod"/>
            </a:pPr>
            <a:r>
              <a:rPr lang="zh-CN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在</a:t>
            </a:r>
            <a:r>
              <a:rPr lang="en-US" altLang="zh-CN" kern="100" dirty="0">
                <a:solidFill>
                  <a:srgbClr val="1F4E79"/>
                </a:solidFill>
                <a:latin typeface="等线" panose="02010600030101010101" charset="-122"/>
                <a:cs typeface="Times New Roman" panose="02020603050405020304" pitchFamily="18" charset="0"/>
              </a:rPr>
              <a:t>kernel/</a:t>
            </a:r>
            <a:r>
              <a:rPr lang="en-US" altLang="zh-CN" kern="100" dirty="0" err="1">
                <a:solidFill>
                  <a:srgbClr val="1F4E79"/>
                </a:solidFill>
                <a:latin typeface="等线" panose="02010600030101010101" charset="-122"/>
                <a:cs typeface="Times New Roman" panose="02020603050405020304" pitchFamily="18" charset="0"/>
              </a:rPr>
              <a:t>src</a:t>
            </a:r>
            <a:r>
              <a:rPr lang="en-US" altLang="zh-CN" kern="100" dirty="0">
                <a:solidFill>
                  <a:srgbClr val="1F4E79"/>
                </a:solidFill>
                <a:latin typeface="等线" panose="02010600030101010101" charset="-122"/>
                <a:cs typeface="Times New Roman" panose="02020603050405020304" pitchFamily="18" charset="0"/>
              </a:rPr>
              <a:t>/memory/</a:t>
            </a:r>
            <a:r>
              <a:rPr lang="en-US" altLang="zh-CN" kern="100" dirty="0" err="1">
                <a:solidFill>
                  <a:srgbClr val="1F4E79"/>
                </a:solidFill>
                <a:latin typeface="等线" panose="02010600030101010101" charset="-122"/>
                <a:cs typeface="Times New Roman" panose="02020603050405020304" pitchFamily="18" charset="0"/>
              </a:rPr>
              <a:t>vmem.c</a:t>
            </a:r>
            <a:r>
              <a:rPr lang="zh-CN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中完成显存的恒等映射；</a:t>
            </a:r>
          </a:p>
          <a:p>
            <a:pPr marL="342900" indent="-342900" algn="just">
              <a:spcBef>
                <a:spcPts val="600"/>
              </a:spcBef>
              <a:buFont typeface="+mj-lt"/>
              <a:buAutoNum type="arabicPeriod"/>
            </a:pPr>
            <a:r>
              <a:rPr lang="zh-CN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通过</a:t>
            </a:r>
            <a:r>
              <a:rPr lang="en-US" altLang="zh-CN" kern="100" dirty="0">
                <a:solidFill>
                  <a:srgbClr val="1F4E79"/>
                </a:solidFill>
                <a:latin typeface="等线" panose="02010600030101010101" charset="-122"/>
                <a:cs typeface="Times New Roman" panose="02020603050405020304" pitchFamily="18" charset="0"/>
              </a:rPr>
              <a:t>make </a:t>
            </a:r>
            <a:r>
              <a:rPr lang="en-US" altLang="zh-CN" dirty="0">
                <a:solidFill>
                  <a:srgbClr val="1F4E79"/>
                </a:solidFill>
                <a:latin typeface="等线" panose="02010600030101010101" charset="-122"/>
                <a:cs typeface="Times New Roman" panose="02020603050405020304" pitchFamily="18" charset="0"/>
              </a:rPr>
              <a:t>test_pa-4-2</a:t>
            </a:r>
            <a:r>
              <a:rPr lang="zh-CN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执行测试用例，观察输出测试颜色信息，并通过</a:t>
            </a:r>
            <a:r>
              <a:rPr lang="en-US" altLang="zh-CN" kern="100" dirty="0" err="1">
                <a:solidFill>
                  <a:srgbClr val="1F4E79"/>
                </a:solidFill>
                <a:latin typeface="等线" panose="02010600030101010101" charset="-122"/>
                <a:cs typeface="Times New Roman" panose="02020603050405020304" pitchFamily="18" charset="0"/>
              </a:rPr>
              <a:t>video_mapping_read_test</a:t>
            </a:r>
            <a:r>
              <a:rPr lang="en-US" altLang="zh-CN" kern="100" dirty="0">
                <a:solidFill>
                  <a:srgbClr val="1F4E79"/>
                </a:solidFill>
                <a:latin typeface="等线" panose="02010600030101010101" charset="-122"/>
                <a:cs typeface="Times New Roman" panose="02020603050405020304" pitchFamily="18" charset="0"/>
              </a:rPr>
              <a:t>()</a:t>
            </a:r>
            <a:r>
              <a:rPr lang="zh-CN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外设与</a:t>
            </a:r>
            <a:r>
              <a:rPr lang="en-US" altLang="zh-CN" dirty="0"/>
              <a:t>I/O</a:t>
            </a:r>
            <a:endParaRPr lang="zh-CN" altLang="en-US" dirty="0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2152650" y="1182255"/>
            <a:ext cx="8938089" cy="1878826"/>
          </a:xfrm>
        </p:spPr>
        <p:txBody>
          <a:bodyPr/>
          <a:lstStyle/>
          <a:p>
            <a:r>
              <a:rPr lang="en-US" altLang="zh-CN" dirty="0"/>
              <a:t>CPU</a:t>
            </a:r>
            <a:r>
              <a:rPr lang="zh-CN" altLang="en-US" dirty="0"/>
              <a:t>如何向外设进行输入输出？</a:t>
            </a:r>
            <a:endParaRPr lang="en-US" altLang="zh-CN" dirty="0"/>
          </a:p>
          <a:p>
            <a:pPr lvl="1"/>
            <a:r>
              <a:rPr lang="zh-CN" altLang="en-US" dirty="0"/>
              <a:t>方式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lang="zh-CN" altLang="zh-CN" dirty="0"/>
              <a:t>内存映射</a:t>
            </a:r>
            <a:r>
              <a:rPr lang="en-US" altLang="zh-CN" dirty="0"/>
              <a:t>I/O (Memory Mapped I/O, </a:t>
            </a:r>
            <a:r>
              <a:rPr lang="en-US" altLang="zh-CN" dirty="0" err="1"/>
              <a:t>mmio</a:t>
            </a:r>
            <a:r>
              <a:rPr lang="en-US" altLang="zh-CN" dirty="0"/>
              <a:t>)</a:t>
            </a:r>
          </a:p>
          <a:p>
            <a:pPr lvl="1"/>
            <a:r>
              <a:rPr lang="en-US" altLang="zh-CN" dirty="0"/>
              <a:t>NEMU</a:t>
            </a:r>
            <a:r>
              <a:rPr lang="zh-CN" altLang="en-US" dirty="0"/>
              <a:t>中典型的</a:t>
            </a:r>
            <a:r>
              <a:rPr lang="zh-CN" altLang="zh-CN" dirty="0"/>
              <a:t>内存</a:t>
            </a:r>
            <a:r>
              <a:rPr lang="zh-CN" altLang="en-US" dirty="0"/>
              <a:t>映射</a:t>
            </a:r>
            <a:r>
              <a:rPr lang="en-US" altLang="zh-CN" dirty="0"/>
              <a:t>I/O</a:t>
            </a:r>
            <a:r>
              <a:rPr lang="zh-CN" altLang="en-US" dirty="0"/>
              <a:t>设备</a:t>
            </a:r>
            <a:endParaRPr lang="en-US" altLang="zh-CN" dirty="0"/>
          </a:p>
          <a:p>
            <a:pPr lvl="2"/>
            <a:r>
              <a:rPr lang="en-US" altLang="zh-CN" dirty="0"/>
              <a:t>VGA</a:t>
            </a:r>
          </a:p>
          <a:p>
            <a:pPr marL="1371600" lvl="3" indent="0">
              <a:buNone/>
            </a:pPr>
            <a:endParaRPr lang="zh-CN" altLang="en-US" dirty="0">
              <a:solidFill>
                <a:srgbClr val="00B05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86" t="30506" r="58292" b="40158"/>
          <a:stretch>
            <a:fillRect/>
          </a:stretch>
        </p:blipFill>
        <p:spPr>
          <a:xfrm>
            <a:off x="7662886" y="2849713"/>
            <a:ext cx="2766177" cy="1972601"/>
          </a:xfrm>
          <a:prstGeom prst="rect">
            <a:avLst/>
          </a:prstGeom>
        </p:spPr>
      </p:pic>
      <p:cxnSp>
        <p:nvCxnSpPr>
          <p:cNvPr id="8" name="直接箭头连接符 7"/>
          <p:cNvCxnSpPr/>
          <p:nvPr/>
        </p:nvCxnSpPr>
        <p:spPr>
          <a:xfrm flipV="1">
            <a:off x="7423949" y="4917243"/>
            <a:ext cx="1194693" cy="1263000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73914-3DE2-4782-82C1-5FE01A9BA628}" type="datetime1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7725B-6B6E-48AF-B2E8-4D27612ECBB4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635300" y="3544796"/>
            <a:ext cx="5857700" cy="27345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6000"/>
              </a:lnSpc>
              <a:spcBef>
                <a:spcPts val="600"/>
              </a:spcBef>
              <a:spcAft>
                <a:spcPts val="1450"/>
              </a:spcAft>
            </a:pPr>
            <a:r>
              <a:rPr lang="en-US" altLang="zh-CN" sz="2000" b="1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§4-2.3.4 </a:t>
            </a:r>
            <a:r>
              <a:rPr lang="zh-CN" altLang="zh-CN" sz="2000" b="1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实现</a:t>
            </a:r>
            <a:r>
              <a:rPr lang="en-US" altLang="zh-CN" sz="2000" b="1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VGA</a:t>
            </a:r>
            <a:r>
              <a:rPr lang="zh-CN" altLang="zh-CN" sz="2000" b="1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2000" b="1" kern="100" dirty="0"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MMIO</a:t>
            </a:r>
            <a:endParaRPr lang="zh-CN" altLang="zh-CN" sz="2000" b="1" kern="100" dirty="0">
              <a:latin typeface="等线 Light" panose="02010600030101010101" pitchFamily="2" charset="-122"/>
              <a:ea typeface="等线 Light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ts val="600"/>
              </a:spcBef>
              <a:buFont typeface="+mj-lt"/>
              <a:buAutoNum type="arabicPeriod"/>
            </a:pPr>
            <a:r>
              <a:rPr lang="zh-CN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在</a:t>
            </a:r>
            <a:r>
              <a:rPr lang="en-US" altLang="zh-CN" kern="100" dirty="0">
                <a:solidFill>
                  <a:srgbClr val="1F4E79"/>
                </a:solidFill>
                <a:latin typeface="等线" panose="02010600030101010101" charset="-122"/>
                <a:cs typeface="Times New Roman" panose="02020603050405020304" pitchFamily="18" charset="0"/>
              </a:rPr>
              <a:t>include/</a:t>
            </a:r>
            <a:r>
              <a:rPr lang="en-US" altLang="zh-CN" kern="100" dirty="0" err="1">
                <a:solidFill>
                  <a:srgbClr val="1F4E79"/>
                </a:solidFill>
                <a:latin typeface="等线" panose="02010600030101010101" charset="-122"/>
                <a:cs typeface="Times New Roman" panose="02020603050405020304" pitchFamily="18" charset="0"/>
              </a:rPr>
              <a:t>config.h</a:t>
            </a:r>
            <a:r>
              <a:rPr lang="zh-CN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中定义宏</a:t>
            </a:r>
            <a:r>
              <a:rPr lang="en-US" altLang="zh-CN" kern="100" dirty="0">
                <a:solidFill>
                  <a:srgbClr val="1F4E79"/>
                </a:solidFill>
                <a:latin typeface="等线" panose="02010600030101010101" charset="-122"/>
                <a:cs typeface="Times New Roman" panose="02020603050405020304" pitchFamily="18" charset="0"/>
              </a:rPr>
              <a:t>HAS_DEVICE_VGA</a:t>
            </a:r>
            <a:r>
              <a:rPr lang="zh-CN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；</a:t>
            </a:r>
          </a:p>
          <a:p>
            <a:pPr marL="342900" indent="-342900" algn="just">
              <a:spcBef>
                <a:spcPts val="600"/>
              </a:spcBef>
              <a:buFont typeface="+mj-lt"/>
              <a:buAutoNum type="arabicPeriod"/>
            </a:pPr>
            <a:r>
              <a:rPr lang="zh-CN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在</a:t>
            </a:r>
            <a:r>
              <a:rPr lang="en-US" altLang="zh-CN" kern="100" dirty="0" err="1">
                <a:solidFill>
                  <a:srgbClr val="1F4E79"/>
                </a:solidFill>
                <a:latin typeface="等线" panose="02010600030101010101" charset="-122"/>
                <a:cs typeface="Times New Roman" panose="02020603050405020304" pitchFamily="18" charset="0"/>
              </a:rPr>
              <a:t>nemu</a:t>
            </a:r>
            <a:r>
              <a:rPr lang="en-US" altLang="zh-CN" kern="100" dirty="0">
                <a:solidFill>
                  <a:srgbClr val="1F4E79"/>
                </a:solidFill>
                <a:latin typeface="等线" panose="02010600030101010101" charset="-122"/>
                <a:cs typeface="Times New Roman" panose="02020603050405020304" pitchFamily="18" charset="0"/>
              </a:rPr>
              <a:t>/</a:t>
            </a:r>
            <a:r>
              <a:rPr lang="en-US" altLang="zh-CN" kern="100" dirty="0" err="1">
                <a:solidFill>
                  <a:srgbClr val="1F4E79"/>
                </a:solidFill>
                <a:latin typeface="等线" panose="02010600030101010101" charset="-122"/>
                <a:cs typeface="Times New Roman" panose="02020603050405020304" pitchFamily="18" charset="0"/>
              </a:rPr>
              <a:t>src</a:t>
            </a:r>
            <a:r>
              <a:rPr lang="en-US" altLang="zh-CN" kern="100" dirty="0">
                <a:solidFill>
                  <a:srgbClr val="1F4E79"/>
                </a:solidFill>
                <a:latin typeface="等线" panose="02010600030101010101" charset="-122"/>
                <a:cs typeface="Times New Roman" panose="02020603050405020304" pitchFamily="18" charset="0"/>
              </a:rPr>
              <a:t>/memory/</a:t>
            </a:r>
            <a:r>
              <a:rPr lang="en-US" altLang="zh-CN" kern="100" dirty="0" err="1">
                <a:solidFill>
                  <a:srgbClr val="1F4E79"/>
                </a:solidFill>
                <a:latin typeface="等线" panose="02010600030101010101" charset="-122"/>
                <a:cs typeface="Times New Roman" panose="02020603050405020304" pitchFamily="18" charset="0"/>
              </a:rPr>
              <a:t>memory.c</a:t>
            </a:r>
            <a:r>
              <a:rPr lang="zh-CN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中添加</a:t>
            </a:r>
            <a:r>
              <a:rPr lang="en-US" altLang="zh-CN" kern="100" dirty="0" err="1">
                <a:solidFill>
                  <a:srgbClr val="1F4E79"/>
                </a:solidFill>
                <a:latin typeface="等线" panose="02010600030101010101" charset="-122"/>
                <a:cs typeface="Times New Roman" panose="02020603050405020304" pitchFamily="18" charset="0"/>
              </a:rPr>
              <a:t>mm_io</a:t>
            </a:r>
            <a:r>
              <a:rPr lang="zh-CN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判断和对应的读写操作；</a:t>
            </a:r>
          </a:p>
          <a:p>
            <a:pPr marL="342900" indent="-342900" algn="just">
              <a:spcBef>
                <a:spcPts val="600"/>
              </a:spcBef>
              <a:buFont typeface="+mj-lt"/>
              <a:buAutoNum type="arabicPeriod"/>
            </a:pPr>
            <a:r>
              <a:rPr lang="zh-CN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在</a:t>
            </a:r>
            <a:r>
              <a:rPr lang="en-US" altLang="zh-CN" kern="100" dirty="0">
                <a:solidFill>
                  <a:srgbClr val="1F4E79"/>
                </a:solidFill>
                <a:latin typeface="等线" panose="02010600030101010101" charset="-122"/>
                <a:cs typeface="Times New Roman" panose="02020603050405020304" pitchFamily="18" charset="0"/>
              </a:rPr>
              <a:t>kernel/</a:t>
            </a:r>
            <a:r>
              <a:rPr lang="en-US" altLang="zh-CN" kern="100" dirty="0" err="1">
                <a:solidFill>
                  <a:srgbClr val="1F4E79"/>
                </a:solidFill>
                <a:latin typeface="等线" panose="02010600030101010101" charset="-122"/>
                <a:cs typeface="Times New Roman" panose="02020603050405020304" pitchFamily="18" charset="0"/>
              </a:rPr>
              <a:t>src</a:t>
            </a:r>
            <a:r>
              <a:rPr lang="en-US" altLang="zh-CN" kern="100" dirty="0">
                <a:solidFill>
                  <a:srgbClr val="1F4E79"/>
                </a:solidFill>
                <a:latin typeface="等线" panose="02010600030101010101" charset="-122"/>
                <a:cs typeface="Times New Roman" panose="02020603050405020304" pitchFamily="18" charset="0"/>
              </a:rPr>
              <a:t>/memory/</a:t>
            </a:r>
            <a:r>
              <a:rPr lang="en-US" altLang="zh-CN" kern="100" dirty="0" err="1">
                <a:solidFill>
                  <a:srgbClr val="1F4E79"/>
                </a:solidFill>
                <a:latin typeface="等线" panose="02010600030101010101" charset="-122"/>
                <a:cs typeface="Times New Roman" panose="02020603050405020304" pitchFamily="18" charset="0"/>
              </a:rPr>
              <a:t>vmem.c</a:t>
            </a:r>
            <a:r>
              <a:rPr lang="zh-CN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中完成显存的恒等映射；</a:t>
            </a:r>
          </a:p>
          <a:p>
            <a:pPr marL="342900" indent="-342900" algn="just">
              <a:spcBef>
                <a:spcPts val="600"/>
              </a:spcBef>
              <a:buFont typeface="+mj-lt"/>
              <a:buAutoNum type="arabicPeriod"/>
            </a:pPr>
            <a:r>
              <a:rPr lang="zh-CN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通过</a:t>
            </a:r>
            <a:r>
              <a:rPr lang="en-US" altLang="zh-CN" kern="100" dirty="0">
                <a:solidFill>
                  <a:srgbClr val="1F4E79"/>
                </a:solidFill>
                <a:latin typeface="等线" panose="02010600030101010101" charset="-122"/>
                <a:cs typeface="Times New Roman" panose="02020603050405020304" pitchFamily="18" charset="0"/>
              </a:rPr>
              <a:t>make </a:t>
            </a:r>
            <a:r>
              <a:rPr lang="en-US" altLang="zh-CN" dirty="0">
                <a:solidFill>
                  <a:srgbClr val="1F4E79"/>
                </a:solidFill>
                <a:latin typeface="等线" panose="02010600030101010101" charset="-122"/>
                <a:cs typeface="Times New Roman" panose="02020603050405020304" pitchFamily="18" charset="0"/>
              </a:rPr>
              <a:t>test_pa-4-2</a:t>
            </a:r>
            <a:r>
              <a:rPr lang="zh-CN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执行测试用例，观察输出测试颜色信息，并通过</a:t>
            </a:r>
            <a:r>
              <a:rPr lang="en-US" altLang="zh-CN" kern="100" dirty="0" err="1">
                <a:solidFill>
                  <a:srgbClr val="1F4E79"/>
                </a:solidFill>
                <a:latin typeface="等线" panose="02010600030101010101" charset="-122"/>
                <a:cs typeface="Times New Roman" panose="02020603050405020304" pitchFamily="18" charset="0"/>
              </a:rPr>
              <a:t>video_mapping_read_test</a:t>
            </a:r>
            <a:r>
              <a:rPr lang="en-US" altLang="zh-CN" kern="100" dirty="0">
                <a:solidFill>
                  <a:srgbClr val="1F4E79"/>
                </a:solidFill>
                <a:latin typeface="等线" panose="02010600030101010101" charset="-122"/>
                <a:cs typeface="Times New Roman" panose="02020603050405020304" pitchFamily="18" charset="0"/>
              </a:rPr>
              <a:t>()</a:t>
            </a:r>
            <a:r>
              <a:rPr lang="zh-CN" altLang="zh-CN" kern="100" dirty="0">
                <a:latin typeface="等线" panose="02010600030101010101" charset="-122"/>
                <a:cs typeface="Times New Roman" panose="02020603050405020304" pitchFamily="18" charset="0"/>
              </a:rPr>
              <a:t>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I/O</a:t>
            </a:r>
            <a:r>
              <a:rPr lang="zh-CN" altLang="en-US" dirty="0"/>
              <a:t>的控制方式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基本方式</a:t>
            </a:r>
            <a:endParaRPr lang="en-US" altLang="zh-CN" dirty="0"/>
          </a:p>
          <a:p>
            <a:pPr lvl="1"/>
            <a:r>
              <a:rPr lang="zh-CN" altLang="en-US" dirty="0"/>
              <a:t>直接控制法</a:t>
            </a:r>
            <a:endParaRPr lang="en-US" altLang="zh-CN" dirty="0"/>
          </a:p>
          <a:p>
            <a:pPr lvl="1"/>
            <a:r>
              <a:rPr lang="zh-CN" altLang="en-US" dirty="0"/>
              <a:t>中断控制法</a:t>
            </a:r>
            <a:endParaRPr lang="en-US" altLang="zh-CN" dirty="0"/>
          </a:p>
          <a:p>
            <a:pPr lvl="1"/>
            <a:r>
              <a:rPr lang="en-US" altLang="zh-CN" dirty="0"/>
              <a:t>DMA</a:t>
            </a:r>
            <a:r>
              <a:rPr lang="zh-CN" altLang="en-US" dirty="0"/>
              <a:t>控制法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在</a:t>
            </a:r>
            <a:r>
              <a:rPr lang="en-US" altLang="zh-CN" dirty="0"/>
              <a:t>PA</a:t>
            </a:r>
            <a:r>
              <a:rPr lang="zh-CN" altLang="en-US" dirty="0"/>
              <a:t>的实现中，大多数设备采用直接控制法，</a:t>
            </a:r>
            <a:r>
              <a:rPr lang="en-US" altLang="zh-CN" dirty="0"/>
              <a:t>Audio</a:t>
            </a:r>
            <a:r>
              <a:rPr lang="zh-CN" altLang="en-US" dirty="0"/>
              <a:t>的实现采用了</a:t>
            </a:r>
            <a:r>
              <a:rPr lang="en-US" altLang="zh-CN" dirty="0"/>
              <a:t>DMA</a:t>
            </a:r>
            <a:r>
              <a:rPr lang="zh-CN" altLang="en-US" dirty="0"/>
              <a:t>控制法，有兴趣的同学可以去阅读相应代码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EC8D0-8BD3-45D3-B2C6-6844CBE5E9BC}" type="datetime1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7725B-6B6E-48AF-B2E8-4D27612ECBB4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打字小游戏与仙剑（选做任务）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395324" y="1440620"/>
            <a:ext cx="933617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这一部分的代码和教程都相对比较老了，属于对老版本致敬的部分，会有一些不一致，希望有志之士参与重构，成为核心开发者。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作为最后的挑战任务，以理解框架代码和</a:t>
            </a:r>
            <a:r>
              <a:rPr lang="en-US" altLang="zh-CN" sz="2400" dirty="0"/>
              <a:t>debug</a:t>
            </a:r>
            <a:r>
              <a:rPr lang="zh-CN" altLang="en-US" sz="2400" dirty="0"/>
              <a:t>为主。加油了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建议关调</a:t>
            </a:r>
            <a:r>
              <a:rPr lang="en-US" altLang="zh-CN" sz="2400" dirty="0"/>
              <a:t>cache</a:t>
            </a:r>
          </a:p>
          <a:p>
            <a:endParaRPr lang="en-US" altLang="zh-CN" sz="2400" dirty="0"/>
          </a:p>
          <a:p>
            <a:r>
              <a:rPr lang="zh-CN" altLang="en-US" sz="2400" dirty="0"/>
              <a:t>执行命令：</a:t>
            </a:r>
            <a:r>
              <a:rPr lang="en-US" altLang="zh-CN" sz="2400" dirty="0"/>
              <a:t>make test_pa-4-3 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</a:rPr>
              <a:t>// 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</a:rPr>
              <a:t>最后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</a:rPr>
              <a:t>submit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</a:rPr>
              <a:t>执行的是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</a:rPr>
              <a:t>credits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</a:rPr>
              <a:t>小游戏</a:t>
            </a:r>
            <a:endParaRPr lang="en-US" altLang="zh-CN" sz="2400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n-US" altLang="zh-CN" sz="24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zh-CN" altLang="en-US" sz="2400" dirty="0"/>
              <a:t>最终的截止时间会另行公布</a:t>
            </a:r>
            <a:endParaRPr lang="en-US" altLang="zh-CN" sz="240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7D275-20EF-4AEA-ADB4-214F46FE7303}" type="datetime1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7725B-6B6E-48AF-B2E8-4D27612ECBB4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的构成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路线图 回顾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D3230-3BF8-4ADC-96E2-0DC39A864BB8}" type="slidenum">
              <a:rPr lang="zh-CN" altLang="en-US" smtClean="0"/>
              <a:t>24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5154" y="1460645"/>
            <a:ext cx="6221691" cy="4666268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64A71-6DAA-4AAC-9E68-E075D491D67A}" type="datetime1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209800" y="2653317"/>
            <a:ext cx="7772400" cy="856646"/>
          </a:xfrm>
        </p:spPr>
        <p:txBody>
          <a:bodyPr>
            <a:normAutofit fontScale="90000"/>
          </a:bodyPr>
          <a:lstStyle/>
          <a:p>
            <a:pPr algn="l"/>
            <a:br>
              <a:rPr lang="en-US" altLang="zh-CN" sz="2400" dirty="0"/>
            </a:br>
            <a:br>
              <a:rPr lang="en-US" altLang="zh-CN" sz="3600" dirty="0"/>
            </a:br>
            <a:r>
              <a:rPr lang="zh-CN" altLang="en-US" sz="3600" dirty="0"/>
              <a:t>祝大家学习快乐，身心健康！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209800" y="3751868"/>
            <a:ext cx="7315200" cy="1505932"/>
          </a:xfrm>
        </p:spPr>
        <p:txBody>
          <a:bodyPr>
            <a:normAutofit/>
          </a:bodyPr>
          <a:lstStyle/>
          <a:p>
            <a:pPr algn="l"/>
            <a:r>
              <a:rPr lang="zh-CN" altLang="en-US" dirty="0"/>
              <a:t>感谢同学们一个学期的努力 </a:t>
            </a:r>
            <a:r>
              <a:rPr lang="en-US" altLang="zh-CN" dirty="0"/>
              <a:t>:-)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46F99-EA09-439A-8611-6A8D1D1506CE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209801" y="2468651"/>
            <a:ext cx="14605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到此结束</a:t>
            </a:r>
            <a:endParaRPr lang="zh-CN" altLang="en-US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6BD97-71AB-4501-B149-16B58158CC75}" type="datetime1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020_spring_pa_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2020_spring_pa_0</Template>
  <TotalTime>139</TotalTime>
  <Words>3125</Words>
  <Application>Microsoft Office PowerPoint</Application>
  <PresentationFormat>宽屏</PresentationFormat>
  <Paragraphs>411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4" baseType="lpstr">
      <vt:lpstr>MS Gothic</vt:lpstr>
      <vt:lpstr>等线</vt:lpstr>
      <vt:lpstr>等线 Light</vt:lpstr>
      <vt:lpstr>微软雅黑</vt:lpstr>
      <vt:lpstr>幼圆</vt:lpstr>
      <vt:lpstr>Arial</vt:lpstr>
      <vt:lpstr>Consolas</vt:lpstr>
      <vt:lpstr>Times New Roman</vt:lpstr>
      <vt:lpstr>2020_spring_pa_0</vt:lpstr>
      <vt:lpstr>PA 4 异常、中断与I/O                           ——PA 4-2 外设与I/O</vt:lpstr>
      <vt:lpstr>前情提要</vt:lpstr>
      <vt:lpstr>前情提要</vt:lpstr>
      <vt:lpstr>PA 4-2的任务</vt:lpstr>
      <vt:lpstr>外设与I/O</vt:lpstr>
      <vt:lpstr>PowerPoint 演示文稿</vt:lpstr>
      <vt:lpstr>外设与I/O</vt:lpstr>
      <vt:lpstr>PowerPoint 演示文稿</vt:lpstr>
      <vt:lpstr>外设与I/O</vt:lpstr>
      <vt:lpstr>外设与I/O</vt:lpstr>
      <vt:lpstr>外设与I/O</vt:lpstr>
      <vt:lpstr>外设与I/O</vt:lpstr>
      <vt:lpstr>外设与I/O</vt:lpstr>
      <vt:lpstr>外设与I/O</vt:lpstr>
      <vt:lpstr>外设与I/O</vt:lpstr>
      <vt:lpstr>外设与I/O</vt:lpstr>
      <vt:lpstr>外设与I/O</vt:lpstr>
      <vt:lpstr>外设与I/O</vt:lpstr>
      <vt:lpstr>外设与I/O</vt:lpstr>
      <vt:lpstr>外设与I/O</vt:lpstr>
      <vt:lpstr>外设与I/O</vt:lpstr>
      <vt:lpstr>I/O的控制方式</vt:lpstr>
      <vt:lpstr>打字小游戏与仙剑（选做任务）</vt:lpstr>
      <vt:lpstr>PA的构成 – 路线图 回顾</vt:lpstr>
      <vt:lpstr>  祝大家学习快乐，身心健康！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汪 亮</dc:creator>
  <cp:lastModifiedBy>zhiyu yang</cp:lastModifiedBy>
  <cp:revision>53</cp:revision>
  <dcterms:created xsi:type="dcterms:W3CDTF">2020-06-05T00:54:00Z</dcterms:created>
  <dcterms:modified xsi:type="dcterms:W3CDTF">2025-12-23T13:34:32Z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06BE93E050CC4F6F9647A82E22350BF2_12</vt:lpwstr>
  </property>
  <property fmtid="{D5CDD505-2E9C-101B-9397-08002B2CF9AE}" pid="3" name="KSOProductBuildVer">
    <vt:lpwstr>2052-12.1.0.20305</vt:lpwstr>
  </property>
</Properties>
</file>