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55" r:id="rId4"/>
    <p:sldId id="357" r:id="rId5"/>
    <p:sldId id="358" r:id="rId6"/>
    <p:sldId id="359" r:id="rId7"/>
    <p:sldId id="360" r:id="rId8"/>
    <p:sldId id="297" r:id="rId9"/>
    <p:sldId id="299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37" r:id="rId18"/>
    <p:sldId id="338" r:id="rId19"/>
    <p:sldId id="309" r:id="rId20"/>
    <p:sldId id="257" r:id="rId21"/>
    <p:sldId id="341" r:id="rId22"/>
    <p:sldId id="339" r:id="rId23"/>
    <p:sldId id="310" r:id="rId24"/>
    <p:sldId id="342" r:id="rId25"/>
    <p:sldId id="343" r:id="rId26"/>
    <p:sldId id="311" r:id="rId27"/>
    <p:sldId id="313" r:id="rId28"/>
    <p:sldId id="312" r:id="rId29"/>
    <p:sldId id="344" r:id="rId30"/>
    <p:sldId id="345" r:id="rId31"/>
    <p:sldId id="346" r:id="rId32"/>
    <p:sldId id="350" r:id="rId33"/>
    <p:sldId id="314" r:id="rId34"/>
    <p:sldId id="315" r:id="rId35"/>
    <p:sldId id="316" r:id="rId36"/>
    <p:sldId id="348" r:id="rId37"/>
    <p:sldId id="352" r:id="rId38"/>
    <p:sldId id="351" r:id="rId39"/>
    <p:sldId id="347" r:id="rId40"/>
    <p:sldId id="317" r:id="rId41"/>
    <p:sldId id="318" r:id="rId42"/>
    <p:sldId id="319" r:id="rId43"/>
    <p:sldId id="349" r:id="rId44"/>
    <p:sldId id="323" r:id="rId45"/>
    <p:sldId id="324" r:id="rId46"/>
    <p:sldId id="326" r:id="rId47"/>
    <p:sldId id="327" r:id="rId48"/>
    <p:sldId id="328" r:id="rId49"/>
    <p:sldId id="353" r:id="rId50"/>
    <p:sldId id="354" r:id="rId51"/>
    <p:sldId id="334" r:id="rId52"/>
    <p:sldId id="336" r:id="rId53"/>
    <p:sldId id="335" r:id="rId54"/>
    <p:sldId id="329" r:id="rId55"/>
    <p:sldId id="330" r:id="rId56"/>
    <p:sldId id="331" r:id="rId57"/>
    <p:sldId id="332" r:id="rId58"/>
    <p:sldId id="295" r:id="rId59"/>
    <p:sldId id="296" r:id="rId60"/>
    <p:sldId id="333" r:id="rId61"/>
    <p:sldId id="265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36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6392-CD68-4280-A6CC-17E4BA73E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F899E-3639-46DB-A186-B34DBB0BBA8D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  <a14:imgEffect>
                      <a14:colorTemperature colorTemp="6494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365126"/>
            <a:ext cx="5105400" cy="63987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6392-CD68-4280-A6CC-17E4BA73E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F899E-3639-46DB-A186-B34DBB0BBA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6392-CD68-4280-A6CC-17E4BA73E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F899E-3639-46DB-A186-B34DBB0BBA8D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648" y="390127"/>
            <a:ext cx="1077598" cy="125052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013" y="304800"/>
            <a:ext cx="1345787" cy="1423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6392-CD68-4280-A6CC-17E4BA73E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F899E-3639-46DB-A186-B34DBB0BBA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6392-CD68-4280-A6CC-17E4BA73E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F899E-3639-46DB-A186-B34DBB0BBA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6392-CD68-4280-A6CC-17E4BA73E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F899E-3639-46DB-A186-B34DBB0BBA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6392-CD68-4280-A6CC-17E4BA73E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F899E-3639-46DB-A186-B34DBB0BBA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6392-CD68-4280-A6CC-17E4BA73E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F899E-3639-46DB-A186-B34DBB0BBA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6392-CD68-4280-A6CC-17E4BA73E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F899E-3639-46DB-A186-B34DBB0BBA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6392-CD68-4280-A6CC-17E4BA73E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F899E-3639-46DB-A186-B34DBB0BBA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6392-CD68-4280-A6CC-17E4BA73E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F899E-3639-46DB-A186-B34DBB0BBA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48509"/>
            <a:ext cx="10515600" cy="4828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0">
                <a:solidFill>
                  <a:schemeClr val="tx1"/>
                </a:solidFill>
              </a:defRPr>
            </a:lvl1pPr>
          </a:lstStyle>
          <a:p>
            <a:fld id="{DE4A6392-CD68-4280-A6CC-17E4BA73E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88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8843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0">
                <a:solidFill>
                  <a:schemeClr val="tx1"/>
                </a:solidFill>
              </a:defRPr>
            </a:lvl1pPr>
          </a:lstStyle>
          <a:p>
            <a:fld id="{452F899E-3639-46DB-A186-B34DBB0BBA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www.kernel.org/doc/html/v4.10/process/coding-style.html" TargetMode="External"/><Relationship Id="rId1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ryanhanwu/How-To-Ask-Questions-The-Smart-Way/blob/master/README-zh_CN.md" TargetMode="Externa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ryanhanwu/How-To-Ask-Questions-The-Smart-Way/blob/master/README-zh_CN.md" TargetMode="Externa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2974283"/>
            <a:ext cx="9806310" cy="1203642"/>
          </a:xfrm>
        </p:spPr>
        <p:txBody>
          <a:bodyPr>
            <a:noAutofit/>
          </a:bodyPr>
          <a:lstStyle/>
          <a:p>
            <a:pPr algn="l"/>
            <a:r>
              <a:rPr lang="zh-CN" sz="4800" dirty="0"/>
              <a:t>对框架和</a:t>
            </a:r>
            <a:r>
              <a:rPr lang="en-US" altLang="zh-CN" sz="4800" dirty="0"/>
              <a:t>Debug</a:t>
            </a:r>
            <a:r>
              <a:rPr lang="zh-CN" altLang="en-US" sz="4800" dirty="0"/>
              <a:t>的一些补充信息</a:t>
            </a:r>
            <a:endParaRPr lang="zh-CN" altLang="en-US" sz="4800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1524000" y="4298315"/>
            <a:ext cx="9144000" cy="1655762"/>
          </a:xfrm>
        </p:spPr>
        <p:txBody>
          <a:bodyPr/>
          <a:lstStyle/>
          <a:p>
            <a:pPr algn="r"/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09</a:t>
            </a:r>
            <a:r>
              <a:rPr lang="zh-CN" altLang="en-US" dirty="0"/>
              <a:t>月</a:t>
            </a:r>
            <a:r>
              <a:rPr lang="en-US" altLang="zh-CN"/>
              <a:t>30</a:t>
            </a:r>
            <a:r>
              <a:rPr lang="zh-CN" altLang="en-US"/>
              <a:t>日</a:t>
            </a:r>
            <a:endParaRPr lang="en-US" altLang="zh-CN" dirty="0"/>
          </a:p>
          <a:p>
            <a:pPr algn="r"/>
            <a:r>
              <a:rPr lang="zh-CN" altLang="en-US" dirty="0"/>
              <a:t>南京大学</a:t>
            </a:r>
            <a:r>
              <a:rPr lang="en-US" altLang="zh-CN" dirty="0"/>
              <a:t>《</a:t>
            </a:r>
            <a:r>
              <a:rPr lang="zh-CN" altLang="en-US" dirty="0"/>
              <a:t>计算机系统基础</a:t>
            </a:r>
            <a:r>
              <a:rPr lang="en-US" altLang="zh-CN" dirty="0"/>
              <a:t>》</a:t>
            </a:r>
            <a:r>
              <a:rPr lang="zh-CN" altLang="en-US" dirty="0"/>
              <a:t>课程组</a:t>
            </a:r>
            <a:endParaRPr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1524000" y="1359434"/>
            <a:ext cx="6858000" cy="13329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计算机系统基础</a:t>
            </a:r>
            <a:b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en-US" altLang="zh-CN" sz="2400" dirty="0">
                <a:latin typeface="幼圆" panose="02010509060101010101" pitchFamily="49" charset="-122"/>
                <a:ea typeface="幼圆" panose="02010509060101010101" pitchFamily="49" charset="-122"/>
              </a:rPr>
              <a:t>Programming Assignment</a:t>
            </a:r>
            <a:endParaRPr lang="zh-CN" altLang="en-US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从</a:t>
            </a:r>
            <a:r>
              <a:rPr lang="en-US" altLang="zh-CN" dirty="0" smtClean="0"/>
              <a:t>make run</a:t>
            </a:r>
            <a:r>
              <a:rPr lang="zh-CN" altLang="en-US" dirty="0" smtClean="0"/>
              <a:t>讲</a:t>
            </a:r>
            <a:r>
              <a:rPr lang="zh-CN" altLang="en-US" dirty="0"/>
              <a:t>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3395" y="1182370"/>
            <a:ext cx="11295380" cy="1491615"/>
          </a:xfrm>
        </p:spPr>
        <p:txBody>
          <a:bodyPr>
            <a:normAutofit fontScale="92500"/>
          </a:bodyPr>
          <a:lstStyle/>
          <a:p>
            <a:r>
              <a:rPr lang="zh-CN" altLang="en-US" dirty="0" smtClean="0"/>
              <a:t>当输入</a:t>
            </a:r>
            <a:r>
              <a:rPr lang="en-US" altLang="zh-CN" dirty="0" smtClean="0"/>
              <a:t>make run</a:t>
            </a:r>
            <a:r>
              <a:rPr lang="zh-CN" altLang="en-US" dirty="0" smtClean="0"/>
              <a:t>的时候，发生了什么</a:t>
            </a:r>
            <a:r>
              <a:rPr lang="en-US" altLang="zh-CN" dirty="0" smtClean="0"/>
              <a:t>?</a:t>
            </a:r>
            <a:endParaRPr lang="en-US" altLang="zh-CN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altLang="zh-CN" dirty="0" smtClean="0"/>
              <a:t>make</a:t>
            </a:r>
            <a:r>
              <a:rPr lang="zh-CN" altLang="en-US" dirty="0" smtClean="0"/>
              <a:t>程序在当前目录下寻找</a:t>
            </a:r>
            <a:r>
              <a:rPr lang="en-US" altLang="zh-CN" dirty="0" err="1" smtClean="0"/>
              <a:t>Makefile</a:t>
            </a:r>
            <a:endParaRPr lang="en-US" altLang="zh-CN" dirty="0" smtClean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 smtClean="0"/>
              <a:t>若找到，执行指定的目标（如</a:t>
            </a:r>
            <a:r>
              <a:rPr lang="en-US" altLang="zh-CN" dirty="0" smtClean="0"/>
              <a:t>run</a:t>
            </a:r>
            <a:r>
              <a:rPr lang="zh-CN" altLang="en-US" dirty="0" smtClean="0"/>
              <a:t>）或第一个目标（命令中没有目标只有</a:t>
            </a:r>
            <a:r>
              <a:rPr lang="en-US" altLang="zh-CN" dirty="0" smtClean="0"/>
              <a:t>make</a:t>
            </a:r>
            <a:r>
              <a:rPr lang="zh-CN" altLang="en-US" dirty="0" smtClean="0"/>
              <a:t>的情形）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816735" y="3891915"/>
            <a:ext cx="9139555" cy="23069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nemu: </a:t>
            </a:r>
            <a:endParaRPr lang="en-US" altLang="zh-CN" dirty="0"/>
          </a:p>
          <a:p>
            <a:r>
              <a:rPr lang="en-US" altLang="zh-CN" dirty="0"/>
              <a:t>	$(call git_commit, "compile nemu testcase kernel", $(TIME_MAKE))</a:t>
            </a:r>
            <a:endParaRPr lang="en-US" altLang="zh-CN" dirty="0"/>
          </a:p>
          <a:p>
            <a:r>
              <a:rPr lang="en-US" altLang="zh-CN" dirty="0"/>
              <a:t>	cd nemu &amp;&amp; make</a:t>
            </a:r>
            <a:endParaRPr lang="en-US" altLang="zh-CN" dirty="0"/>
          </a:p>
          <a:p>
            <a:r>
              <a:rPr lang="en-US" altLang="zh-CN" dirty="0"/>
              <a:t>	cd testcase &amp;&amp; make</a:t>
            </a:r>
            <a:endParaRPr lang="en-US" altLang="zh-CN" dirty="0"/>
          </a:p>
          <a:p>
            <a:r>
              <a:rPr lang="en-US" altLang="zh-CN" dirty="0"/>
              <a:t>	cd kernel &amp;&amp; make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run</a:t>
            </a:r>
            <a:r>
              <a:rPr lang="en-US" altLang="zh-CN" dirty="0"/>
              <a:t>: </a:t>
            </a:r>
            <a:r>
              <a:rPr lang="en-US" altLang="zh-CN" dirty="0" err="1">
                <a:solidFill>
                  <a:srgbClr val="00B0F0"/>
                </a:solidFill>
              </a:rPr>
              <a:t>nemu</a:t>
            </a:r>
            <a:endParaRPr lang="en-US" altLang="zh-CN" dirty="0">
              <a:solidFill>
                <a:srgbClr val="00B0F0"/>
              </a:solidFill>
            </a:endParaRPr>
          </a:p>
          <a:p>
            <a:r>
              <a:rPr lang="en-US" altLang="zh-CN" dirty="0" smtClean="0"/>
              <a:t>[</a:t>
            </a:r>
            <a:r>
              <a:rPr lang="en-US" altLang="zh-CN" dirty="0"/>
              <a:t>	]</a:t>
            </a:r>
            <a:r>
              <a:rPr lang="en-US" altLang="zh-CN" dirty="0" smtClean="0">
                <a:solidFill>
                  <a:srgbClr val="00B050"/>
                </a:solidFill>
              </a:rPr>
              <a:t>$(</a:t>
            </a:r>
            <a:r>
              <a:rPr lang="en-US" altLang="zh-CN" dirty="0">
                <a:solidFill>
                  <a:srgbClr val="00B050"/>
                </a:solidFill>
              </a:rPr>
              <a:t>call </a:t>
            </a:r>
            <a:r>
              <a:rPr lang="en-US" altLang="zh-CN" dirty="0" err="1">
                <a:solidFill>
                  <a:srgbClr val="00B050"/>
                </a:solidFill>
              </a:rPr>
              <a:t>git_commit</a:t>
            </a:r>
            <a:r>
              <a:rPr lang="en-US" altLang="zh-CN" dirty="0">
                <a:solidFill>
                  <a:srgbClr val="00B050"/>
                </a:solidFill>
              </a:rPr>
              <a:t>, "run")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 smtClean="0"/>
              <a:t>[</a:t>
            </a:r>
            <a:r>
              <a:rPr lang="en-US" altLang="zh-CN" dirty="0"/>
              <a:t>	</a:t>
            </a:r>
            <a:r>
              <a:rPr lang="en-US" altLang="zh-CN" dirty="0" smtClean="0"/>
              <a:t>]</a:t>
            </a:r>
            <a:r>
              <a:rPr lang="en-US" altLang="zh-CN" dirty="0" smtClean="0">
                <a:solidFill>
                  <a:srgbClr val="00B050"/>
                </a:solidFill>
              </a:rPr>
              <a:t>./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/</a:t>
            </a:r>
            <a:r>
              <a:rPr lang="en-US" altLang="zh-CN" dirty="0" err="1">
                <a:solidFill>
                  <a:srgbClr val="00B050"/>
                </a:solidFill>
              </a:rPr>
              <a:t>nemu</a:t>
            </a:r>
            <a:r>
              <a:rPr lang="en-US" altLang="zh-CN" dirty="0">
                <a:solidFill>
                  <a:srgbClr val="00B050"/>
                </a:solidFill>
              </a:rPr>
              <a:t> --</a:t>
            </a:r>
            <a:r>
              <a:rPr lang="en-US" altLang="zh-CN" dirty="0" err="1">
                <a:solidFill>
                  <a:srgbClr val="00B050"/>
                </a:solidFill>
              </a:rPr>
              <a:t>testcase</a:t>
            </a:r>
            <a:r>
              <a:rPr lang="en-US" altLang="zh-CN" dirty="0">
                <a:solidFill>
                  <a:srgbClr val="00B050"/>
                </a:solidFill>
              </a:rPr>
              <a:t> add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06970" y="3324225"/>
            <a:ext cx="3449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200" dirty="0" err="1">
                <a:solidFill>
                  <a:schemeClr val="tx1"/>
                </a:solidFill>
              </a:rPr>
              <a:t>pa_nju/Makefile</a:t>
            </a:r>
            <a:endParaRPr lang="en-US" altLang="zh-CN" sz="3200" dirty="0" err="1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3501" y="4166964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目标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1103637" y="4467835"/>
            <a:ext cx="776605" cy="92138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911668" y="4843903"/>
            <a:ext cx="216451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前提依赖（应先于该</a:t>
            </a:r>
            <a:r>
              <a:rPr lang="zh-CN" altLang="en-US" dirty="0">
                <a:solidFill>
                  <a:srgbClr val="FF0000"/>
                </a:solidFill>
              </a:rPr>
              <a:t>目标</a:t>
            </a:r>
            <a:r>
              <a:rPr lang="zh-CN" altLang="en-US" dirty="0">
                <a:solidFill>
                  <a:srgbClr val="00B0F0"/>
                </a:solidFill>
              </a:rPr>
              <a:t>达成的目标）</a:t>
            </a:r>
            <a:endParaRPr lang="zh-CN" altLang="en-US" dirty="0">
              <a:solidFill>
                <a:srgbClr val="00B0F0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3222953" y="5206439"/>
            <a:ext cx="3599815" cy="2374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433031" y="6382511"/>
            <a:ext cx="5212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在前提依赖被满足的情况下，实现目标的额外步骤</a:t>
            </a:r>
            <a:endParaRPr lang="zh-CN" altLang="en-US" dirty="0">
              <a:solidFill>
                <a:srgbClr val="00B050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 flipV="1">
            <a:off x="5940494" y="6023736"/>
            <a:ext cx="516890" cy="42418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279400" y="2960370"/>
            <a:ext cx="47269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Makefile</a:t>
            </a:r>
            <a:r>
              <a:rPr lang="zh-CN" altLang="en-US" dirty="0"/>
              <a:t>中的第一个目标，当命令不带目标（就单纯</a:t>
            </a:r>
            <a:r>
              <a:rPr lang="en-US" altLang="zh-CN" dirty="0"/>
              <a:t>make</a:t>
            </a:r>
            <a:r>
              <a:rPr lang="zh-CN" altLang="en-US" dirty="0"/>
              <a:t>）时，默认执行的目标</a:t>
            </a:r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1492315" y="3615112"/>
            <a:ext cx="387985" cy="4178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1569508" y="6024332"/>
            <a:ext cx="775854" cy="2992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82746" y="6382630"/>
            <a:ext cx="11868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换行、</a:t>
            </a:r>
            <a:r>
              <a:rPr lang="en-US" altLang="zh-CN" dirty="0" smtClean="0"/>
              <a:t>tab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9770" y="1"/>
            <a:ext cx="10515600" cy="734002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./</a:t>
            </a:r>
            <a:r>
              <a:rPr lang="en-US" altLang="zh-CN" dirty="0" err="1" smtClean="0"/>
              <a:t>nemu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nemu</a:t>
            </a:r>
            <a:r>
              <a:rPr lang="en-US" altLang="zh-CN" dirty="0" smtClean="0"/>
              <a:t> --</a:t>
            </a:r>
            <a:r>
              <a:rPr lang="en-US" altLang="zh-CN" dirty="0" err="1" smtClean="0"/>
              <a:t>testcase</a:t>
            </a:r>
            <a:r>
              <a:rPr lang="en-US" altLang="zh-CN" dirty="0" smtClean="0"/>
              <a:t> add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83945" y="835025"/>
            <a:ext cx="10014585" cy="5908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int main(int argc, char* argv[]) {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>
                <a:solidFill>
                  <a:srgbClr val="00B050"/>
                </a:solidFill>
              </a:rPr>
              <a:t>if(!parse_args(argc, argv)) </a:t>
            </a:r>
            <a:r>
              <a:rPr lang="zh-CN" altLang="en-US" dirty="0" smtClean="0">
                <a:solidFill>
                  <a:srgbClr val="00B050"/>
                </a:solidFill>
              </a:rPr>
              <a:t>{  </a:t>
            </a:r>
            <a:r>
              <a:rPr lang="zh-CN" altLang="en-US" sz="2400" dirty="0">
                <a:solidFill>
                  <a:srgbClr val="00B050"/>
                </a:solidFill>
              </a:rPr>
              <a:t>// parse the arguments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		printf("NEMU exit with argment parse error\n");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		return -1;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	}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en-US" altLang="zh-CN" dirty="0" smtClean="0"/>
              <a:t>	// …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>
                <a:solidFill>
                  <a:srgbClr val="0070C0"/>
                </a:solidFill>
              </a:rPr>
              <a:t>if(flag_reg_alu_fpu) {</a:t>
            </a:r>
            <a:endParaRPr lang="zh-CN" altLang="en-US" dirty="0">
              <a:solidFill>
                <a:srgbClr val="0070C0"/>
              </a:solidFill>
            </a:endParaRPr>
          </a:p>
          <a:p>
            <a:r>
              <a:rPr lang="zh-CN" altLang="en-US" dirty="0">
                <a:solidFill>
                  <a:srgbClr val="0070C0"/>
                </a:solidFill>
              </a:rPr>
              <a:t>		</a:t>
            </a:r>
            <a:r>
              <a:rPr lang="en-US" altLang="zh-CN" dirty="0" smtClean="0">
                <a:solidFill>
                  <a:srgbClr val="0070C0"/>
                </a:solidFill>
              </a:rPr>
              <a:t>// </a:t>
            </a:r>
            <a:r>
              <a:rPr lang="zh-CN" altLang="en-US" dirty="0" smtClean="0">
                <a:solidFill>
                  <a:srgbClr val="0070C0"/>
                </a:solidFill>
              </a:rPr>
              <a:t>执行</a:t>
            </a:r>
            <a:r>
              <a:rPr lang="en-US" altLang="zh-CN" dirty="0" err="1" smtClean="0">
                <a:solidFill>
                  <a:srgbClr val="0070C0"/>
                </a:solidFill>
              </a:rPr>
              <a:t>reg</a:t>
            </a:r>
            <a:r>
              <a:rPr lang="zh-CN" altLang="en-US" dirty="0" smtClean="0">
                <a:solidFill>
                  <a:srgbClr val="0070C0"/>
                </a:solidFill>
              </a:rPr>
              <a:t>，</a:t>
            </a:r>
            <a:r>
              <a:rPr lang="en-US" altLang="zh-CN" dirty="0" err="1" smtClean="0">
                <a:solidFill>
                  <a:srgbClr val="0070C0"/>
                </a:solidFill>
              </a:rPr>
              <a:t>al</a:t>
            </a:r>
            <a:r>
              <a:rPr lang="en-US" altLang="zh-CN" dirty="0" err="1">
                <a:solidFill>
                  <a:srgbClr val="0070C0"/>
                </a:solidFill>
              </a:rPr>
              <a:t>u</a:t>
            </a:r>
            <a:r>
              <a:rPr lang="zh-CN" altLang="en-US" dirty="0" smtClean="0">
                <a:solidFill>
                  <a:srgbClr val="0070C0"/>
                </a:solidFill>
              </a:rPr>
              <a:t>，</a:t>
            </a:r>
            <a:r>
              <a:rPr lang="en-US" altLang="zh-CN" dirty="0" err="1" smtClean="0">
                <a:solidFill>
                  <a:srgbClr val="0070C0"/>
                </a:solidFill>
              </a:rPr>
              <a:t>fpu</a:t>
            </a:r>
            <a:r>
              <a:rPr lang="zh-CN" altLang="en-US" dirty="0" smtClean="0">
                <a:solidFill>
                  <a:srgbClr val="0070C0"/>
                </a:solidFill>
              </a:rPr>
              <a:t>对应的测试</a:t>
            </a:r>
            <a:endParaRPr lang="zh-CN" altLang="en-US" dirty="0" smtClean="0">
              <a:solidFill>
                <a:srgbClr val="0070C0"/>
              </a:solidFill>
            </a:endParaRPr>
          </a:p>
          <a:p>
            <a:r>
              <a:rPr lang="zh-CN" altLang="en-US" dirty="0" smtClean="0">
                <a:solidFill>
                  <a:srgbClr val="0070C0"/>
                </a:solidFill>
              </a:rPr>
              <a:t>	} </a:t>
            </a:r>
            <a:r>
              <a:rPr lang="zh-CN" altLang="en-US" dirty="0" smtClean="0"/>
              <a:t>else {  </a:t>
            </a:r>
            <a:r>
              <a:rPr lang="en-US" altLang="zh-CN" sz="2400" dirty="0" smtClean="0">
                <a:solidFill>
                  <a:srgbClr val="C00000"/>
                </a:solidFill>
              </a:rPr>
              <a:t>// </a:t>
            </a:r>
            <a:r>
              <a:rPr lang="zh-CN" altLang="en-US" sz="2400" dirty="0" smtClean="0">
                <a:solidFill>
                  <a:srgbClr val="C00000"/>
                </a:solidFill>
              </a:rPr>
              <a:t>执行测试用例</a:t>
            </a:r>
            <a:endParaRPr lang="zh-CN" altLang="en-US" sz="2400" dirty="0" smtClean="0">
              <a:solidFill>
                <a:srgbClr val="C00000"/>
              </a:solidFill>
            </a:endParaRPr>
          </a:p>
          <a:p>
            <a:r>
              <a:rPr lang="zh-CN" altLang="en-US" dirty="0"/>
              <a:t>		// either testcase or game, the img and elf paths should be properly set</a:t>
            </a:r>
            <a:endParaRPr lang="zh-CN" altLang="en-US" dirty="0"/>
          </a:p>
          <a:p>
            <a:r>
              <a:rPr lang="zh-CN" altLang="en-US" dirty="0"/>
              <a:t>		if(flag_score) {</a:t>
            </a:r>
            <a:endParaRPr lang="zh-CN" altLang="en-US" dirty="0"/>
          </a:p>
          <a:p>
            <a:r>
              <a:rPr lang="zh-CN" altLang="en-US" dirty="0"/>
              <a:t>			single_run(image_path_score, elf_path_score);</a:t>
            </a:r>
            <a:endParaRPr lang="zh-CN" altLang="en-US" dirty="0"/>
          </a:p>
          <a:p>
            <a:r>
              <a:rPr lang="zh-CN" altLang="en-US" dirty="0"/>
              <a:t>		} else {</a:t>
            </a:r>
            <a:endParaRPr lang="zh-CN" altLang="en-US" dirty="0"/>
          </a:p>
          <a:p>
            <a:r>
              <a:rPr lang="zh-CN" altLang="en-US" dirty="0"/>
              <a:t>			</a:t>
            </a:r>
            <a:r>
              <a:rPr lang="zh-CN" altLang="en-US" sz="2400" dirty="0">
                <a:solidFill>
                  <a:srgbClr val="C00000"/>
                </a:solidFill>
              </a:rPr>
              <a:t>single_run(image_path, elf_path);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	}</a:t>
            </a:r>
            <a:endParaRPr lang="zh-CN" altLang="en-US" dirty="0"/>
          </a:p>
          <a:p>
            <a:r>
              <a:rPr lang="en-US" altLang="zh-CN" dirty="0" smtClean="0"/>
              <a:t>		//…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 smtClean="0"/>
              <a:t>}</a:t>
            </a:r>
            <a:endParaRPr lang="zh-CN" altLang="en-US" dirty="0"/>
          </a:p>
          <a:p>
            <a:r>
              <a:rPr lang="zh-CN" altLang="en-US" dirty="0"/>
              <a:t>	return 0;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373092" y="6145876"/>
            <a:ext cx="38571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 err="1" smtClean="0">
                <a:solidFill>
                  <a:srgbClr val="0070C0"/>
                </a:solidFill>
              </a:rPr>
              <a:t>nemu</a:t>
            </a:r>
            <a:r>
              <a:rPr lang="en-US" altLang="zh-CN" sz="3200" i="1" dirty="0" smtClean="0">
                <a:solidFill>
                  <a:srgbClr val="0070C0"/>
                </a:solidFill>
              </a:rPr>
              <a:t>/</a:t>
            </a:r>
            <a:r>
              <a:rPr lang="en-US" altLang="zh-CN" sz="3200" i="1" dirty="0" err="1" smtClean="0">
                <a:solidFill>
                  <a:srgbClr val="0070C0"/>
                </a:solidFill>
              </a:rPr>
              <a:t>src</a:t>
            </a:r>
            <a:r>
              <a:rPr lang="en-US" altLang="zh-CN" sz="3200" i="1" dirty="0" smtClean="0">
                <a:solidFill>
                  <a:srgbClr val="0070C0"/>
                </a:solidFill>
              </a:rPr>
              <a:t>/</a:t>
            </a:r>
            <a:r>
              <a:rPr lang="en-US" altLang="zh-CN" sz="3200" i="1" dirty="0" err="1" smtClean="0">
                <a:solidFill>
                  <a:srgbClr val="0070C0"/>
                </a:solidFill>
              </a:rPr>
              <a:t>main.c</a:t>
            </a:r>
            <a:endParaRPr lang="zh-CN" altLang="en-US" sz="3200" i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3181"/>
            <a:ext cx="10515600" cy="734002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single_run</a:t>
            </a:r>
            <a:r>
              <a:rPr lang="en-US" altLang="zh-CN" dirty="0"/>
              <a:t>(</a:t>
            </a:r>
            <a:r>
              <a:rPr lang="en-US" altLang="zh-CN" dirty="0" err="1"/>
              <a:t>image_path</a:t>
            </a:r>
            <a:r>
              <a:rPr lang="en-US" altLang="zh-CN" dirty="0"/>
              <a:t>, </a:t>
            </a:r>
            <a:r>
              <a:rPr lang="en-US" altLang="zh-CN" dirty="0" err="1"/>
              <a:t>elf_path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604645" y="2519045"/>
            <a:ext cx="10353675" cy="427672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static void single_run(const char * img_file_path, const char * elf_file_path) {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sz="2400" dirty="0">
                <a:solidFill>
                  <a:srgbClr val="C00000"/>
                </a:solidFill>
              </a:rPr>
              <a:t>restart(INIT_EIP); // restart the machine, do some initializations</a:t>
            </a:r>
            <a:endParaRPr lang="zh-CN" altLang="en-US" sz="2400" dirty="0">
              <a:solidFill>
                <a:srgbClr val="C00000"/>
              </a:solidFill>
            </a:endParaRPr>
          </a:p>
          <a:p>
            <a:r>
              <a:rPr lang="zh-CN" altLang="en-US" dirty="0"/>
              <a:t>	printf</a:t>
            </a:r>
            <a:r>
              <a:rPr lang="zh-CN" altLang="en-US" dirty="0" smtClean="0"/>
              <a:t>(</a:t>
            </a:r>
            <a:r>
              <a:rPr lang="en-US" altLang="zh-CN" dirty="0" smtClean="0"/>
              <a:t>…</a:t>
            </a:r>
            <a:r>
              <a:rPr lang="zh-CN" altLang="en-US" dirty="0" smtClean="0"/>
              <a:t>); </a:t>
            </a:r>
            <a:r>
              <a:rPr lang="en-US" altLang="zh-CN" dirty="0" smtClean="0"/>
              <a:t>// </a:t>
            </a:r>
            <a:r>
              <a:rPr lang="zh-CN" altLang="en-US" dirty="0" smtClean="0"/>
              <a:t>输出路径</a:t>
            </a:r>
            <a:endParaRPr lang="en-US" altLang="zh-CN" dirty="0" smtClean="0"/>
          </a:p>
          <a:p>
            <a:r>
              <a:rPr lang="en-US" altLang="zh-CN" dirty="0" smtClean="0">
                <a:solidFill>
                  <a:srgbClr val="00B050"/>
                </a:solidFill>
              </a:rPr>
              <a:t>	</a:t>
            </a:r>
            <a:r>
              <a:rPr lang="zh-CN" altLang="en-US" dirty="0" smtClean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Load the memory image of </a:t>
            </a:r>
            <a:r>
              <a:rPr lang="zh-CN" altLang="en-US" dirty="0" smtClean="0">
                <a:solidFill>
                  <a:srgbClr val="00B050"/>
                </a:solidFill>
              </a:rPr>
              <a:t>executable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sz="2400" dirty="0">
                <a:solidFill>
                  <a:srgbClr val="00B050"/>
                </a:solidFill>
              </a:rPr>
              <a:t>load_exec(img_file_path, LOAD_OFF); </a:t>
            </a:r>
            <a:endParaRPr lang="en-US" altLang="zh-CN" sz="2400" dirty="0" smtClean="0">
              <a:solidFill>
                <a:srgbClr val="00B050"/>
              </a:solidFill>
            </a:endParaRPr>
          </a:p>
          <a:p>
            <a:r>
              <a:rPr lang="zh-CN" altLang="en-US" dirty="0" smtClean="0"/>
              <a:t>#</a:t>
            </a:r>
            <a:r>
              <a:rPr lang="zh-CN" altLang="en-US" dirty="0"/>
              <a:t>ifdef HAS_DEVICE_IDE</a:t>
            </a:r>
            <a:endParaRPr lang="zh-CN" altLang="en-US" dirty="0"/>
          </a:p>
          <a:p>
            <a:r>
              <a:rPr lang="zh-CN" altLang="en-US" dirty="0"/>
              <a:t>	init_ide(elf_file_path); // Initialize hard drive</a:t>
            </a:r>
            <a:endParaRPr lang="zh-CN" altLang="en-US" dirty="0"/>
          </a:p>
          <a:p>
            <a:r>
              <a:rPr lang="zh-CN" altLang="en-US" dirty="0"/>
              <a:t>#else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sz="2400" dirty="0">
                <a:solidFill>
                  <a:srgbClr val="00B0F0"/>
                </a:solidFill>
              </a:rPr>
              <a:t>load_exec(elf_file_path, 0)</a:t>
            </a:r>
            <a:r>
              <a:rPr lang="zh-CN" altLang="en-US" sz="2400" dirty="0" smtClean="0">
                <a:solidFill>
                  <a:srgbClr val="00B0F0"/>
                </a:solidFill>
              </a:rPr>
              <a:t>; </a:t>
            </a:r>
            <a:r>
              <a:rPr lang="en-US" altLang="zh-CN" sz="2400" dirty="0" smtClean="0">
                <a:solidFill>
                  <a:srgbClr val="00B0F0"/>
                </a:solidFill>
              </a:rPr>
              <a:t>// Load ELF file</a:t>
            </a:r>
            <a:endParaRPr lang="zh-CN" altLang="en-US" dirty="0">
              <a:solidFill>
                <a:srgbClr val="00B0F0"/>
              </a:solidFill>
            </a:endParaRPr>
          </a:p>
          <a:p>
            <a:r>
              <a:rPr lang="zh-CN" altLang="en-US" dirty="0"/>
              <a:t>#endif</a:t>
            </a:r>
            <a:endParaRPr lang="zh-CN" altLang="en-US" dirty="0"/>
          </a:p>
          <a:p>
            <a:r>
              <a:rPr lang="zh-CN" altLang="en-US" dirty="0"/>
              <a:t>	load_elf_tables(elf_file_path);</a:t>
            </a:r>
            <a:endParaRPr lang="zh-CN" altLang="en-US" dirty="0"/>
          </a:p>
          <a:p>
            <a:r>
              <a:rPr lang="zh-CN" altLang="en-US" dirty="0"/>
              <a:t>	nemu_state = NEMU_READY; // Set the state of the machine to NEMU_READY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sz="2000" dirty="0">
                <a:solidFill>
                  <a:srgbClr val="FF0000"/>
                </a:solidFill>
              </a:rPr>
              <a:t>ui_mainloop(flag_autorun); // Enter UI mainloop to accept user commands</a:t>
            </a:r>
            <a:endParaRPr lang="zh-CN" altLang="en-US" sz="2000" dirty="0">
              <a:solidFill>
                <a:srgbClr val="FF0000"/>
              </a:solidFill>
            </a:endParaRPr>
          </a:p>
          <a:p>
            <a:r>
              <a:rPr lang="zh-CN" altLang="en-US" dirty="0"/>
              <a:t>}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293842" y="1934547"/>
            <a:ext cx="38571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 err="1" smtClean="0">
                <a:solidFill>
                  <a:srgbClr val="0070C0"/>
                </a:solidFill>
              </a:rPr>
              <a:t>nemu</a:t>
            </a:r>
            <a:r>
              <a:rPr lang="en-US" altLang="zh-CN" sz="3200" i="1" dirty="0" smtClean="0">
                <a:solidFill>
                  <a:srgbClr val="0070C0"/>
                </a:solidFill>
              </a:rPr>
              <a:t>/</a:t>
            </a:r>
            <a:r>
              <a:rPr lang="en-US" altLang="zh-CN" sz="3200" i="1" dirty="0" err="1" smtClean="0">
                <a:solidFill>
                  <a:srgbClr val="0070C0"/>
                </a:solidFill>
              </a:rPr>
              <a:t>src</a:t>
            </a:r>
            <a:r>
              <a:rPr lang="en-US" altLang="zh-CN" sz="3200" i="1" dirty="0" smtClean="0">
                <a:solidFill>
                  <a:srgbClr val="0070C0"/>
                </a:solidFill>
              </a:rPr>
              <a:t>/</a:t>
            </a:r>
            <a:r>
              <a:rPr lang="en-US" altLang="zh-CN" sz="3200" i="1" dirty="0" err="1" smtClean="0">
                <a:solidFill>
                  <a:srgbClr val="0070C0"/>
                </a:solidFill>
              </a:rPr>
              <a:t>main.c</a:t>
            </a:r>
            <a:endParaRPr lang="zh-CN" altLang="en-US" sz="3200" i="1" dirty="0">
              <a:solidFill>
                <a:srgbClr val="0070C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85" b="14169"/>
          <a:stretch>
            <a:fillRect/>
          </a:stretch>
        </p:blipFill>
        <p:spPr>
          <a:xfrm>
            <a:off x="2343150" y="777494"/>
            <a:ext cx="4413250" cy="16402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ui_mainloop</a:t>
            </a:r>
            <a:r>
              <a:rPr lang="en-US" altLang="zh-CN" dirty="0"/>
              <a:t>(</a:t>
            </a:r>
            <a:r>
              <a:rPr lang="en-US" altLang="zh-CN" dirty="0" err="1"/>
              <a:t>flag_autorun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66570" y="1358265"/>
            <a:ext cx="8128635" cy="418465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// the main loop of accepting user commands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en-US" dirty="0"/>
              <a:t>void ui_mainloop(bool autorun) {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>
                <a:solidFill>
                  <a:srgbClr val="C00000"/>
                </a:solidFill>
              </a:rPr>
              <a:t>if(autorun) </a:t>
            </a:r>
            <a:r>
              <a:rPr lang="zh-CN" altLang="en-US" dirty="0" smtClean="0">
                <a:solidFill>
                  <a:srgbClr val="C00000"/>
                </a:solidFill>
              </a:rPr>
              <a:t>{ </a:t>
            </a:r>
            <a:r>
              <a:rPr lang="en-US" altLang="zh-CN" dirty="0" smtClean="0">
                <a:solidFill>
                  <a:srgbClr val="C00000"/>
                </a:solidFill>
              </a:rPr>
              <a:t>// </a:t>
            </a:r>
            <a:r>
              <a:rPr lang="zh-CN" altLang="en-US" dirty="0" smtClean="0">
                <a:solidFill>
                  <a:srgbClr val="C00000"/>
                </a:solidFill>
              </a:rPr>
              <a:t>如果执行时有</a:t>
            </a:r>
            <a:r>
              <a:rPr lang="en-US" altLang="zh-CN" dirty="0" smtClean="0">
                <a:solidFill>
                  <a:srgbClr val="C00000"/>
                </a:solidFill>
              </a:rPr>
              <a:t>--</a:t>
            </a:r>
            <a:r>
              <a:rPr lang="en-US" altLang="zh-CN" dirty="0" err="1" smtClean="0">
                <a:solidFill>
                  <a:srgbClr val="C00000"/>
                </a:solidFill>
              </a:rPr>
              <a:t>autorun</a:t>
            </a:r>
            <a:r>
              <a:rPr lang="zh-CN" altLang="en-US" dirty="0" smtClean="0">
                <a:solidFill>
                  <a:srgbClr val="C00000"/>
                </a:solidFill>
              </a:rPr>
              <a:t>标志，则直接执行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		</a:t>
            </a:r>
            <a:r>
              <a:rPr lang="zh-CN" altLang="en-US" sz="3200" dirty="0">
                <a:solidFill>
                  <a:srgbClr val="C00000"/>
                </a:solidFill>
              </a:rPr>
              <a:t>cmd_c("");</a:t>
            </a:r>
            <a:endParaRPr lang="zh-CN" altLang="en-US" sz="3200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		if(nemu_state == NEMU_STOP) {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			return;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		}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	}</a:t>
            </a:r>
            <a:endParaRPr lang="zh-CN" altLang="en-US" dirty="0">
              <a:solidFill>
                <a:srgbClr val="C00000"/>
              </a:solidFill>
            </a:endParaRPr>
          </a:p>
          <a:p>
            <a:r>
              <a:rPr lang="zh-CN" altLang="en-US" dirty="0"/>
              <a:t>	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>
                <a:solidFill>
                  <a:srgbClr val="00B050"/>
                </a:solidFill>
              </a:rPr>
              <a:t>while(true) {</a:t>
            </a:r>
            <a:endParaRPr lang="zh-CN" altLang="en-US" dirty="0">
              <a:solidFill>
                <a:srgbClr val="00B05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		// </a:t>
            </a:r>
            <a:r>
              <a:rPr lang="zh-CN" altLang="en-US" dirty="0" smtClean="0">
                <a:solidFill>
                  <a:srgbClr val="00B050"/>
                </a:solidFill>
              </a:rPr>
              <a:t>扫描用户命令并执行</a:t>
            </a:r>
            <a:endParaRPr lang="en-US" altLang="zh-CN" dirty="0" smtClean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	</a:t>
            </a:r>
            <a:r>
              <a:rPr lang="en-US" altLang="zh-CN" dirty="0" smtClean="0">
                <a:solidFill>
                  <a:srgbClr val="00B050"/>
                </a:solidFill>
              </a:rPr>
              <a:t>}</a:t>
            </a:r>
            <a:endParaRPr lang="en-US" altLang="zh-CN" dirty="0" smtClean="0">
              <a:solidFill>
                <a:srgbClr val="00B050"/>
              </a:solidFill>
            </a:endParaRP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442556" y="5890953"/>
            <a:ext cx="7306887" cy="6451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3600" dirty="0" smtClean="0"/>
              <a:t>(</a:t>
            </a:r>
            <a:r>
              <a:rPr lang="en-US" altLang="zh-CN" sz="3600" dirty="0" err="1" smtClean="0"/>
              <a:t>nemu</a:t>
            </a:r>
            <a:r>
              <a:rPr lang="en-US" altLang="zh-CN" sz="3600" dirty="0" smtClean="0"/>
              <a:t>) c</a:t>
            </a:r>
            <a:endParaRPr lang="zh-CN" altLang="en-US" sz="3600" dirty="0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4156364" y="4915593"/>
            <a:ext cx="520931" cy="1136073"/>
          </a:xfrm>
          <a:prstGeom prst="straightConnector1">
            <a:avLst/>
          </a:prstGeom>
          <a:ln w="3175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519496" y="745108"/>
            <a:ext cx="431707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i="1" dirty="0" err="1" smtClean="0">
                <a:solidFill>
                  <a:srgbClr val="0070C0"/>
                </a:solidFill>
              </a:rPr>
              <a:t>nemu</a:t>
            </a:r>
            <a:r>
              <a:rPr lang="en-US" altLang="zh-CN" sz="3200" i="1" dirty="0" smtClean="0">
                <a:solidFill>
                  <a:srgbClr val="0070C0"/>
                </a:solidFill>
              </a:rPr>
              <a:t>/</a:t>
            </a:r>
            <a:r>
              <a:rPr lang="en-US" altLang="zh-CN" sz="3200" i="1" dirty="0" err="1" smtClean="0">
                <a:solidFill>
                  <a:srgbClr val="0070C0"/>
                </a:solidFill>
              </a:rPr>
              <a:t>src</a:t>
            </a:r>
            <a:r>
              <a:rPr lang="en-US" altLang="zh-CN" sz="3200" i="1" dirty="0" smtClean="0">
                <a:solidFill>
                  <a:srgbClr val="0070C0"/>
                </a:solidFill>
              </a:rPr>
              <a:t>/monitor/</a:t>
            </a:r>
            <a:r>
              <a:rPr lang="en-US" altLang="zh-CN" sz="3200" i="1" dirty="0" err="1" smtClean="0">
                <a:solidFill>
                  <a:srgbClr val="0070C0"/>
                </a:solidFill>
              </a:rPr>
              <a:t>ui.c</a:t>
            </a:r>
            <a:endParaRPr lang="zh-CN" altLang="en-US" sz="3200" i="1" dirty="0">
              <a:solidFill>
                <a:srgbClr val="0070C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066915" y="3740150"/>
            <a:ext cx="4094480" cy="169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cmd_handler(cmd_c) {</a:t>
            </a:r>
            <a:endParaRPr lang="zh-CN" altLang="en-US" dirty="0"/>
          </a:p>
          <a:p>
            <a:r>
              <a:rPr lang="zh-CN" altLang="en-US" dirty="0"/>
              <a:t>	// execute the program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sz="3200" dirty="0">
                <a:solidFill>
                  <a:srgbClr val="C00000"/>
                </a:solidFill>
              </a:rPr>
              <a:t>exec(-1);</a:t>
            </a:r>
            <a:endParaRPr lang="zh-CN" altLang="en-US" sz="3200" dirty="0">
              <a:solidFill>
                <a:srgbClr val="C00000"/>
              </a:solidFill>
            </a:endParaRPr>
          </a:p>
          <a:p>
            <a:r>
              <a:rPr lang="zh-CN" altLang="en-US" dirty="0"/>
              <a:t>	return 0;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6821978" y="2750801"/>
            <a:ext cx="1191491" cy="1765781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5640793" y="2758302"/>
            <a:ext cx="1191491" cy="0"/>
          </a:xfrm>
          <a:prstGeom prst="line">
            <a:avLst/>
          </a:prstGeom>
          <a:ln w="31750">
            <a:solidFill>
              <a:srgbClr val="C00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376160" y="3262389"/>
            <a:ext cx="100861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</a:rPr>
              <a:t>你懂的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exec(-1</a:t>
            </a:r>
            <a:r>
              <a:rPr lang="zh-CN" altLang="en-US" dirty="0" smtClean="0"/>
              <a:t>)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077226" y="1135865"/>
            <a:ext cx="5888707" cy="501586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void </a:t>
            </a:r>
            <a:r>
              <a:rPr lang="en-US" altLang="zh-CN" sz="1600" dirty="0">
                <a:solidFill>
                  <a:srgbClr val="FF0000"/>
                </a:solidFill>
              </a:rPr>
              <a:t>exec</a:t>
            </a:r>
            <a:r>
              <a:rPr lang="en-US" altLang="zh-CN" sz="1600" dirty="0"/>
              <a:t>(uint32_t n) {</a:t>
            </a:r>
            <a:endParaRPr lang="en-US" altLang="zh-CN" sz="1600" dirty="0"/>
          </a:p>
          <a:p>
            <a:r>
              <a:rPr lang="en-US" altLang="zh-CN" sz="1600" dirty="0"/>
              <a:t>	…</a:t>
            </a:r>
            <a:endParaRPr lang="en-US" altLang="zh-CN" sz="1600" dirty="0"/>
          </a:p>
          <a:p>
            <a:r>
              <a:rPr lang="en-US" altLang="zh-CN" sz="1600" dirty="0"/>
              <a:t>	while( n &gt; 0 &amp;&amp; </a:t>
            </a:r>
            <a:r>
              <a:rPr lang="en-US" altLang="zh-CN" sz="1600" dirty="0" err="1"/>
              <a:t>nemu_state</a:t>
            </a:r>
            <a:r>
              <a:rPr lang="en-US" altLang="zh-CN" sz="1600" dirty="0"/>
              <a:t> == NEMU_RUN) {</a:t>
            </a:r>
            <a:endParaRPr lang="en-US" altLang="zh-CN" sz="1600" dirty="0"/>
          </a:p>
          <a:p>
            <a:r>
              <a:rPr lang="en-US" altLang="zh-CN" sz="1600" dirty="0"/>
              <a:t>		…</a:t>
            </a:r>
            <a:endParaRPr lang="en-US" altLang="zh-CN" sz="1600" dirty="0"/>
          </a:p>
          <a:p>
            <a:r>
              <a:rPr lang="en-US" altLang="zh-CN" sz="1600" dirty="0"/>
              <a:t>		</a:t>
            </a:r>
            <a:r>
              <a:rPr lang="en-US" altLang="zh-CN" sz="1600" dirty="0" err="1"/>
              <a:t>instr_len</a:t>
            </a:r>
            <a:r>
              <a:rPr lang="en-US" altLang="zh-CN" sz="1600" dirty="0"/>
              <a:t> = </a:t>
            </a:r>
            <a:r>
              <a:rPr lang="en-US" altLang="zh-CN" sz="1600" dirty="0" err="1">
                <a:solidFill>
                  <a:srgbClr val="FF0000"/>
                </a:solidFill>
              </a:rPr>
              <a:t>exec_inst</a:t>
            </a:r>
            <a:r>
              <a:rPr lang="en-US" altLang="zh-CN" sz="1600" dirty="0"/>
              <a:t>();</a:t>
            </a:r>
            <a:endParaRPr lang="en-US" altLang="zh-CN" sz="1600" dirty="0"/>
          </a:p>
          <a:p>
            <a:r>
              <a:rPr lang="en-US" altLang="zh-CN" sz="1600" dirty="0"/>
              <a:t>		</a:t>
            </a:r>
            <a:r>
              <a:rPr lang="en-US" altLang="zh-CN" sz="1600" dirty="0" err="1"/>
              <a:t>cpu.eip</a:t>
            </a:r>
            <a:r>
              <a:rPr lang="en-US" altLang="zh-CN" sz="1600" dirty="0"/>
              <a:t> += </a:t>
            </a:r>
            <a:r>
              <a:rPr lang="en-US" altLang="zh-CN" sz="1600" dirty="0" err="1"/>
              <a:t>instr_len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		n--;</a:t>
            </a:r>
            <a:endParaRPr lang="en-US" altLang="zh-CN" sz="1600" dirty="0"/>
          </a:p>
          <a:p>
            <a:r>
              <a:rPr lang="en-US" altLang="zh-CN" sz="1600" dirty="0"/>
              <a:t>		…</a:t>
            </a:r>
            <a:endParaRPr lang="en-US" altLang="zh-CN" sz="1600" dirty="0"/>
          </a:p>
          <a:p>
            <a:r>
              <a:rPr lang="en-US" altLang="zh-CN" sz="1600" dirty="0"/>
              <a:t>	}</a:t>
            </a:r>
            <a:endParaRPr lang="en-US" altLang="zh-CN" sz="1600" dirty="0"/>
          </a:p>
          <a:p>
            <a:r>
              <a:rPr lang="en-US" altLang="zh-CN" sz="1600" dirty="0"/>
              <a:t>	…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int </a:t>
            </a:r>
            <a:r>
              <a:rPr lang="zh-CN" altLang="en-US" sz="1600" dirty="0">
                <a:solidFill>
                  <a:srgbClr val="FF0000"/>
                </a:solidFill>
              </a:rPr>
              <a:t>exec_inst</a:t>
            </a:r>
            <a:r>
              <a:rPr lang="zh-CN" altLang="en-US" sz="1600" dirty="0"/>
              <a:t>() {</a:t>
            </a:r>
            <a:endParaRPr lang="zh-CN" altLang="en-US" sz="1600" dirty="0"/>
          </a:p>
          <a:p>
            <a:r>
              <a:rPr lang="zh-CN" altLang="en-US" sz="1600" dirty="0"/>
              <a:t>	uint8_t opcode = 0;</a:t>
            </a:r>
            <a:endParaRPr lang="zh-CN" altLang="en-US" sz="1600" dirty="0"/>
          </a:p>
          <a:p>
            <a:r>
              <a:rPr lang="zh-CN" altLang="en-US" sz="1600" dirty="0"/>
              <a:t>	</a:t>
            </a:r>
            <a:r>
              <a:rPr lang="zh-CN" altLang="en-US" sz="1600" dirty="0">
                <a:solidFill>
                  <a:srgbClr val="00B050"/>
                </a:solidFill>
              </a:rPr>
              <a:t>// get the opcode， 取操作数</a:t>
            </a:r>
            <a:endParaRPr lang="zh-CN" altLang="en-US" sz="1600" dirty="0">
              <a:solidFill>
                <a:srgbClr val="00B050"/>
              </a:solidFill>
            </a:endParaRPr>
          </a:p>
          <a:p>
            <a:r>
              <a:rPr lang="zh-CN" altLang="en-US" sz="1600" dirty="0"/>
              <a:t>	opcode = instr_fetch(cpu.eip, 1);</a:t>
            </a:r>
            <a:endParaRPr lang="zh-CN" altLang="en-US" sz="1600" dirty="0"/>
          </a:p>
          <a:p>
            <a:r>
              <a:rPr lang="zh-CN" altLang="en-US" sz="1600" dirty="0"/>
              <a:t>	</a:t>
            </a:r>
            <a:r>
              <a:rPr lang="zh-CN" altLang="en-US" sz="1600" dirty="0">
                <a:solidFill>
                  <a:srgbClr val="00B050"/>
                </a:solidFill>
              </a:rPr>
              <a:t>// instruction decode and execution，执行这条指令</a:t>
            </a:r>
            <a:endParaRPr lang="zh-CN" altLang="en-US" sz="1600" dirty="0">
              <a:solidFill>
                <a:srgbClr val="00B050"/>
              </a:solidFill>
            </a:endParaRPr>
          </a:p>
          <a:p>
            <a:r>
              <a:rPr lang="zh-CN" altLang="en-US" sz="1600" dirty="0"/>
              <a:t>	int len = </a:t>
            </a:r>
            <a:r>
              <a:rPr lang="zh-CN" altLang="en-US" sz="1600" dirty="0">
                <a:solidFill>
                  <a:srgbClr val="FF0000"/>
                </a:solidFill>
              </a:rPr>
              <a:t>opcode_entry</a:t>
            </a:r>
            <a:r>
              <a:rPr lang="zh-CN" altLang="en-US" sz="1600" dirty="0"/>
              <a:t>[opcode](cpu.eip, opcode);</a:t>
            </a:r>
            <a:endParaRPr lang="zh-CN" altLang="en-US" sz="1600" dirty="0"/>
          </a:p>
          <a:p>
            <a:r>
              <a:rPr lang="zh-CN" altLang="en-US" sz="1600" dirty="0"/>
              <a:t>	return len;  </a:t>
            </a:r>
            <a:r>
              <a:rPr lang="en-US" altLang="zh-CN" sz="1600" dirty="0">
                <a:solidFill>
                  <a:srgbClr val="00B050"/>
                </a:solidFill>
              </a:rPr>
              <a:t>// </a:t>
            </a:r>
            <a:r>
              <a:rPr lang="zh-CN" altLang="en-US" sz="1600" dirty="0">
                <a:solidFill>
                  <a:srgbClr val="00B050"/>
                </a:solidFill>
              </a:rPr>
              <a:t>返回指令长度</a:t>
            </a:r>
            <a:endParaRPr lang="zh-CN" altLang="en-US" sz="1600" dirty="0">
              <a:solidFill>
                <a:srgbClr val="00B050"/>
              </a:solidFill>
            </a:endParaRPr>
          </a:p>
          <a:p>
            <a:r>
              <a:rPr lang="zh-CN" altLang="en-US" sz="1600" dirty="0"/>
              <a:t>}</a:t>
            </a:r>
            <a:endParaRPr lang="zh-CN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6021579" y="612645"/>
            <a:ext cx="324485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i="1" dirty="0" err="1">
                <a:solidFill>
                  <a:srgbClr val="0070C0"/>
                </a:solidFill>
              </a:rPr>
              <a:t>nemu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src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</a:t>
            </a:r>
            <a:r>
              <a:rPr lang="en-US" altLang="zh-CN" sz="2800" i="1" dirty="0">
                <a:solidFill>
                  <a:srgbClr val="0070C0"/>
                </a:solidFill>
              </a:rPr>
              <a:t>/</a:t>
            </a:r>
            <a:r>
              <a:rPr lang="en-US" altLang="zh-CN" sz="2800" i="1" dirty="0" err="1">
                <a:solidFill>
                  <a:srgbClr val="0070C0"/>
                </a:solidFill>
              </a:rPr>
              <a:t>cpu.c</a:t>
            </a:r>
            <a:endParaRPr lang="en-US" altLang="zh-CN" sz="2800" i="1" dirty="0">
              <a:solidFill>
                <a:srgbClr val="0070C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67550" y="3321078"/>
            <a:ext cx="1631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rgbClr val="C00000"/>
                </a:solidFill>
              </a:rPr>
              <a:t>你懂的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Sep 9, 1947 CE: World’s First Computer Bug</a:t>
            </a:r>
            <a:endParaRPr lang="en-US" altLang="zh-CN" sz="4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8200" y="1816569"/>
            <a:ext cx="415528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On September 9, 1947, a team of computer scientists reported the world’s first computer bug—a moth trapped in their computer at Harvard University [1].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686" y="1434754"/>
            <a:ext cx="6153150" cy="511492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09550" y="5718682"/>
            <a:ext cx="53982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705" indent="-179705"/>
            <a:r>
              <a:rPr lang="en-US" altLang="zh-CN" sz="1200" dirty="0"/>
              <a:t>[1] </a:t>
            </a:r>
            <a:r>
              <a:rPr lang="zh-CN" altLang="en-US" sz="1200" dirty="0"/>
              <a:t>https://www.nationalgeographic.org/thisday/sep9/worlds-first-computer-bug/#:~:text=On%20September%209%2C%201947%2C%20a%20team%20of%20computer,functioning%2C%20safety%2C%20and%20security%20of%20computer%20operating%20systems.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Bugs can have serious consequences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96728" y="5677404"/>
            <a:ext cx="39998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[2] </a:t>
            </a:r>
            <a:r>
              <a:rPr lang="zh-CN" altLang="en-US" sz="1200" dirty="0"/>
              <a:t>http://www.cse.psu.edu/~gxt29/bug/softwarebug.html</a:t>
            </a:r>
            <a:endParaRPr lang="zh-CN" altLang="en-US" sz="1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728" y="1482531"/>
            <a:ext cx="7398544" cy="408846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9729786" y="1578769"/>
            <a:ext cx="607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[2]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Debugging is often a difficult task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1156156" cy="4828454"/>
          </a:xfrm>
        </p:spPr>
        <p:txBody>
          <a:bodyPr>
            <a:normAutofit/>
          </a:bodyPr>
          <a:lstStyle/>
          <a:p>
            <a:r>
              <a:rPr lang="en-US" altLang="zh-CN" sz="3200" b="1" dirty="0">
                <a:latin typeface="+mn-ea"/>
                <a:ea typeface="+mn-ea"/>
              </a:rPr>
              <a:t>Classify bugs by the ease of repeating their failures [3] </a:t>
            </a:r>
            <a:endParaRPr lang="en-US" altLang="zh-CN" sz="3200" b="1" dirty="0">
              <a:latin typeface="+mn-ea"/>
              <a:ea typeface="+mn-ea"/>
            </a:endParaRPr>
          </a:p>
          <a:p>
            <a:pPr lvl="1"/>
            <a:r>
              <a:rPr lang="en-US" altLang="zh-CN" sz="3200" dirty="0" err="1">
                <a:latin typeface="+mn-ea"/>
                <a:ea typeface="+mn-ea"/>
              </a:rPr>
              <a:t>Bohrbugs</a:t>
            </a:r>
            <a:endParaRPr lang="en-US" altLang="zh-CN" sz="3200" dirty="0">
              <a:latin typeface="+mn-ea"/>
              <a:ea typeface="+mn-ea"/>
            </a:endParaRPr>
          </a:p>
          <a:p>
            <a:pPr lvl="2"/>
            <a:r>
              <a:rPr lang="en-US" altLang="zh-CN" dirty="0" err="1">
                <a:latin typeface="+mn-ea"/>
                <a:ea typeface="+mn-ea"/>
              </a:rPr>
              <a:t>Bohrbugs</a:t>
            </a:r>
            <a:r>
              <a:rPr lang="en-US" altLang="zh-CN" dirty="0">
                <a:latin typeface="+mn-ea"/>
                <a:ea typeface="+mn-ea"/>
              </a:rPr>
              <a:t>, like the Bohr atom, are solid, easily detected by standard techniques, and hence boring.</a:t>
            </a:r>
            <a:endParaRPr lang="en-US" altLang="zh-CN" dirty="0">
              <a:latin typeface="+mn-ea"/>
              <a:ea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3200" dirty="0">
                <a:latin typeface="+mn-ea"/>
                <a:ea typeface="+mn-ea"/>
              </a:rPr>
              <a:t>Heisenbugs</a:t>
            </a:r>
            <a:endParaRPr lang="en-US" altLang="zh-CN" sz="3200" dirty="0">
              <a:latin typeface="+mn-ea"/>
              <a:ea typeface="+mn-ea"/>
            </a:endParaRPr>
          </a:p>
          <a:p>
            <a:pPr lvl="2"/>
            <a:r>
              <a:rPr lang="en-US" altLang="zh-CN" dirty="0">
                <a:latin typeface="+mn-ea"/>
                <a:ea typeface="+mn-ea"/>
              </a:rPr>
              <a:t>But Heisenbugs may elude a </a:t>
            </a:r>
            <a:r>
              <a:rPr lang="en-US" altLang="zh-CN" dirty="0" err="1">
                <a:latin typeface="+mn-ea"/>
                <a:ea typeface="+mn-ea"/>
              </a:rPr>
              <a:t>bugcatcher</a:t>
            </a:r>
            <a:r>
              <a:rPr lang="en-US" altLang="zh-CN" dirty="0">
                <a:latin typeface="+mn-ea"/>
                <a:ea typeface="+mn-ea"/>
              </a:rPr>
              <a:t> for years of execution. Indeed, the </a:t>
            </a:r>
            <a:r>
              <a:rPr lang="en-US" altLang="zh-CN" dirty="0" err="1">
                <a:latin typeface="+mn-ea"/>
                <a:ea typeface="+mn-ea"/>
              </a:rPr>
              <a:t>bugcatcher</a:t>
            </a:r>
            <a:r>
              <a:rPr lang="en-US" altLang="zh-CN" dirty="0">
                <a:latin typeface="+mn-ea"/>
                <a:ea typeface="+mn-ea"/>
              </a:rPr>
              <a:t> may perturb the situation just enough to make the Heisenbug disappear. This is analogous to the Heisenberg Uncertainty Principle in Physics.</a:t>
            </a:r>
            <a:endParaRPr lang="en-US" altLang="zh-CN" dirty="0">
              <a:latin typeface="+mn-ea"/>
              <a:ea typeface="+mn-ea"/>
            </a:endParaRPr>
          </a:p>
          <a:p>
            <a:pPr lvl="3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8200" y="6365081"/>
            <a:ext cx="10265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[3] Jim Gray. Why Do Computers Stop and What Can Be Done About It?. Tandem Technical report 85.7. June 1985</a:t>
            </a:r>
            <a:endParaRPr lang="zh-CN" alt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85750" y="92870"/>
            <a:ext cx="5286375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stdio.h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void </a:t>
            </a:r>
            <a:r>
              <a:rPr lang="en-US" altLang="zh-CN" dirty="0" err="1">
                <a:latin typeface="Consolas" panose="020B0609020204030204" pitchFamily="49" charset="0"/>
              </a:rPr>
              <a:t>func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a,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b)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("a = %d, b = %d\n", a, b);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t = 5;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func</a:t>
            </a:r>
            <a:r>
              <a:rPr lang="en-US" altLang="zh-CN" dirty="0">
                <a:latin typeface="Consolas" panose="020B0609020204030204" pitchFamily="49" charset="0"/>
              </a:rPr>
              <a:t>(t++, ++t);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return 0;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17443" y="92869"/>
            <a:ext cx="5286375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stdio.h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check(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x)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("x = %d\n", x)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return x;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void </a:t>
            </a:r>
            <a:r>
              <a:rPr lang="en-US" altLang="zh-CN" dirty="0" err="1">
                <a:latin typeface="Consolas" panose="020B0609020204030204" pitchFamily="49" charset="0"/>
              </a:rPr>
              <a:t>func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a,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b)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("a = %d, b = %d\n", a, b);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t = 5;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func</a:t>
            </a:r>
            <a:r>
              <a:rPr lang="en-US" altLang="zh-CN" dirty="0">
                <a:latin typeface="Consolas" panose="020B0609020204030204" pitchFamily="49" charset="0"/>
              </a:rPr>
              <a:t>(check(t++), check(++t));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return 0;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85750" y="92870"/>
            <a:ext cx="5286375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stdio.h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void </a:t>
            </a:r>
            <a:r>
              <a:rPr lang="en-US" altLang="zh-CN" dirty="0" err="1">
                <a:latin typeface="Consolas" panose="020B0609020204030204" pitchFamily="49" charset="0"/>
              </a:rPr>
              <a:t>func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a,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b)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("a = %d, b = %d\n", a, b);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t = 5;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func</a:t>
            </a:r>
            <a:r>
              <a:rPr lang="en-US" altLang="zh-CN" dirty="0">
                <a:latin typeface="Consolas" panose="020B0609020204030204" pitchFamily="49" charset="0"/>
              </a:rPr>
              <a:t>(t++, ++t);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return 0;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5750" y="3900488"/>
            <a:ext cx="3629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  <a:latin typeface="Consolas" panose="020B0609020204030204" pitchFamily="49" charset="0"/>
              </a:rPr>
              <a:t>a = 6, b = 7</a:t>
            </a:r>
            <a:endParaRPr lang="zh-CN" altLang="en-US" sz="32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17443" y="92869"/>
            <a:ext cx="5286375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#include &lt;</a:t>
            </a:r>
            <a:r>
              <a:rPr lang="en-US" altLang="zh-CN" dirty="0" err="1">
                <a:latin typeface="Consolas" panose="020B0609020204030204" pitchFamily="49" charset="0"/>
              </a:rPr>
              <a:t>stdio.h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check(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x)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("x = %d\n", x)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    return x;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void </a:t>
            </a:r>
            <a:r>
              <a:rPr lang="en-US" altLang="zh-CN" dirty="0" err="1">
                <a:latin typeface="Consolas" panose="020B0609020204030204" pitchFamily="49" charset="0"/>
              </a:rPr>
              <a:t>func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a,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b)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</a:rPr>
              <a:t>("a = %d, b = %d\n", a, b);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en-US" altLang="zh-CN" dirty="0">
              <a:latin typeface="Consolas" panose="020B0609020204030204" pitchFamily="49" charset="0"/>
            </a:endParaRPr>
          </a:p>
          <a:p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main()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{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t = 5;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</a:t>
            </a:r>
            <a:r>
              <a:rPr lang="en-US" altLang="zh-CN" dirty="0" err="1">
                <a:latin typeface="Consolas" panose="020B0609020204030204" pitchFamily="49" charset="0"/>
              </a:rPr>
              <a:t>func</a:t>
            </a:r>
            <a:r>
              <a:rPr lang="en-US" altLang="zh-CN" dirty="0">
                <a:latin typeface="Consolas" panose="020B0609020204030204" pitchFamily="49" charset="0"/>
              </a:rPr>
              <a:t>(check(t++), check(++t));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	return 0;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en-US" altLang="zh-CN" dirty="0">
                <a:latin typeface="Consolas" panose="020B0609020204030204" pitchFamily="49" charset="0"/>
              </a:rPr>
              <a:t>}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17443" y="5339059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  <a:latin typeface="Consolas" panose="020B0609020204030204" pitchFamily="49" charset="0"/>
              </a:rPr>
              <a:t>x = 6</a:t>
            </a:r>
            <a:endParaRPr lang="zh-CN" altLang="en-US" sz="32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3200" dirty="0">
                <a:solidFill>
                  <a:srgbClr val="C00000"/>
                </a:solidFill>
                <a:latin typeface="Consolas" panose="020B0609020204030204" pitchFamily="49" charset="0"/>
              </a:rPr>
              <a:t>x = 6</a:t>
            </a:r>
            <a:endParaRPr lang="zh-CN" altLang="en-US" sz="32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zh-CN" altLang="en-US" sz="3200" dirty="0">
                <a:solidFill>
                  <a:srgbClr val="C00000"/>
                </a:solidFill>
                <a:latin typeface="Consolas" panose="020B0609020204030204" pitchFamily="49" charset="0"/>
              </a:rPr>
              <a:t>a = 6, b = 6</a:t>
            </a:r>
            <a:endParaRPr lang="zh-CN" altLang="en-US" sz="3200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发现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Bug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时的正常心路历程（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type-I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4200"/>
              </a:spcBef>
              <a:buNone/>
            </a:pPr>
            <a:r>
              <a:rPr lang="zh-CN" altLang="en-US" sz="4000" dirty="0">
                <a:latin typeface="+mn-ea"/>
                <a:ea typeface="+mn-ea"/>
              </a:rPr>
              <a:t>第一阶段：</a:t>
            </a:r>
            <a:r>
              <a:rPr lang="zh-CN" altLang="en-US" sz="4000" b="1" dirty="0">
                <a:solidFill>
                  <a:srgbClr val="C00000"/>
                </a:solidFill>
                <a:latin typeface="+mn-ea"/>
                <a:ea typeface="+mn-ea"/>
              </a:rPr>
              <a:t>不可能是我的错</a:t>
            </a:r>
            <a:r>
              <a:rPr lang="zh-CN" altLang="en-US" sz="4000" dirty="0">
                <a:solidFill>
                  <a:srgbClr val="C00000"/>
                </a:solidFill>
                <a:latin typeface="+mn-ea"/>
                <a:ea typeface="+mn-ea"/>
              </a:rPr>
              <a:t>！</a:t>
            </a:r>
            <a:r>
              <a:rPr lang="zh-CN" altLang="en-US" sz="4000" dirty="0">
                <a:latin typeface="+mn-ea"/>
                <a:ea typeface="+mn-ea"/>
              </a:rPr>
              <a:t>一定是框架代码、编译器、操作系统、虚拟机、</a:t>
            </a:r>
            <a:r>
              <a:rPr lang="en-US" altLang="zh-CN" sz="4000" dirty="0">
                <a:latin typeface="+mn-ea"/>
                <a:ea typeface="+mn-ea"/>
              </a:rPr>
              <a:t>CPU……</a:t>
            </a:r>
            <a:r>
              <a:rPr lang="zh-CN" altLang="en-US" sz="4000" dirty="0">
                <a:latin typeface="+mn-ea"/>
                <a:ea typeface="+mn-ea"/>
              </a:rPr>
              <a:t>里有</a:t>
            </a:r>
            <a:r>
              <a:rPr lang="en-US" altLang="zh-CN" sz="4000" dirty="0">
                <a:latin typeface="+mn-ea"/>
                <a:ea typeface="+mn-ea"/>
              </a:rPr>
              <a:t>bug</a:t>
            </a:r>
            <a:r>
              <a:rPr lang="zh-CN" altLang="en-US" sz="4000" dirty="0">
                <a:latin typeface="+mn-ea"/>
                <a:ea typeface="+mn-ea"/>
              </a:rPr>
              <a:t>！</a:t>
            </a:r>
            <a:endParaRPr lang="zh-CN" altLang="en-US" sz="4000" dirty="0">
              <a:latin typeface="+mn-ea"/>
              <a:ea typeface="+mn-ea"/>
            </a:endParaRPr>
          </a:p>
          <a:p>
            <a:pPr marL="0" indent="0">
              <a:spcBef>
                <a:spcPts val="4200"/>
              </a:spcBef>
              <a:buNone/>
            </a:pPr>
            <a:r>
              <a:rPr lang="zh-CN" altLang="en-US" sz="4000" dirty="0">
                <a:latin typeface="+mn-ea"/>
                <a:ea typeface="+mn-ea"/>
              </a:rPr>
              <a:t>第二阶段：嗯</a:t>
            </a:r>
            <a:r>
              <a:rPr lang="en-US" altLang="zh-CN" sz="4000" dirty="0">
                <a:latin typeface="+mn-ea"/>
                <a:ea typeface="+mn-ea"/>
              </a:rPr>
              <a:t>……</a:t>
            </a:r>
            <a:r>
              <a:rPr lang="zh-CN" altLang="en-US" sz="4000" dirty="0">
                <a:latin typeface="+mn-ea"/>
                <a:ea typeface="+mn-ea"/>
              </a:rPr>
              <a:t>似乎这里有一点</a:t>
            </a:r>
            <a:r>
              <a:rPr lang="zh-CN" altLang="en-US" sz="1600" dirty="0">
                <a:latin typeface="+mn-ea"/>
                <a:ea typeface="+mn-ea"/>
              </a:rPr>
              <a:t>小问题</a:t>
            </a:r>
            <a:r>
              <a:rPr lang="zh-CN" altLang="en-US" sz="4000" dirty="0">
                <a:latin typeface="+mn-ea"/>
                <a:ea typeface="+mn-ea"/>
              </a:rPr>
              <a:t>，但是不至于吧</a:t>
            </a:r>
            <a:r>
              <a:rPr lang="en-US" altLang="zh-CN" sz="4000" dirty="0">
                <a:latin typeface="+mn-ea"/>
                <a:ea typeface="+mn-ea"/>
              </a:rPr>
              <a:t>~</a:t>
            </a:r>
            <a:endParaRPr lang="en-US" altLang="zh-CN" sz="4000" dirty="0">
              <a:latin typeface="+mn-ea"/>
              <a:ea typeface="+mn-ea"/>
            </a:endParaRPr>
          </a:p>
          <a:p>
            <a:pPr marL="0" indent="0">
              <a:spcBef>
                <a:spcPts val="4200"/>
              </a:spcBef>
              <a:buNone/>
            </a:pPr>
            <a:r>
              <a:rPr lang="zh-CN" altLang="en-US" sz="4000" dirty="0">
                <a:latin typeface="+mn-ea"/>
                <a:ea typeface="+mn-ea"/>
              </a:rPr>
              <a:t>第三阶段：当初这代码怎么能跑起来的！！！！？？？？</a:t>
            </a:r>
            <a:endParaRPr lang="zh-CN" altLang="en-US" sz="4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调试公理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89195"/>
            <a:ext cx="10515600" cy="358776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altLang="en-US" sz="4400" dirty="0">
                <a:latin typeface="+mn-ea"/>
              </a:rPr>
              <a:t>机器永远是对的</a:t>
            </a:r>
            <a:endParaRPr lang="en-US" altLang="zh-CN" sz="4400" dirty="0">
              <a:latin typeface="+mn-ea"/>
            </a:endParaRPr>
          </a:p>
          <a:p>
            <a:pPr marL="457200" lvl="1" indent="0">
              <a:buNone/>
            </a:pPr>
            <a:endParaRPr lang="en-US" altLang="zh-CN" sz="4400" dirty="0">
              <a:latin typeface="+mn-ea"/>
            </a:endParaRPr>
          </a:p>
          <a:p>
            <a:pPr marL="457200" lvl="1" indent="0">
              <a:buNone/>
            </a:pPr>
            <a:r>
              <a:rPr lang="zh-CN" altLang="en-US" sz="4400" dirty="0">
                <a:latin typeface="+mn-ea"/>
              </a:rPr>
              <a:t>未测试代码永远是错的</a:t>
            </a:r>
            <a:endParaRPr lang="en-US" altLang="zh-CN" sz="4400" dirty="0"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初学者发现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Bug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时的正常心路历程（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type-II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704699"/>
            <a:ext cx="10515600" cy="3472264"/>
          </a:xfrm>
        </p:spPr>
        <p:txBody>
          <a:bodyPr>
            <a:normAutofit/>
          </a:bodyPr>
          <a:lstStyle/>
          <a:p>
            <a:pPr marL="0" indent="0">
              <a:spcBef>
                <a:spcPts val="4200"/>
              </a:spcBef>
              <a:buNone/>
            </a:pPr>
            <a:r>
              <a:rPr lang="zh-CN" altLang="en-US" sz="4000" dirty="0">
                <a:latin typeface="+mn-ea"/>
                <a:ea typeface="+mn-ea"/>
              </a:rPr>
              <a:t>第一阶段：</a:t>
            </a:r>
            <a:r>
              <a:rPr lang="zh-CN" altLang="en-US" sz="4000" b="1" dirty="0">
                <a:solidFill>
                  <a:srgbClr val="C00000"/>
                </a:solidFill>
                <a:latin typeface="+mn-ea"/>
                <a:ea typeface="+mn-ea"/>
              </a:rPr>
              <a:t>啊</a:t>
            </a:r>
            <a:r>
              <a:rPr lang="en-US" altLang="zh-CN" sz="4000" b="1" dirty="0">
                <a:solidFill>
                  <a:srgbClr val="C00000"/>
                </a:solidFill>
                <a:latin typeface="+mn-ea"/>
                <a:ea typeface="+mn-ea"/>
              </a:rPr>
              <a:t>……</a:t>
            </a:r>
            <a:r>
              <a:rPr lang="zh-CN" altLang="en-US" sz="4000" b="1" dirty="0">
                <a:solidFill>
                  <a:srgbClr val="C00000"/>
                </a:solidFill>
                <a:latin typeface="+mn-ea"/>
                <a:ea typeface="+mn-ea"/>
              </a:rPr>
              <a:t>又出错了呢，呵呵</a:t>
            </a:r>
            <a:endParaRPr lang="zh-CN" altLang="en-US" sz="40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初学者的调试公理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925052"/>
            <a:ext cx="10515600" cy="358776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zh-CN" altLang="en-US" sz="4400" dirty="0">
                <a:latin typeface="+mn-ea"/>
              </a:rPr>
              <a:t>是人就会犯错</a:t>
            </a:r>
            <a:endParaRPr lang="en-US" altLang="zh-CN" sz="4400" dirty="0">
              <a:latin typeface="+mn-ea"/>
            </a:endParaRPr>
          </a:p>
          <a:p>
            <a:pPr marL="457200" lvl="1" indent="0">
              <a:buNone/>
            </a:pPr>
            <a:endParaRPr lang="en-US" altLang="zh-CN" sz="4400" dirty="0">
              <a:latin typeface="+mn-ea"/>
            </a:endParaRPr>
          </a:p>
          <a:p>
            <a:pPr marL="457200" lvl="1" indent="0">
              <a:buNone/>
            </a:pPr>
            <a:r>
              <a:rPr lang="en-US" altLang="zh-CN" sz="4400" dirty="0">
                <a:latin typeface="+mn-ea"/>
              </a:rPr>
              <a:t>Debug</a:t>
            </a:r>
            <a:r>
              <a:rPr lang="zh-CN" altLang="en-US" sz="4400" dirty="0">
                <a:latin typeface="+mn-ea"/>
              </a:rPr>
              <a:t>不是一件轻松的事情</a:t>
            </a:r>
            <a:endParaRPr lang="en-US" altLang="zh-CN" sz="4400" dirty="0">
              <a:latin typeface="+mn-ea"/>
            </a:endParaRPr>
          </a:p>
          <a:p>
            <a:pPr marL="457200" lvl="1" indent="0">
              <a:buNone/>
            </a:pPr>
            <a:endParaRPr lang="en-US" altLang="zh-CN" sz="4400" dirty="0">
              <a:latin typeface="+mn-ea"/>
            </a:endParaRPr>
          </a:p>
          <a:p>
            <a:pPr marL="457200" lvl="1" indent="0">
              <a:buNone/>
            </a:pPr>
            <a:r>
              <a:rPr lang="zh-CN" altLang="en-US" sz="4400" dirty="0">
                <a:latin typeface="+mn-ea"/>
              </a:rPr>
              <a:t>熟能生巧</a:t>
            </a:r>
            <a:endParaRPr lang="en-US" altLang="zh-CN" sz="4400" dirty="0">
              <a:latin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en-US" altLang="zh-CN" dirty="0"/>
              <a:t>bug —— </a:t>
            </a:r>
            <a:r>
              <a:rPr lang="zh-CN" altLang="en-US" dirty="0"/>
              <a:t>缺陷的传播链条 </a:t>
            </a:r>
            <a:endParaRPr lang="en-US" altLang="zh-CN" dirty="0"/>
          </a:p>
          <a:p>
            <a:r>
              <a:rPr lang="zh-CN" altLang="en-US" dirty="0"/>
              <a:t>少写点</a:t>
            </a:r>
            <a:r>
              <a:rPr lang="en-US" altLang="zh-CN" dirty="0"/>
              <a:t>bug —— </a:t>
            </a:r>
            <a:r>
              <a:rPr lang="zh-CN" altLang="en-US" dirty="0"/>
              <a:t>养成良好的编程习惯</a:t>
            </a:r>
            <a:endParaRPr lang="en-US" altLang="zh-CN" dirty="0"/>
          </a:p>
          <a:p>
            <a:r>
              <a:rPr lang="zh-CN" altLang="en-US" dirty="0"/>
              <a:t>如何</a:t>
            </a:r>
            <a:r>
              <a:rPr lang="en-US" altLang="zh-CN" dirty="0"/>
              <a:t>debug —— </a:t>
            </a:r>
            <a:r>
              <a:rPr lang="zh-CN" altLang="en-US" dirty="0"/>
              <a:t>“复现</a:t>
            </a:r>
            <a:r>
              <a:rPr lang="en-US" altLang="zh-CN" dirty="0"/>
              <a:t>-</a:t>
            </a:r>
            <a:r>
              <a:rPr lang="zh-CN" altLang="en-US" dirty="0"/>
              <a:t>分析定位</a:t>
            </a:r>
            <a:r>
              <a:rPr lang="en-US" altLang="zh-CN" dirty="0"/>
              <a:t>-</a:t>
            </a:r>
            <a:r>
              <a:rPr lang="zh-CN" altLang="en-US" dirty="0"/>
              <a:t>修复并测试”循环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</a:rPr>
              <a:t>什么是</a:t>
            </a:r>
            <a:r>
              <a:rPr lang="en-US" altLang="zh-CN" b="1" dirty="0">
                <a:solidFill>
                  <a:srgbClr val="C00000"/>
                </a:solidFill>
              </a:rPr>
              <a:t>bug —— </a:t>
            </a:r>
            <a:r>
              <a:rPr lang="zh-CN" altLang="en-US" b="1" dirty="0">
                <a:solidFill>
                  <a:srgbClr val="C00000"/>
                </a:solidFill>
              </a:rPr>
              <a:t>缺陷的传播链条 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dirty="0"/>
              <a:t>少写点</a:t>
            </a:r>
            <a:r>
              <a:rPr lang="en-US" altLang="zh-CN" dirty="0"/>
              <a:t>bug —— </a:t>
            </a:r>
            <a:r>
              <a:rPr lang="zh-CN" altLang="en-US" dirty="0"/>
              <a:t>养成良好的编程习惯</a:t>
            </a:r>
            <a:endParaRPr lang="en-US" altLang="zh-CN" dirty="0"/>
          </a:p>
          <a:p>
            <a:r>
              <a:rPr lang="zh-CN" altLang="en-US" dirty="0"/>
              <a:t>如何</a:t>
            </a:r>
            <a:r>
              <a:rPr lang="en-US" altLang="zh-CN" dirty="0"/>
              <a:t>debug —— </a:t>
            </a:r>
            <a:r>
              <a:rPr lang="zh-CN" altLang="en-US" dirty="0"/>
              <a:t>“复现</a:t>
            </a:r>
            <a:r>
              <a:rPr lang="en-US" altLang="zh-CN" dirty="0"/>
              <a:t>-</a:t>
            </a:r>
            <a:r>
              <a:rPr lang="zh-CN" altLang="en-US" dirty="0"/>
              <a:t>分析定位</a:t>
            </a:r>
            <a:r>
              <a:rPr lang="en-US" altLang="zh-CN" dirty="0"/>
              <a:t>-</a:t>
            </a:r>
            <a:r>
              <a:rPr lang="zh-CN" altLang="en-US" dirty="0"/>
              <a:t>修复并测试”循环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en-US" altLang="zh-CN" dirty="0"/>
              <a:t>bug —— </a:t>
            </a:r>
            <a:r>
              <a:rPr lang="zh-CN" altLang="en-US" dirty="0"/>
              <a:t>缺陷的传播链条 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38200" y="1472665"/>
            <a:ext cx="9971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三个基本术语：</a:t>
            </a:r>
            <a:r>
              <a:rPr lang="en-US" altLang="zh-CN" sz="3200" dirty="0"/>
              <a:t>Fault (Defect), Error, and Failure</a:t>
            </a:r>
            <a:endParaRPr lang="zh-CN" altLang="en-US" sz="3200" dirty="0"/>
          </a:p>
        </p:txBody>
      </p:sp>
      <p:sp>
        <p:nvSpPr>
          <p:cNvPr id="5" name="文本框 4"/>
          <p:cNvSpPr txBox="1"/>
          <p:nvPr/>
        </p:nvSpPr>
        <p:spPr>
          <a:xfrm>
            <a:off x="838200" y="2646948"/>
            <a:ext cx="908624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我们能看到的，叫</a:t>
            </a:r>
            <a:r>
              <a:rPr lang="en-US" altLang="zh-CN" sz="3200" dirty="0"/>
              <a:t>Failure (</a:t>
            </a:r>
            <a:r>
              <a:rPr lang="zh-CN" altLang="en-US" sz="3200" dirty="0"/>
              <a:t>失效</a:t>
            </a:r>
            <a:r>
              <a:rPr lang="en-US" altLang="zh-CN" sz="3200" dirty="0"/>
              <a:t>)</a:t>
            </a:r>
            <a:endParaRPr lang="en-US" altLang="zh-C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/>
              <a:t>Segmentation Fault</a:t>
            </a:r>
            <a:endParaRPr lang="en-US" altLang="zh-C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/>
              <a:t>Floating Point Exception</a:t>
            </a:r>
            <a:endParaRPr lang="en-US" altLang="zh-C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/>
              <a:t>Hit Bad Trap</a:t>
            </a:r>
            <a:endParaRPr lang="en-US" altLang="zh-C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/>
              <a:t>…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认识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bug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：从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Fault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到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Failure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0008" y="1475952"/>
            <a:ext cx="7886700" cy="901469"/>
          </a:xfrm>
        </p:spPr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/>
              <a:t>Bug</a:t>
            </a:r>
            <a:r>
              <a:rPr lang="zh-CN" altLang="en-US" dirty="0"/>
              <a:t>是怎样最终导致程序出错的？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790008" y="3097877"/>
            <a:ext cx="20615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代码中有一个</a:t>
            </a:r>
            <a:r>
              <a:rPr lang="en-US" altLang="zh-CN" sz="2800" dirty="0"/>
              <a:t>Fault</a:t>
            </a:r>
            <a:endParaRPr lang="en-US" altLang="zh-CN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4835238" y="3092331"/>
            <a:ext cx="20366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运行时导致了一个</a:t>
            </a:r>
            <a:r>
              <a:rPr lang="en-US" altLang="zh-CN" sz="2800" dirty="0"/>
              <a:t>Error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7985762" y="3097875"/>
            <a:ext cx="2621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最后导致了程序的</a:t>
            </a:r>
            <a:r>
              <a:rPr lang="en-US" altLang="zh-CN" sz="2800" dirty="0"/>
              <a:t>Failure</a:t>
            </a:r>
            <a:endParaRPr lang="zh-CN" altLang="en-US" sz="2800" dirty="0"/>
          </a:p>
        </p:txBody>
      </p:sp>
      <p:sp>
        <p:nvSpPr>
          <p:cNvPr id="7" name="右箭头 6"/>
          <p:cNvSpPr/>
          <p:nvPr/>
        </p:nvSpPr>
        <p:spPr>
          <a:xfrm>
            <a:off x="4001194" y="3402676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7074135" y="3402676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790008" y="2218648"/>
            <a:ext cx="5467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i="1" dirty="0"/>
              <a:t>从程序中的</a:t>
            </a:r>
            <a:r>
              <a:rPr lang="en-US" altLang="zh-CN" sz="2400" i="1" dirty="0"/>
              <a:t>Fault</a:t>
            </a:r>
            <a:r>
              <a:rPr lang="zh-CN" altLang="en-US" sz="2400" i="1" dirty="0"/>
              <a:t>到</a:t>
            </a:r>
            <a:r>
              <a:rPr lang="en-US" altLang="zh-CN" sz="2400" i="1" dirty="0"/>
              <a:t>Failure</a:t>
            </a:r>
            <a:r>
              <a:rPr lang="zh-CN" altLang="en-US" sz="2400" i="1" dirty="0"/>
              <a:t>的传播过程</a:t>
            </a:r>
            <a:endParaRPr lang="zh-CN" altLang="en-US" sz="2400" i="1" dirty="0"/>
          </a:p>
        </p:txBody>
      </p:sp>
      <p:sp>
        <p:nvSpPr>
          <p:cNvPr id="13" name="文本框 12"/>
          <p:cNvSpPr txBox="1"/>
          <p:nvPr/>
        </p:nvSpPr>
        <p:spPr>
          <a:xfrm>
            <a:off x="975360" y="4507426"/>
            <a:ext cx="27855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</a:rPr>
              <a:t>ALU</a:t>
            </a:r>
            <a:r>
              <a:rPr lang="zh-CN" altLang="en-US" sz="2800" dirty="0">
                <a:solidFill>
                  <a:srgbClr val="C00000"/>
                </a:solidFill>
              </a:rPr>
              <a:t>中</a:t>
            </a:r>
            <a:r>
              <a:rPr lang="en-US" altLang="zh-CN" sz="2800" dirty="0">
                <a:solidFill>
                  <a:srgbClr val="C00000"/>
                </a:solidFill>
              </a:rPr>
              <a:t>sub</a:t>
            </a:r>
            <a:r>
              <a:rPr lang="zh-CN" altLang="en-US" sz="2800" dirty="0">
                <a:solidFill>
                  <a:srgbClr val="C00000"/>
                </a:solidFill>
              </a:rPr>
              <a:t>的标志位设置逻辑错误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13847" y="4507425"/>
            <a:ext cx="26245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rgbClr val="C00000"/>
                </a:solidFill>
              </a:rPr>
              <a:t>cmp</a:t>
            </a:r>
            <a:r>
              <a:rPr lang="zh-CN" altLang="en-US" sz="2800" dirty="0">
                <a:solidFill>
                  <a:srgbClr val="C00000"/>
                </a:solidFill>
              </a:rPr>
              <a:t>之后的</a:t>
            </a:r>
            <a:r>
              <a:rPr lang="en-US" altLang="zh-CN" sz="2800" dirty="0" err="1">
                <a:solidFill>
                  <a:srgbClr val="C00000"/>
                </a:solidFill>
              </a:rPr>
              <a:t>jcc</a:t>
            </a:r>
            <a:r>
              <a:rPr lang="zh-CN" altLang="en-US" sz="2800" dirty="0">
                <a:solidFill>
                  <a:srgbClr val="C00000"/>
                </a:solidFill>
              </a:rPr>
              <a:t>指令跳转到了错误的分支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091298" y="4507425"/>
            <a:ext cx="33687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C00000"/>
                </a:solidFill>
              </a:rPr>
              <a:t>Hit Bad trap</a:t>
            </a:r>
            <a:endParaRPr lang="en-US" altLang="zh-CN" sz="2800" dirty="0">
              <a:solidFill>
                <a:srgbClr val="C00000"/>
              </a:solidFill>
            </a:endParaRPr>
          </a:p>
          <a:p>
            <a:r>
              <a:rPr lang="en-US" altLang="zh-CN" sz="2800" dirty="0">
                <a:solidFill>
                  <a:srgbClr val="C00000"/>
                </a:solidFill>
              </a:rPr>
              <a:t>Segmentation Fault</a:t>
            </a:r>
            <a:endParaRPr lang="en-US" altLang="zh-CN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538190" y="-1071375"/>
            <a:ext cx="10515600" cy="734002"/>
          </a:xfrm>
        </p:spPr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认识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bug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：从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Fault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到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Failure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586382" y="39451"/>
            <a:ext cx="7886700" cy="901469"/>
          </a:xfrm>
        </p:spPr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/>
              <a:t>Bug</a:t>
            </a:r>
            <a:r>
              <a:rPr lang="zh-CN" altLang="en-US" dirty="0"/>
              <a:t>是怎样最终导致程序出错的？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-586382" y="782147"/>
            <a:ext cx="5467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i="1" dirty="0"/>
              <a:t>从程序中的</a:t>
            </a:r>
            <a:r>
              <a:rPr lang="en-US" altLang="zh-CN" sz="2400" i="1" dirty="0"/>
              <a:t>Fault</a:t>
            </a:r>
            <a:r>
              <a:rPr lang="zh-CN" altLang="en-US" sz="2400" i="1" dirty="0"/>
              <a:t>到</a:t>
            </a:r>
            <a:r>
              <a:rPr lang="en-US" altLang="zh-CN" sz="2400" i="1" dirty="0"/>
              <a:t>Failure</a:t>
            </a:r>
            <a:r>
              <a:rPr lang="zh-CN" altLang="en-US" sz="2400" i="1" dirty="0"/>
              <a:t>的传播过程</a:t>
            </a:r>
            <a:endParaRPr lang="zh-CN" altLang="en-US" sz="2400" i="1" dirty="0"/>
          </a:p>
        </p:txBody>
      </p:sp>
      <p:sp>
        <p:nvSpPr>
          <p:cNvPr id="10" name="上箭头 9"/>
          <p:cNvSpPr/>
          <p:nvPr/>
        </p:nvSpPr>
        <p:spPr>
          <a:xfrm>
            <a:off x="2177709" y="4500723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636784" y="5633582"/>
            <a:ext cx="2166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6"/>
                </a:solidFill>
              </a:rPr>
              <a:t>写出高质量的代码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16" name="上箭头 15"/>
          <p:cNvSpPr/>
          <p:nvPr/>
        </p:nvSpPr>
        <p:spPr>
          <a:xfrm>
            <a:off x="5233883" y="4500723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247305" y="5633581"/>
            <a:ext cx="3053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经常体检</a:t>
            </a:r>
            <a:endParaRPr lang="en-US" altLang="zh-CN" sz="3600" b="1" dirty="0">
              <a:solidFill>
                <a:schemeClr val="accent6"/>
              </a:solidFill>
            </a:endParaRPr>
          </a:p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多设置检查点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790008" y="3097877"/>
            <a:ext cx="20615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代码中有一个</a:t>
            </a:r>
            <a:r>
              <a:rPr lang="en-US" altLang="zh-CN" sz="2800" dirty="0"/>
              <a:t>Fault</a:t>
            </a:r>
            <a:endParaRPr lang="en-US" altLang="zh-CN" sz="2800" dirty="0"/>
          </a:p>
        </p:txBody>
      </p:sp>
      <p:sp>
        <p:nvSpPr>
          <p:cNvPr id="19" name="文本框 18"/>
          <p:cNvSpPr txBox="1"/>
          <p:nvPr/>
        </p:nvSpPr>
        <p:spPr>
          <a:xfrm>
            <a:off x="4835238" y="3092331"/>
            <a:ext cx="20366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运行时导致了一个</a:t>
            </a:r>
            <a:r>
              <a:rPr lang="en-US" altLang="zh-CN" sz="2800" dirty="0"/>
              <a:t>Error</a:t>
            </a:r>
            <a:endParaRPr lang="zh-CN" altLang="en-US" sz="2800" dirty="0"/>
          </a:p>
        </p:txBody>
      </p:sp>
      <p:sp>
        <p:nvSpPr>
          <p:cNvPr id="20" name="文本框 19"/>
          <p:cNvSpPr txBox="1"/>
          <p:nvPr/>
        </p:nvSpPr>
        <p:spPr>
          <a:xfrm>
            <a:off x="7985762" y="3097875"/>
            <a:ext cx="2621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最后导致了程序的</a:t>
            </a:r>
            <a:r>
              <a:rPr lang="en-US" altLang="zh-CN" sz="2800" dirty="0"/>
              <a:t>Failure</a:t>
            </a:r>
            <a:endParaRPr lang="zh-CN" altLang="en-US" sz="2800" dirty="0"/>
          </a:p>
        </p:txBody>
      </p:sp>
      <p:sp>
        <p:nvSpPr>
          <p:cNvPr id="21" name="右箭头 20"/>
          <p:cNvSpPr/>
          <p:nvPr/>
        </p:nvSpPr>
        <p:spPr>
          <a:xfrm>
            <a:off x="4001194" y="3402676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右箭头 21"/>
          <p:cNvSpPr/>
          <p:nvPr/>
        </p:nvSpPr>
        <p:spPr>
          <a:xfrm>
            <a:off x="7074135" y="3402676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上箭头 22"/>
          <p:cNvSpPr/>
          <p:nvPr/>
        </p:nvSpPr>
        <p:spPr>
          <a:xfrm>
            <a:off x="8591838" y="4500723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605260" y="5633581"/>
            <a:ext cx="3053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早发现早治疗多进行测试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31594" y="4002968"/>
            <a:ext cx="2977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减少</a:t>
            </a:r>
            <a:r>
              <a:rPr lang="en-US" altLang="zh-CN" sz="2400" dirty="0">
                <a:solidFill>
                  <a:srgbClr val="C00000"/>
                </a:solidFill>
              </a:rPr>
              <a:t>Fault</a:t>
            </a:r>
            <a:r>
              <a:rPr lang="zh-CN" altLang="en-US" sz="2400" dirty="0">
                <a:solidFill>
                  <a:srgbClr val="C00000"/>
                </a:solidFill>
              </a:rPr>
              <a:t>出现的机会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515681" y="4016824"/>
            <a:ext cx="2675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不让</a:t>
            </a:r>
            <a:r>
              <a:rPr lang="en-US" altLang="zh-CN" sz="2400" dirty="0">
                <a:solidFill>
                  <a:srgbClr val="C00000"/>
                </a:solidFill>
              </a:rPr>
              <a:t>Error</a:t>
            </a:r>
            <a:r>
              <a:rPr lang="zh-CN" altLang="en-US" sz="2400" dirty="0">
                <a:solidFill>
                  <a:srgbClr val="C00000"/>
                </a:solidFill>
              </a:rPr>
              <a:t>继续发展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605260" y="4017233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降低在集成后、生产时出错几率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99237" y="2095603"/>
            <a:ext cx="2569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疯狂</a:t>
            </a:r>
            <a:r>
              <a:rPr lang="en-US" altLang="zh-CN" sz="2400" dirty="0">
                <a:solidFill>
                  <a:srgbClr val="FF0000"/>
                </a:solidFill>
              </a:rPr>
              <a:t>assert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96609" y="1846011"/>
            <a:ext cx="36363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未初始化变量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判定条件   </a:t>
            </a:r>
            <a:r>
              <a:rPr lang="en-US" altLang="zh-CN" sz="2000" dirty="0">
                <a:solidFill>
                  <a:srgbClr val="FF0000"/>
                </a:solidFill>
              </a:rPr>
              <a:t>if (a==b)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>
                <a:solidFill>
                  <a:srgbClr val="FF0000"/>
                </a:solidFill>
              </a:rPr>
              <a:t>for (</a:t>
            </a:r>
            <a:r>
              <a:rPr lang="en-US" altLang="zh-CN" sz="2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=0, </a:t>
            </a:r>
            <a:r>
              <a:rPr lang="en-US" altLang="zh-CN" sz="2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&lt;n, </a:t>
            </a:r>
            <a:r>
              <a:rPr lang="en-US" altLang="zh-CN" sz="2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++)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en-US" altLang="zh-CN" dirty="0"/>
              <a:t>bug —— </a:t>
            </a:r>
            <a:r>
              <a:rPr lang="zh-CN" altLang="en-US" dirty="0"/>
              <a:t>缺陷的传播链条 </a:t>
            </a:r>
            <a:endParaRPr lang="en-US" altLang="zh-CN" dirty="0"/>
          </a:p>
          <a:p>
            <a:r>
              <a:rPr lang="zh-CN" altLang="en-US" b="1" dirty="0">
                <a:solidFill>
                  <a:srgbClr val="C00000"/>
                </a:solidFill>
              </a:rPr>
              <a:t>少写点</a:t>
            </a:r>
            <a:r>
              <a:rPr lang="en-US" altLang="zh-CN" b="1" dirty="0">
                <a:solidFill>
                  <a:srgbClr val="C00000"/>
                </a:solidFill>
              </a:rPr>
              <a:t>bug —— </a:t>
            </a:r>
            <a:r>
              <a:rPr lang="zh-CN" altLang="en-US" b="1" dirty="0">
                <a:solidFill>
                  <a:srgbClr val="C00000"/>
                </a:solidFill>
              </a:rPr>
              <a:t>养成良好的编程习惯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dirty="0"/>
              <a:t>如何</a:t>
            </a:r>
            <a:r>
              <a:rPr lang="en-US" altLang="zh-CN" dirty="0"/>
              <a:t>debug —— </a:t>
            </a:r>
            <a:r>
              <a:rPr lang="zh-CN" altLang="en-US" dirty="0"/>
              <a:t>“复现</a:t>
            </a:r>
            <a:r>
              <a:rPr lang="en-US" altLang="zh-CN" dirty="0"/>
              <a:t>-</a:t>
            </a:r>
            <a:r>
              <a:rPr lang="zh-CN" altLang="en-US" dirty="0"/>
              <a:t>分析定位</a:t>
            </a:r>
            <a:r>
              <a:rPr lang="en-US" altLang="zh-CN" dirty="0"/>
              <a:t>-</a:t>
            </a:r>
            <a:r>
              <a:rPr lang="zh-CN" altLang="en-US" dirty="0"/>
              <a:t>修复并测试”循环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少写点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bug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（纯个人经验）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上箭头 4"/>
          <p:cNvSpPr/>
          <p:nvPr/>
        </p:nvSpPr>
        <p:spPr>
          <a:xfrm>
            <a:off x="1784315" y="3401128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43390" y="4533987"/>
            <a:ext cx="2166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6"/>
                </a:solidFill>
              </a:rPr>
              <a:t>写出高质量的代码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7" name="上箭头 6"/>
          <p:cNvSpPr/>
          <p:nvPr/>
        </p:nvSpPr>
        <p:spPr>
          <a:xfrm>
            <a:off x="4840489" y="3401128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853911" y="4533986"/>
            <a:ext cx="3053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经常体检</a:t>
            </a:r>
            <a:endParaRPr lang="en-US" altLang="zh-CN" sz="3600" b="1" dirty="0">
              <a:solidFill>
                <a:schemeClr val="accent6"/>
              </a:solidFill>
            </a:endParaRPr>
          </a:p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多设置检查点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96614" y="1998282"/>
            <a:ext cx="20615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代码中有一个</a:t>
            </a:r>
            <a:r>
              <a:rPr lang="en-US" altLang="zh-CN" sz="2800" dirty="0"/>
              <a:t>Fault</a:t>
            </a:r>
            <a:endParaRPr lang="en-US" altLang="zh-CN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4441844" y="1992736"/>
            <a:ext cx="20366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运行时导致了一个</a:t>
            </a:r>
            <a:r>
              <a:rPr lang="en-US" altLang="zh-CN" sz="2800" dirty="0"/>
              <a:t>Error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592368" y="1998280"/>
            <a:ext cx="2621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最后导致了程序的</a:t>
            </a:r>
            <a:r>
              <a:rPr lang="en-US" altLang="zh-CN" sz="2800" dirty="0"/>
              <a:t>Failure</a:t>
            </a:r>
            <a:endParaRPr lang="zh-CN" altLang="en-US" sz="2800" dirty="0"/>
          </a:p>
        </p:txBody>
      </p:sp>
      <p:sp>
        <p:nvSpPr>
          <p:cNvPr id="12" name="右箭头 11"/>
          <p:cNvSpPr/>
          <p:nvPr/>
        </p:nvSpPr>
        <p:spPr>
          <a:xfrm>
            <a:off x="3607800" y="2303081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6680741" y="2303081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上箭头 13"/>
          <p:cNvSpPr/>
          <p:nvPr/>
        </p:nvSpPr>
        <p:spPr>
          <a:xfrm>
            <a:off x="8198444" y="3401128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211866" y="4533986"/>
            <a:ext cx="3053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早发现早治疗多进行测试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8200" y="2903373"/>
            <a:ext cx="2977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减少</a:t>
            </a:r>
            <a:r>
              <a:rPr lang="en-US" altLang="zh-CN" sz="2400" dirty="0">
                <a:solidFill>
                  <a:srgbClr val="C00000"/>
                </a:solidFill>
              </a:rPr>
              <a:t>Fault</a:t>
            </a:r>
            <a:r>
              <a:rPr lang="zh-CN" altLang="en-US" sz="2400" dirty="0">
                <a:solidFill>
                  <a:srgbClr val="C00000"/>
                </a:solidFill>
              </a:rPr>
              <a:t>出现的机会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122287" y="2917229"/>
            <a:ext cx="2675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不让</a:t>
            </a:r>
            <a:r>
              <a:rPr lang="en-US" altLang="zh-CN" sz="2400" dirty="0">
                <a:solidFill>
                  <a:srgbClr val="C00000"/>
                </a:solidFill>
              </a:rPr>
              <a:t>Error</a:t>
            </a:r>
            <a:r>
              <a:rPr lang="zh-CN" altLang="en-US" sz="2400" dirty="0">
                <a:solidFill>
                  <a:srgbClr val="C00000"/>
                </a:solidFill>
              </a:rPr>
              <a:t>继续发展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211866" y="2917638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降低在集成后、生产时出错几率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少写点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bug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（纯个人经验）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上箭头 4"/>
          <p:cNvSpPr/>
          <p:nvPr/>
        </p:nvSpPr>
        <p:spPr>
          <a:xfrm>
            <a:off x="1784315" y="3401128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43390" y="4533987"/>
            <a:ext cx="2166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6"/>
                </a:solidFill>
              </a:rPr>
              <a:t>写出高质量的代码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7" name="上箭头 6"/>
          <p:cNvSpPr/>
          <p:nvPr/>
        </p:nvSpPr>
        <p:spPr>
          <a:xfrm>
            <a:off x="4840489" y="3401128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853911" y="4533986"/>
            <a:ext cx="3053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经常体检</a:t>
            </a:r>
            <a:endParaRPr lang="en-US" altLang="zh-CN" sz="3600" b="1" dirty="0">
              <a:solidFill>
                <a:schemeClr val="accent6"/>
              </a:solidFill>
            </a:endParaRPr>
          </a:p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多设置检查点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96614" y="1998282"/>
            <a:ext cx="20615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代码中有一个</a:t>
            </a:r>
            <a:r>
              <a:rPr lang="en-US" altLang="zh-CN" sz="2800" dirty="0"/>
              <a:t>Fault</a:t>
            </a:r>
            <a:endParaRPr lang="en-US" altLang="zh-CN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4441844" y="1992736"/>
            <a:ext cx="20366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运行时导致了一个</a:t>
            </a:r>
            <a:r>
              <a:rPr lang="en-US" altLang="zh-CN" sz="2800" dirty="0"/>
              <a:t>Error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592368" y="1998280"/>
            <a:ext cx="2621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最后导致了程序的</a:t>
            </a:r>
            <a:r>
              <a:rPr lang="en-US" altLang="zh-CN" sz="2800" dirty="0"/>
              <a:t>Failure</a:t>
            </a:r>
            <a:endParaRPr lang="zh-CN" altLang="en-US" sz="2800" dirty="0"/>
          </a:p>
        </p:txBody>
      </p:sp>
      <p:sp>
        <p:nvSpPr>
          <p:cNvPr id="12" name="右箭头 11"/>
          <p:cNvSpPr/>
          <p:nvPr/>
        </p:nvSpPr>
        <p:spPr>
          <a:xfrm>
            <a:off x="3607800" y="2303081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6680741" y="2303081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上箭头 13"/>
          <p:cNvSpPr/>
          <p:nvPr/>
        </p:nvSpPr>
        <p:spPr>
          <a:xfrm>
            <a:off x="8198444" y="3401128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211866" y="4533986"/>
            <a:ext cx="3053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早发现早治疗多进行测试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8200" y="2903373"/>
            <a:ext cx="2977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减少</a:t>
            </a:r>
            <a:r>
              <a:rPr lang="en-US" altLang="zh-CN" sz="2400" dirty="0">
                <a:solidFill>
                  <a:srgbClr val="C00000"/>
                </a:solidFill>
              </a:rPr>
              <a:t>Fault</a:t>
            </a:r>
            <a:r>
              <a:rPr lang="zh-CN" altLang="en-US" sz="2400" dirty="0">
                <a:solidFill>
                  <a:srgbClr val="C00000"/>
                </a:solidFill>
              </a:rPr>
              <a:t>出现的机会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122287" y="2917229"/>
            <a:ext cx="2675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不让</a:t>
            </a:r>
            <a:r>
              <a:rPr lang="en-US" altLang="zh-CN" sz="2400" dirty="0">
                <a:solidFill>
                  <a:srgbClr val="C00000"/>
                </a:solidFill>
              </a:rPr>
              <a:t>Error</a:t>
            </a:r>
            <a:r>
              <a:rPr lang="zh-CN" altLang="en-US" sz="2400" dirty="0">
                <a:solidFill>
                  <a:srgbClr val="C00000"/>
                </a:solidFill>
              </a:rPr>
              <a:t>继续发展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211866" y="2917638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降低在集成后、生产时出错几率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037299" y="4489712"/>
            <a:ext cx="2570502" cy="144810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84315" y="6238754"/>
            <a:ext cx="2657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注释</a:t>
            </a:r>
            <a:endParaRPr lang="en-US" altLang="zh-CN" dirty="0"/>
          </a:p>
          <a:p>
            <a:r>
              <a:rPr lang="zh-CN" altLang="en-US" dirty="0"/>
              <a:t>先想清楚再写，随时</a:t>
            </a:r>
            <a:r>
              <a:rPr lang="en-US" altLang="zh-CN" dirty="0"/>
              <a:t>test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写出高质量的代码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zh-CN" sz="3600" dirty="0"/>
              <a:t>KISS</a:t>
            </a:r>
            <a:r>
              <a:rPr lang="zh-CN" altLang="en-US" sz="3600" dirty="0"/>
              <a:t>：</a:t>
            </a:r>
            <a:r>
              <a:rPr lang="en-US" altLang="zh-CN" sz="3600" dirty="0"/>
              <a:t>Keep It Simple and Stupid</a:t>
            </a:r>
            <a:endParaRPr lang="en-US" altLang="zh-CN" sz="3600" dirty="0"/>
          </a:p>
          <a:p>
            <a:pPr>
              <a:lnSpc>
                <a:spcPct val="200000"/>
              </a:lnSpc>
            </a:pPr>
            <a:r>
              <a:rPr lang="zh-CN" altLang="en-US" sz="3600" dirty="0"/>
              <a:t>代码写好看一些</a:t>
            </a:r>
            <a:endParaRPr lang="en-US" altLang="zh-CN" sz="3600" dirty="0"/>
          </a:p>
          <a:p>
            <a:pPr>
              <a:lnSpc>
                <a:spcPct val="200000"/>
              </a:lnSpc>
            </a:pPr>
            <a:r>
              <a:rPr lang="zh-CN" altLang="en-US" sz="3600" dirty="0"/>
              <a:t>写注释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800" dirty="0">
                <a:latin typeface="+mn-ea"/>
              </a:rPr>
              <a:t>KISS</a:t>
            </a:r>
            <a:r>
              <a:rPr lang="zh-CN" altLang="en-US" sz="4800" dirty="0">
                <a:latin typeface="+mn-ea"/>
              </a:rPr>
              <a:t>：</a:t>
            </a:r>
            <a:r>
              <a:rPr lang="en-US" altLang="zh-CN" dirty="0">
                <a:latin typeface="+mn-ea"/>
              </a:rPr>
              <a:t>Keep It Simple and Stupid</a:t>
            </a:r>
            <a:endParaRPr lang="zh-CN" altLang="en-US" dirty="0">
              <a:latin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3594" y="2079586"/>
            <a:ext cx="5865780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	unsigned short us;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	us = -32768;</a:t>
            </a:r>
            <a:endParaRPr lang="zh-CN" altLang="en-US" dirty="0"/>
          </a:p>
          <a:p>
            <a:r>
              <a:rPr lang="zh-CN" altLang="en-US" dirty="0"/>
              <a:t>	i = us;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>
                <a:solidFill>
                  <a:srgbClr val="C00000"/>
                </a:solidFill>
              </a:rPr>
              <a:t>printf("i = %d, 0x%08x\n", i, i);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	us = -32768;</a:t>
            </a:r>
            <a:endParaRPr lang="zh-CN" altLang="en-US" dirty="0"/>
          </a:p>
          <a:p>
            <a:r>
              <a:rPr lang="zh-CN" altLang="en-US" dirty="0"/>
              <a:t>	ui = us;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>
                <a:solidFill>
                  <a:srgbClr val="C00000"/>
                </a:solidFill>
              </a:rPr>
              <a:t>printf("ui = %d, 0x%08x\n", ui, ui);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09529" y="2079586"/>
            <a:ext cx="1488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Smart</a:t>
            </a:r>
            <a:endParaRPr lang="zh-CN" altLang="en-US" sz="3600" dirty="0"/>
          </a:p>
        </p:txBody>
      </p:sp>
      <p:sp>
        <p:nvSpPr>
          <p:cNvPr id="6" name="矩形 5"/>
          <p:cNvSpPr/>
          <p:nvPr/>
        </p:nvSpPr>
        <p:spPr>
          <a:xfrm>
            <a:off x="6239594" y="2079586"/>
            <a:ext cx="5865780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	unsigned short us;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	us = -32768;</a:t>
            </a:r>
            <a:endParaRPr lang="zh-CN" altLang="en-US" dirty="0"/>
          </a:p>
          <a:p>
            <a:r>
              <a:rPr lang="zh-CN" altLang="en-US" dirty="0"/>
              <a:t>	i = </a:t>
            </a:r>
            <a:r>
              <a:rPr lang="en-US" altLang="zh-CN" b="1" dirty="0" err="1"/>
              <a:t>sign_ext</a:t>
            </a:r>
            <a:r>
              <a:rPr lang="en-US" altLang="zh-CN" dirty="0"/>
              <a:t>(</a:t>
            </a:r>
            <a:r>
              <a:rPr lang="zh-CN" altLang="en-US" dirty="0"/>
              <a:t>us</a:t>
            </a:r>
            <a:r>
              <a:rPr lang="en-US" altLang="zh-CN" dirty="0"/>
              <a:t>, 16)</a:t>
            </a:r>
            <a:r>
              <a:rPr lang="zh-CN" altLang="en-US" dirty="0"/>
              <a:t>;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>
                <a:solidFill>
                  <a:srgbClr val="C00000"/>
                </a:solidFill>
              </a:rPr>
              <a:t>printf("i = %d, 0x%08x\n", i, i);</a:t>
            </a:r>
            <a:endParaRPr lang="zh-CN" altLang="en-US" dirty="0">
              <a:solidFill>
                <a:srgbClr val="C00000"/>
              </a:solidFill>
            </a:endParaRPr>
          </a:p>
          <a:p>
            <a:endParaRPr lang="zh-CN" altLang="en-US" dirty="0"/>
          </a:p>
          <a:p>
            <a:r>
              <a:rPr lang="zh-CN" altLang="en-US" dirty="0"/>
              <a:t>	us = -32768;</a:t>
            </a:r>
            <a:endParaRPr lang="zh-CN" altLang="en-US" dirty="0"/>
          </a:p>
          <a:p>
            <a:r>
              <a:rPr lang="zh-CN" altLang="en-US" dirty="0"/>
              <a:t>	ui = </a:t>
            </a:r>
            <a:r>
              <a:rPr lang="en-US" altLang="zh-CN" b="1" dirty="0" err="1"/>
              <a:t>zero_ext</a:t>
            </a:r>
            <a:r>
              <a:rPr lang="en-US" altLang="zh-CN" dirty="0"/>
              <a:t>(</a:t>
            </a:r>
            <a:r>
              <a:rPr lang="zh-CN" altLang="en-US" dirty="0"/>
              <a:t>us</a:t>
            </a:r>
            <a:r>
              <a:rPr lang="en-US" altLang="zh-CN" dirty="0"/>
              <a:t>, 16)</a:t>
            </a:r>
            <a:r>
              <a:rPr lang="zh-CN" altLang="en-US" dirty="0"/>
              <a:t>;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zh-CN" altLang="en-US" dirty="0">
                <a:solidFill>
                  <a:srgbClr val="C00000"/>
                </a:solidFill>
              </a:rPr>
              <a:t>printf("ui = %d, 0x%08x\n", ui, ui);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05529" y="2079586"/>
            <a:ext cx="14881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Stupid</a:t>
            </a:r>
            <a:r>
              <a:rPr lang="en-US" altLang="zh-CN" sz="3600" b="1" dirty="0">
                <a:solidFill>
                  <a:schemeClr val="accent6">
                    <a:lumMod val="75000"/>
                  </a:schemeClr>
                </a:solidFill>
              </a:rPr>
              <a:t>√</a:t>
            </a:r>
            <a:endParaRPr lang="zh-CN" altLang="en-US" sz="3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103444" y="4988074"/>
            <a:ext cx="5088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dirty="0" err="1"/>
              <a:t>sign_ext</a:t>
            </a:r>
            <a:r>
              <a:rPr lang="en-US" altLang="zh-CN" sz="2800" dirty="0"/>
              <a:t>()</a:t>
            </a:r>
            <a:r>
              <a:rPr lang="zh-CN" altLang="en-US" sz="2800" dirty="0"/>
              <a:t>函数我们单独测试过</a:t>
            </a:r>
            <a:endParaRPr lang="zh-CN" altLang="en-US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143594" y="5846543"/>
            <a:ext cx="9189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用笨（</a:t>
            </a:r>
            <a:r>
              <a:rPr lang="en-US" altLang="zh-CN" sz="3600" dirty="0"/>
              <a:t>Stupid</a:t>
            </a:r>
            <a:r>
              <a:rPr lang="zh-CN" altLang="en-US" sz="3600" dirty="0"/>
              <a:t>）但是保险的方法来写代码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800" dirty="0">
                <a:latin typeface="+mn-ea"/>
              </a:rPr>
              <a:t>KISS</a:t>
            </a:r>
            <a:r>
              <a:rPr lang="zh-CN" altLang="en-US" sz="4800" dirty="0">
                <a:latin typeface="+mn-ea"/>
              </a:rPr>
              <a:t>：</a:t>
            </a:r>
            <a:r>
              <a:rPr lang="en-US" altLang="zh-CN" dirty="0">
                <a:latin typeface="+mn-ea"/>
              </a:rPr>
              <a:t>Keep It Simple and Stupid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43594" y="6107800"/>
            <a:ext cx="10212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代码要尽量简洁（</a:t>
            </a:r>
            <a:r>
              <a:rPr lang="en-US" altLang="zh-CN" sz="3600" dirty="0"/>
              <a:t>Simple</a:t>
            </a:r>
            <a:r>
              <a:rPr lang="zh-CN" altLang="en-US" sz="3600" dirty="0"/>
              <a:t>的其中一种解读）</a:t>
            </a:r>
            <a:endParaRPr lang="zh-CN" altLang="en-US" sz="3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20" y="1150486"/>
            <a:ext cx="10489995" cy="489245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" name="矩形 11"/>
          <p:cNvSpPr/>
          <p:nvPr/>
        </p:nvSpPr>
        <p:spPr>
          <a:xfrm>
            <a:off x="8202544" y="1150486"/>
            <a:ext cx="87716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b="1" dirty="0">
                <a:solidFill>
                  <a:schemeClr val="accent6">
                    <a:lumMod val="75000"/>
                  </a:schemeClr>
                </a:solidFill>
              </a:rPr>
              <a:t>√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代码写好看一些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3600" dirty="0">
                <a:latin typeface="+mn-ea"/>
                <a:ea typeface="+mn-ea"/>
              </a:rPr>
              <a:t>好看吗？好看就是好代码！</a:t>
            </a:r>
            <a:endParaRPr lang="zh-CN" altLang="en-US" sz="3600" dirty="0">
              <a:latin typeface="+mn-ea"/>
              <a:ea typeface="+mn-ea"/>
            </a:endParaRPr>
          </a:p>
          <a:p>
            <a:pPr lvl="1">
              <a:spcBef>
                <a:spcPts val="2400"/>
              </a:spcBef>
            </a:pPr>
            <a:r>
              <a:rPr lang="zh-CN" altLang="en-US" sz="3200" dirty="0">
                <a:latin typeface="+mn-ea"/>
                <a:ea typeface="+mn-ea"/>
              </a:rPr>
              <a:t>统一的排版</a:t>
            </a:r>
            <a:endParaRPr lang="en-US" altLang="zh-CN" sz="3200" dirty="0">
              <a:latin typeface="+mn-ea"/>
              <a:ea typeface="+mn-ea"/>
            </a:endParaRPr>
          </a:p>
          <a:p>
            <a:pPr lvl="2"/>
            <a:r>
              <a:rPr lang="zh-CN" altLang="en-US" sz="2800" dirty="0">
                <a:latin typeface="+mn-ea"/>
                <a:ea typeface="+mn-ea"/>
              </a:rPr>
              <a:t>统一的缩进</a:t>
            </a:r>
            <a:endParaRPr lang="en-US" altLang="zh-CN" sz="2800" dirty="0">
              <a:latin typeface="+mn-ea"/>
              <a:ea typeface="+mn-ea"/>
            </a:endParaRPr>
          </a:p>
          <a:p>
            <a:pPr lvl="2"/>
            <a:r>
              <a:rPr lang="zh-CN" altLang="en-US" sz="2800" dirty="0">
                <a:latin typeface="+mn-ea"/>
                <a:ea typeface="+mn-ea"/>
              </a:rPr>
              <a:t>一行只写一句</a:t>
            </a:r>
            <a:endParaRPr lang="en-US" altLang="zh-CN" sz="2800" dirty="0">
              <a:latin typeface="+mn-ea"/>
              <a:ea typeface="+mn-ea"/>
            </a:endParaRPr>
          </a:p>
          <a:p>
            <a:pPr lvl="2"/>
            <a:r>
              <a:rPr lang="zh-CN" altLang="en-US" sz="2800" dirty="0">
                <a:latin typeface="+mn-ea"/>
                <a:ea typeface="+mn-ea"/>
              </a:rPr>
              <a:t>一个函数不超过一屏</a:t>
            </a:r>
            <a:endParaRPr lang="en-US" altLang="zh-CN" sz="2800" dirty="0">
              <a:latin typeface="+mn-ea"/>
              <a:ea typeface="+mn-ea"/>
            </a:endParaRPr>
          </a:p>
          <a:p>
            <a:pPr lvl="1">
              <a:spcBef>
                <a:spcPts val="2400"/>
              </a:spcBef>
            </a:pPr>
            <a:r>
              <a:rPr lang="zh-CN" altLang="en-US" sz="3200" dirty="0">
                <a:latin typeface="+mn-ea"/>
                <a:ea typeface="+mn-ea"/>
              </a:rPr>
              <a:t>函数</a:t>
            </a:r>
            <a:r>
              <a:rPr lang="en-US" altLang="zh-CN" sz="3200" dirty="0">
                <a:latin typeface="+mn-ea"/>
                <a:ea typeface="+mn-ea"/>
              </a:rPr>
              <a:t>/</a:t>
            </a:r>
            <a:r>
              <a:rPr lang="zh-CN" altLang="en-US" sz="3200" dirty="0">
                <a:latin typeface="+mn-ea"/>
                <a:ea typeface="+mn-ea"/>
              </a:rPr>
              <a:t>变量名命名方式</a:t>
            </a:r>
            <a:endParaRPr lang="en-US" altLang="zh-CN" sz="3200" dirty="0">
              <a:latin typeface="+mn-ea"/>
              <a:ea typeface="+mn-ea"/>
            </a:endParaRPr>
          </a:p>
          <a:p>
            <a:pPr marL="1257300" lvl="2" indent="-342900"/>
            <a:r>
              <a:rPr lang="zh-CN" altLang="en-US" sz="2800" dirty="0">
                <a:latin typeface="+mn-ea"/>
                <a:ea typeface="+mn-ea"/>
              </a:rPr>
              <a:t>下划线方式：</a:t>
            </a:r>
            <a:r>
              <a:rPr lang="en-US" altLang="zh-CN" sz="2800" dirty="0">
                <a:latin typeface="+mn-ea"/>
                <a:ea typeface="+mn-ea"/>
              </a:rPr>
              <a:t>mov_r2rm_v, instr_execute_2op, </a:t>
            </a:r>
            <a:r>
              <a:rPr lang="en-US" altLang="zh-CN" sz="2800" dirty="0" err="1">
                <a:latin typeface="+mn-ea"/>
                <a:ea typeface="+mn-ea"/>
              </a:rPr>
              <a:t>operand_write</a:t>
            </a:r>
            <a:endParaRPr lang="en-US" altLang="zh-CN" sz="2800" dirty="0">
              <a:latin typeface="+mn-ea"/>
              <a:ea typeface="+mn-ea"/>
            </a:endParaRPr>
          </a:p>
          <a:p>
            <a:pPr marL="1257300" lvl="2" indent="-342900"/>
            <a:r>
              <a:rPr lang="zh-CN" altLang="en-US" sz="2800" dirty="0">
                <a:latin typeface="+mn-ea"/>
                <a:ea typeface="+mn-ea"/>
              </a:rPr>
              <a:t>驼峰命名法：</a:t>
            </a:r>
            <a:r>
              <a:rPr lang="en-US" altLang="zh-CN" sz="2800" dirty="0">
                <a:latin typeface="+mn-ea"/>
                <a:ea typeface="+mn-ea"/>
              </a:rPr>
              <a:t>movR2rmV, instrExecute2op, </a:t>
            </a:r>
            <a:r>
              <a:rPr lang="en-US" altLang="zh-CN" sz="2800" dirty="0" err="1">
                <a:latin typeface="+mn-ea"/>
                <a:ea typeface="+mn-ea"/>
              </a:rPr>
              <a:t>operandWrite</a:t>
            </a:r>
            <a:endParaRPr lang="en-US" altLang="zh-CN" sz="2800" dirty="0">
              <a:latin typeface="+mn-ea"/>
              <a:ea typeface="+mn-ea"/>
            </a:endParaRPr>
          </a:p>
          <a:p>
            <a:pPr marL="1257300" lvl="2" indent="-342900"/>
            <a:r>
              <a:rPr lang="zh-CN" altLang="en-US" sz="2800" dirty="0">
                <a:latin typeface="+mn-ea"/>
                <a:ea typeface="+mn-ea"/>
              </a:rPr>
              <a:t>不要混用，例如，约定函数采用下划线法，局部变量采用驼峰</a:t>
            </a:r>
            <a:endParaRPr lang="en-US" altLang="zh-CN" sz="2800" dirty="0">
              <a:latin typeface="+mn-ea"/>
              <a:ea typeface="+mn-ea"/>
            </a:endParaRPr>
          </a:p>
          <a:p>
            <a:pPr marL="1257300" lvl="2" indent="-342900"/>
            <a:r>
              <a:rPr lang="zh-CN" altLang="en-US" sz="2800" dirty="0">
                <a:latin typeface="+mn-ea"/>
                <a:ea typeface="+mn-ea"/>
              </a:rPr>
              <a:t>起有意义的名字</a:t>
            </a:r>
            <a:endParaRPr lang="en-US" altLang="zh-CN" sz="2800" dirty="0">
              <a:latin typeface="+mn-ea"/>
              <a:ea typeface="+mn-ea"/>
            </a:endParaRPr>
          </a:p>
          <a:p>
            <a:pPr lvl="2"/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33235" y="520394"/>
            <a:ext cx="4653023" cy="31085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 err="1">
                <a:solidFill>
                  <a:srgbClr val="FF0000"/>
                </a:solidFill>
              </a:rPr>
              <a:t>int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 err="1">
                <a:solidFill>
                  <a:srgbClr val="FF0000"/>
                </a:solidFill>
              </a:rPr>
              <a:t>func</a:t>
            </a:r>
            <a:r>
              <a:rPr lang="en-US" altLang="zh-CN" sz="2800" dirty="0">
                <a:solidFill>
                  <a:srgbClr val="FF0000"/>
                </a:solidFill>
              </a:rPr>
              <a:t>()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>
                <a:solidFill>
                  <a:srgbClr val="FF0000"/>
                </a:solidFill>
              </a:rPr>
              <a:t>{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>
                <a:solidFill>
                  <a:srgbClr val="FF0000"/>
                </a:solidFill>
              </a:rPr>
              <a:t>}</a:t>
            </a:r>
            <a:endParaRPr lang="en-US" altLang="zh-CN" sz="2800" dirty="0">
              <a:solidFill>
                <a:srgbClr val="FF0000"/>
              </a:solidFill>
            </a:endParaRPr>
          </a:p>
          <a:p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 err="1">
                <a:solidFill>
                  <a:srgbClr val="FF0000"/>
                </a:solidFill>
              </a:rPr>
              <a:t>int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 err="1">
                <a:solidFill>
                  <a:srgbClr val="FF0000"/>
                </a:solidFill>
              </a:rPr>
              <a:t>func</a:t>
            </a:r>
            <a:r>
              <a:rPr lang="en-US" altLang="zh-CN" sz="2800" dirty="0">
                <a:solidFill>
                  <a:srgbClr val="FF0000"/>
                </a:solidFill>
              </a:rPr>
              <a:t>() {</a:t>
            </a:r>
            <a:endParaRPr lang="en-US" altLang="zh-CN" sz="2800" dirty="0">
              <a:solidFill>
                <a:srgbClr val="FF0000"/>
              </a:solidFill>
            </a:endParaRPr>
          </a:p>
          <a:p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>
                <a:solidFill>
                  <a:srgbClr val="FF0000"/>
                </a:solidFill>
              </a:rPr>
              <a:t>}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代码写好看一些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65" y="2212733"/>
            <a:ext cx="11202270" cy="296217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矩形 4"/>
          <p:cNvSpPr/>
          <p:nvPr/>
        </p:nvSpPr>
        <p:spPr>
          <a:xfrm>
            <a:off x="2823210" y="1577976"/>
            <a:ext cx="88739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hlinkClick r:id="rId2"/>
              </a:rPr>
              <a:t>https://www.kernel.org/doc/html/v4.10/process/coding-style.html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475497" y="5474826"/>
            <a:ext cx="7221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/>
              <a:t>一个</a:t>
            </a:r>
            <a:r>
              <a:rPr lang="en-US" altLang="zh-CN" sz="3200" dirty="0"/>
              <a:t>20</a:t>
            </a:r>
            <a:r>
              <a:rPr lang="zh-CN" altLang="en-US" sz="3200" dirty="0"/>
              <a:t>节的 </a:t>
            </a:r>
            <a:r>
              <a:rPr lang="en-US" altLang="zh-CN" sz="3200" dirty="0"/>
              <a:t>”short” document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写出高质量的代码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zh-CN" sz="3600" dirty="0"/>
              <a:t>KISS</a:t>
            </a:r>
            <a:r>
              <a:rPr lang="zh-CN" altLang="en-US" sz="3600" dirty="0"/>
              <a:t>：</a:t>
            </a:r>
            <a:r>
              <a:rPr lang="en-US" altLang="zh-CN" sz="3600" dirty="0"/>
              <a:t>Keep It Simple and Stupid</a:t>
            </a:r>
            <a:endParaRPr lang="en-US" altLang="zh-CN" sz="3600" dirty="0"/>
          </a:p>
          <a:p>
            <a:pPr>
              <a:lnSpc>
                <a:spcPct val="200000"/>
              </a:lnSpc>
            </a:pPr>
            <a:r>
              <a:rPr lang="zh-CN" altLang="en-US" sz="3600" dirty="0"/>
              <a:t>代码写好看一些</a:t>
            </a:r>
            <a:endParaRPr lang="en-US" altLang="zh-CN" sz="3600" dirty="0"/>
          </a:p>
          <a:p>
            <a:pPr>
              <a:lnSpc>
                <a:spcPct val="200000"/>
              </a:lnSpc>
            </a:pPr>
            <a:r>
              <a:rPr lang="zh-CN" altLang="en-US" sz="3600" dirty="0"/>
              <a:t>写注释（不解释）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少写点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bug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（纯个人经验）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上箭头 4"/>
          <p:cNvSpPr/>
          <p:nvPr/>
        </p:nvSpPr>
        <p:spPr>
          <a:xfrm>
            <a:off x="1784315" y="3401128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43390" y="4533987"/>
            <a:ext cx="2166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6"/>
                </a:solidFill>
              </a:rPr>
              <a:t>写出高质量的代码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7" name="上箭头 6"/>
          <p:cNvSpPr/>
          <p:nvPr/>
        </p:nvSpPr>
        <p:spPr>
          <a:xfrm>
            <a:off x="4840489" y="3401128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853911" y="4533986"/>
            <a:ext cx="3053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经常体检</a:t>
            </a:r>
            <a:endParaRPr lang="en-US" altLang="zh-CN" sz="3600" b="1" dirty="0">
              <a:solidFill>
                <a:schemeClr val="accent6"/>
              </a:solidFill>
            </a:endParaRPr>
          </a:p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多设置检查点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96614" y="1998282"/>
            <a:ext cx="20615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代码中有一个</a:t>
            </a:r>
            <a:r>
              <a:rPr lang="en-US" altLang="zh-CN" sz="2800" dirty="0"/>
              <a:t>Fault</a:t>
            </a:r>
            <a:endParaRPr lang="en-US" altLang="zh-CN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4441844" y="1992736"/>
            <a:ext cx="20366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运行时导致了一个</a:t>
            </a:r>
            <a:r>
              <a:rPr lang="en-US" altLang="zh-CN" sz="2800" dirty="0"/>
              <a:t>Error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592368" y="1998280"/>
            <a:ext cx="2621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最后导致了程序的</a:t>
            </a:r>
            <a:r>
              <a:rPr lang="en-US" altLang="zh-CN" sz="2800" dirty="0"/>
              <a:t>Failure</a:t>
            </a:r>
            <a:endParaRPr lang="zh-CN" altLang="en-US" sz="2800" dirty="0"/>
          </a:p>
        </p:txBody>
      </p:sp>
      <p:sp>
        <p:nvSpPr>
          <p:cNvPr id="12" name="右箭头 11"/>
          <p:cNvSpPr/>
          <p:nvPr/>
        </p:nvSpPr>
        <p:spPr>
          <a:xfrm>
            <a:off x="3607800" y="2303081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6680741" y="2303081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上箭头 13"/>
          <p:cNvSpPr/>
          <p:nvPr/>
        </p:nvSpPr>
        <p:spPr>
          <a:xfrm>
            <a:off x="8198444" y="3401128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211866" y="4533986"/>
            <a:ext cx="3053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早发现早治疗多进行测试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8200" y="2903373"/>
            <a:ext cx="2977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减少</a:t>
            </a:r>
            <a:r>
              <a:rPr lang="en-US" altLang="zh-CN" sz="2400" dirty="0">
                <a:solidFill>
                  <a:srgbClr val="C00000"/>
                </a:solidFill>
              </a:rPr>
              <a:t>Fault</a:t>
            </a:r>
            <a:r>
              <a:rPr lang="zh-CN" altLang="en-US" sz="2400" dirty="0">
                <a:solidFill>
                  <a:srgbClr val="C00000"/>
                </a:solidFill>
              </a:rPr>
              <a:t>出现的机会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122287" y="2917229"/>
            <a:ext cx="2675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不让</a:t>
            </a:r>
            <a:r>
              <a:rPr lang="en-US" altLang="zh-CN" sz="2400" dirty="0">
                <a:solidFill>
                  <a:srgbClr val="C00000"/>
                </a:solidFill>
              </a:rPr>
              <a:t>Error</a:t>
            </a:r>
            <a:r>
              <a:rPr lang="zh-CN" altLang="en-US" sz="2400" dirty="0">
                <a:solidFill>
                  <a:srgbClr val="C00000"/>
                </a:solidFill>
              </a:rPr>
              <a:t>继续发展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211866" y="2917638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降低在集成后、生产时出错几率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853910" y="4503568"/>
            <a:ext cx="3053013" cy="144810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经常检查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3600" dirty="0"/>
              <a:t>运行时的检查：多用</a:t>
            </a:r>
            <a:r>
              <a:rPr lang="en-US" altLang="zh-CN" sz="3600" dirty="0"/>
              <a:t>assert</a:t>
            </a:r>
            <a:endParaRPr lang="en-US" altLang="zh-CN" sz="3600" dirty="0"/>
          </a:p>
          <a:p>
            <a:pPr>
              <a:lnSpc>
                <a:spcPct val="200000"/>
              </a:lnSpc>
            </a:pPr>
            <a:r>
              <a:rPr lang="zh-CN" altLang="en-US" sz="3600" dirty="0"/>
              <a:t>编译时的检查：不要忽视</a:t>
            </a:r>
            <a:r>
              <a:rPr lang="en-US" altLang="zh-CN" sz="3600" dirty="0"/>
              <a:t>warning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多多使用</a:t>
            </a:r>
            <a:r>
              <a:rPr lang="en-US" altLang="zh-CN" dirty="0"/>
              <a:t>assert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734002"/>
          </a:xfrm>
        </p:spPr>
        <p:txBody>
          <a:bodyPr/>
          <a:lstStyle/>
          <a:p>
            <a:r>
              <a:rPr lang="zh-CN" altLang="en-US" dirty="0"/>
              <a:t>墨菲定律：有可能出错的事情，就会出错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44716" y="2184111"/>
            <a:ext cx="10702570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void set_CF_add(uint32_t result, uint32_t sr</a:t>
            </a:r>
            <a:r>
              <a:rPr lang="en-US" altLang="zh-CN" sz="2400" dirty="0"/>
              <a:t>c, </a:t>
            </a:r>
            <a:r>
              <a:rPr lang="en-US" altLang="zh-CN" sz="2400" dirty="0" err="1"/>
              <a:t>size_t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data_size</a:t>
            </a:r>
            <a:r>
              <a:rPr lang="zh-CN" altLang="en-US" sz="2400" dirty="0"/>
              <a:t>) {</a:t>
            </a:r>
            <a:endParaRPr lang="zh-CN" altLang="en-US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	result = </a:t>
            </a:r>
            <a:r>
              <a:rPr lang="en-US" altLang="zh-CN" sz="2400" dirty="0" err="1">
                <a:solidFill>
                  <a:srgbClr val="FF0000"/>
                </a:solidFill>
              </a:rPr>
              <a:t>sign_ext</a:t>
            </a:r>
            <a:r>
              <a:rPr lang="en-US" altLang="zh-CN" sz="2400" dirty="0">
                <a:solidFill>
                  <a:srgbClr val="FF0000"/>
                </a:solidFill>
              </a:rPr>
              <a:t>(result &amp; (0xFFFFFFFF &gt;&gt; (32 - </a:t>
            </a:r>
            <a:r>
              <a:rPr lang="en-US" altLang="zh-CN" sz="2400" dirty="0" err="1">
                <a:solidFill>
                  <a:srgbClr val="FF0000"/>
                </a:solidFill>
              </a:rPr>
              <a:t>data_size</a:t>
            </a:r>
            <a:r>
              <a:rPr lang="en-US" altLang="zh-CN" sz="2400" dirty="0">
                <a:solidFill>
                  <a:srgbClr val="FF0000"/>
                </a:solidFill>
              </a:rPr>
              <a:t>)), </a:t>
            </a:r>
            <a:r>
              <a:rPr lang="en-US" altLang="zh-CN" sz="2400" dirty="0" err="1">
                <a:solidFill>
                  <a:srgbClr val="FF0000"/>
                </a:solidFill>
              </a:rPr>
              <a:t>data_size</a:t>
            </a:r>
            <a:r>
              <a:rPr lang="en-US" altLang="zh-CN" sz="2400" dirty="0">
                <a:solidFill>
                  <a:srgbClr val="FF0000"/>
                </a:solidFill>
              </a:rPr>
              <a:t>);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olidFill>
                  <a:srgbClr val="FF0000"/>
                </a:solidFill>
              </a:rPr>
              <a:t>	</a:t>
            </a:r>
            <a:r>
              <a:rPr lang="en-US" altLang="zh-CN" sz="2400" dirty="0" err="1">
                <a:solidFill>
                  <a:srgbClr val="FF0000"/>
                </a:solidFill>
              </a:rPr>
              <a:t>src</a:t>
            </a:r>
            <a:r>
              <a:rPr lang="en-US" altLang="zh-CN" sz="2400" dirty="0">
                <a:solidFill>
                  <a:srgbClr val="FF0000"/>
                </a:solidFill>
              </a:rPr>
              <a:t> = </a:t>
            </a:r>
            <a:r>
              <a:rPr lang="en-US" altLang="zh-CN" sz="2400" dirty="0" err="1">
                <a:solidFill>
                  <a:srgbClr val="FF0000"/>
                </a:solidFill>
              </a:rPr>
              <a:t>sign_ext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</a:rPr>
              <a:t>src</a:t>
            </a:r>
            <a:r>
              <a:rPr lang="en-US" altLang="zh-CN" sz="2400" dirty="0">
                <a:solidFill>
                  <a:srgbClr val="FF0000"/>
                </a:solidFill>
              </a:rPr>
              <a:t> &amp; (0xFFFFFFFF &gt;&gt; (32 - </a:t>
            </a:r>
            <a:r>
              <a:rPr lang="en-US" altLang="zh-CN" sz="2400" dirty="0" err="1">
                <a:solidFill>
                  <a:srgbClr val="FF0000"/>
                </a:solidFill>
              </a:rPr>
              <a:t>data_size</a:t>
            </a:r>
            <a:r>
              <a:rPr lang="en-US" altLang="zh-CN" sz="2400" dirty="0">
                <a:solidFill>
                  <a:srgbClr val="FF0000"/>
                </a:solidFill>
              </a:rPr>
              <a:t>)), </a:t>
            </a:r>
            <a:r>
              <a:rPr lang="en-US" altLang="zh-CN" sz="2400" dirty="0" err="1">
                <a:solidFill>
                  <a:srgbClr val="FF0000"/>
                </a:solidFill>
              </a:rPr>
              <a:t>data_size</a:t>
            </a:r>
            <a:r>
              <a:rPr lang="en-US" altLang="zh-CN" sz="2400" dirty="0">
                <a:solidFill>
                  <a:srgbClr val="FF0000"/>
                </a:solidFill>
              </a:rPr>
              <a:t>);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/>
              <a:t>	cpu.eflags.CF = result &lt; </a:t>
            </a:r>
            <a:r>
              <a:rPr lang="en-US" altLang="zh-CN" sz="2400" dirty="0" err="1"/>
              <a:t>src</a:t>
            </a:r>
            <a:r>
              <a:rPr lang="en-US" altLang="zh-CN" sz="2400" dirty="0"/>
              <a:t>;</a:t>
            </a:r>
            <a:endParaRPr lang="zh-CN" altLang="en-US" sz="2400" dirty="0"/>
          </a:p>
          <a:p>
            <a:r>
              <a:rPr lang="zh-CN" altLang="en-US" sz="2400" dirty="0"/>
              <a:t>}</a:t>
            </a:r>
            <a:endParaRPr lang="en-US" altLang="zh-CN" sz="2400" dirty="0"/>
          </a:p>
        </p:txBody>
      </p:sp>
      <p:sp>
        <p:nvSpPr>
          <p:cNvPr id="5" name="矩形 4"/>
          <p:cNvSpPr/>
          <p:nvPr/>
        </p:nvSpPr>
        <p:spPr>
          <a:xfrm>
            <a:off x="744715" y="4839678"/>
            <a:ext cx="10702570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void vaddr_write(vaddr_t vaddr, uint8_t sreg, size_t len, uint32_t data) {</a:t>
            </a:r>
            <a:r>
              <a:rPr lang="zh-CN" altLang="en-US" sz="2400" dirty="0">
                <a:solidFill>
                  <a:srgbClr val="FF0000"/>
                </a:solidFill>
              </a:rPr>
              <a:t>	assert(len == 1 || len == 2 || len == 4);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	laddr_write(vaddr, len, data);</a:t>
            </a:r>
            <a:endParaRPr lang="en-US" altLang="zh-CN" sz="2400" dirty="0"/>
          </a:p>
          <a:p>
            <a:r>
              <a:rPr lang="zh-CN" altLang="en-US" sz="2400" dirty="0"/>
              <a:t>}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2815771" y="4123103"/>
            <a:ext cx="65604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C00000"/>
                </a:solidFill>
              </a:rPr>
              <a:t>想得到的地方都设置检查点</a:t>
            </a:r>
            <a:endParaRPr lang="zh-CN" altLang="en-US" sz="4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多多使用</a:t>
            </a:r>
            <a:r>
              <a:rPr lang="en-US" altLang="zh-CN" dirty="0"/>
              <a:t>assert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604951" y="2704337"/>
            <a:ext cx="20615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代码中有一个</a:t>
            </a:r>
            <a:r>
              <a:rPr lang="en-US" altLang="zh-CN" sz="2800" dirty="0"/>
              <a:t>Fault</a:t>
            </a:r>
            <a:endParaRPr lang="en-US" altLang="zh-CN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4650181" y="2698791"/>
            <a:ext cx="20366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运行时导致了一个</a:t>
            </a:r>
            <a:r>
              <a:rPr lang="en-US" altLang="zh-CN" sz="2800" dirty="0"/>
              <a:t>Error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7800705" y="2704335"/>
            <a:ext cx="26513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最后导致了程序的</a:t>
            </a:r>
            <a:r>
              <a:rPr lang="en-US" altLang="zh-CN" sz="2800" dirty="0"/>
              <a:t>Failure</a:t>
            </a:r>
            <a:endParaRPr lang="zh-CN" altLang="en-US" sz="2800" dirty="0"/>
          </a:p>
        </p:txBody>
      </p:sp>
      <p:sp>
        <p:nvSpPr>
          <p:cNvPr id="7" name="右箭头 6"/>
          <p:cNvSpPr/>
          <p:nvPr/>
        </p:nvSpPr>
        <p:spPr>
          <a:xfrm>
            <a:off x="3816137" y="3009136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6889078" y="3009136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604951" y="1825108"/>
            <a:ext cx="5467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i="1" dirty="0"/>
              <a:t>从程序中的</a:t>
            </a:r>
            <a:r>
              <a:rPr lang="en-US" altLang="zh-CN" sz="2400" i="1" dirty="0"/>
              <a:t>Fault</a:t>
            </a:r>
            <a:r>
              <a:rPr lang="zh-CN" altLang="en-US" sz="2400" i="1" dirty="0"/>
              <a:t>到</a:t>
            </a:r>
            <a:r>
              <a:rPr lang="en-US" altLang="zh-CN" sz="2400" i="1" dirty="0"/>
              <a:t>Failure</a:t>
            </a:r>
            <a:r>
              <a:rPr lang="zh-CN" altLang="en-US" sz="2400" i="1" dirty="0"/>
              <a:t>的传播过程</a:t>
            </a:r>
            <a:endParaRPr lang="zh-CN" altLang="en-US" sz="2400" i="1" dirty="0"/>
          </a:p>
        </p:txBody>
      </p:sp>
      <p:sp>
        <p:nvSpPr>
          <p:cNvPr id="10" name="文本框 9"/>
          <p:cNvSpPr txBox="1"/>
          <p:nvPr/>
        </p:nvSpPr>
        <p:spPr>
          <a:xfrm>
            <a:off x="3681854" y="3639123"/>
            <a:ext cx="1313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快</a:t>
            </a:r>
            <a:endParaRPr lang="zh-CN" altLang="en-US" sz="5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6686799" y="3603251"/>
            <a:ext cx="1313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慢</a:t>
            </a:r>
            <a:endParaRPr lang="zh-CN" altLang="en-US" sz="5400" dirty="0"/>
          </a:p>
        </p:txBody>
      </p:sp>
      <p:sp>
        <p:nvSpPr>
          <p:cNvPr id="12" name="箭头: 上 11"/>
          <p:cNvSpPr/>
          <p:nvPr/>
        </p:nvSpPr>
        <p:spPr>
          <a:xfrm>
            <a:off x="4712918" y="3808346"/>
            <a:ext cx="1754649" cy="183605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/>
              <a:t>检查</a:t>
            </a:r>
            <a:endParaRPr lang="zh-CN" altLang="en-US" sz="4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6578600" y="5027546"/>
            <a:ext cx="477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让</a:t>
            </a:r>
            <a:r>
              <a:rPr lang="en-US" altLang="zh-CN" sz="3600" dirty="0"/>
              <a:t>Error</a:t>
            </a:r>
            <a:r>
              <a:rPr lang="zh-CN" altLang="en-US" sz="3600" dirty="0"/>
              <a:t>立即变成</a:t>
            </a:r>
            <a:r>
              <a:rPr lang="en-US" altLang="zh-CN" sz="3600" dirty="0"/>
              <a:t>Failure</a:t>
            </a:r>
            <a:r>
              <a:rPr lang="zh-CN" altLang="en-US" sz="3600" dirty="0"/>
              <a:t>被我们看到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多多使用</a:t>
            </a:r>
            <a:r>
              <a:rPr lang="en-US" altLang="zh-CN" dirty="0"/>
              <a:t>assert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38200" y="1660782"/>
            <a:ext cx="9637486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dirty="0"/>
              <a:t>uint32_t hw_mem_read(paddr_t paddr, size_t len)</a:t>
            </a:r>
            <a:endParaRPr lang="zh-CN" altLang="en-US" sz="2800" dirty="0"/>
          </a:p>
          <a:p>
            <a:r>
              <a:rPr lang="zh-CN" altLang="en-US" sz="2800" dirty="0"/>
              <a:t>{</a:t>
            </a:r>
            <a:endParaRPr lang="zh-CN" altLang="en-US" sz="2800" dirty="0"/>
          </a:p>
          <a:p>
            <a:r>
              <a:rPr lang="zh-CN" altLang="en-US" sz="2800" dirty="0"/>
              <a:t>	uint32_t ret = 0;</a:t>
            </a:r>
            <a:endParaRPr lang="zh-CN" altLang="en-US" sz="2800" dirty="0"/>
          </a:p>
          <a:p>
            <a:r>
              <a:rPr lang="zh-CN" altLang="en-US" sz="2800" dirty="0"/>
              <a:t>	memcpy(&amp;ret, hw_mem + paddr, len);</a:t>
            </a:r>
            <a:endParaRPr lang="zh-CN" altLang="en-US" sz="2800" dirty="0"/>
          </a:p>
          <a:p>
            <a:r>
              <a:rPr lang="zh-CN" altLang="en-US" sz="2800" dirty="0"/>
              <a:t>	return ret;</a:t>
            </a:r>
            <a:endParaRPr lang="zh-CN" altLang="en-US" sz="2800" dirty="0"/>
          </a:p>
          <a:p>
            <a:r>
              <a:rPr lang="zh-CN" altLang="en-US" sz="2800" dirty="0"/>
              <a:t>}</a:t>
            </a:r>
            <a:endParaRPr lang="zh-CN" altLang="en-US" sz="2800" dirty="0"/>
          </a:p>
          <a:p>
            <a:endParaRPr lang="zh-CN" altLang="en-US" sz="2800" dirty="0"/>
          </a:p>
          <a:p>
            <a:r>
              <a:rPr lang="zh-CN" altLang="en-US" sz="2800" dirty="0"/>
              <a:t>void hw_mem_write(paddr_t paddr, size_t len, uint32_t data)</a:t>
            </a:r>
            <a:endParaRPr lang="zh-CN" altLang="en-US" sz="2800" dirty="0"/>
          </a:p>
          <a:p>
            <a:r>
              <a:rPr lang="zh-CN" altLang="en-US" sz="2800" dirty="0"/>
              <a:t>{</a:t>
            </a:r>
            <a:endParaRPr lang="zh-CN" altLang="en-US" sz="2800" dirty="0"/>
          </a:p>
          <a:p>
            <a:r>
              <a:rPr lang="zh-CN" altLang="en-US" sz="2800" dirty="0"/>
              <a:t>	memcpy(hw_mem + paddr, &amp;data, len);</a:t>
            </a:r>
            <a:endParaRPr lang="zh-CN" altLang="en-US" sz="2800" dirty="0"/>
          </a:p>
          <a:p>
            <a:r>
              <a:rPr lang="zh-CN" altLang="en-US" sz="2800" dirty="0"/>
              <a:t>}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8548912" y="2208581"/>
            <a:ext cx="3185887" cy="10772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检查过</a:t>
            </a:r>
            <a:r>
              <a:rPr lang="en-US" altLang="zh-CN" sz="3200" dirty="0" err="1">
                <a:solidFill>
                  <a:srgbClr val="C00000"/>
                </a:solidFill>
              </a:rPr>
              <a:t>paddr</a:t>
            </a:r>
            <a:r>
              <a:rPr lang="zh-CN" altLang="en-US" sz="3200" dirty="0">
                <a:solidFill>
                  <a:srgbClr val="C00000"/>
                </a:solidFill>
              </a:rPr>
              <a:t>和</a:t>
            </a:r>
            <a:r>
              <a:rPr lang="en-US" altLang="zh-CN" sz="3200" dirty="0" err="1">
                <a:solidFill>
                  <a:srgbClr val="C00000"/>
                </a:solidFill>
              </a:rPr>
              <a:t>len</a:t>
            </a:r>
            <a:r>
              <a:rPr lang="zh-CN" altLang="en-US" sz="3200" dirty="0">
                <a:solidFill>
                  <a:srgbClr val="C00000"/>
                </a:solidFill>
              </a:rPr>
              <a:t>的合法性吗？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多多使用</a:t>
            </a:r>
            <a:r>
              <a:rPr lang="en-US" altLang="zh-CN" dirty="0"/>
              <a:t>assert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17339" y="1660782"/>
            <a:ext cx="11465689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/>
              <a:t>uint32_t </a:t>
            </a:r>
            <a:r>
              <a:rPr lang="en-US" altLang="zh-CN" sz="2800" dirty="0" err="1"/>
              <a:t>vaddr_read</a:t>
            </a:r>
            <a:r>
              <a:rPr lang="en-US" altLang="zh-CN" sz="2800" dirty="0"/>
              <a:t>(</a:t>
            </a:r>
            <a:r>
              <a:rPr lang="en-US" altLang="zh-CN" sz="2800" dirty="0" err="1"/>
              <a:t>vaddr_t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vaddr</a:t>
            </a:r>
            <a:r>
              <a:rPr lang="en-US" altLang="zh-CN" sz="2800" dirty="0"/>
              <a:t>, uint8_t </a:t>
            </a:r>
            <a:r>
              <a:rPr lang="en-US" altLang="zh-CN" sz="2800" dirty="0" err="1"/>
              <a:t>sreg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size_t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len</a:t>
            </a:r>
            <a:r>
              <a:rPr lang="en-US" altLang="zh-CN" sz="2800" dirty="0"/>
              <a:t>)</a:t>
            </a:r>
            <a:endParaRPr lang="en-US" altLang="zh-CN" sz="2800" dirty="0"/>
          </a:p>
          <a:p>
            <a:r>
              <a:rPr lang="en-US" altLang="zh-CN" sz="2800" dirty="0"/>
              <a:t>{</a:t>
            </a:r>
            <a:endParaRPr lang="en-US" altLang="zh-CN" sz="2800" dirty="0"/>
          </a:p>
          <a:p>
            <a:r>
              <a:rPr lang="en-US" altLang="zh-CN" sz="2800" dirty="0"/>
              <a:t>	assert(</a:t>
            </a:r>
            <a:r>
              <a:rPr lang="en-US" altLang="zh-CN" sz="2800" dirty="0" err="1"/>
              <a:t>len</a:t>
            </a:r>
            <a:r>
              <a:rPr lang="en-US" altLang="zh-CN" sz="2800" dirty="0"/>
              <a:t> == 1 || </a:t>
            </a:r>
            <a:r>
              <a:rPr lang="en-US" altLang="zh-CN" sz="2800" dirty="0" err="1"/>
              <a:t>len</a:t>
            </a:r>
            <a:r>
              <a:rPr lang="en-US" altLang="zh-CN" sz="2800" dirty="0"/>
              <a:t> == 2 || </a:t>
            </a:r>
            <a:r>
              <a:rPr lang="en-US" altLang="zh-CN" sz="2800" dirty="0" err="1"/>
              <a:t>len</a:t>
            </a:r>
            <a:r>
              <a:rPr lang="en-US" altLang="zh-CN" sz="2800" dirty="0"/>
              <a:t> == 4);</a:t>
            </a:r>
            <a:endParaRPr lang="en-US" altLang="zh-CN" sz="2800" dirty="0"/>
          </a:p>
          <a:p>
            <a:r>
              <a:rPr lang="en-US" altLang="zh-CN" sz="2800" dirty="0"/>
              <a:t>	return </a:t>
            </a:r>
            <a:r>
              <a:rPr lang="en-US" altLang="zh-CN" sz="2800" dirty="0" err="1"/>
              <a:t>laddr_read</a:t>
            </a:r>
            <a:r>
              <a:rPr lang="en-US" altLang="zh-CN" sz="2800" dirty="0"/>
              <a:t>(</a:t>
            </a:r>
            <a:r>
              <a:rPr lang="en-US" altLang="zh-CN" sz="2800" dirty="0" err="1"/>
              <a:t>vaddr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len</a:t>
            </a:r>
            <a:r>
              <a:rPr lang="en-US" altLang="zh-CN" sz="2800" dirty="0"/>
              <a:t>);</a:t>
            </a:r>
            <a:endParaRPr lang="en-US" altLang="zh-CN" sz="2800" dirty="0"/>
          </a:p>
          <a:p>
            <a:r>
              <a:rPr lang="en-US" altLang="zh-CN" sz="2800" dirty="0"/>
              <a:t>}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void </a:t>
            </a:r>
            <a:r>
              <a:rPr lang="en-US" altLang="zh-CN" sz="2800" dirty="0" err="1"/>
              <a:t>vaddr_write</a:t>
            </a:r>
            <a:r>
              <a:rPr lang="en-US" altLang="zh-CN" sz="2800" dirty="0"/>
              <a:t>(</a:t>
            </a:r>
            <a:r>
              <a:rPr lang="en-US" altLang="zh-CN" sz="2800" dirty="0" err="1"/>
              <a:t>vaddr_t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vaddr</a:t>
            </a:r>
            <a:r>
              <a:rPr lang="en-US" altLang="zh-CN" sz="2800" dirty="0"/>
              <a:t>, uint8_t </a:t>
            </a:r>
            <a:r>
              <a:rPr lang="en-US" altLang="zh-CN" sz="2800" dirty="0" err="1"/>
              <a:t>sreg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size_t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len</a:t>
            </a:r>
            <a:r>
              <a:rPr lang="en-US" altLang="zh-CN" sz="2800" dirty="0"/>
              <a:t>, uint32_t data)</a:t>
            </a:r>
            <a:endParaRPr lang="en-US" altLang="zh-CN" sz="2800" dirty="0"/>
          </a:p>
          <a:p>
            <a:r>
              <a:rPr lang="en-US" altLang="zh-CN" sz="2800" dirty="0"/>
              <a:t>{</a:t>
            </a:r>
            <a:endParaRPr lang="en-US" altLang="zh-CN" sz="2800" dirty="0"/>
          </a:p>
          <a:p>
            <a:r>
              <a:rPr lang="en-US" altLang="zh-CN" sz="2800" dirty="0"/>
              <a:t>	assert(</a:t>
            </a:r>
            <a:r>
              <a:rPr lang="en-US" altLang="zh-CN" sz="2800" dirty="0" err="1"/>
              <a:t>len</a:t>
            </a:r>
            <a:r>
              <a:rPr lang="en-US" altLang="zh-CN" sz="2800" dirty="0"/>
              <a:t> == 1 || </a:t>
            </a:r>
            <a:r>
              <a:rPr lang="en-US" altLang="zh-CN" sz="2800" dirty="0" err="1"/>
              <a:t>len</a:t>
            </a:r>
            <a:r>
              <a:rPr lang="en-US" altLang="zh-CN" sz="2800" dirty="0"/>
              <a:t> == 2 || </a:t>
            </a:r>
            <a:r>
              <a:rPr lang="en-US" altLang="zh-CN" sz="2800" dirty="0" err="1"/>
              <a:t>len</a:t>
            </a:r>
            <a:r>
              <a:rPr lang="en-US" altLang="zh-CN" sz="2800" dirty="0"/>
              <a:t> == 4);</a:t>
            </a:r>
            <a:endParaRPr lang="en-US" altLang="zh-CN" sz="2800" dirty="0"/>
          </a:p>
          <a:p>
            <a:r>
              <a:rPr lang="en-US" altLang="zh-CN" sz="2800" dirty="0"/>
              <a:t>	</a:t>
            </a:r>
            <a:r>
              <a:rPr lang="en-US" altLang="zh-CN" sz="2800" dirty="0" err="1"/>
              <a:t>laddr_write</a:t>
            </a:r>
            <a:r>
              <a:rPr lang="en-US" altLang="zh-CN" sz="2800" dirty="0"/>
              <a:t>(</a:t>
            </a:r>
            <a:r>
              <a:rPr lang="en-US" altLang="zh-CN" sz="2800" dirty="0" err="1"/>
              <a:t>vaddr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len</a:t>
            </a:r>
            <a:r>
              <a:rPr lang="en-US" altLang="zh-CN" sz="2800" dirty="0"/>
              <a:t>, data);</a:t>
            </a:r>
            <a:endParaRPr lang="en-US" altLang="zh-CN" sz="2800" dirty="0"/>
          </a:p>
          <a:p>
            <a:r>
              <a:rPr lang="en-US" altLang="zh-CN" sz="2800" dirty="0"/>
              <a:t>}</a:t>
            </a:r>
            <a:endParaRPr lang="en-US" altLang="zh-CN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8485253" y="2507168"/>
            <a:ext cx="3185887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在</a:t>
            </a:r>
            <a:r>
              <a:rPr lang="en-US" altLang="zh-CN" sz="3200" dirty="0">
                <a:solidFill>
                  <a:srgbClr val="C00000"/>
                </a:solidFill>
              </a:rPr>
              <a:t>PA 3-2</a:t>
            </a:r>
            <a:r>
              <a:rPr lang="zh-CN" altLang="en-US" sz="3200" dirty="0">
                <a:solidFill>
                  <a:srgbClr val="C00000"/>
                </a:solidFill>
              </a:rPr>
              <a:t>阶段一定要加入对</a:t>
            </a:r>
            <a:r>
              <a:rPr lang="en-US" altLang="zh-CN" sz="3200" dirty="0" err="1">
                <a:solidFill>
                  <a:srgbClr val="C00000"/>
                </a:solidFill>
              </a:rPr>
              <a:t>sreg</a:t>
            </a:r>
            <a:r>
              <a:rPr lang="zh-CN" altLang="en-US" sz="3200" dirty="0">
                <a:solidFill>
                  <a:srgbClr val="C00000"/>
                </a:solidFill>
              </a:rPr>
              <a:t>的合法性检查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7535120" y="2228175"/>
            <a:ext cx="838245" cy="775175"/>
          </a:xfrm>
          <a:prstGeom prst="straightConnector1">
            <a:avLst/>
          </a:prstGeom>
          <a:ln w="50800">
            <a:solidFill>
              <a:srgbClr val="C0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6967960" y="3565003"/>
            <a:ext cx="1405406" cy="752354"/>
          </a:xfrm>
          <a:prstGeom prst="straightConnector1">
            <a:avLst/>
          </a:prstGeom>
          <a:ln w="50800">
            <a:solidFill>
              <a:srgbClr val="C00000"/>
            </a:solidFill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NEMU</a:t>
            </a:r>
            <a:r>
              <a:rPr lang="zh-CN" altLang="en-US" dirty="0"/>
              <a:t>常见的几处检查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内存访问中的常见检查：</a:t>
            </a:r>
            <a:endParaRPr lang="en-US" altLang="zh-CN" dirty="0"/>
          </a:p>
          <a:p>
            <a:pPr lvl="1"/>
            <a:r>
              <a:rPr lang="zh-CN" altLang="en-US" dirty="0"/>
              <a:t>访问的物理地址是否始终处于 </a:t>
            </a:r>
            <a:r>
              <a:rPr lang="en-US" altLang="zh-CN" dirty="0"/>
              <a:t>[0, 0x7FFFFFF)</a:t>
            </a:r>
            <a:r>
              <a:rPr lang="zh-CN" altLang="en-US" dirty="0"/>
              <a:t>的范围内？</a:t>
            </a:r>
            <a:endParaRPr lang="en-US" altLang="zh-CN" dirty="0"/>
          </a:p>
          <a:p>
            <a:pPr lvl="1"/>
            <a:r>
              <a:rPr lang="en-US" altLang="zh-CN" dirty="0"/>
              <a:t>PA 3-2</a:t>
            </a:r>
            <a:r>
              <a:rPr lang="zh-CN" altLang="en-US" dirty="0"/>
              <a:t>：</a:t>
            </a:r>
            <a:r>
              <a:rPr lang="en-US" altLang="zh-CN" dirty="0" err="1"/>
              <a:t>sreg</a:t>
            </a:r>
            <a:r>
              <a:rPr lang="zh-CN" altLang="en-US" dirty="0"/>
              <a:t>是否是一个合法值？</a:t>
            </a:r>
            <a:endParaRPr lang="en-US" altLang="zh-CN" dirty="0"/>
          </a:p>
          <a:p>
            <a:pPr lvl="1"/>
            <a:r>
              <a:rPr lang="en-US" altLang="zh-CN" dirty="0"/>
              <a:t>PA 3-2</a:t>
            </a:r>
            <a:r>
              <a:rPr lang="zh-CN" altLang="en-US" dirty="0"/>
              <a:t>：线性地址是否等于有效地址？</a:t>
            </a:r>
            <a:endParaRPr lang="en-US" altLang="zh-CN" dirty="0"/>
          </a:p>
          <a:p>
            <a:r>
              <a:rPr lang="zh-CN" altLang="en-US" dirty="0"/>
              <a:t>指令中的检查：</a:t>
            </a:r>
            <a:endParaRPr lang="en-US" altLang="zh-CN" dirty="0"/>
          </a:p>
          <a:p>
            <a:pPr lvl="1"/>
            <a:r>
              <a:rPr lang="zh-CN" altLang="en-US" dirty="0"/>
              <a:t>操作数的</a:t>
            </a:r>
            <a:r>
              <a:rPr lang="en-US" altLang="zh-CN" dirty="0" err="1"/>
              <a:t>data_size</a:t>
            </a:r>
            <a:r>
              <a:rPr lang="zh-CN" altLang="en-US" dirty="0"/>
              <a:t>是不是一个合法值？</a:t>
            </a:r>
            <a:endParaRPr lang="en-US" altLang="zh-CN" dirty="0"/>
          </a:p>
          <a:p>
            <a:pPr lvl="1"/>
            <a:r>
              <a:rPr lang="en-US" altLang="zh-CN" dirty="0"/>
              <a:t>push</a:t>
            </a:r>
            <a:r>
              <a:rPr lang="zh-CN" altLang="en-US" dirty="0"/>
              <a:t>和</a:t>
            </a:r>
            <a:r>
              <a:rPr lang="en-US" altLang="zh-CN" dirty="0"/>
              <a:t>pop</a:t>
            </a:r>
            <a:r>
              <a:rPr lang="zh-CN" altLang="en-US" dirty="0"/>
              <a:t>时的</a:t>
            </a:r>
            <a:r>
              <a:rPr lang="en-US" altLang="zh-CN" dirty="0" err="1"/>
              <a:t>esp</a:t>
            </a:r>
            <a:r>
              <a:rPr lang="zh-CN" altLang="en-US" dirty="0"/>
              <a:t>和</a:t>
            </a:r>
            <a:r>
              <a:rPr lang="en-US" altLang="zh-CN" dirty="0" err="1"/>
              <a:t>ebp</a:t>
            </a:r>
            <a:r>
              <a:rPr lang="zh-CN" altLang="en-US" dirty="0"/>
              <a:t>是不是合法值？是否</a:t>
            </a:r>
            <a:r>
              <a:rPr lang="en-US" altLang="zh-CN" dirty="0" err="1"/>
              <a:t>esp</a:t>
            </a:r>
            <a:r>
              <a:rPr lang="en-US" altLang="zh-CN" dirty="0"/>
              <a:t>&lt;=</a:t>
            </a:r>
            <a:r>
              <a:rPr lang="en-US" altLang="zh-CN" dirty="0" err="1"/>
              <a:t>ebp</a:t>
            </a:r>
            <a:r>
              <a:rPr lang="zh-CN" altLang="en-US" dirty="0"/>
              <a:t>？</a:t>
            </a:r>
            <a:endParaRPr lang="en-US" altLang="zh-CN" dirty="0"/>
          </a:p>
          <a:p>
            <a:pPr lvl="1"/>
            <a:r>
              <a:rPr lang="en-US" altLang="zh-CN" dirty="0"/>
              <a:t>PA 4</a:t>
            </a:r>
            <a:r>
              <a:rPr lang="zh-CN" altLang="en-US" dirty="0"/>
              <a:t>：</a:t>
            </a:r>
            <a:r>
              <a:rPr lang="en-US" altLang="zh-CN" dirty="0"/>
              <a:t>I/O</a:t>
            </a:r>
            <a:r>
              <a:rPr lang="zh-CN" altLang="en-US" dirty="0"/>
              <a:t>端口号是否为合法值？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不要忽视</a:t>
            </a:r>
            <a:r>
              <a:rPr lang="en-US" altLang="zh-CN" dirty="0"/>
              <a:t>warning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1054224"/>
          </a:xfrm>
        </p:spPr>
        <p:txBody>
          <a:bodyPr>
            <a:normAutofit lnSpcReduction="10000"/>
          </a:bodyPr>
          <a:lstStyle/>
          <a:p>
            <a:r>
              <a:rPr lang="en-US" altLang="zh-CN" sz="3600" dirty="0">
                <a:latin typeface="Calibri" panose="020F0502020204030204" charset="0"/>
                <a:cs typeface="Calibri" panose="020F0502020204030204" charset="0"/>
              </a:rPr>
              <a:t>CFLAGS := -ggdb3 -MMD -MP </a:t>
            </a:r>
            <a:r>
              <a:rPr lang="en-US" altLang="zh-CN" sz="36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-Wall -</a:t>
            </a:r>
            <a:r>
              <a:rPr lang="en-US" altLang="zh-CN" sz="3600" dirty="0" err="1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Werror</a:t>
            </a:r>
            <a:r>
              <a:rPr lang="en-US" altLang="zh-CN" sz="36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3600" dirty="0">
                <a:latin typeface="Calibri" panose="020F0502020204030204" charset="0"/>
                <a:cs typeface="Calibri" panose="020F0502020204030204" charset="0"/>
              </a:rPr>
              <a:t>-O2 -I./include -I../include -I../libs -I../libs/</a:t>
            </a:r>
            <a:r>
              <a:rPr lang="en-US" altLang="zh-CN" sz="3600" dirty="0" err="1">
                <a:latin typeface="Calibri" panose="020F0502020204030204" charset="0"/>
                <a:cs typeface="Calibri" panose="020F0502020204030204" charset="0"/>
              </a:rPr>
              <a:t>nemu</a:t>
            </a:r>
            <a:r>
              <a:rPr lang="en-US" altLang="zh-CN" sz="3600" dirty="0">
                <a:latin typeface="Calibri" panose="020F0502020204030204" charset="0"/>
                <a:cs typeface="Calibri" panose="020F0502020204030204" charset="0"/>
              </a:rPr>
              <a:t>-ref/include</a:t>
            </a:r>
            <a:endParaRPr lang="zh-CN" altLang="en-US" sz="36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52999" y="2402733"/>
            <a:ext cx="6400801" cy="107721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-Wall</a:t>
            </a:r>
            <a:r>
              <a:rPr lang="zh-CN" altLang="en-US" sz="32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：</a:t>
            </a:r>
            <a:r>
              <a:rPr lang="zh-CN" altLang="en-US" sz="3200" dirty="0">
                <a:solidFill>
                  <a:srgbClr val="FF0000"/>
                </a:solidFill>
              </a:rPr>
              <a:t>报所有的</a:t>
            </a:r>
            <a:r>
              <a:rPr lang="en-US" altLang="zh-CN" sz="3200" dirty="0">
                <a:solidFill>
                  <a:srgbClr val="FF0000"/>
                </a:solidFill>
              </a:rPr>
              <a:t>warning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en-US" altLang="zh-CN" sz="32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-</a:t>
            </a:r>
            <a:r>
              <a:rPr lang="en-US" altLang="zh-CN" sz="3200" dirty="0" err="1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Werror</a:t>
            </a:r>
            <a:r>
              <a:rPr lang="zh-CN" altLang="en-US" sz="3200" dirty="0">
                <a:solidFill>
                  <a:srgbClr val="FF0000"/>
                </a:solidFill>
                <a:latin typeface="Calibri" panose="020F0502020204030204" charset="0"/>
                <a:cs typeface="Calibri" panose="020F0502020204030204" charset="0"/>
              </a:rPr>
              <a:t>：</a:t>
            </a:r>
            <a:r>
              <a:rPr lang="zh-CN" altLang="en-US" sz="3200" dirty="0">
                <a:solidFill>
                  <a:srgbClr val="FF0000"/>
                </a:solidFill>
              </a:rPr>
              <a:t>将</a:t>
            </a:r>
            <a:r>
              <a:rPr lang="en-US" altLang="zh-CN" sz="3200" dirty="0">
                <a:solidFill>
                  <a:srgbClr val="FF0000"/>
                </a:solidFill>
              </a:rPr>
              <a:t>warning</a:t>
            </a:r>
            <a:r>
              <a:rPr lang="zh-CN" altLang="en-US" sz="3200" dirty="0">
                <a:solidFill>
                  <a:srgbClr val="FF0000"/>
                </a:solidFill>
              </a:rPr>
              <a:t>作为</a:t>
            </a:r>
            <a:r>
              <a:rPr lang="en-US" altLang="zh-CN" sz="3200" dirty="0">
                <a:solidFill>
                  <a:srgbClr val="FF0000"/>
                </a:solidFill>
              </a:rPr>
              <a:t>error</a:t>
            </a:r>
            <a:r>
              <a:rPr lang="zh-CN" altLang="en-US" sz="3200" dirty="0">
                <a:solidFill>
                  <a:srgbClr val="FF0000"/>
                </a:solidFill>
              </a:rPr>
              <a:t>对待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52207" y="2402635"/>
            <a:ext cx="28280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accent5"/>
                </a:solidFill>
              </a:rPr>
              <a:t>nemu/Makefile</a:t>
            </a:r>
            <a:endParaRPr lang="zh-CN" altLang="en-US" sz="3200" dirty="0">
              <a:solidFill>
                <a:schemeClr val="accent5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889291"/>
            <a:ext cx="11202371" cy="169178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838200" y="3889115"/>
            <a:ext cx="256794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400" dirty="0" err="1"/>
              <a:t>int</a:t>
            </a:r>
            <a:r>
              <a:rPr lang="en-US" altLang="zh-CN" sz="2400" dirty="0"/>
              <a:t> a;    </a:t>
            </a:r>
            <a:endParaRPr lang="en-US" altLang="zh-CN" sz="2400" dirty="0"/>
          </a:p>
          <a:p>
            <a:r>
              <a:rPr lang="en-US" altLang="zh-CN" sz="2400" dirty="0" err="1"/>
              <a:t>int</a:t>
            </a:r>
            <a:r>
              <a:rPr lang="en-US" altLang="zh-CN" sz="2400" dirty="0"/>
              <a:t> b = a + 1;</a:t>
            </a:r>
            <a:endParaRPr lang="zh-CN" altLang="en-US" sz="2400" dirty="0"/>
          </a:p>
        </p:txBody>
      </p:sp>
      <p:sp>
        <p:nvSpPr>
          <p:cNvPr id="10" name="圆角右箭头 9"/>
          <p:cNvSpPr/>
          <p:nvPr/>
        </p:nvSpPr>
        <p:spPr>
          <a:xfrm rot="5400000">
            <a:off x="3623049" y="4146748"/>
            <a:ext cx="514350" cy="500005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少写点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bug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 （纯个人经验）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上箭头 4"/>
          <p:cNvSpPr/>
          <p:nvPr/>
        </p:nvSpPr>
        <p:spPr>
          <a:xfrm>
            <a:off x="1784315" y="3401128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43390" y="4533987"/>
            <a:ext cx="2166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6"/>
                </a:solidFill>
              </a:rPr>
              <a:t>写出高质量的代码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7" name="上箭头 6"/>
          <p:cNvSpPr/>
          <p:nvPr/>
        </p:nvSpPr>
        <p:spPr>
          <a:xfrm>
            <a:off x="4840489" y="3401128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853911" y="4533986"/>
            <a:ext cx="3053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经常体检</a:t>
            </a:r>
            <a:endParaRPr lang="en-US" altLang="zh-CN" sz="3600" b="1" dirty="0">
              <a:solidFill>
                <a:schemeClr val="accent6"/>
              </a:solidFill>
            </a:endParaRPr>
          </a:p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多设置检查点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96614" y="1998282"/>
            <a:ext cx="20615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代码中有一个</a:t>
            </a:r>
            <a:r>
              <a:rPr lang="en-US" altLang="zh-CN" sz="2800" dirty="0"/>
              <a:t>Fault</a:t>
            </a:r>
            <a:endParaRPr lang="en-US" altLang="zh-CN" sz="2800" dirty="0"/>
          </a:p>
        </p:txBody>
      </p:sp>
      <p:sp>
        <p:nvSpPr>
          <p:cNvPr id="10" name="文本框 9"/>
          <p:cNvSpPr txBox="1"/>
          <p:nvPr/>
        </p:nvSpPr>
        <p:spPr>
          <a:xfrm>
            <a:off x="4441844" y="1992736"/>
            <a:ext cx="20366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运行时导致了一个</a:t>
            </a:r>
            <a:r>
              <a:rPr lang="en-US" altLang="zh-CN" sz="2800" dirty="0"/>
              <a:t>Error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592368" y="1998280"/>
            <a:ext cx="2621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最后导致了程序的</a:t>
            </a:r>
            <a:r>
              <a:rPr lang="en-US" altLang="zh-CN" sz="2800" dirty="0"/>
              <a:t>Failure</a:t>
            </a:r>
            <a:endParaRPr lang="zh-CN" altLang="en-US" sz="2800" dirty="0"/>
          </a:p>
        </p:txBody>
      </p:sp>
      <p:sp>
        <p:nvSpPr>
          <p:cNvPr id="12" name="右箭头 11"/>
          <p:cNvSpPr/>
          <p:nvPr/>
        </p:nvSpPr>
        <p:spPr>
          <a:xfrm>
            <a:off x="3607800" y="2303081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6680741" y="2303081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上箭头 13"/>
          <p:cNvSpPr/>
          <p:nvPr/>
        </p:nvSpPr>
        <p:spPr>
          <a:xfrm>
            <a:off x="8198444" y="3401128"/>
            <a:ext cx="1084870" cy="95331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211866" y="4533986"/>
            <a:ext cx="3053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accent6"/>
                </a:solidFill>
              </a:rPr>
              <a:t>早发现早治疗多进行测试</a:t>
            </a:r>
            <a:endParaRPr lang="zh-CN" altLang="en-US" sz="3600" b="1" dirty="0">
              <a:solidFill>
                <a:schemeClr val="accent6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8200" y="2903373"/>
            <a:ext cx="2977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减少</a:t>
            </a:r>
            <a:r>
              <a:rPr lang="en-US" altLang="zh-CN" sz="2400" dirty="0">
                <a:solidFill>
                  <a:srgbClr val="C00000"/>
                </a:solidFill>
              </a:rPr>
              <a:t>Fault</a:t>
            </a:r>
            <a:r>
              <a:rPr lang="zh-CN" altLang="en-US" sz="2400" dirty="0">
                <a:solidFill>
                  <a:srgbClr val="C00000"/>
                </a:solidFill>
              </a:rPr>
              <a:t>出现的机会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122287" y="2917229"/>
            <a:ext cx="2675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不让</a:t>
            </a:r>
            <a:r>
              <a:rPr lang="en-US" altLang="zh-CN" sz="2400" dirty="0">
                <a:solidFill>
                  <a:srgbClr val="C00000"/>
                </a:solidFill>
              </a:rPr>
              <a:t>Error</a:t>
            </a:r>
            <a:r>
              <a:rPr lang="zh-CN" altLang="en-US" sz="2400" dirty="0">
                <a:solidFill>
                  <a:srgbClr val="C00000"/>
                </a:solidFill>
              </a:rPr>
              <a:t>继续发展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211866" y="2917638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降低在集成后、生产时出错几率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7211866" y="4410099"/>
            <a:ext cx="3053013" cy="144810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保持随手测试的习惯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828634"/>
          </a:xfrm>
        </p:spPr>
        <p:txBody>
          <a:bodyPr/>
          <a:lstStyle/>
          <a:p>
            <a:r>
              <a:rPr lang="zh-CN" altLang="en-US" dirty="0"/>
              <a:t>全覆盖的测试是不现实的，但不意味着可以不测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981200" y="3116943"/>
            <a:ext cx="9078685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float input[] = { </a:t>
            </a:r>
            <a:r>
              <a:rPr lang="en-US" altLang="zh-CN" dirty="0" err="1"/>
              <a:t>p_zero.fval</a:t>
            </a:r>
            <a:r>
              <a:rPr lang="en-US" altLang="zh-CN" dirty="0"/>
              <a:t>, </a:t>
            </a:r>
            <a:r>
              <a:rPr lang="en-US" altLang="zh-CN" dirty="0" err="1"/>
              <a:t>n_zero.fval</a:t>
            </a:r>
            <a:r>
              <a:rPr lang="en-US" altLang="zh-CN" dirty="0"/>
              <a:t>, </a:t>
            </a:r>
            <a:r>
              <a:rPr lang="en-US" altLang="zh-CN" dirty="0" err="1"/>
              <a:t>p_inf.fval</a:t>
            </a:r>
            <a:r>
              <a:rPr lang="en-US" altLang="zh-CN" dirty="0"/>
              <a:t>, </a:t>
            </a:r>
            <a:r>
              <a:rPr lang="en-US" altLang="zh-CN" dirty="0" err="1"/>
              <a:t>n_inf.fval</a:t>
            </a:r>
            <a:r>
              <a:rPr lang="en-US" altLang="zh-CN" dirty="0"/>
              <a:t>, denorm_1.fval, denorm_2.fval, big_1.fval, big_2.fval, </a:t>
            </a:r>
            <a:r>
              <a:rPr lang="en-US" altLang="zh-CN" dirty="0" err="1"/>
              <a:t>p_nan.fval</a:t>
            </a:r>
            <a:r>
              <a:rPr lang="en-US" altLang="zh-CN" dirty="0"/>
              <a:t>, </a:t>
            </a:r>
            <a:r>
              <a:rPr lang="en-US" altLang="zh-CN" dirty="0" err="1"/>
              <a:t>n_nan.fval</a:t>
            </a:r>
            <a:r>
              <a:rPr lang="en-US" altLang="zh-CN" dirty="0"/>
              <a:t>, denorm_3.fval, small_1.fval, small_2.fval, 10000000, 1.2, 1.1, 1, 0.9, 0.8, 0.7, 0.6, 0.5, 0.4, 0.3, 0.2, 0.1, -0.1, -0.2, -0.3, -0.4, -0.5, -0.6, -0.7, -0.8, -0.9, -1, -10000000};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for (i = 0; i &lt; 1000000; i++)</a:t>
            </a:r>
            <a:endParaRPr lang="zh-CN" altLang="en-US" dirty="0"/>
          </a:p>
          <a:p>
            <a:r>
              <a:rPr lang="zh-CN" altLang="en-US" dirty="0"/>
              <a:t>{</a:t>
            </a:r>
            <a:endParaRPr lang="zh-CN" altLang="en-US" dirty="0"/>
          </a:p>
          <a:p>
            <a:r>
              <a:rPr lang="zh-CN" altLang="en-US" dirty="0"/>
              <a:t>	</a:t>
            </a:r>
            <a:r>
              <a:rPr lang="en-US" altLang="zh-CN" dirty="0"/>
              <a:t>…</a:t>
            </a:r>
            <a:endParaRPr lang="zh-CN" altLang="en-US" dirty="0"/>
          </a:p>
          <a:p>
            <a:r>
              <a:rPr lang="zh-CN" altLang="en-US" dirty="0"/>
              <a:t>}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981200" y="2469033"/>
            <a:ext cx="4963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浮点运算的单元测试</a:t>
            </a:r>
            <a:endParaRPr lang="zh-CN" altLang="en-US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268516" y="3116943"/>
            <a:ext cx="17525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测试边界条件</a:t>
            </a:r>
            <a:endParaRPr lang="zh-CN" altLang="en-US" sz="3200" dirty="0"/>
          </a:p>
        </p:txBody>
      </p:sp>
      <p:sp>
        <p:nvSpPr>
          <p:cNvPr id="8" name="文本框 7"/>
          <p:cNvSpPr txBox="1"/>
          <p:nvPr/>
        </p:nvSpPr>
        <p:spPr>
          <a:xfrm>
            <a:off x="203201" y="4532086"/>
            <a:ext cx="18179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尽量提高覆盖率</a:t>
            </a:r>
            <a:endParaRPr lang="zh-CN" altLang="en-US" sz="3200" dirty="0"/>
          </a:p>
        </p:txBody>
      </p:sp>
      <p:sp>
        <p:nvSpPr>
          <p:cNvPr id="9" name="文本框 8"/>
          <p:cNvSpPr txBox="1"/>
          <p:nvPr/>
        </p:nvSpPr>
        <p:spPr>
          <a:xfrm>
            <a:off x="3149600" y="5940625"/>
            <a:ext cx="7910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/>
              <a:t>不能保证排除</a:t>
            </a:r>
            <a:r>
              <a:rPr lang="en-US" altLang="zh-CN" sz="2800" dirty="0"/>
              <a:t>bug</a:t>
            </a:r>
            <a:r>
              <a:rPr lang="zh-CN" altLang="en-US" sz="2800" dirty="0"/>
              <a:t>，但可以增强代码健壮性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保持随手测试的习惯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451594"/>
            <a:ext cx="10515600" cy="4828454"/>
          </a:xfrm>
        </p:spPr>
        <p:txBody>
          <a:bodyPr/>
          <a:lstStyle/>
          <a:p>
            <a:r>
              <a:rPr lang="zh-CN" altLang="en-US" sz="4800" dirty="0">
                <a:latin typeface="+mn-ea"/>
                <a:ea typeface="+mn-ea"/>
              </a:rPr>
              <a:t>测试的要点</a:t>
            </a:r>
            <a:endParaRPr lang="en-US" altLang="zh-CN" sz="4800" dirty="0">
              <a:latin typeface="+mn-ea"/>
              <a:ea typeface="+mn-ea"/>
            </a:endParaRPr>
          </a:p>
          <a:p>
            <a:pPr lvl="1"/>
            <a:r>
              <a:rPr lang="zh-CN" altLang="en-US" sz="3600" dirty="0">
                <a:latin typeface="+mn-ea"/>
                <a:ea typeface="+mn-ea"/>
              </a:rPr>
              <a:t> 构造测试输入：应当包含边界情况并提高覆盖</a:t>
            </a:r>
            <a:endParaRPr lang="en-US" altLang="zh-CN" sz="3600" dirty="0">
              <a:latin typeface="+mn-ea"/>
              <a:ea typeface="+mn-ea"/>
            </a:endParaRPr>
          </a:p>
          <a:p>
            <a:pPr lvl="1"/>
            <a:r>
              <a:rPr lang="zh-CN" altLang="en-US" sz="3600" dirty="0">
                <a:latin typeface="+mn-ea"/>
                <a:ea typeface="+mn-ea"/>
              </a:rPr>
              <a:t> 判断标准：</a:t>
            </a:r>
            <a:endParaRPr lang="en-US" altLang="zh-CN" sz="3600" dirty="0">
              <a:latin typeface="+mn-ea"/>
              <a:ea typeface="+mn-ea"/>
            </a:endParaRPr>
          </a:p>
          <a:p>
            <a:pPr marL="914400" lvl="2" indent="0">
              <a:buNone/>
            </a:pPr>
            <a:r>
              <a:rPr lang="en-US" altLang="zh-CN" sz="3200" dirty="0">
                <a:latin typeface="+mn-ea"/>
                <a:ea typeface="+mn-ea"/>
              </a:rPr>
              <a:t>1</a:t>
            </a:r>
            <a:r>
              <a:rPr lang="zh-CN" altLang="en-US" sz="3200" dirty="0">
                <a:latin typeface="+mn-ea"/>
                <a:ea typeface="+mn-ea"/>
              </a:rPr>
              <a:t>）和‘黄金版本’比较：</a:t>
            </a:r>
            <a:r>
              <a:rPr lang="en-US" altLang="zh-CN" sz="3200" dirty="0" err="1">
                <a:latin typeface="+mn-ea"/>
                <a:ea typeface="+mn-ea"/>
              </a:rPr>
              <a:t>alu</a:t>
            </a:r>
            <a:r>
              <a:rPr lang="zh-CN" altLang="en-US" sz="3200" dirty="0">
                <a:latin typeface="+mn-ea"/>
                <a:ea typeface="+mn-ea"/>
              </a:rPr>
              <a:t>和</a:t>
            </a:r>
            <a:r>
              <a:rPr lang="en-US" altLang="zh-CN" sz="3200" dirty="0" err="1">
                <a:latin typeface="+mn-ea"/>
                <a:ea typeface="+mn-ea"/>
              </a:rPr>
              <a:t>fpu</a:t>
            </a:r>
            <a:r>
              <a:rPr lang="zh-CN" altLang="en-US" sz="3200" dirty="0">
                <a:latin typeface="+mn-ea"/>
                <a:ea typeface="+mn-ea"/>
              </a:rPr>
              <a:t>的测试</a:t>
            </a:r>
            <a:endParaRPr lang="en-US" altLang="zh-CN" sz="3200" dirty="0">
              <a:latin typeface="+mn-ea"/>
              <a:ea typeface="+mn-ea"/>
            </a:endParaRPr>
          </a:p>
          <a:p>
            <a:pPr marL="914400" lvl="2" indent="0">
              <a:buNone/>
            </a:pPr>
            <a:r>
              <a:rPr lang="en-US" altLang="zh-CN" sz="3200" dirty="0">
                <a:latin typeface="+mn-ea"/>
                <a:ea typeface="+mn-ea"/>
              </a:rPr>
              <a:t>2</a:t>
            </a:r>
            <a:r>
              <a:rPr lang="zh-CN" altLang="en-US" sz="3200" dirty="0">
                <a:latin typeface="+mn-ea"/>
                <a:ea typeface="+mn-ea"/>
              </a:rPr>
              <a:t>）检查性质：三角函数的测试</a:t>
            </a:r>
            <a:endParaRPr lang="en-US" altLang="zh-CN" sz="3200" dirty="0">
              <a:latin typeface="+mn-ea"/>
              <a:ea typeface="+mn-ea"/>
            </a:endParaRPr>
          </a:p>
          <a:p>
            <a:pPr marL="914400" lvl="2" indent="0">
              <a:buNone/>
            </a:pPr>
            <a:r>
              <a:rPr lang="en-US" altLang="zh-CN" sz="3200" dirty="0">
                <a:latin typeface="+mn-ea"/>
                <a:ea typeface="+mn-ea"/>
              </a:rPr>
              <a:t>	               </a:t>
            </a:r>
            <a:r>
              <a:rPr lang="zh-CN" altLang="en-US" sz="2400" dirty="0">
                <a:latin typeface="+mn-ea"/>
                <a:ea typeface="+mn-ea"/>
              </a:rPr>
              <a:t>如：给定任意</a:t>
            </a:r>
            <a:r>
              <a:rPr lang="en-US" altLang="zh-CN" sz="2400" dirty="0">
                <a:latin typeface="+mn-ea"/>
                <a:ea typeface="+mn-ea"/>
              </a:rPr>
              <a:t>0≤a ≤ b ≤ </a:t>
            </a:r>
            <a:r>
              <a:rPr lang="el-GR" altLang="zh-CN" sz="2400" dirty="0">
                <a:latin typeface="+mn-ea"/>
                <a:ea typeface="+mn-ea"/>
              </a:rPr>
              <a:t>π</a:t>
            </a:r>
            <a:r>
              <a:rPr lang="en-US" altLang="zh-CN" sz="2400" dirty="0">
                <a:latin typeface="+mn-ea"/>
                <a:ea typeface="+mn-ea"/>
              </a:rPr>
              <a:t>/2</a:t>
            </a:r>
            <a:r>
              <a:rPr lang="zh-CN" altLang="en-US" sz="2400" dirty="0">
                <a:latin typeface="+mn-ea"/>
                <a:ea typeface="+mn-ea"/>
              </a:rPr>
              <a:t>，必有</a:t>
            </a:r>
            <a:r>
              <a:rPr lang="en-US" altLang="zh-CN" sz="2400" dirty="0">
                <a:latin typeface="+mn-ea"/>
                <a:ea typeface="+mn-ea"/>
              </a:rPr>
              <a:t>sin(a)</a:t>
            </a:r>
            <a:r>
              <a:rPr lang="en-US" altLang="zh-CN" sz="2400" dirty="0">
                <a:latin typeface="+mn-ea"/>
              </a:rPr>
              <a:t> ≤ sin(b)</a:t>
            </a:r>
            <a:endParaRPr lang="zh-CN" altLang="en-US" sz="3200" dirty="0">
              <a:latin typeface="+mn-ea"/>
              <a:ea typeface="+mn-ea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838200" y="1348509"/>
            <a:ext cx="10515600" cy="8286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全覆盖的测试是不现实的，但不意味着可以不测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保持随手测试的习惯</a:t>
            </a: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5007427" y="1878655"/>
            <a:ext cx="6451601" cy="114587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</a:rPr>
              <a:t>PA 2-1</a:t>
            </a:r>
            <a:r>
              <a:rPr lang="zh-CN" altLang="en-US" sz="2400" dirty="0">
                <a:solidFill>
                  <a:srgbClr val="C00000"/>
                </a:solidFill>
              </a:rPr>
              <a:t>的测试用例覆盖率极低，没有针对各指令的单元测试，请大家积极贡献测试用例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828634"/>
          </a:xfrm>
        </p:spPr>
        <p:txBody>
          <a:bodyPr/>
          <a:lstStyle/>
          <a:p>
            <a:r>
              <a:rPr lang="zh-CN" altLang="en-US" dirty="0"/>
              <a:t>全覆盖的测试是不现实的，但不意味着可以不测</a:t>
            </a:r>
            <a:endParaRPr lang="zh-CN" altLang="en-US" dirty="0"/>
          </a:p>
        </p:txBody>
      </p:sp>
      <p:sp>
        <p:nvSpPr>
          <p:cNvPr id="9" name="内容占位符 2"/>
          <p:cNvSpPr txBox="1"/>
          <p:nvPr/>
        </p:nvSpPr>
        <p:spPr>
          <a:xfrm>
            <a:off x="838200" y="2451594"/>
            <a:ext cx="10515600" cy="48284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800" dirty="0">
                <a:latin typeface="+mn-ea"/>
                <a:ea typeface="+mn-ea"/>
              </a:rPr>
              <a:t>测试的要点</a:t>
            </a:r>
            <a:endParaRPr lang="en-US" altLang="zh-CN" sz="4800" dirty="0">
              <a:latin typeface="+mn-ea"/>
              <a:ea typeface="+mn-ea"/>
            </a:endParaRPr>
          </a:p>
          <a:p>
            <a:pPr lvl="1"/>
            <a:r>
              <a:rPr lang="zh-CN" altLang="en-US" sz="3600" dirty="0">
                <a:latin typeface="+mn-ea"/>
                <a:ea typeface="+mn-ea"/>
              </a:rPr>
              <a:t> 构造测试输入：应当包含边界情况并</a:t>
            </a:r>
            <a:r>
              <a:rPr lang="zh-CN" altLang="en-US" sz="3600" dirty="0">
                <a:solidFill>
                  <a:srgbClr val="C00000"/>
                </a:solidFill>
                <a:latin typeface="+mn-ea"/>
                <a:ea typeface="+mn-ea"/>
              </a:rPr>
              <a:t>提高覆盖</a:t>
            </a:r>
            <a:endParaRPr lang="en-US" altLang="zh-CN" sz="3600" dirty="0">
              <a:solidFill>
                <a:srgbClr val="C00000"/>
              </a:solidFill>
              <a:latin typeface="+mn-ea"/>
              <a:ea typeface="+mn-ea"/>
            </a:endParaRPr>
          </a:p>
          <a:p>
            <a:pPr lvl="1"/>
            <a:r>
              <a:rPr lang="zh-CN" altLang="en-US" sz="3600" dirty="0">
                <a:latin typeface="+mn-ea"/>
                <a:ea typeface="+mn-ea"/>
              </a:rPr>
              <a:t> 判断标准：</a:t>
            </a:r>
            <a:endParaRPr lang="en-US" altLang="zh-CN" sz="3600" dirty="0">
              <a:latin typeface="+mn-ea"/>
              <a:ea typeface="+mn-ea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altLang="zh-CN" sz="3200" dirty="0">
                <a:latin typeface="+mn-ea"/>
                <a:ea typeface="+mn-ea"/>
              </a:rPr>
              <a:t>1</a:t>
            </a:r>
            <a:r>
              <a:rPr lang="zh-CN" altLang="en-US" sz="3200" dirty="0">
                <a:latin typeface="+mn-ea"/>
                <a:ea typeface="+mn-ea"/>
              </a:rPr>
              <a:t>）和‘黄金版本’比较：</a:t>
            </a:r>
            <a:r>
              <a:rPr lang="en-US" altLang="zh-CN" sz="3200" dirty="0" err="1">
                <a:latin typeface="+mn-ea"/>
                <a:ea typeface="+mn-ea"/>
              </a:rPr>
              <a:t>alu</a:t>
            </a:r>
            <a:r>
              <a:rPr lang="zh-CN" altLang="en-US" sz="3200" dirty="0">
                <a:latin typeface="+mn-ea"/>
                <a:ea typeface="+mn-ea"/>
              </a:rPr>
              <a:t>和</a:t>
            </a:r>
            <a:r>
              <a:rPr lang="en-US" altLang="zh-CN" sz="3200" dirty="0" err="1">
                <a:latin typeface="+mn-ea"/>
                <a:ea typeface="+mn-ea"/>
              </a:rPr>
              <a:t>fpu</a:t>
            </a:r>
            <a:r>
              <a:rPr lang="zh-CN" altLang="en-US" sz="3200" dirty="0">
                <a:latin typeface="+mn-ea"/>
                <a:ea typeface="+mn-ea"/>
              </a:rPr>
              <a:t>的测试</a:t>
            </a:r>
            <a:endParaRPr lang="en-US" altLang="zh-CN" sz="3200" dirty="0">
              <a:latin typeface="+mn-ea"/>
              <a:ea typeface="+mn-ea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altLang="zh-CN" sz="3200" dirty="0">
                <a:latin typeface="+mn-ea"/>
                <a:ea typeface="+mn-ea"/>
              </a:rPr>
              <a:t>2</a:t>
            </a:r>
            <a:r>
              <a:rPr lang="zh-CN" altLang="en-US" sz="3200" dirty="0">
                <a:latin typeface="+mn-ea"/>
                <a:ea typeface="+mn-ea"/>
              </a:rPr>
              <a:t>）检查性质：三角函数的测试</a:t>
            </a:r>
            <a:endParaRPr lang="en-US" altLang="zh-CN" sz="3200" dirty="0">
              <a:latin typeface="+mn-ea"/>
              <a:ea typeface="+mn-ea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altLang="zh-CN" sz="3200" dirty="0">
                <a:latin typeface="+mn-ea"/>
                <a:ea typeface="+mn-ea"/>
              </a:rPr>
              <a:t>	               </a:t>
            </a:r>
            <a:r>
              <a:rPr lang="zh-CN" altLang="en-US" sz="2400" dirty="0">
                <a:latin typeface="+mn-ea"/>
                <a:ea typeface="+mn-ea"/>
              </a:rPr>
              <a:t>如：给定任意</a:t>
            </a:r>
            <a:r>
              <a:rPr lang="en-US" altLang="zh-CN" sz="2400" dirty="0">
                <a:latin typeface="+mn-ea"/>
                <a:ea typeface="+mn-ea"/>
              </a:rPr>
              <a:t>0≤a ≤ b ≤ </a:t>
            </a:r>
            <a:r>
              <a:rPr lang="el-GR" altLang="zh-CN" sz="2400" dirty="0">
                <a:latin typeface="+mn-ea"/>
                <a:ea typeface="+mn-ea"/>
              </a:rPr>
              <a:t>π</a:t>
            </a:r>
            <a:r>
              <a:rPr lang="en-US" altLang="zh-CN" sz="2400" dirty="0">
                <a:latin typeface="+mn-ea"/>
                <a:ea typeface="+mn-ea"/>
              </a:rPr>
              <a:t>/2</a:t>
            </a:r>
            <a:r>
              <a:rPr lang="zh-CN" altLang="en-US" sz="2400" dirty="0">
                <a:latin typeface="+mn-ea"/>
                <a:ea typeface="+mn-ea"/>
              </a:rPr>
              <a:t>，必有</a:t>
            </a:r>
            <a:r>
              <a:rPr lang="en-US" altLang="zh-CN" sz="2400" dirty="0">
                <a:latin typeface="+mn-ea"/>
                <a:ea typeface="+mn-ea"/>
              </a:rPr>
              <a:t>sin(a)</a:t>
            </a:r>
            <a:r>
              <a:rPr lang="en-US" altLang="zh-CN" sz="2400" dirty="0">
                <a:latin typeface="+mn-ea"/>
              </a:rPr>
              <a:t> ≤ sin(b)</a:t>
            </a:r>
            <a:endParaRPr lang="zh-CN" altLang="en-US" sz="32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en-US" altLang="zh-CN" dirty="0"/>
              <a:t>bug —— </a:t>
            </a:r>
            <a:r>
              <a:rPr lang="zh-CN" altLang="en-US" dirty="0"/>
              <a:t>缺陷的传播链条 </a:t>
            </a:r>
            <a:endParaRPr lang="en-US" altLang="zh-CN" dirty="0"/>
          </a:p>
          <a:p>
            <a:r>
              <a:rPr lang="zh-CN" altLang="en-US" dirty="0"/>
              <a:t>少写点</a:t>
            </a:r>
            <a:r>
              <a:rPr lang="en-US" altLang="zh-CN" dirty="0"/>
              <a:t>bug —— </a:t>
            </a:r>
            <a:r>
              <a:rPr lang="zh-CN" altLang="en-US" dirty="0"/>
              <a:t>养成良好的编程习惯</a:t>
            </a:r>
            <a:endParaRPr lang="en-US" altLang="zh-CN" dirty="0"/>
          </a:p>
          <a:p>
            <a:r>
              <a:rPr lang="zh-CN" altLang="en-US" b="1" dirty="0">
                <a:solidFill>
                  <a:srgbClr val="C00000"/>
                </a:solidFill>
              </a:rPr>
              <a:t>如何</a:t>
            </a:r>
            <a:r>
              <a:rPr lang="en-US" altLang="zh-CN" b="1" dirty="0">
                <a:solidFill>
                  <a:srgbClr val="C00000"/>
                </a:solidFill>
              </a:rPr>
              <a:t>debug —— “</a:t>
            </a:r>
            <a:r>
              <a:rPr lang="zh-CN" altLang="en-US" b="1" dirty="0">
                <a:solidFill>
                  <a:srgbClr val="C00000"/>
                </a:solidFill>
              </a:rPr>
              <a:t>复现</a:t>
            </a:r>
            <a:r>
              <a:rPr lang="en-US" altLang="zh-CN" b="1" dirty="0">
                <a:solidFill>
                  <a:srgbClr val="C00000"/>
                </a:solidFill>
              </a:rPr>
              <a:t>-</a:t>
            </a:r>
            <a:r>
              <a:rPr lang="zh-CN" altLang="en-US" b="1" dirty="0">
                <a:solidFill>
                  <a:srgbClr val="C00000"/>
                </a:solidFill>
              </a:rPr>
              <a:t>分析定位</a:t>
            </a:r>
            <a:r>
              <a:rPr lang="en-US" altLang="zh-CN" b="1" dirty="0">
                <a:solidFill>
                  <a:srgbClr val="C00000"/>
                </a:solidFill>
              </a:rPr>
              <a:t>-</a:t>
            </a:r>
            <a:r>
              <a:rPr lang="zh-CN" altLang="en-US" b="1" dirty="0">
                <a:solidFill>
                  <a:srgbClr val="C00000"/>
                </a:solidFill>
              </a:rPr>
              <a:t>修复并测试”循环</a:t>
            </a:r>
            <a:endParaRPr lang="zh-CN" alt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Debug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复现错误（</a:t>
            </a:r>
            <a:r>
              <a:rPr lang="en-US" altLang="zh-CN" sz="3600" dirty="0"/>
              <a:t>Failure</a:t>
            </a:r>
            <a:r>
              <a:rPr lang="zh-CN" altLang="en-US" sz="3600" dirty="0"/>
              <a:t>）</a:t>
            </a:r>
            <a:endParaRPr lang="en-US" altLang="zh-CN" sz="3600" dirty="0"/>
          </a:p>
          <a:p>
            <a:r>
              <a:rPr lang="zh-CN" altLang="en-US" sz="3600" dirty="0"/>
              <a:t>定位缺陷（</a:t>
            </a:r>
            <a:r>
              <a:rPr lang="en-US" altLang="zh-CN" sz="3600" dirty="0"/>
              <a:t>Fault</a:t>
            </a:r>
            <a:r>
              <a:rPr lang="zh-CN" altLang="en-US" sz="3600" dirty="0"/>
              <a:t>）</a:t>
            </a:r>
            <a:endParaRPr lang="en-US" altLang="zh-CN" sz="3600" dirty="0"/>
          </a:p>
          <a:p>
            <a:r>
              <a:rPr lang="zh-CN" altLang="en-US" sz="3600" dirty="0"/>
              <a:t>运用工具</a:t>
            </a:r>
            <a:endParaRPr lang="zh-CN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2305265" y="4396906"/>
            <a:ext cx="20615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有一个</a:t>
            </a:r>
            <a:r>
              <a:rPr lang="en-US" altLang="zh-CN" sz="2800" dirty="0"/>
              <a:t>Fault</a:t>
            </a:r>
            <a:endParaRPr lang="en-US" altLang="zh-CN" sz="2800" dirty="0"/>
          </a:p>
          <a:p>
            <a:r>
              <a:rPr lang="zh-CN" altLang="en-US" sz="2800" dirty="0"/>
              <a:t>也就是</a:t>
            </a:r>
            <a:r>
              <a:rPr lang="en-US" altLang="zh-CN" sz="2800" dirty="0"/>
              <a:t>Bug</a:t>
            </a:r>
            <a:endParaRPr lang="zh-CN" altLang="en-US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5350495" y="4391360"/>
            <a:ext cx="20366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运行时导致了一个</a:t>
            </a:r>
            <a:r>
              <a:rPr lang="en-US" altLang="zh-CN" sz="2800" dirty="0"/>
              <a:t>Error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8501019" y="4396904"/>
            <a:ext cx="22278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最后导致了程序的</a:t>
            </a:r>
            <a:r>
              <a:rPr lang="en-US" altLang="zh-CN" sz="2800" dirty="0"/>
              <a:t>Failure</a:t>
            </a:r>
            <a:endParaRPr lang="zh-CN" altLang="en-US" sz="2800" dirty="0"/>
          </a:p>
        </p:txBody>
      </p:sp>
      <p:sp>
        <p:nvSpPr>
          <p:cNvPr id="7" name="右箭头 6"/>
          <p:cNvSpPr/>
          <p:nvPr/>
        </p:nvSpPr>
        <p:spPr>
          <a:xfrm>
            <a:off x="4516451" y="4701705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右箭头 7"/>
          <p:cNvSpPr/>
          <p:nvPr/>
        </p:nvSpPr>
        <p:spPr>
          <a:xfrm>
            <a:off x="7589392" y="4701705"/>
            <a:ext cx="631767" cy="38238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305265" y="3517677"/>
            <a:ext cx="5467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i="1" dirty="0"/>
              <a:t>从程序中的</a:t>
            </a:r>
            <a:r>
              <a:rPr lang="en-US" altLang="zh-CN" sz="2400" i="1" dirty="0"/>
              <a:t>Fault</a:t>
            </a:r>
            <a:r>
              <a:rPr lang="zh-CN" altLang="en-US" sz="2400" i="1" dirty="0"/>
              <a:t>到</a:t>
            </a:r>
            <a:r>
              <a:rPr lang="en-US" altLang="zh-CN" sz="2400" i="1" dirty="0"/>
              <a:t>Failure</a:t>
            </a:r>
            <a:r>
              <a:rPr lang="zh-CN" altLang="en-US" sz="2400" i="1" dirty="0"/>
              <a:t>的传播过程</a:t>
            </a:r>
            <a:endParaRPr lang="zh-CN" altLang="en-US" sz="2400" i="1" dirty="0"/>
          </a:p>
        </p:txBody>
      </p:sp>
      <p:sp>
        <p:nvSpPr>
          <p:cNvPr id="10" name="箭头: 左 9"/>
          <p:cNvSpPr/>
          <p:nvPr/>
        </p:nvSpPr>
        <p:spPr>
          <a:xfrm>
            <a:off x="3018971" y="5509492"/>
            <a:ext cx="6154058" cy="1188852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Debug</a:t>
            </a:r>
            <a:r>
              <a:rPr lang="zh-CN" altLang="en-US" sz="2800" dirty="0"/>
              <a:t>：从</a:t>
            </a:r>
            <a:r>
              <a:rPr lang="en-US" altLang="zh-CN" sz="2800" dirty="0"/>
              <a:t>Failure</a:t>
            </a:r>
            <a:r>
              <a:rPr lang="zh-CN" altLang="en-US" sz="2800" dirty="0"/>
              <a:t>找</a:t>
            </a:r>
            <a:r>
              <a:rPr lang="en-US" altLang="zh-CN" sz="2800" dirty="0"/>
              <a:t>Fault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Debug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：复现错误（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Failure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570514" y="1348509"/>
            <a:ext cx="8423842" cy="4828454"/>
          </a:xfrm>
        </p:spPr>
        <p:txBody>
          <a:bodyPr>
            <a:normAutofit/>
          </a:bodyPr>
          <a:lstStyle/>
          <a:p>
            <a:r>
              <a:rPr lang="en-US" altLang="zh-CN" sz="3200" b="1" dirty="0">
                <a:latin typeface="+mn-ea"/>
                <a:ea typeface="+mn-ea"/>
              </a:rPr>
              <a:t>Classify bugs by the ease of repeating their failures [3] </a:t>
            </a:r>
            <a:endParaRPr lang="en-US" altLang="zh-CN" sz="3200" b="1" dirty="0">
              <a:latin typeface="+mn-ea"/>
              <a:ea typeface="+mn-ea"/>
            </a:endParaRPr>
          </a:p>
          <a:p>
            <a:pPr lvl="1"/>
            <a:r>
              <a:rPr lang="en-US" altLang="zh-CN" sz="3200" dirty="0" err="1">
                <a:latin typeface="+mn-ea"/>
                <a:ea typeface="+mn-ea"/>
              </a:rPr>
              <a:t>Bohrbugs</a:t>
            </a:r>
            <a:endParaRPr lang="en-US" altLang="zh-CN" sz="3200" dirty="0">
              <a:latin typeface="+mn-ea"/>
              <a:ea typeface="+mn-ea"/>
            </a:endParaRPr>
          </a:p>
          <a:p>
            <a:pPr lvl="2"/>
            <a:r>
              <a:rPr lang="en-US" altLang="zh-CN" dirty="0" err="1">
                <a:latin typeface="+mn-ea"/>
                <a:ea typeface="+mn-ea"/>
              </a:rPr>
              <a:t>Bohrbugs</a:t>
            </a:r>
            <a:r>
              <a:rPr lang="en-US" altLang="zh-CN" dirty="0">
                <a:latin typeface="+mn-ea"/>
                <a:ea typeface="+mn-ea"/>
              </a:rPr>
              <a:t>, like the Bohr atom, are solid, easily detected by standard techniques, and hence boring.</a:t>
            </a:r>
            <a:endParaRPr lang="en-US" altLang="zh-CN" dirty="0">
              <a:latin typeface="+mn-ea"/>
              <a:ea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3200" dirty="0">
                <a:latin typeface="+mn-ea"/>
                <a:ea typeface="+mn-ea"/>
              </a:rPr>
              <a:t>Heisenbugs</a:t>
            </a:r>
            <a:endParaRPr lang="en-US" altLang="zh-CN" sz="3200" dirty="0">
              <a:latin typeface="+mn-ea"/>
              <a:ea typeface="+mn-ea"/>
            </a:endParaRPr>
          </a:p>
          <a:p>
            <a:pPr lvl="2"/>
            <a:r>
              <a:rPr lang="en-US" altLang="zh-CN" dirty="0">
                <a:latin typeface="+mn-ea"/>
                <a:ea typeface="+mn-ea"/>
              </a:rPr>
              <a:t>But Heisenbugs may elude a </a:t>
            </a:r>
            <a:r>
              <a:rPr lang="en-US" altLang="zh-CN" dirty="0" err="1">
                <a:latin typeface="+mn-ea"/>
                <a:ea typeface="+mn-ea"/>
              </a:rPr>
              <a:t>bugcatcher</a:t>
            </a:r>
            <a:r>
              <a:rPr lang="en-US" altLang="zh-CN" dirty="0">
                <a:latin typeface="+mn-ea"/>
                <a:ea typeface="+mn-ea"/>
              </a:rPr>
              <a:t> for years of execution. Indeed, the </a:t>
            </a:r>
            <a:r>
              <a:rPr lang="en-US" altLang="zh-CN" dirty="0" err="1">
                <a:latin typeface="+mn-ea"/>
                <a:ea typeface="+mn-ea"/>
              </a:rPr>
              <a:t>bugcatcher</a:t>
            </a:r>
            <a:r>
              <a:rPr lang="en-US" altLang="zh-CN" dirty="0">
                <a:latin typeface="+mn-ea"/>
                <a:ea typeface="+mn-ea"/>
              </a:rPr>
              <a:t> may perturb the situation just enough to make the Heisenbug disappear. This is analogous to the Heisenberg Uncertainty Principle in Physics.</a:t>
            </a:r>
            <a:endParaRPr lang="en-US" altLang="zh-CN" dirty="0">
              <a:latin typeface="+mn-ea"/>
              <a:ea typeface="+mn-ea"/>
            </a:endParaRPr>
          </a:p>
          <a:p>
            <a:pPr lvl="3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6365081"/>
            <a:ext cx="10265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[3] Jim Gray. Why Do Computers Stop and What Can Be Done About It?. Tandem Technical report 85.7. June 1985</a:t>
            </a:r>
            <a:endParaRPr lang="zh-CN" altLang="en-US" sz="1200" dirty="0"/>
          </a:p>
        </p:txBody>
      </p:sp>
      <p:sp>
        <p:nvSpPr>
          <p:cNvPr id="6" name="箭头: 右 5"/>
          <p:cNvSpPr/>
          <p:nvPr/>
        </p:nvSpPr>
        <p:spPr>
          <a:xfrm>
            <a:off x="667659" y="1953536"/>
            <a:ext cx="3026228" cy="17785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PA</a:t>
            </a:r>
            <a:r>
              <a:rPr lang="zh-CN" altLang="en-US" sz="2800" dirty="0"/>
              <a:t>中主要都是</a:t>
            </a:r>
            <a:endParaRPr lang="zh-CN" altLang="en-US" sz="2800" dirty="0"/>
          </a:p>
        </p:txBody>
      </p:sp>
      <p:sp>
        <p:nvSpPr>
          <p:cNvPr id="7" name="箭头: 右 5"/>
          <p:cNvSpPr/>
          <p:nvPr/>
        </p:nvSpPr>
        <p:spPr>
          <a:xfrm>
            <a:off x="476250" y="3981485"/>
            <a:ext cx="3551012" cy="17785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内存地址超限</a:t>
            </a:r>
            <a:endParaRPr lang="en-US" altLang="zh-CN" sz="2800" dirty="0"/>
          </a:p>
          <a:p>
            <a:pPr algn="ctr"/>
            <a:r>
              <a:rPr lang="en-US" altLang="zh-CN" sz="2800" dirty="0" err="1"/>
              <a:t>Sreg</a:t>
            </a:r>
            <a:r>
              <a:rPr lang="zh-CN" altLang="en-US" sz="2800" dirty="0"/>
              <a:t>寄存器未赋值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Debug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：复现错误（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Failure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045029" y="1680029"/>
            <a:ext cx="907868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float input[] = { </a:t>
            </a:r>
            <a:r>
              <a:rPr lang="en-US" altLang="zh-CN" sz="2400" dirty="0" err="1"/>
              <a:t>p_zero.fval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n_zero.fval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p_inf.fval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n_inf.fval</a:t>
            </a:r>
            <a:r>
              <a:rPr lang="en-US" altLang="zh-CN" sz="2400" dirty="0"/>
              <a:t>, denorm_1.fval, denorm_2.fval, big_1.fval, big_2.fval, </a:t>
            </a:r>
            <a:r>
              <a:rPr lang="en-US" altLang="zh-CN" sz="2400" dirty="0" err="1"/>
              <a:t>p_nan.fval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n_nan.fval</a:t>
            </a:r>
            <a:r>
              <a:rPr lang="en-US" altLang="zh-CN" sz="2400" dirty="0"/>
              <a:t>, denorm_3.fval, small_1.fval, small_2.fval, 10000000, 1.2, 1.1, 1, 0.9, 0.8, 0.7, 0.6, 0.5, 0.4, 0.3, 0.2, 0.1, -0.1, -0.2, -0.3, -0.4, -0.5, -0.6, -0.7, -0.8, -0.9, -1, -10000000};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for (i = 0; i &lt; 1000000; i++)</a:t>
            </a:r>
            <a:endParaRPr lang="zh-CN" altLang="en-US" sz="2400" dirty="0"/>
          </a:p>
          <a:p>
            <a:r>
              <a:rPr lang="zh-CN" altLang="en-US" sz="2400" dirty="0"/>
              <a:t>{</a:t>
            </a:r>
            <a:endParaRPr lang="zh-CN" altLang="en-US" sz="2400" dirty="0"/>
          </a:p>
          <a:p>
            <a:r>
              <a:rPr lang="zh-CN" altLang="en-US" sz="2400" dirty="0"/>
              <a:t>	</a:t>
            </a:r>
            <a:r>
              <a:rPr lang="en-US" altLang="zh-CN" sz="2400" dirty="0"/>
              <a:t>…</a:t>
            </a:r>
            <a:endParaRPr lang="zh-CN" altLang="en-US" sz="2400" dirty="0"/>
          </a:p>
          <a:p>
            <a:r>
              <a:rPr lang="zh-CN" altLang="en-US" sz="2400" dirty="0"/>
              <a:t>}</a:t>
            </a:r>
            <a:endParaRPr lang="zh-CN" alt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4746171" y="4630057"/>
            <a:ext cx="6081486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复现</a:t>
            </a:r>
            <a:r>
              <a:rPr lang="en-US" altLang="zh-CN" sz="3200" dirty="0"/>
              <a:t>+</a:t>
            </a:r>
            <a:r>
              <a:rPr lang="zh-CN" altLang="en-US" sz="3200" dirty="0"/>
              <a:t>缩小范围：在众多的测试输入中，找到能够触发</a:t>
            </a:r>
            <a:r>
              <a:rPr lang="en-US" altLang="zh-CN" sz="3200" dirty="0"/>
              <a:t>failure</a:t>
            </a:r>
            <a:r>
              <a:rPr lang="zh-CN" altLang="en-US" sz="3200" dirty="0"/>
              <a:t>的</a:t>
            </a:r>
            <a:r>
              <a:rPr lang="zh-CN" altLang="en-US" sz="3200" b="1" dirty="0">
                <a:solidFill>
                  <a:srgbClr val="C00000"/>
                </a:solidFill>
              </a:rPr>
              <a:t>那一个</a:t>
            </a:r>
            <a:r>
              <a:rPr lang="zh-CN" altLang="en-US" sz="3200" dirty="0"/>
              <a:t>，或者少数几个测试输入</a:t>
            </a:r>
            <a:endParaRPr lang="zh-CN" altLang="en-US" sz="3200" dirty="0"/>
          </a:p>
        </p:txBody>
      </p:sp>
      <p:cxnSp>
        <p:nvCxnSpPr>
          <p:cNvPr id="11" name="直接箭头连接符 10"/>
          <p:cNvCxnSpPr/>
          <p:nvPr/>
        </p:nvCxnSpPr>
        <p:spPr>
          <a:xfrm flipH="1" flipV="1">
            <a:off x="3664857" y="4383314"/>
            <a:ext cx="1016000" cy="1480457"/>
          </a:xfrm>
          <a:prstGeom prst="straightConnector1">
            <a:avLst/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Debug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：定位缺陷（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Fault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48509"/>
            <a:ext cx="11078029" cy="4828454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从那一个触发</a:t>
            </a:r>
            <a:r>
              <a:rPr lang="en-US" altLang="zh-CN" sz="3600" dirty="0"/>
              <a:t>failure</a:t>
            </a:r>
            <a:r>
              <a:rPr lang="zh-CN" altLang="en-US" sz="3600" dirty="0"/>
              <a:t>的测试输入入手</a:t>
            </a:r>
            <a:endParaRPr lang="en-US" altLang="zh-CN" sz="3600" dirty="0"/>
          </a:p>
          <a:p>
            <a:pPr lvl="1">
              <a:spcBef>
                <a:spcPts val="2400"/>
              </a:spcBef>
            </a:pPr>
            <a:r>
              <a:rPr lang="zh-CN" altLang="en-US" sz="3200" dirty="0"/>
              <a:t>火眼金睛法：</a:t>
            </a:r>
            <a:endParaRPr lang="en-US" altLang="zh-CN" sz="3200" dirty="0"/>
          </a:p>
          <a:p>
            <a:pPr lvl="2"/>
            <a:r>
              <a:rPr lang="zh-CN" altLang="en-US" sz="2800" dirty="0"/>
              <a:t>人肉推理，看代码模拟代码执行过程和程序内部状态的改变，发现</a:t>
            </a:r>
            <a:r>
              <a:rPr lang="en-US" altLang="zh-CN" sz="2800" dirty="0"/>
              <a:t>Error</a:t>
            </a:r>
            <a:r>
              <a:rPr lang="zh-CN" altLang="en-US" sz="2800" dirty="0"/>
              <a:t>产生的位置</a:t>
            </a:r>
            <a:endParaRPr lang="en-US" altLang="zh-CN" sz="2800" dirty="0"/>
          </a:p>
          <a:p>
            <a:pPr lvl="1">
              <a:spcBef>
                <a:spcPts val="2400"/>
              </a:spcBef>
            </a:pPr>
            <a:r>
              <a:rPr lang="zh-CN" altLang="en-US" sz="3200" dirty="0"/>
              <a:t>单步</a:t>
            </a:r>
            <a:r>
              <a:rPr lang="en-US" altLang="zh-CN" sz="3200" dirty="0"/>
              <a:t>/</a:t>
            </a:r>
            <a:r>
              <a:rPr lang="zh-CN" altLang="en-US" sz="3200" dirty="0"/>
              <a:t>断点调试法：</a:t>
            </a:r>
            <a:endParaRPr lang="en-US" altLang="zh-CN" sz="3200" dirty="0"/>
          </a:p>
          <a:p>
            <a:pPr lvl="2"/>
            <a:r>
              <a:rPr lang="zh-CN" altLang="en-US" sz="2800" dirty="0"/>
              <a:t>逐条</a:t>
            </a:r>
            <a:r>
              <a:rPr lang="en-US" altLang="zh-CN" sz="2800" dirty="0"/>
              <a:t>/</a:t>
            </a:r>
            <a:r>
              <a:rPr lang="zh-CN" altLang="en-US" sz="2800" dirty="0"/>
              <a:t>段分析</a:t>
            </a:r>
            <a:r>
              <a:rPr lang="en-US" altLang="zh-CN" sz="2800" dirty="0"/>
              <a:t>/</a:t>
            </a:r>
            <a:r>
              <a:rPr lang="zh-CN" altLang="en-US" sz="2800" dirty="0"/>
              <a:t>检查执行过程，发现</a:t>
            </a:r>
            <a:r>
              <a:rPr lang="en-US" altLang="zh-CN" sz="2800" dirty="0"/>
              <a:t>Error</a:t>
            </a:r>
            <a:r>
              <a:rPr lang="zh-CN" altLang="en-US" sz="2800" dirty="0"/>
              <a:t>产生的位置</a:t>
            </a:r>
            <a:endParaRPr lang="en-US" altLang="zh-CN" sz="2800" dirty="0"/>
          </a:p>
          <a:p>
            <a:pPr lvl="1">
              <a:spcBef>
                <a:spcPts val="2400"/>
              </a:spcBef>
            </a:pPr>
            <a:r>
              <a:rPr lang="zh-CN" altLang="en-US" sz="3200" dirty="0"/>
              <a:t>根据发现的</a:t>
            </a:r>
            <a:r>
              <a:rPr lang="en-US" altLang="zh-CN" sz="3200" dirty="0"/>
              <a:t>Error</a:t>
            </a:r>
            <a:r>
              <a:rPr lang="zh-CN" altLang="en-US" sz="3200" dirty="0"/>
              <a:t>，推理代码的逻辑错误</a:t>
            </a:r>
            <a:endParaRPr lang="en-US" altLang="zh-CN" sz="3200" dirty="0"/>
          </a:p>
          <a:p>
            <a:pPr lvl="1"/>
            <a:endParaRPr lang="zh-CN" altLang="en-US" sz="3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085" y="1342048"/>
            <a:ext cx="6505065" cy="375194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Debug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：运用工具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err="1"/>
              <a:t>printf</a:t>
            </a:r>
            <a:r>
              <a:rPr lang="zh-CN" altLang="en-US" sz="3600" dirty="0"/>
              <a:t>大法</a:t>
            </a:r>
            <a:endParaRPr lang="en-US" altLang="zh-CN" sz="3600" dirty="0"/>
          </a:p>
          <a:p>
            <a:r>
              <a:rPr lang="en-US" altLang="zh-CN" sz="3600" dirty="0"/>
              <a:t>assert</a:t>
            </a:r>
            <a:r>
              <a:rPr lang="zh-CN" altLang="en-US" sz="3600" dirty="0"/>
              <a:t>大法</a:t>
            </a:r>
            <a:endParaRPr lang="en-US" altLang="zh-CN" sz="3600" dirty="0"/>
          </a:p>
          <a:p>
            <a:r>
              <a:rPr lang="en-US" altLang="zh-CN" sz="3600" dirty="0" err="1"/>
              <a:t>gdb</a:t>
            </a:r>
            <a:r>
              <a:rPr lang="zh-CN" altLang="en-US" sz="3600" dirty="0"/>
              <a:t>大法</a:t>
            </a:r>
            <a:endParaRPr lang="en-US" altLang="zh-CN" sz="3600" dirty="0"/>
          </a:p>
          <a:p>
            <a:r>
              <a:rPr lang="en-US" altLang="zh-CN" sz="3600" dirty="0"/>
              <a:t>monitor</a:t>
            </a:r>
            <a:r>
              <a:rPr lang="zh-CN" altLang="en-US" sz="3600" dirty="0"/>
              <a:t>大法（</a:t>
            </a:r>
            <a:r>
              <a:rPr lang="en-US" altLang="zh-CN" sz="3600" dirty="0"/>
              <a:t>PA 2-3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5" name="文本框 4"/>
          <p:cNvSpPr txBox="1"/>
          <p:nvPr/>
        </p:nvSpPr>
        <p:spPr>
          <a:xfrm>
            <a:off x="838200" y="4678494"/>
            <a:ext cx="191588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4800" dirty="0" err="1"/>
              <a:t>gdb</a:t>
            </a:r>
            <a:endParaRPr lang="zh-CN" altLang="en-US" sz="4800" dirty="0"/>
          </a:p>
        </p:txBody>
      </p:sp>
      <p:sp>
        <p:nvSpPr>
          <p:cNvPr id="6" name="文本框 5"/>
          <p:cNvSpPr txBox="1"/>
          <p:nvPr/>
        </p:nvSpPr>
        <p:spPr>
          <a:xfrm>
            <a:off x="3356427" y="4678494"/>
            <a:ext cx="191588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assert</a:t>
            </a:r>
            <a:endParaRPr lang="zh-CN" altLang="en-US" sz="4800" dirty="0"/>
          </a:p>
        </p:txBody>
      </p:sp>
      <p:sp>
        <p:nvSpPr>
          <p:cNvPr id="7" name="文本框 6"/>
          <p:cNvSpPr txBox="1"/>
          <p:nvPr/>
        </p:nvSpPr>
        <p:spPr>
          <a:xfrm>
            <a:off x="6273799" y="4678494"/>
            <a:ext cx="191588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4800" dirty="0" err="1"/>
              <a:t>printf</a:t>
            </a:r>
            <a:endParaRPr lang="zh-CN" altLang="en-US" sz="4800" dirty="0"/>
          </a:p>
        </p:txBody>
      </p:sp>
      <p:sp>
        <p:nvSpPr>
          <p:cNvPr id="8" name="箭头: 右 7"/>
          <p:cNvSpPr/>
          <p:nvPr/>
        </p:nvSpPr>
        <p:spPr>
          <a:xfrm>
            <a:off x="2333172" y="4429963"/>
            <a:ext cx="907143" cy="132805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鄙视</a:t>
            </a:r>
            <a:endParaRPr lang="zh-CN" altLang="en-US" dirty="0"/>
          </a:p>
        </p:txBody>
      </p:sp>
      <p:sp>
        <p:nvSpPr>
          <p:cNvPr id="9" name="箭头: 右 8"/>
          <p:cNvSpPr/>
          <p:nvPr/>
        </p:nvSpPr>
        <p:spPr>
          <a:xfrm>
            <a:off x="5185229" y="4429963"/>
            <a:ext cx="907143" cy="132805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鄙视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273799" y="5758020"/>
            <a:ext cx="32294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副作用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中</a:t>
            </a:r>
            <a:r>
              <a:rPr lang="en-US" altLang="zh-CN" dirty="0" err="1"/>
              <a:t>si</a:t>
            </a:r>
            <a:r>
              <a:rPr lang="zh-CN" altLang="en-US" dirty="0"/>
              <a:t>的副作用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71575" y="1988820"/>
            <a:ext cx="9620250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dirty="0"/>
              <a:t>make_instr_func(</a:t>
            </a:r>
            <a:r>
              <a:rPr lang="en-US" altLang="zh-CN" sz="2400" dirty="0"/>
              <a:t>xxx</a:t>
            </a:r>
            <a:r>
              <a:rPr lang="zh-CN" altLang="en-US" sz="2400" dirty="0"/>
              <a:t>) {</a:t>
            </a:r>
            <a:endParaRPr lang="zh-CN" altLang="en-US" sz="2400" dirty="0"/>
          </a:p>
          <a:p>
            <a:r>
              <a:rPr lang="zh-CN" altLang="en-US" sz="2400" dirty="0"/>
              <a:t>	</a:t>
            </a:r>
            <a:r>
              <a:rPr lang="en-US" altLang="zh-CN" sz="2400" dirty="0"/>
              <a:t>… // </a:t>
            </a:r>
            <a:r>
              <a:rPr lang="zh-CN" altLang="en-US" sz="2400" dirty="0"/>
              <a:t>解码操作数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	</a:t>
            </a:r>
            <a:r>
              <a:rPr lang="zh-CN" altLang="en-US" sz="2400" b="1" dirty="0">
                <a:solidFill>
                  <a:schemeClr val="accent5"/>
                </a:solidFill>
              </a:rPr>
              <a:t>print_asm_2(“</a:t>
            </a:r>
            <a:r>
              <a:rPr lang="en-US" altLang="zh-CN" sz="2400" b="1" dirty="0">
                <a:solidFill>
                  <a:schemeClr val="accent5"/>
                </a:solidFill>
              </a:rPr>
              <a:t>xxx</a:t>
            </a:r>
            <a:r>
              <a:rPr lang="zh-CN" altLang="en-US" sz="2400" b="1" dirty="0">
                <a:solidFill>
                  <a:schemeClr val="accent5"/>
                </a:solidFill>
              </a:rPr>
              <a:t>", "", len, &amp;</a:t>
            </a:r>
            <a:r>
              <a:rPr lang="en-US" altLang="zh-CN" sz="2400" b="1" dirty="0" err="1">
                <a:solidFill>
                  <a:schemeClr val="accent5"/>
                </a:solidFill>
              </a:rPr>
              <a:t>opr_src</a:t>
            </a:r>
            <a:r>
              <a:rPr lang="zh-CN" altLang="en-US" sz="2400" b="1" dirty="0">
                <a:solidFill>
                  <a:schemeClr val="accent5"/>
                </a:solidFill>
              </a:rPr>
              <a:t>, &amp;</a:t>
            </a:r>
            <a:r>
              <a:rPr lang="en-US" altLang="zh-CN" sz="2400" b="1" dirty="0" err="1">
                <a:solidFill>
                  <a:schemeClr val="accent5"/>
                </a:solidFill>
              </a:rPr>
              <a:t>opr_dest</a:t>
            </a:r>
            <a:r>
              <a:rPr lang="zh-CN" altLang="en-US" sz="2400" b="1" dirty="0">
                <a:solidFill>
                  <a:schemeClr val="accent5"/>
                </a:solidFill>
              </a:rPr>
              <a:t>);</a:t>
            </a:r>
            <a:endParaRPr lang="zh-CN" altLang="en-US" sz="2400" b="1" dirty="0">
              <a:solidFill>
                <a:schemeClr val="accent5"/>
              </a:solidFill>
            </a:endParaRPr>
          </a:p>
          <a:p>
            <a:r>
              <a:rPr lang="zh-CN" altLang="en-US" sz="2400" dirty="0"/>
              <a:t>	</a:t>
            </a:r>
            <a:endParaRPr lang="zh-CN" altLang="en-US" sz="2400" dirty="0"/>
          </a:p>
          <a:p>
            <a:r>
              <a:rPr lang="zh-CN" altLang="en-US" sz="2400" dirty="0"/>
              <a:t>	</a:t>
            </a:r>
            <a:r>
              <a:rPr lang="en-US" altLang="zh-CN" sz="2400" b="1" dirty="0">
                <a:solidFill>
                  <a:srgbClr val="FF0000"/>
                </a:solidFill>
              </a:rPr>
              <a:t>- </a:t>
            </a:r>
            <a:r>
              <a:rPr lang="zh-CN" altLang="en-US" sz="2400" b="1" dirty="0">
                <a:solidFill>
                  <a:srgbClr val="FF0000"/>
                </a:solidFill>
              </a:rPr>
              <a:t>operand_read(&amp;</a:t>
            </a:r>
            <a:r>
              <a:rPr lang="en-US" altLang="zh-CN" sz="2400" b="1" dirty="0" err="1">
                <a:solidFill>
                  <a:srgbClr val="FF0000"/>
                </a:solidFill>
              </a:rPr>
              <a:t>opr_src</a:t>
            </a:r>
            <a:r>
              <a:rPr lang="zh-CN" altLang="en-US" sz="2400" b="1" dirty="0">
                <a:solidFill>
                  <a:srgbClr val="FF0000"/>
                </a:solidFill>
              </a:rPr>
              <a:t>); </a:t>
            </a:r>
            <a:r>
              <a:rPr lang="en-US" altLang="zh-CN" sz="2400" b="1" dirty="0">
                <a:solidFill>
                  <a:srgbClr val="FF0000"/>
                </a:solidFill>
              </a:rPr>
              <a:t>// </a:t>
            </a:r>
            <a:r>
              <a:rPr lang="zh-CN" altLang="en-US" sz="2400" b="1" dirty="0">
                <a:solidFill>
                  <a:srgbClr val="FF0000"/>
                </a:solidFill>
              </a:rPr>
              <a:t>假设忘记读操作数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	</a:t>
            </a:r>
            <a:endParaRPr lang="en-US" altLang="zh-CN" sz="2400" dirty="0"/>
          </a:p>
          <a:p>
            <a:r>
              <a:rPr lang="en-US" altLang="zh-CN" sz="2400" dirty="0"/>
              <a:t>	… // </a:t>
            </a:r>
            <a:r>
              <a:rPr lang="zh-CN" altLang="en-US" sz="2400" dirty="0"/>
              <a:t>执行指令操作</a:t>
            </a:r>
            <a:endParaRPr lang="zh-CN" altLang="en-US" sz="2400" dirty="0"/>
          </a:p>
          <a:p>
            <a:r>
              <a:rPr lang="zh-CN" altLang="en-US" sz="2400" dirty="0"/>
              <a:t>	return len;</a:t>
            </a:r>
            <a:endParaRPr lang="zh-CN" altLang="en-US" sz="2400" dirty="0"/>
          </a:p>
          <a:p>
            <a:r>
              <a:rPr lang="zh-CN" altLang="en-US" sz="2400" dirty="0"/>
              <a:t>}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4865370" y="1388655"/>
            <a:ext cx="691896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可能出现：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</a:rPr>
              <a:t>加</a:t>
            </a:r>
            <a:r>
              <a:rPr lang="en-US" altLang="zh-CN" sz="2400" dirty="0">
                <a:solidFill>
                  <a:srgbClr val="FF0000"/>
                </a:solidFill>
              </a:rPr>
              <a:t>--</a:t>
            </a:r>
            <a:r>
              <a:rPr lang="en-US" altLang="zh-CN" sz="2400" dirty="0" err="1">
                <a:solidFill>
                  <a:srgbClr val="FF0000"/>
                </a:solidFill>
              </a:rPr>
              <a:t>autorun</a:t>
            </a:r>
            <a:r>
              <a:rPr lang="zh-CN" altLang="en-US" sz="2400" dirty="0">
                <a:solidFill>
                  <a:srgbClr val="FF0000"/>
                </a:solidFill>
              </a:rPr>
              <a:t>连续执行时报错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</a:rPr>
              <a:t>不加</a:t>
            </a:r>
            <a:r>
              <a:rPr lang="en-US" altLang="zh-CN" sz="2400" dirty="0">
                <a:solidFill>
                  <a:srgbClr val="FF0000"/>
                </a:solidFill>
              </a:rPr>
              <a:t>--</a:t>
            </a:r>
            <a:r>
              <a:rPr lang="en-US" altLang="zh-CN" sz="2400" dirty="0" err="1">
                <a:solidFill>
                  <a:srgbClr val="FF0000"/>
                </a:solidFill>
              </a:rPr>
              <a:t>autorun</a:t>
            </a:r>
            <a:r>
              <a:rPr lang="zh-CN" altLang="en-US" sz="2400" dirty="0">
                <a:solidFill>
                  <a:srgbClr val="FF0000"/>
                </a:solidFill>
              </a:rPr>
              <a:t>并用</a:t>
            </a:r>
            <a:r>
              <a:rPr lang="en-US" altLang="zh-CN" sz="2400" dirty="0" err="1">
                <a:solidFill>
                  <a:srgbClr val="FF0000"/>
                </a:solidFill>
              </a:rPr>
              <a:t>si</a:t>
            </a:r>
            <a:r>
              <a:rPr lang="zh-CN" altLang="en-US" sz="2400" dirty="0">
                <a:solidFill>
                  <a:srgbClr val="FF0000"/>
                </a:solidFill>
              </a:rPr>
              <a:t>单步执行时</a:t>
            </a:r>
            <a:r>
              <a:rPr lang="en-US" altLang="zh-CN" sz="2400" dirty="0">
                <a:solidFill>
                  <a:srgbClr val="FF0000"/>
                </a:solidFill>
              </a:rPr>
              <a:t>hit good trap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</a:t>
            </a:r>
            <a:r>
              <a:rPr lang="zh-CN" altLang="en-US" dirty="0"/>
              <a:t>中</a:t>
            </a:r>
            <a:r>
              <a:rPr lang="en-US" altLang="zh-CN" dirty="0" err="1"/>
              <a:t>si</a:t>
            </a:r>
            <a:r>
              <a:rPr lang="zh-CN" altLang="en-US" dirty="0"/>
              <a:t>的副作用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71575" y="1988820"/>
            <a:ext cx="9620250" cy="3785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dirty="0"/>
              <a:t>make_instr_func(</a:t>
            </a:r>
            <a:r>
              <a:rPr lang="en-US" altLang="zh-CN" sz="2400" dirty="0"/>
              <a:t>xxx</a:t>
            </a:r>
            <a:r>
              <a:rPr lang="zh-CN" altLang="en-US" sz="2400" dirty="0"/>
              <a:t>) {</a:t>
            </a:r>
            <a:endParaRPr lang="zh-CN" altLang="en-US" sz="2400" dirty="0"/>
          </a:p>
          <a:p>
            <a:r>
              <a:rPr lang="zh-CN" altLang="en-US" sz="2400" dirty="0"/>
              <a:t>	</a:t>
            </a:r>
            <a:r>
              <a:rPr lang="en-US" altLang="zh-CN" sz="2400" dirty="0"/>
              <a:t>… // </a:t>
            </a:r>
            <a:r>
              <a:rPr lang="zh-CN" altLang="en-US" sz="2400" dirty="0"/>
              <a:t>解码操作数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zh-CN" altLang="en-US" sz="2400" dirty="0"/>
              <a:t>	</a:t>
            </a:r>
            <a:r>
              <a:rPr lang="zh-CN" altLang="en-US" sz="2400" b="1" dirty="0">
                <a:solidFill>
                  <a:schemeClr val="accent5"/>
                </a:solidFill>
              </a:rPr>
              <a:t>print_asm_2(“</a:t>
            </a:r>
            <a:r>
              <a:rPr lang="en-US" altLang="zh-CN" sz="2400" b="1" dirty="0">
                <a:solidFill>
                  <a:schemeClr val="accent5"/>
                </a:solidFill>
              </a:rPr>
              <a:t>xxx</a:t>
            </a:r>
            <a:r>
              <a:rPr lang="zh-CN" altLang="en-US" sz="2400" b="1" dirty="0">
                <a:solidFill>
                  <a:schemeClr val="accent5"/>
                </a:solidFill>
              </a:rPr>
              <a:t>", "", len, &amp;</a:t>
            </a:r>
            <a:r>
              <a:rPr lang="en-US" altLang="zh-CN" sz="2400" b="1" dirty="0" err="1">
                <a:solidFill>
                  <a:schemeClr val="accent5"/>
                </a:solidFill>
              </a:rPr>
              <a:t>opr_src</a:t>
            </a:r>
            <a:r>
              <a:rPr lang="zh-CN" altLang="en-US" sz="2400" b="1" dirty="0">
                <a:solidFill>
                  <a:schemeClr val="accent5"/>
                </a:solidFill>
              </a:rPr>
              <a:t>, &amp;</a:t>
            </a:r>
            <a:r>
              <a:rPr lang="en-US" altLang="zh-CN" sz="2400" b="1" dirty="0" err="1">
                <a:solidFill>
                  <a:schemeClr val="accent5"/>
                </a:solidFill>
              </a:rPr>
              <a:t>opr_dest</a:t>
            </a:r>
            <a:r>
              <a:rPr lang="zh-CN" altLang="en-US" sz="2400" b="1" dirty="0">
                <a:solidFill>
                  <a:schemeClr val="accent5"/>
                </a:solidFill>
              </a:rPr>
              <a:t>);</a:t>
            </a:r>
            <a:endParaRPr lang="zh-CN" altLang="en-US" sz="2400" b="1" dirty="0">
              <a:solidFill>
                <a:schemeClr val="accent5"/>
              </a:solidFill>
            </a:endParaRPr>
          </a:p>
          <a:p>
            <a:r>
              <a:rPr lang="zh-CN" altLang="en-US" sz="2400" dirty="0"/>
              <a:t>	</a:t>
            </a:r>
            <a:endParaRPr lang="zh-CN" altLang="en-US" sz="2400" dirty="0"/>
          </a:p>
          <a:p>
            <a:r>
              <a:rPr lang="zh-CN" altLang="en-US" sz="2400" dirty="0"/>
              <a:t>	</a:t>
            </a:r>
            <a:r>
              <a:rPr lang="en-US" altLang="zh-CN" sz="2400" b="1" dirty="0">
                <a:solidFill>
                  <a:srgbClr val="FF0000"/>
                </a:solidFill>
              </a:rPr>
              <a:t>- </a:t>
            </a:r>
            <a:r>
              <a:rPr lang="zh-CN" altLang="en-US" sz="2400" b="1" dirty="0">
                <a:solidFill>
                  <a:srgbClr val="FF0000"/>
                </a:solidFill>
              </a:rPr>
              <a:t>operand_read(&amp;</a:t>
            </a:r>
            <a:r>
              <a:rPr lang="en-US" altLang="zh-CN" sz="2400" b="1" dirty="0" err="1">
                <a:solidFill>
                  <a:srgbClr val="FF0000"/>
                </a:solidFill>
              </a:rPr>
              <a:t>opr_src</a:t>
            </a:r>
            <a:r>
              <a:rPr lang="zh-CN" altLang="en-US" sz="2400" b="1" dirty="0">
                <a:solidFill>
                  <a:srgbClr val="FF0000"/>
                </a:solidFill>
              </a:rPr>
              <a:t>); </a:t>
            </a:r>
            <a:r>
              <a:rPr lang="en-US" altLang="zh-CN" sz="2400" b="1" dirty="0">
                <a:solidFill>
                  <a:srgbClr val="FF0000"/>
                </a:solidFill>
              </a:rPr>
              <a:t>// </a:t>
            </a:r>
            <a:r>
              <a:rPr lang="zh-CN" altLang="en-US" sz="2400" b="1" dirty="0">
                <a:solidFill>
                  <a:srgbClr val="FF0000"/>
                </a:solidFill>
              </a:rPr>
              <a:t>假设忘记读操作数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r>
              <a:rPr lang="zh-CN" altLang="en-US" sz="2400" dirty="0"/>
              <a:t>	</a:t>
            </a:r>
            <a:endParaRPr lang="en-US" altLang="zh-CN" sz="2400" dirty="0"/>
          </a:p>
          <a:p>
            <a:r>
              <a:rPr lang="en-US" altLang="zh-CN" sz="2400" dirty="0"/>
              <a:t>	… // </a:t>
            </a:r>
            <a:r>
              <a:rPr lang="zh-CN" altLang="en-US" sz="2400" dirty="0"/>
              <a:t>执行指令操作</a:t>
            </a:r>
            <a:endParaRPr lang="zh-CN" altLang="en-US" sz="2400" dirty="0"/>
          </a:p>
          <a:p>
            <a:r>
              <a:rPr lang="zh-CN" altLang="en-US" sz="2400" dirty="0"/>
              <a:t>	return len;</a:t>
            </a:r>
            <a:endParaRPr lang="zh-CN" altLang="en-US" sz="2400" dirty="0"/>
          </a:p>
          <a:p>
            <a:r>
              <a:rPr lang="zh-CN" altLang="en-US" sz="2400" dirty="0"/>
              <a:t>}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5543550" y="1497330"/>
            <a:ext cx="555498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当用</a:t>
            </a:r>
            <a:r>
              <a:rPr lang="en-US" altLang="zh-CN" sz="2400" dirty="0" err="1">
                <a:solidFill>
                  <a:srgbClr val="FF0000"/>
                </a:solidFill>
              </a:rPr>
              <a:t>si</a:t>
            </a:r>
            <a:r>
              <a:rPr lang="zh-CN" altLang="en-US" sz="2400" dirty="0">
                <a:solidFill>
                  <a:srgbClr val="FF0000"/>
                </a:solidFill>
              </a:rPr>
              <a:t>执行程序时，</a:t>
            </a:r>
            <a:r>
              <a:rPr lang="en-US" altLang="zh-CN" sz="2400" dirty="0" err="1">
                <a:solidFill>
                  <a:srgbClr val="FF0000"/>
                </a:solidFill>
              </a:rPr>
              <a:t>print_asm</a:t>
            </a:r>
            <a:r>
              <a:rPr lang="zh-CN" altLang="en-US" sz="2400" dirty="0">
                <a:solidFill>
                  <a:srgbClr val="FF0000"/>
                </a:solidFill>
              </a:rPr>
              <a:t>可能会调用</a:t>
            </a:r>
            <a:r>
              <a:rPr lang="en-US" altLang="zh-CN" sz="2400" dirty="0" err="1">
                <a:solidFill>
                  <a:srgbClr val="FF0000"/>
                </a:solidFill>
              </a:rPr>
              <a:t>operand_read</a:t>
            </a:r>
            <a:r>
              <a:rPr lang="zh-CN" altLang="en-US" sz="2400" dirty="0">
                <a:solidFill>
                  <a:srgbClr val="FF0000"/>
                </a:solidFill>
              </a:rPr>
              <a:t>，导致程序行为和连续执行时（不调用</a:t>
            </a:r>
            <a:r>
              <a:rPr lang="en-US" altLang="zh-CN" sz="2400" dirty="0" err="1">
                <a:solidFill>
                  <a:srgbClr val="FF0000"/>
                </a:solidFill>
              </a:rPr>
              <a:t>print_asm</a:t>
            </a:r>
            <a:r>
              <a:rPr lang="zh-CN" altLang="en-US" sz="2400" dirty="0">
                <a:solidFill>
                  <a:srgbClr val="FF0000"/>
                </a:solidFill>
              </a:rPr>
              <a:t>）不一致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gdb</a:t>
            </a:r>
            <a:r>
              <a:rPr lang="zh-CN" altLang="en-US" dirty="0"/>
              <a:t>调试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804141"/>
          </a:xfrm>
        </p:spPr>
        <p:txBody>
          <a:bodyPr/>
          <a:lstStyle/>
          <a:p>
            <a:r>
              <a:rPr lang="zh-CN" altLang="en-US" dirty="0"/>
              <a:t>对出现段错误的情况一般比较好用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83" y="2541184"/>
            <a:ext cx="7087589" cy="1114581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4894228" y="3649415"/>
            <a:ext cx="22352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195060" y="3286433"/>
            <a:ext cx="1862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可自行修改参数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40883" y="2075754"/>
            <a:ext cx="4218703" cy="373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 err="1">
                <a:solidFill>
                  <a:schemeClr val="accent5"/>
                </a:solidFill>
              </a:rPr>
              <a:t>pa_nju</a:t>
            </a:r>
            <a:r>
              <a:rPr lang="en-US" altLang="zh-CN" i="1" dirty="0">
                <a:solidFill>
                  <a:schemeClr val="accent5"/>
                </a:solidFill>
              </a:rPr>
              <a:t>/</a:t>
            </a:r>
            <a:r>
              <a:rPr lang="en-US" altLang="zh-CN" i="1" dirty="0" err="1">
                <a:solidFill>
                  <a:schemeClr val="accent5"/>
                </a:solidFill>
              </a:rPr>
              <a:t>Makefile</a:t>
            </a:r>
            <a:endParaRPr lang="zh-CN" altLang="en-US" i="1" dirty="0">
              <a:solidFill>
                <a:schemeClr val="accent5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40883" y="3964625"/>
            <a:ext cx="3811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命令行执行 </a:t>
            </a:r>
            <a:r>
              <a:rPr lang="en-US" altLang="zh-CN" b="1" dirty="0"/>
              <a:t>make debug</a:t>
            </a:r>
            <a:endParaRPr lang="zh-CN" altLang="en-US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427" r="27967"/>
          <a:stretch>
            <a:fillRect/>
          </a:stretch>
        </p:blipFill>
        <p:spPr>
          <a:xfrm>
            <a:off x="1140883" y="4642817"/>
            <a:ext cx="6868460" cy="161360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443182" y="5166026"/>
            <a:ext cx="25830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常用命令：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/>
              <a:t>：  继续</a:t>
            </a:r>
            <a:r>
              <a:rPr lang="zh-CN" altLang="en-US" dirty="0"/>
              <a:t>执行</a:t>
            </a:r>
            <a:endParaRPr lang="en-US" altLang="zh-CN" dirty="0"/>
          </a:p>
          <a:p>
            <a:r>
              <a:rPr lang="en-US" altLang="zh-CN" dirty="0" err="1"/>
              <a:t>bt</a:t>
            </a:r>
            <a:r>
              <a:rPr lang="zh-CN" altLang="en-US" dirty="0"/>
              <a:t>：出错后打印栈帧</a:t>
            </a:r>
            <a:endParaRPr lang="en-US" altLang="zh-CN" dirty="0"/>
          </a:p>
          <a:p>
            <a:r>
              <a:rPr lang="en-US" altLang="zh-CN" dirty="0"/>
              <a:t>b:    </a:t>
            </a:r>
            <a:r>
              <a:rPr lang="zh-CN" altLang="en-US" dirty="0"/>
              <a:t>打断点</a:t>
            </a:r>
            <a:endParaRPr lang="zh-CN" altLang="en-US" dirty="0"/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2729851" y="5633238"/>
            <a:ext cx="5498621" cy="467212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使用内建调试器</a:t>
            </a:r>
            <a:r>
              <a:rPr lang="en-US" altLang="zh-CN" dirty="0"/>
              <a:t>monitor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C34-713C-45D5-89F5-652EACAA10D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447975" y="1310691"/>
            <a:ext cx="885216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进入</a:t>
            </a:r>
            <a:r>
              <a:rPr lang="en-US" altLang="zh-CN" sz="2800" dirty="0"/>
              <a:t>CLI</a:t>
            </a:r>
            <a:r>
              <a:rPr lang="zh-CN" altLang="en-US" sz="2800" dirty="0"/>
              <a:t>调试界面的</a:t>
            </a:r>
            <a:r>
              <a:rPr lang="zh-CN" altLang="en-US" sz="2800" b="1" dirty="0">
                <a:solidFill>
                  <a:srgbClr val="FF0000"/>
                </a:solidFill>
              </a:rPr>
              <a:t>两种方法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endParaRPr lang="en-US" altLang="zh-CN" sz="2800" dirty="0"/>
          </a:p>
          <a:p>
            <a:pPr marL="514350" indent="-514350">
              <a:buAutoNum type="arabicPeriod"/>
            </a:pPr>
            <a:r>
              <a:rPr lang="zh-CN" altLang="en-US" sz="2800" dirty="0"/>
              <a:t>执行参数中不带 </a:t>
            </a:r>
            <a:r>
              <a:rPr lang="en-US" altLang="zh-CN" sz="2800" dirty="0"/>
              <a:t>--</a:t>
            </a:r>
            <a:r>
              <a:rPr lang="en-US" altLang="zh-CN" sz="2800" dirty="0" err="1"/>
              <a:t>autorun</a:t>
            </a:r>
            <a:r>
              <a:rPr lang="en-US" altLang="zh-CN" sz="2800" dirty="0"/>
              <a:t> </a:t>
            </a:r>
            <a:r>
              <a:rPr lang="zh-CN" altLang="en-US" sz="2800" dirty="0"/>
              <a:t>初始化后就等待用户命令</a:t>
            </a:r>
            <a:endParaRPr lang="en-US" altLang="zh-CN" sz="2800" dirty="0"/>
          </a:p>
          <a:p>
            <a:pPr marL="514350" indent="-514350">
              <a:buAutoNum type="arabicPeriod"/>
            </a:pPr>
            <a:endParaRPr lang="en-US" altLang="zh-CN" sz="2800" dirty="0"/>
          </a:p>
          <a:p>
            <a:pPr marL="514350" indent="-514350">
              <a:buAutoNum type="arabicPeriod"/>
            </a:pPr>
            <a:endParaRPr lang="en-US" altLang="zh-CN" sz="2800" dirty="0"/>
          </a:p>
          <a:p>
            <a:pPr marL="514350" indent="-514350">
              <a:buAutoNum type="arabicPeriod"/>
            </a:pPr>
            <a:endParaRPr lang="en-US" altLang="zh-CN" sz="2800" dirty="0"/>
          </a:p>
          <a:p>
            <a:pPr marL="514350" indent="-514350">
              <a:buAutoNum type="arabicPeriod"/>
            </a:pPr>
            <a:r>
              <a:rPr lang="zh-CN" altLang="en-US" sz="2800" dirty="0"/>
              <a:t>在</a:t>
            </a:r>
            <a:r>
              <a:rPr lang="en-US" altLang="zh-CN" sz="2800" dirty="0"/>
              <a:t>kernel</a:t>
            </a:r>
            <a:r>
              <a:rPr lang="zh-CN" altLang="en-US" sz="2800" dirty="0"/>
              <a:t>或者</a:t>
            </a:r>
            <a:r>
              <a:rPr lang="en-US" altLang="zh-CN" sz="2800" dirty="0" err="1"/>
              <a:t>testcase</a:t>
            </a:r>
            <a:r>
              <a:rPr lang="zh-CN" altLang="en-US" sz="2800" dirty="0"/>
              <a:t>的代码中加入</a:t>
            </a:r>
            <a:r>
              <a:rPr lang="en-US" altLang="zh-CN" sz="2800" dirty="0"/>
              <a:t>BREAK_POINT</a:t>
            </a:r>
            <a:r>
              <a:rPr lang="zh-CN" altLang="en-US" sz="2800" dirty="0"/>
              <a:t>，执行到相应位置再进入</a:t>
            </a:r>
            <a:r>
              <a:rPr lang="en-US" altLang="zh-CN" sz="2800" dirty="0"/>
              <a:t>CLI</a:t>
            </a:r>
            <a:r>
              <a:rPr lang="zh-CN" altLang="en-US" sz="2800" dirty="0"/>
              <a:t>调试界面</a:t>
            </a:r>
            <a:endParaRPr lang="zh-CN" altLang="en-US" sz="2800" dirty="0"/>
          </a:p>
        </p:txBody>
      </p:sp>
      <p:sp>
        <p:nvSpPr>
          <p:cNvPr id="12" name="矩形 11"/>
          <p:cNvSpPr/>
          <p:nvPr/>
        </p:nvSpPr>
        <p:spPr>
          <a:xfrm>
            <a:off x="999195" y="2950043"/>
            <a:ext cx="9451626" cy="523220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</a:rPr>
              <a:t>$ ./</a:t>
            </a:r>
            <a:r>
              <a:rPr lang="en-US" altLang="zh-CN" sz="2800" dirty="0" err="1"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latin typeface="Consolas" panose="020B0609020204030204" pitchFamily="49" charset="0"/>
              </a:rPr>
              <a:t>/</a:t>
            </a:r>
            <a:r>
              <a:rPr lang="en-US" altLang="zh-CN" sz="2800" dirty="0" err="1">
                <a:latin typeface="Consolas" panose="020B0609020204030204" pitchFamily="49" charset="0"/>
              </a:rPr>
              <a:t>nemu</a:t>
            </a:r>
            <a:r>
              <a:rPr lang="en-US" altLang="zh-CN" sz="2800" dirty="0">
                <a:latin typeface="Consolas" panose="020B0609020204030204" pitchFamily="49" charset="0"/>
              </a:rPr>
              <a:t> --</a:t>
            </a:r>
            <a:r>
              <a:rPr lang="en-US" altLang="zh-CN" sz="2800" dirty="0" err="1">
                <a:latin typeface="Consolas" panose="020B0609020204030204" pitchFamily="49" charset="0"/>
              </a:rPr>
              <a:t>autorun</a:t>
            </a:r>
            <a:r>
              <a:rPr lang="en-US" altLang="zh-CN" sz="2800" dirty="0">
                <a:latin typeface="Consolas" panose="020B0609020204030204" pitchFamily="49" charset="0"/>
              </a:rPr>
              <a:t> --kernel --</a:t>
            </a:r>
            <a:r>
              <a:rPr lang="en-US" altLang="zh-CN" sz="2800" dirty="0" err="1">
                <a:latin typeface="Consolas" panose="020B0609020204030204" pitchFamily="49" charset="0"/>
              </a:rPr>
              <a:t>testcase</a:t>
            </a:r>
            <a:r>
              <a:rPr lang="en-US" altLang="zh-CN" sz="2800" dirty="0">
                <a:latin typeface="Consolas" panose="020B0609020204030204" pitchFamily="49" charset="0"/>
              </a:rPr>
              <a:t> xxx</a:t>
            </a:r>
            <a:endParaRPr lang="en-US" altLang="zh-CN" sz="2800" dirty="0">
              <a:latin typeface="Consolas" panose="020B0609020204030204" pitchFamily="49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846786" y="2950043"/>
            <a:ext cx="1765738" cy="5232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8137636" y="4522888"/>
            <a:ext cx="2446282" cy="2031325"/>
          </a:xfrm>
          <a:prstGeom prst="rect">
            <a:avLst/>
          </a:prstGeom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...</a:t>
            </a:r>
            <a:endParaRPr lang="en-US" altLang="zh-CN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</a:rPr>
              <a:t>BREAK_POINT;</a:t>
            </a:r>
            <a:endParaRPr lang="en-US" altLang="zh-CN" b="1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    ...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00904" y="5899746"/>
            <a:ext cx="3552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testcase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src</a:t>
            </a:r>
            <a:r>
              <a:rPr lang="en-US" altLang="zh-CN" sz="2400" dirty="0">
                <a:solidFill>
                  <a:schemeClr val="accent5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xxx.c</a:t>
            </a:r>
            <a:endParaRPr lang="zh-CN" altLang="en-US" sz="2400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怎么使用内建调试器</a:t>
            </a:r>
            <a:r>
              <a:rPr lang="en-US" altLang="zh-CN" dirty="0"/>
              <a:t>monitor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1192672"/>
          </a:xfrm>
        </p:spPr>
        <p:txBody>
          <a:bodyPr/>
          <a:lstStyle/>
          <a:p>
            <a:r>
              <a:rPr lang="en-US" altLang="zh-CN" dirty="0"/>
              <a:t>monitor</a:t>
            </a:r>
            <a:r>
              <a:rPr lang="zh-CN" altLang="en-US" dirty="0"/>
              <a:t>是</a:t>
            </a:r>
            <a:r>
              <a:rPr lang="en-US" altLang="zh-CN" dirty="0"/>
              <a:t>NEMU</a:t>
            </a:r>
            <a:r>
              <a:rPr lang="zh-CN" altLang="en-US" dirty="0"/>
              <a:t>内建的基于字符串界面（</a:t>
            </a:r>
            <a:r>
              <a:rPr lang="en-US" altLang="zh-CN" dirty="0"/>
              <a:t>CLI</a:t>
            </a:r>
            <a:r>
              <a:rPr lang="zh-CN" altLang="en-US" dirty="0"/>
              <a:t>）的调试器</a:t>
            </a:r>
            <a:endParaRPr lang="en-US" altLang="zh-CN" dirty="0"/>
          </a:p>
          <a:p>
            <a:r>
              <a:rPr lang="zh-CN" altLang="en-US" dirty="0"/>
              <a:t>进入</a:t>
            </a:r>
            <a:r>
              <a:rPr lang="en-US" altLang="zh-CN" dirty="0"/>
              <a:t>CLI</a:t>
            </a:r>
            <a:r>
              <a:rPr lang="zh-CN" altLang="en-US" dirty="0"/>
              <a:t>调试界面的标志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2BC34-713C-45D5-89F5-652EACAA10D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南京大学</a:t>
            </a:r>
            <a:r>
              <a:rPr lang="en-US" altLang="zh-CN"/>
              <a:t>-</a:t>
            </a:r>
            <a:r>
              <a:rPr lang="zh-CN" altLang="en-US"/>
              <a:t>计算机系统基础</a:t>
            </a:r>
            <a:r>
              <a:rPr lang="en-US" altLang="zh-CN"/>
              <a:t>-PA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D9038-FCC5-4893-8B22-D49FA85E05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03399" y="2894925"/>
            <a:ext cx="858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Consolas" panose="020B0609020204030204" pitchFamily="49" charset="0"/>
              </a:rPr>
              <a:t>Execute ./kernel/kernel.img ./testcase/bin/mov-c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hit breakpoint at eip = 0x00030000</a:t>
            </a:r>
            <a:endParaRPr lang="zh-CN" altLang="en-US" sz="2400" dirty="0">
              <a:latin typeface="Consolas" panose="020B0609020204030204" pitchFamily="49" charset="0"/>
            </a:endParaRPr>
          </a:p>
          <a:p>
            <a:r>
              <a:rPr lang="zh-CN" altLang="en-US" sz="2400" dirty="0">
                <a:latin typeface="Consolas" panose="020B0609020204030204" pitchFamily="49" charset="0"/>
              </a:rPr>
              <a:t>(nemu) 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77920" y="4810014"/>
            <a:ext cx="510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在控制台中看到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en-US" altLang="zh-CN" sz="2000" dirty="0" err="1">
                <a:solidFill>
                  <a:srgbClr val="FF0000"/>
                </a:solidFill>
              </a:rPr>
              <a:t>nemu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zh-CN" altLang="en-US" sz="2000" dirty="0">
                <a:solidFill>
                  <a:srgbClr val="FF0000"/>
                </a:solidFill>
              </a:rPr>
              <a:t>这个提示符，光标在后面一闪一闪的，那就进入</a:t>
            </a:r>
            <a:r>
              <a:rPr lang="en-US" altLang="zh-CN" sz="2000" dirty="0">
                <a:solidFill>
                  <a:srgbClr val="FF0000"/>
                </a:solidFill>
              </a:rPr>
              <a:t>CLI</a:t>
            </a:r>
            <a:r>
              <a:rPr lang="zh-CN" altLang="en-US" sz="2000" dirty="0">
                <a:solidFill>
                  <a:srgbClr val="FF0000"/>
                </a:solidFill>
              </a:rPr>
              <a:t>调试状态了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3034980" y="4095254"/>
            <a:ext cx="426720" cy="751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688420"/>
            <a:ext cx="9144000" cy="3289980"/>
          </a:xfrm>
        </p:spPr>
        <p:txBody>
          <a:bodyPr/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Bug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是程序员一生之敌</a:t>
            </a:r>
            <a:b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b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踩遍所有坑，成就伟大程序员</a:t>
            </a: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771" y="262829"/>
            <a:ext cx="10515600" cy="734002"/>
          </a:xfrm>
        </p:spPr>
        <p:txBody>
          <a:bodyPr/>
          <a:lstStyle/>
          <a:p>
            <a:r>
              <a:rPr lang="zh-CN" altLang="en-US" dirty="0"/>
              <a:t>作为学生如何应对</a:t>
            </a:r>
            <a:r>
              <a:rPr lang="en-US" altLang="zh-CN" dirty="0"/>
              <a:t>bug</a:t>
            </a:r>
            <a:r>
              <a:rPr lang="zh-CN" altLang="en-US" dirty="0"/>
              <a:t>等挑战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1257299" y="3048335"/>
            <a:ext cx="2151743" cy="21517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正面刚</a:t>
            </a:r>
            <a:endParaRPr lang="en-US" altLang="zh-CN" sz="3200" dirty="0"/>
          </a:p>
          <a:p>
            <a:pPr algn="ctr"/>
            <a:r>
              <a:rPr lang="en-US" altLang="zh-CN" sz="3200" dirty="0">
                <a:solidFill>
                  <a:srgbClr val="00B050"/>
                </a:solidFill>
              </a:rPr>
              <a:t>good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cxnSp>
        <p:nvCxnSpPr>
          <p:cNvPr id="7" name="连接符: 曲线 6"/>
          <p:cNvCxnSpPr>
            <a:stCxn id="5" idx="7"/>
            <a:endCxn id="5" idx="1"/>
          </p:cNvCxnSpPr>
          <p:nvPr/>
        </p:nvCxnSpPr>
        <p:spPr>
          <a:xfrm rot="16200000" flipV="1">
            <a:off x="2333171" y="2602693"/>
            <a:ext cx="12700" cy="1521513"/>
          </a:xfrm>
          <a:prstGeom prst="curvedConnector3">
            <a:avLst>
              <a:gd name="adj1" fmla="val 7938362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47435" y="1745096"/>
            <a:ext cx="3984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学会方法、学会排遣</a:t>
            </a:r>
            <a:endParaRPr lang="zh-CN" altLang="en-US" sz="2400" dirty="0"/>
          </a:p>
        </p:txBody>
      </p:sp>
      <p:sp>
        <p:nvSpPr>
          <p:cNvPr id="10" name="椭圆 9"/>
          <p:cNvSpPr/>
          <p:nvPr/>
        </p:nvSpPr>
        <p:spPr>
          <a:xfrm>
            <a:off x="8432799" y="68371"/>
            <a:ext cx="2151743" cy="21517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躺倒</a:t>
            </a:r>
            <a:endParaRPr lang="en-US" altLang="zh-CN" sz="3200" dirty="0"/>
          </a:p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bad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8432800" y="2347400"/>
            <a:ext cx="2151743" cy="21517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抄袭</a:t>
            </a:r>
            <a:endParaRPr lang="en-US" altLang="zh-CN" sz="3200" dirty="0"/>
          </a:p>
          <a:p>
            <a:pPr algn="ctr"/>
            <a:r>
              <a:rPr lang="en-US" altLang="zh-CN" sz="3200" dirty="0">
                <a:solidFill>
                  <a:srgbClr val="C00000"/>
                </a:solidFill>
              </a:rPr>
              <a:t>bad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8432799" y="4626430"/>
            <a:ext cx="2151743" cy="21517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dirty="0"/>
              <a:t>提问</a:t>
            </a:r>
            <a:endParaRPr lang="en-US" altLang="zh-CN" sz="3200" dirty="0"/>
          </a:p>
          <a:p>
            <a:pPr algn="ctr"/>
            <a:r>
              <a:rPr lang="en-US" altLang="zh-CN" sz="3200" dirty="0">
                <a:solidFill>
                  <a:srgbClr val="00B050"/>
                </a:solidFill>
              </a:rPr>
              <a:t>good</a:t>
            </a:r>
            <a:endParaRPr lang="zh-CN" altLang="en-US" sz="3200" dirty="0">
              <a:solidFill>
                <a:srgbClr val="00B050"/>
              </a:solidFill>
            </a:endParaRPr>
          </a:p>
        </p:txBody>
      </p:sp>
      <p:cxnSp>
        <p:nvCxnSpPr>
          <p:cNvPr id="14" name="直接箭头连接符 13"/>
          <p:cNvCxnSpPr>
            <a:stCxn id="5" idx="6"/>
            <a:endCxn id="10" idx="2"/>
          </p:cNvCxnSpPr>
          <p:nvPr/>
        </p:nvCxnSpPr>
        <p:spPr>
          <a:xfrm flipV="1">
            <a:off x="3409042" y="1144243"/>
            <a:ext cx="5023757" cy="297996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5" idx="6"/>
            <a:endCxn id="11" idx="2"/>
          </p:cNvCxnSpPr>
          <p:nvPr/>
        </p:nvCxnSpPr>
        <p:spPr>
          <a:xfrm flipV="1">
            <a:off x="3409042" y="3423272"/>
            <a:ext cx="5023758" cy="70093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5" idx="6"/>
            <a:endCxn id="12" idx="2"/>
          </p:cNvCxnSpPr>
          <p:nvPr/>
        </p:nvCxnSpPr>
        <p:spPr>
          <a:xfrm>
            <a:off x="3409042" y="4124207"/>
            <a:ext cx="5023757" cy="157809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什么叫抄袭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316103"/>
            <a:ext cx="6512589" cy="4881497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5" name="矩形 4"/>
          <p:cNvSpPr/>
          <p:nvPr/>
        </p:nvSpPr>
        <p:spPr>
          <a:xfrm>
            <a:off x="432956" y="6308208"/>
            <a:ext cx="73031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+mn-ea"/>
              </a:rPr>
              <a:t>Chanchal Kumar Roy and James R. Cordy. A Survey on Software Clone Detection Research. Technical Report No. 2007-541, School of Computing, Queen's University at Kingston, Ontario, Canada. Sept 26, 2007</a:t>
            </a:r>
            <a:endParaRPr lang="zh-CN" altLang="en-US" sz="1200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49770" y="1378145"/>
            <a:ext cx="3679373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形式上表现出克隆</a:t>
            </a:r>
            <a:endParaRPr lang="en-US" altLang="zh-CN" sz="2800" dirty="0"/>
          </a:p>
          <a:p>
            <a:r>
              <a:rPr lang="en-US" altLang="zh-CN" sz="2800" dirty="0"/>
              <a:t>+ </a:t>
            </a:r>
            <a:r>
              <a:rPr lang="zh-CN" altLang="en-US" sz="2800" dirty="0"/>
              <a:t>未给出引用和出处</a:t>
            </a:r>
            <a:endParaRPr lang="en-US" altLang="zh-CN" sz="2800" dirty="0"/>
          </a:p>
          <a:p>
            <a:r>
              <a:rPr lang="en-US" altLang="zh-CN" sz="2800" dirty="0"/>
              <a:t>+ </a:t>
            </a:r>
            <a:r>
              <a:rPr lang="zh-CN" altLang="en-US" sz="2800" dirty="0"/>
              <a:t>主观故意</a:t>
            </a:r>
            <a:endParaRPr lang="zh-CN" altLang="en-US" sz="2800" dirty="0"/>
          </a:p>
        </p:txBody>
      </p:sp>
      <p:sp>
        <p:nvSpPr>
          <p:cNvPr id="9" name="箭头: 左 8"/>
          <p:cNvSpPr/>
          <p:nvPr/>
        </p:nvSpPr>
        <p:spPr>
          <a:xfrm>
            <a:off x="7540171" y="1378145"/>
            <a:ext cx="544286" cy="461665"/>
          </a:xfrm>
          <a:prstGeom prst="lef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149769" y="3308544"/>
            <a:ext cx="3679373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我们检查抄袭</a:t>
            </a: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代码文本特征</a:t>
            </a: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编码行为特征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8149769" y="4953991"/>
            <a:ext cx="3969660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我们认定抄袭</a:t>
            </a: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客观证据</a:t>
            </a: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教师助教委员会认定</a:t>
            </a: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喝茶访谈认定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作为学生，你还有老师和助教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2255"/>
            <a:ext cx="9201150" cy="5675745"/>
          </a:xfrm>
        </p:spPr>
        <p:txBody>
          <a:bodyPr>
            <a:normAutofit/>
          </a:bodyPr>
          <a:lstStyle/>
          <a:p>
            <a:r>
              <a:rPr lang="zh-CN" altLang="en-US" dirty="0"/>
              <a:t>提问的艺术</a:t>
            </a:r>
            <a:endParaRPr lang="en-US" altLang="zh-CN" dirty="0"/>
          </a:p>
          <a:p>
            <a:pPr lvl="1"/>
            <a:r>
              <a:rPr lang="en-US" altLang="zh-CN" dirty="0">
                <a:hlinkClick r:id="rId1"/>
              </a:rPr>
              <a:t>https://github.com/ryanhanwu/How-To-Ask-Questions-The-Smart-Way/blob/master/README-zh_CN.md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我们不愿意或无法回答的问题</a:t>
            </a:r>
            <a:endParaRPr lang="en-US" altLang="zh-CN" dirty="0"/>
          </a:p>
          <a:p>
            <a:pPr lvl="1"/>
            <a:r>
              <a:rPr lang="zh-CN" altLang="en-US" dirty="0"/>
              <a:t>没有经过思考或尝试就来问问题</a:t>
            </a:r>
            <a:endParaRPr lang="en-US" altLang="zh-CN" dirty="0"/>
          </a:p>
          <a:p>
            <a:pPr lvl="1"/>
            <a:r>
              <a:rPr lang="zh-CN" altLang="en-US" dirty="0"/>
              <a:t>把我们当作</a:t>
            </a:r>
            <a:r>
              <a:rPr lang="en-US" altLang="zh-CN" dirty="0"/>
              <a:t>human debugger</a:t>
            </a:r>
            <a:r>
              <a:rPr lang="zh-CN" altLang="en-US" dirty="0"/>
              <a:t>或者试探参考实现</a:t>
            </a:r>
            <a:endParaRPr lang="en-US" altLang="zh-CN" dirty="0"/>
          </a:p>
          <a:p>
            <a:pPr lvl="1"/>
            <a:r>
              <a:rPr lang="zh-CN" altLang="en-US" dirty="0"/>
              <a:t>表述不清的问题</a:t>
            </a:r>
            <a:endParaRPr lang="en-US" altLang="zh-CN" dirty="0"/>
          </a:p>
          <a:p>
            <a:pPr lvl="2"/>
            <a:r>
              <a:rPr lang="zh-CN" altLang="en-US" dirty="0"/>
              <a:t>如，没有上下文直接问：“我为什么</a:t>
            </a:r>
            <a:r>
              <a:rPr lang="en-US" altLang="zh-CN" dirty="0"/>
              <a:t>hit bad trap</a:t>
            </a:r>
            <a:r>
              <a:rPr lang="zh-CN" altLang="en-US" dirty="0"/>
              <a:t>？”</a:t>
            </a:r>
            <a:endParaRPr lang="en-US" altLang="zh-CN" dirty="0"/>
          </a:p>
          <a:p>
            <a:pPr lvl="1"/>
            <a:r>
              <a:rPr lang="zh-CN" altLang="en-US" dirty="0"/>
              <a:t>资料里已经讲清楚但没有看资料</a:t>
            </a:r>
            <a:endParaRPr lang="en-US" altLang="zh-C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作为学生，你还有老师和助教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182255"/>
            <a:ext cx="9720943" cy="5675745"/>
          </a:xfrm>
        </p:spPr>
        <p:txBody>
          <a:bodyPr>
            <a:normAutofit/>
          </a:bodyPr>
          <a:lstStyle/>
          <a:p>
            <a:r>
              <a:rPr lang="zh-CN" altLang="en-US" dirty="0"/>
              <a:t>提问的艺术</a:t>
            </a:r>
            <a:endParaRPr lang="en-US" altLang="zh-CN" dirty="0"/>
          </a:p>
          <a:p>
            <a:pPr lvl="1"/>
            <a:r>
              <a:rPr lang="en-US" altLang="zh-CN" dirty="0">
                <a:hlinkClick r:id="rId1"/>
              </a:rPr>
              <a:t>https://github.com/ryanhanwu/How-To-Ask-Questions-The-Smart-Way/blob/master/README-zh_CN.md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我们愿意回答的问题</a:t>
            </a:r>
            <a:endParaRPr lang="en-US" altLang="zh-CN" dirty="0"/>
          </a:p>
          <a:p>
            <a:pPr lvl="1"/>
            <a:r>
              <a:rPr lang="zh-CN" altLang="en-US" dirty="0"/>
              <a:t>经过思考和努力后，在能够清晰表述问题，并提供一定分析和尝试结果的基础上所提出来的问题</a:t>
            </a:r>
            <a:endParaRPr lang="en-US" altLang="zh-CN" dirty="0"/>
          </a:p>
          <a:p>
            <a:pPr lvl="1"/>
            <a:r>
              <a:rPr lang="zh-CN" altLang="en-US" dirty="0"/>
              <a:t>任何其他有趣的问题</a:t>
            </a:r>
            <a:endParaRPr lang="en-US" altLang="zh-CN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作为学生，你还有老师和助教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但你也无需太担心</a:t>
            </a:r>
            <a:endParaRPr lang="en-US" altLang="zh-CN" dirty="0"/>
          </a:p>
          <a:p>
            <a:pPr lvl="1"/>
            <a:r>
              <a:rPr lang="zh-CN" altLang="en-US" dirty="0"/>
              <a:t>如果问的问题不够友好，我们会回复：“这个问题我无法回答”，并给出简短的理由，并且不存在小本本来记录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如果实在讲不清楚，我们也不会抛弃任何人</a:t>
            </a:r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74914" y="2367171"/>
            <a:ext cx="10842171" cy="24314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1" algn="ctr"/>
            <a:r>
              <a:rPr lang="zh-CN" altLang="en-US" sz="4400" dirty="0">
                <a:latin typeface="幼圆" panose="02010509060101010101" pitchFamily="49" charset="-122"/>
                <a:ea typeface="幼圆" panose="02010509060101010101" pitchFamily="49" charset="-122"/>
              </a:rPr>
              <a:t>不要抄袭，不要提供给别人抄袭</a:t>
            </a:r>
            <a:endParaRPr lang="en-US" altLang="zh-CN" sz="4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lvl="1" algn="ctr"/>
            <a:r>
              <a:rPr lang="zh-CN" altLang="en-US" sz="4400" dirty="0">
                <a:latin typeface="幼圆" panose="02010509060101010101" pitchFamily="49" charset="-122"/>
                <a:ea typeface="幼圆" panose="02010509060101010101" pitchFamily="49" charset="-122"/>
              </a:rPr>
              <a:t>切实努力过再提问</a:t>
            </a:r>
            <a:endParaRPr lang="en-US" altLang="zh-CN" sz="4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lvl="1" algn="ctr"/>
            <a:r>
              <a:rPr lang="zh-CN" altLang="en-US" sz="4400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作为学生，没有比学会知识更重要的事情</a:t>
            </a:r>
            <a:endParaRPr lang="en-US" altLang="zh-CN" sz="4400" dirty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lvl="1" algn="r"/>
            <a:r>
              <a:rPr lang="zh-CN" altLang="en-US" sz="2000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不懂就问，不理就催</a:t>
            </a:r>
            <a:endParaRPr lang="en-US" altLang="zh-CN" sz="4400" dirty="0">
              <a:solidFill>
                <a:srgbClr val="C0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09800" y="3305462"/>
            <a:ext cx="7772400" cy="856646"/>
          </a:xfrm>
        </p:spPr>
        <p:txBody>
          <a:bodyPr>
            <a:normAutofit/>
          </a:bodyPr>
          <a:lstStyle/>
          <a:p>
            <a:pPr algn="l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Happy Hacking  </a:t>
            </a:r>
            <a:r>
              <a:rPr lang="en-US" altLang="zh-CN" sz="3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O_o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46F99-EA09-439A-8611-6A8D1D1506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0_fall_pa_0_在线实验平台和PA实验内容简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2020_fall_pa_0_在线实验平台和PA实验内容简介</Template>
  <TotalTime>0</TotalTime>
  <Words>11712</Words>
  <Application>WPS 演示</Application>
  <PresentationFormat>宽屏</PresentationFormat>
  <Paragraphs>879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1" baseType="lpstr">
      <vt:lpstr>Arial</vt:lpstr>
      <vt:lpstr>宋体</vt:lpstr>
      <vt:lpstr>Wingdings</vt:lpstr>
      <vt:lpstr>微软雅黑</vt:lpstr>
      <vt:lpstr>幼圆</vt:lpstr>
      <vt:lpstr>华文新魏</vt:lpstr>
      <vt:lpstr>Arial Unicode MS</vt:lpstr>
      <vt:lpstr>等线</vt:lpstr>
      <vt:lpstr>Calibri</vt:lpstr>
      <vt:lpstr>Consolas</vt:lpstr>
      <vt:lpstr>2020_fall_pa_0_在线实验平台和PA实验内容简介</vt:lpstr>
      <vt:lpstr>对bug和debug的一些认识</vt:lpstr>
      <vt:lpstr>从make run讲起</vt:lpstr>
      <vt:lpstr>./nemu/nemu --testcase add</vt:lpstr>
      <vt:lpstr>single_run(image_path, elf_path)</vt:lpstr>
      <vt:lpstr>ui_mainloop(flag_autorun)</vt:lpstr>
      <vt:lpstr>exec(-1)</vt:lpstr>
      <vt:lpstr>Sep 9, 1947 CE: World’s First Computer Bug</vt:lpstr>
      <vt:lpstr>Bugs can have serious consequences</vt:lpstr>
      <vt:lpstr>Debugging is often a difficult task</vt:lpstr>
      <vt:lpstr>PowerPoint 演示文稿</vt:lpstr>
      <vt:lpstr>PowerPoint 演示文稿</vt:lpstr>
      <vt:lpstr>发现Bug时的正常心路历程（type-I）</vt:lpstr>
      <vt:lpstr>调试公理</vt:lpstr>
      <vt:lpstr>初学者发现Bug时的正常心路历程（type-II）</vt:lpstr>
      <vt:lpstr>初学者的调试公理</vt:lpstr>
      <vt:lpstr>目录</vt:lpstr>
      <vt:lpstr>目录</vt:lpstr>
      <vt:lpstr>什么是bug —— 缺陷的传播链条 </vt:lpstr>
      <vt:lpstr>认识bug：从Fault到Failure</vt:lpstr>
      <vt:lpstr>认识bug：从Fault到Failure</vt:lpstr>
      <vt:lpstr>目录</vt:lpstr>
      <vt:lpstr>少写点bug （纯个人经验）</vt:lpstr>
      <vt:lpstr>少写点bug （纯个人经验）</vt:lpstr>
      <vt:lpstr>写出高质量的代码</vt:lpstr>
      <vt:lpstr>KISS：Keep It Simple and Stupid</vt:lpstr>
      <vt:lpstr>KISS：Keep It Simple and Stupid</vt:lpstr>
      <vt:lpstr>代码写好看一些</vt:lpstr>
      <vt:lpstr>代码写好看一些</vt:lpstr>
      <vt:lpstr>写出高质量的代码</vt:lpstr>
      <vt:lpstr>少写点bug （纯个人经验）</vt:lpstr>
      <vt:lpstr>经常检查</vt:lpstr>
      <vt:lpstr>多多使用assert</vt:lpstr>
      <vt:lpstr>多多使用assert</vt:lpstr>
      <vt:lpstr>多多使用assert</vt:lpstr>
      <vt:lpstr>多多使用assert</vt:lpstr>
      <vt:lpstr>NEMU常见的几处检查</vt:lpstr>
      <vt:lpstr>不要忽视warning</vt:lpstr>
      <vt:lpstr>少写点bug （纯个人经验）</vt:lpstr>
      <vt:lpstr>保持随手测试的习惯</vt:lpstr>
      <vt:lpstr>保持随手测试的习惯</vt:lpstr>
      <vt:lpstr>保持随手测试的习惯</vt:lpstr>
      <vt:lpstr>目录</vt:lpstr>
      <vt:lpstr>Debug</vt:lpstr>
      <vt:lpstr>Debug：复现错误（Failure）</vt:lpstr>
      <vt:lpstr>Debug：复现错误（Failure）</vt:lpstr>
      <vt:lpstr>Debug：定位缺陷（Fault）</vt:lpstr>
      <vt:lpstr>Debug：运用工具</vt:lpstr>
      <vt:lpstr>PA中si的副作用</vt:lpstr>
      <vt:lpstr>PA中si的副作用</vt:lpstr>
      <vt:lpstr>使用gdb调试</vt:lpstr>
      <vt:lpstr>使用内建调试器monitor</vt:lpstr>
      <vt:lpstr>怎么使用内建调试器monitor</vt:lpstr>
      <vt:lpstr>Bug是程序员一生之敌  踩遍所有坑，成就伟大程序员</vt:lpstr>
      <vt:lpstr>作为学生如何应对bug等挑战</vt:lpstr>
      <vt:lpstr>什么叫抄袭</vt:lpstr>
      <vt:lpstr>作为学生，你还有老师和助教</vt:lpstr>
      <vt:lpstr>作为学生，你还有老师和助教</vt:lpstr>
      <vt:lpstr>作为学生，你还有老师和助教</vt:lpstr>
      <vt:lpstr>PowerPoint 演示文稿</vt:lpstr>
      <vt:lpstr>Happy Hacking  O_o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汪 亮</dc:creator>
  <cp:lastModifiedBy>汪亮</cp:lastModifiedBy>
  <cp:revision>877</cp:revision>
  <dcterms:created xsi:type="dcterms:W3CDTF">2019-04-01T05:06:00Z</dcterms:created>
  <dcterms:modified xsi:type="dcterms:W3CDTF">2025-09-29T11:41:00Z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F62C74AC4116454B85367DE465A195A0_12</vt:lpwstr>
  </property>
</Properties>
</file>