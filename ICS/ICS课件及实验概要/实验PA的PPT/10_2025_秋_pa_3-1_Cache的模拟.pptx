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261" r:id="rId7"/>
    <p:sldId id="262" r:id="rId8"/>
    <p:sldId id="263" r:id="rId9"/>
    <p:sldId id="266" r:id="rId10"/>
    <p:sldId id="264" r:id="rId11"/>
    <p:sldId id="267" r:id="rId12"/>
    <p:sldId id="298" r:id="rId13"/>
    <p:sldId id="265" r:id="rId14"/>
    <p:sldId id="268" r:id="rId15"/>
    <p:sldId id="299" r:id="rId16"/>
    <p:sldId id="300" r:id="rId17"/>
    <p:sldId id="301" r:id="rId18"/>
    <p:sldId id="269" r:id="rId19"/>
    <p:sldId id="302" r:id="rId20"/>
    <p:sldId id="303" r:id="rId21"/>
    <p:sldId id="271" r:id="rId22"/>
    <p:sldId id="272" r:id="rId23"/>
    <p:sldId id="274" r:id="rId24"/>
    <p:sldId id="275" r:id="rId25"/>
    <p:sldId id="276" r:id="rId26"/>
    <p:sldId id="277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279" r:id="rId37"/>
    <p:sldId id="282" r:id="rId38"/>
    <p:sldId id="281" r:id="rId39"/>
    <p:sldId id="314" r:id="rId40"/>
    <p:sldId id="315" r:id="rId41"/>
    <p:sldId id="283" r:id="rId42"/>
    <p:sldId id="297" r:id="rId43"/>
    <p:sldId id="313" r:id="rId44"/>
    <p:sldId id="284" r:id="rId45"/>
    <p:sldId id="285" r:id="rId46"/>
    <p:sldId id="280" r:id="rId47"/>
    <p:sldId id="288" r:id="rId48"/>
    <p:sldId id="286" r:id="rId49"/>
    <p:sldId id="287" r:id="rId50"/>
    <p:sldId id="292" r:id="rId51"/>
    <p:sldId id="290" r:id="rId52"/>
    <p:sldId id="291" r:id="rId53"/>
    <p:sldId id="293" r:id="rId54"/>
    <p:sldId id="294" r:id="rId55"/>
    <p:sldId id="296" r:id="rId56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1" autoAdjust="0"/>
    <p:restoredTop sz="94660"/>
  </p:normalViewPr>
  <p:slideViewPr>
    <p:cSldViewPr snapToGrid="0">
      <p:cViewPr varScale="1">
        <p:scale>
          <a:sx n="90" d="100"/>
          <a:sy n="90" d="100"/>
        </p:scale>
        <p:origin x="8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tags" Target="tags/tag1.xml"/><Relationship Id="rId6" Type="http://schemas.openxmlformats.org/officeDocument/2006/relationships/slide" Target="slides/slide3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C8A5C-9C13-4BB3-A1BA-4BA5CB1D49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AD1D4-E05F-41F1-A748-77DBDCE3662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DAD1D4-E05F-41F1-A748-77DBDCE366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CD4D-C36A-4C95-A81A-EF1F3FCC5A1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9" y="390129"/>
            <a:ext cx="1077599" cy="12505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2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colorTemperature colorTemp="6494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365126"/>
            <a:ext cx="5105400" cy="63987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DEF8-526C-4A85-B954-01B77BCFD5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2A362-FF4D-46F7-8B03-EE05B6BE49A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9" y="390129"/>
            <a:ext cx="1077599" cy="125052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2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CCB2-250D-4673-942D-B3F64DB0D39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B74F-565E-4A1E-9052-898DFF427156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D9E3D-7E33-482F-9F16-415D1E5C7C6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EF146-0D01-465C-967A-80BBA86DCCE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0073-9894-497C-B133-69A87AA3E12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468C-A9B4-4E76-9F56-A42E8E5EBA6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97BA3-5B1F-4E7C-829D-FDB02FEB5CF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0147C-CCC2-4DF1-89DB-BDF47EB4440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48509"/>
            <a:ext cx="10515600" cy="4828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884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5">
                <a:solidFill>
                  <a:schemeClr val="tx1"/>
                </a:solidFill>
              </a:defRPr>
            </a:lvl1pPr>
          </a:lstStyle>
          <a:p>
            <a:fld id="{1C85C37E-43CE-4635-AEF6-E6D1E1531DE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843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5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843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5">
                <a:solidFill>
                  <a:schemeClr val="tx1"/>
                </a:solidFill>
              </a:defRPr>
            </a:lvl1pPr>
          </a:lstStyle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B1BD1-EEB7-4FF5-AA8A-33A58E2FEC5A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524000" y="1122362"/>
            <a:ext cx="9144000" cy="27139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dirty="0"/>
              <a:t>PA 3-1 Cache</a:t>
            </a:r>
            <a:r>
              <a:rPr lang="zh-CN" altLang="en-US" sz="4800" dirty="0"/>
              <a:t>的模拟</a:t>
            </a:r>
            <a:endParaRPr lang="zh-CN" altLang="en-US" sz="4800" dirty="0"/>
          </a:p>
        </p:txBody>
      </p:sp>
      <p:sp>
        <p:nvSpPr>
          <p:cNvPr id="11" name="副标题 2"/>
          <p:cNvSpPr txBox="1"/>
          <p:nvPr/>
        </p:nvSpPr>
        <p:spPr>
          <a:xfrm>
            <a:off x="1524000" y="429831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/>
              <a:t>28</a:t>
            </a:r>
            <a:r>
              <a:rPr lang="zh-CN" altLang="en-US"/>
              <a:t>日</a:t>
            </a:r>
            <a:endParaRPr lang="zh-CN" altLang="en-US"/>
          </a:p>
          <a:p>
            <a:pPr algn="r"/>
            <a:r>
              <a:rPr lang="en-US" altLang="zh-CN" dirty="0">
                <a:sym typeface="+mn-ea"/>
              </a:rPr>
              <a:t>2025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10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>
                <a:sym typeface="+mn-ea"/>
              </a:rPr>
              <a:t>29</a:t>
            </a:r>
            <a:r>
              <a:rPr lang="zh-CN" altLang="en-US">
                <a:sym typeface="+mn-ea"/>
              </a:rPr>
              <a:t>日</a:t>
            </a:r>
            <a:endParaRPr lang="en-US" altLang="zh-CN" dirty="0"/>
          </a:p>
          <a:p>
            <a:pPr algn="r"/>
            <a:r>
              <a:rPr lang="zh-CN" altLang="en-US" dirty="0"/>
              <a:t>南京大学</a:t>
            </a:r>
            <a:r>
              <a:rPr lang="en-US" altLang="zh-CN" dirty="0"/>
              <a:t>《</a:t>
            </a:r>
            <a:r>
              <a:rPr lang="zh-CN" altLang="en-US" dirty="0"/>
              <a:t>计算机系统基础</a:t>
            </a:r>
            <a:r>
              <a:rPr lang="en-US" altLang="zh-CN" dirty="0"/>
              <a:t>》</a:t>
            </a:r>
            <a:r>
              <a:rPr lang="zh-CN" altLang="en-US" dirty="0"/>
              <a:t>课程组</a:t>
            </a:r>
            <a:endParaRPr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1524000" y="1359434"/>
            <a:ext cx="6858000" cy="13329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计算机系统基础</a:t>
            </a:r>
            <a:b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Programming Assignment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069" y="2512271"/>
            <a:ext cx="3129469" cy="325749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12075"/>
            <a:ext cx="10515600" cy="734002"/>
          </a:xfrm>
        </p:spPr>
        <p:txBody>
          <a:bodyPr>
            <a:normAutofit/>
          </a:bodyPr>
          <a:lstStyle/>
          <a:p>
            <a:r>
              <a:rPr lang="zh-CN" altLang="en-US" dirty="0"/>
              <a:t>前情提要（以餐厅为类比）</a:t>
            </a:r>
            <a:endParaRPr lang="zh-CN" altLang="en-US" dirty="0"/>
          </a:p>
        </p:txBody>
      </p:sp>
      <p:sp>
        <p:nvSpPr>
          <p:cNvPr id="65" name="日期占位符 6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40573-8344-40FE-8BA6-4AAC7F4B90CE}" type="datetime1">
              <a:rPr lang="zh-CN" altLang="en-US" smtClean="0"/>
            </a:fld>
            <a:endParaRPr lang="zh-CN" altLang="en-US"/>
          </a:p>
        </p:txBody>
      </p:sp>
      <p:sp>
        <p:nvSpPr>
          <p:cNvPr id="67" name="灯片编号占位符 6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260916" y="6099033"/>
            <a:ext cx="1790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冰箱 </a:t>
            </a:r>
            <a:r>
              <a:rPr lang="en-US" altLang="zh-CN" sz="2400" dirty="0"/>
              <a:t>= </a:t>
            </a:r>
            <a:r>
              <a:rPr lang="zh-CN" altLang="en-US" sz="2400" dirty="0"/>
              <a:t>内存</a:t>
            </a:r>
            <a:endParaRPr lang="zh-CN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6254002" y="2139048"/>
            <a:ext cx="142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PA 1 ALU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49197" y="3591739"/>
            <a:ext cx="1404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PA 1 FPU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93456" y="1379946"/>
            <a:ext cx="465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7030A0"/>
                </a:solidFill>
              </a:rPr>
              <a:t>PA 2-1 </a:t>
            </a:r>
            <a:r>
              <a:rPr lang="zh-CN" altLang="en-US" sz="2400" dirty="0">
                <a:solidFill>
                  <a:srgbClr val="7030A0"/>
                </a:solidFill>
              </a:rPr>
              <a:t>指挥双手的大脑</a:t>
            </a:r>
            <a:endParaRPr lang="en-US" altLang="zh-CN" sz="2400" dirty="0">
              <a:solidFill>
                <a:srgbClr val="7030A0"/>
              </a:solidFill>
            </a:endParaRPr>
          </a:p>
          <a:p>
            <a:r>
              <a:rPr lang="zh-CN" altLang="en-US" sz="2400" dirty="0">
                <a:solidFill>
                  <a:srgbClr val="7030A0"/>
                </a:solidFill>
              </a:rPr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= </a:t>
            </a:r>
            <a:r>
              <a:rPr lang="zh-CN" altLang="en-US" sz="2400" dirty="0">
                <a:solidFill>
                  <a:srgbClr val="7030A0"/>
                </a:solidFill>
              </a:rPr>
              <a:t>解码和执行指令的控制器</a:t>
            </a:r>
            <a:endParaRPr lang="zh-CN" altLang="en-US" sz="2400" dirty="0">
              <a:solidFill>
                <a:srgbClr val="7030A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65917" y="6016879"/>
            <a:ext cx="24238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PA 1 </a:t>
            </a:r>
            <a:r>
              <a:rPr lang="zh-CN" altLang="en-US" sz="2400" dirty="0">
                <a:solidFill>
                  <a:srgbClr val="C00000"/>
                </a:solidFill>
              </a:rPr>
              <a:t>灶台上的锅</a:t>
            </a:r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= </a:t>
            </a:r>
            <a:r>
              <a:rPr lang="zh-CN" altLang="en-US" sz="2400" dirty="0">
                <a:solidFill>
                  <a:srgbClr val="C00000"/>
                </a:solidFill>
              </a:rPr>
              <a:t>寄存器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31" y="3238174"/>
            <a:ext cx="2809790" cy="2809790"/>
          </a:xfrm>
          <a:prstGeom prst="rect">
            <a:avLst/>
          </a:prstGeom>
        </p:spPr>
      </p:pic>
      <p:sp>
        <p:nvSpPr>
          <p:cNvPr id="20" name="左右箭头 19"/>
          <p:cNvSpPr/>
          <p:nvPr/>
        </p:nvSpPr>
        <p:spPr>
          <a:xfrm>
            <a:off x="4447697" y="4563354"/>
            <a:ext cx="1927175" cy="379380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39777" y="3545856"/>
            <a:ext cx="11877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总线数据交换（我们不模拟）</a:t>
            </a:r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135" y="782616"/>
            <a:ext cx="2105025" cy="217170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973420" y="1149113"/>
            <a:ext cx="2028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PA 2-2 Kernel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>
            <a:off x="2675134" y="1628662"/>
            <a:ext cx="1052512" cy="239804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8600920" y="2224594"/>
            <a:ext cx="564553" cy="567245"/>
          </a:xfrm>
          <a:prstGeom prst="straightConnector1">
            <a:avLst/>
          </a:prstGeom>
          <a:ln w="635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6703983" y="2594979"/>
            <a:ext cx="233026" cy="540440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>
            <a:off x="9150485" y="4080705"/>
            <a:ext cx="642026" cy="371575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V="1">
            <a:off x="6023968" y="4913945"/>
            <a:ext cx="825520" cy="1077799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4642824" y="948523"/>
            <a:ext cx="6373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</a:rPr>
              <a:t>客户定制菜单</a:t>
            </a:r>
            <a:r>
              <a:rPr lang="en-US" altLang="zh-CN" sz="2400" dirty="0">
                <a:solidFill>
                  <a:srgbClr val="0070C0"/>
                </a:solidFill>
              </a:rPr>
              <a:t>=ELF</a:t>
            </a:r>
            <a:r>
              <a:rPr lang="zh-CN" altLang="en-US" sz="2400" dirty="0">
                <a:solidFill>
                  <a:srgbClr val="0070C0"/>
                </a:solidFill>
              </a:rPr>
              <a:t>文件（</a:t>
            </a:r>
            <a:r>
              <a:rPr lang="en-US" altLang="zh-CN" sz="2400" dirty="0">
                <a:solidFill>
                  <a:srgbClr val="0070C0"/>
                </a:solidFill>
              </a:rPr>
              <a:t>PA 2-2 + PA 2-3.2</a:t>
            </a:r>
            <a:r>
              <a:rPr lang="zh-CN" altLang="en-US" sz="2400" dirty="0">
                <a:solidFill>
                  <a:srgbClr val="0070C0"/>
                </a:solidFill>
              </a:rPr>
              <a:t>）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 flipH="1">
            <a:off x="4516893" y="1492897"/>
            <a:ext cx="1122111" cy="201393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下箭头 55"/>
          <p:cNvSpPr/>
          <p:nvPr/>
        </p:nvSpPr>
        <p:spPr>
          <a:xfrm>
            <a:off x="3841070" y="2050654"/>
            <a:ext cx="484418" cy="14823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4258909" y="2259263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PA 2-2 </a:t>
            </a:r>
            <a:r>
              <a:rPr lang="zh-CN" altLang="en-US" sz="2400" dirty="0">
                <a:solidFill>
                  <a:srgbClr val="0070C0"/>
                </a:solidFill>
              </a:rPr>
              <a:t>装载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 flipV="1">
            <a:off x="8489005" y="4367719"/>
            <a:ext cx="4446" cy="1624026"/>
          </a:xfrm>
          <a:prstGeom prst="straightConnector1">
            <a:avLst/>
          </a:prstGeom>
          <a:ln w="635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6589739" y="6027004"/>
            <a:ext cx="3934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7030A0"/>
                </a:solidFill>
              </a:rPr>
              <a:t>PA 2-3.1 </a:t>
            </a:r>
            <a:r>
              <a:rPr lang="zh-CN" altLang="en-US" sz="2400" dirty="0">
                <a:solidFill>
                  <a:srgbClr val="7030A0"/>
                </a:solidFill>
              </a:rPr>
              <a:t>丰富的味觉</a:t>
            </a:r>
            <a:endParaRPr lang="en-US" altLang="zh-CN" sz="2400" dirty="0">
              <a:solidFill>
                <a:srgbClr val="7030A0"/>
              </a:solidFill>
            </a:endParaRPr>
          </a:p>
          <a:p>
            <a:r>
              <a:rPr lang="en-US" altLang="zh-CN" sz="2400" dirty="0">
                <a:solidFill>
                  <a:srgbClr val="7030A0"/>
                </a:solidFill>
              </a:rPr>
              <a:t>= </a:t>
            </a:r>
            <a:r>
              <a:rPr lang="zh-CN" altLang="en-US" sz="2400" dirty="0">
                <a:solidFill>
                  <a:srgbClr val="7030A0"/>
                </a:solidFill>
              </a:rPr>
              <a:t>完善的调试器 （强行类比）</a:t>
            </a:r>
            <a:endParaRPr lang="zh-CN" altLang="en-US" sz="24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069" y="2512271"/>
            <a:ext cx="3129469" cy="325749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8614"/>
            <a:ext cx="10515600" cy="734002"/>
          </a:xfrm>
        </p:spPr>
        <p:txBody>
          <a:bodyPr>
            <a:normAutofit/>
          </a:bodyPr>
          <a:lstStyle/>
          <a:p>
            <a:r>
              <a:rPr lang="en-US" altLang="zh-CN" dirty="0"/>
              <a:t>PA 3</a:t>
            </a:r>
            <a:r>
              <a:rPr lang="zh-CN" altLang="en-US" dirty="0"/>
              <a:t>的总体任务（以餐厅为类比）</a:t>
            </a:r>
            <a:endParaRPr lang="zh-CN" altLang="en-US" dirty="0"/>
          </a:p>
        </p:txBody>
      </p:sp>
      <p:sp>
        <p:nvSpPr>
          <p:cNvPr id="65" name="日期占位符 6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FF09E-3264-48BE-87FB-E13E15C5CFB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31" y="3238174"/>
            <a:ext cx="2809790" cy="2809790"/>
          </a:xfrm>
          <a:prstGeom prst="rect">
            <a:avLst/>
          </a:prstGeom>
        </p:spPr>
      </p:pic>
      <p:sp>
        <p:nvSpPr>
          <p:cNvPr id="20" name="左右箭头 19"/>
          <p:cNvSpPr/>
          <p:nvPr/>
        </p:nvSpPr>
        <p:spPr>
          <a:xfrm>
            <a:off x="4447697" y="4563354"/>
            <a:ext cx="1927175" cy="379380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135" y="782616"/>
            <a:ext cx="2105025" cy="2171700"/>
          </a:xfrm>
          <a:prstGeom prst="rect">
            <a:avLst/>
          </a:prstGeom>
        </p:spPr>
      </p:pic>
      <p:sp>
        <p:nvSpPr>
          <p:cNvPr id="3" name="任意多边形 2"/>
          <p:cNvSpPr/>
          <p:nvPr/>
        </p:nvSpPr>
        <p:spPr>
          <a:xfrm>
            <a:off x="1747737" y="3132307"/>
            <a:ext cx="6157609" cy="3287949"/>
          </a:xfrm>
          <a:custGeom>
            <a:avLst/>
            <a:gdLst>
              <a:gd name="connsiteX0" fmla="*/ 0 w 6157609"/>
              <a:gd name="connsiteY0" fmla="*/ 0 h 3287949"/>
              <a:gd name="connsiteX1" fmla="*/ 29183 w 6157609"/>
              <a:gd name="connsiteY1" fmla="*/ 3287949 h 3287949"/>
              <a:gd name="connsiteX2" fmla="*/ 5651770 w 6157609"/>
              <a:gd name="connsiteY2" fmla="*/ 3210128 h 3287949"/>
              <a:gd name="connsiteX3" fmla="*/ 5680953 w 6157609"/>
              <a:gd name="connsiteY3" fmla="*/ 3103124 h 3287949"/>
              <a:gd name="connsiteX4" fmla="*/ 5690681 w 6157609"/>
              <a:gd name="connsiteY4" fmla="*/ 3035030 h 3287949"/>
              <a:gd name="connsiteX5" fmla="*/ 6157609 w 6157609"/>
              <a:gd name="connsiteY5" fmla="*/ 1429966 h 3287949"/>
              <a:gd name="connsiteX6" fmla="*/ 6040877 w 6157609"/>
              <a:gd name="connsiteY6" fmla="*/ 1371600 h 3287949"/>
              <a:gd name="connsiteX7" fmla="*/ 2996119 w 6157609"/>
              <a:gd name="connsiteY7" fmla="*/ 19456 h 3287949"/>
              <a:gd name="connsiteX8" fmla="*/ 0 w 6157609"/>
              <a:gd name="connsiteY8" fmla="*/ 0 h 328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57609" h="3287949">
                <a:moveTo>
                  <a:pt x="0" y="0"/>
                </a:moveTo>
                <a:lnTo>
                  <a:pt x="29183" y="3287949"/>
                </a:lnTo>
                <a:lnTo>
                  <a:pt x="5651770" y="3210128"/>
                </a:lnTo>
                <a:cubicBezTo>
                  <a:pt x="5661498" y="3174460"/>
                  <a:pt x="5672933" y="3139214"/>
                  <a:pt x="5680953" y="3103124"/>
                </a:cubicBezTo>
                <a:cubicBezTo>
                  <a:pt x="5685927" y="3080742"/>
                  <a:pt x="5690681" y="3035030"/>
                  <a:pt x="5690681" y="3035030"/>
                </a:cubicBezTo>
                <a:lnTo>
                  <a:pt x="6157609" y="1429966"/>
                </a:lnTo>
                <a:lnTo>
                  <a:pt x="6040877" y="1371600"/>
                </a:lnTo>
                <a:lnTo>
                  <a:pt x="2996119" y="19456"/>
                </a:lnTo>
                <a:lnTo>
                  <a:pt x="0" y="0"/>
                </a:lnTo>
                <a:close/>
              </a:path>
            </a:pathLst>
          </a:cu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569521" y="5864177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对这一块有点不满意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如何加快获取数据的速度？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355E0-5AD5-40E3-9BFA-B7724D23511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66648" y="1182255"/>
            <a:ext cx="8872702" cy="3020094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动机：频繁的访存大大影响了运算的速度</a:t>
            </a:r>
            <a:endParaRPr lang="en-US" altLang="zh-CN" sz="3200" dirty="0"/>
          </a:p>
          <a:p>
            <a:pPr lvl="1"/>
            <a:r>
              <a:rPr lang="zh-CN" altLang="en-US" sz="2800" dirty="0"/>
              <a:t>每次取指令要访存</a:t>
            </a:r>
            <a:endParaRPr lang="en-US" altLang="zh-CN" sz="2800" dirty="0"/>
          </a:p>
          <a:p>
            <a:pPr lvl="2"/>
            <a:r>
              <a:rPr lang="en-US" altLang="zh-CN" sz="2000" dirty="0" err="1"/>
              <a:t>instr_fetch</a:t>
            </a:r>
            <a:r>
              <a:rPr lang="en-US" altLang="zh-CN" sz="2000" dirty="0"/>
              <a:t>()</a:t>
            </a:r>
            <a:endParaRPr lang="en-US" altLang="zh-CN" sz="2000" dirty="0"/>
          </a:p>
          <a:p>
            <a:pPr lvl="1"/>
            <a:r>
              <a:rPr lang="zh-CN" altLang="en-US" sz="2800" dirty="0"/>
              <a:t>每次取</a:t>
            </a:r>
            <a:r>
              <a:rPr lang="en-US" altLang="zh-CN" sz="2800" dirty="0"/>
              <a:t>/</a:t>
            </a:r>
            <a:r>
              <a:rPr lang="zh-CN" altLang="en-US" sz="2800" dirty="0"/>
              <a:t>存操作数要访存</a:t>
            </a:r>
            <a:endParaRPr lang="en-US" altLang="zh-CN" sz="2800" dirty="0"/>
          </a:p>
          <a:p>
            <a:pPr lvl="2"/>
            <a:r>
              <a:rPr lang="en-US" altLang="zh-CN" sz="2000" dirty="0" err="1"/>
              <a:t>operand_read</a:t>
            </a:r>
            <a:r>
              <a:rPr lang="en-US" altLang="zh-CN" sz="2000" dirty="0"/>
              <a:t>() / write()</a:t>
            </a:r>
            <a:endParaRPr lang="en-US" altLang="zh-CN" sz="2000" dirty="0"/>
          </a:p>
          <a:p>
            <a:pPr lvl="2"/>
            <a:r>
              <a:rPr lang="zh-CN" altLang="en-US" sz="2000" dirty="0"/>
              <a:t>调用</a:t>
            </a:r>
            <a:r>
              <a:rPr lang="en-US" altLang="zh-CN" sz="2000" dirty="0" err="1"/>
              <a:t>vaddr_read</a:t>
            </a:r>
            <a:r>
              <a:rPr lang="en-US" altLang="zh-CN" sz="2000" dirty="0"/>
              <a:t>() / write()</a:t>
            </a:r>
            <a:endParaRPr lang="en-US" altLang="zh-CN" sz="2000" dirty="0"/>
          </a:p>
          <a:p>
            <a:pPr lvl="1"/>
            <a:r>
              <a:rPr lang="zh-CN" altLang="en-US" sz="2800" dirty="0"/>
              <a:t>一条指令访存三四次，时间都花在访存上了</a:t>
            </a:r>
            <a:endParaRPr lang="en-US" altLang="zh-CN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07A4B-9088-4007-93B4-BAF929A45C8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3313889" y="4662496"/>
            <a:ext cx="5214510" cy="1762782"/>
            <a:chOff x="223736" y="2512270"/>
            <a:chExt cx="13433495" cy="4541238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0068" y="2512270"/>
              <a:ext cx="3129469" cy="325749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931" y="3238174"/>
              <a:ext cx="2809790" cy="2809790"/>
            </a:xfrm>
            <a:prstGeom prst="rect">
              <a:avLst/>
            </a:prstGeom>
          </p:spPr>
        </p:pic>
        <p:sp>
          <p:nvSpPr>
            <p:cNvPr id="9" name="左右箭头 8"/>
            <p:cNvSpPr/>
            <p:nvPr/>
          </p:nvSpPr>
          <p:spPr>
            <a:xfrm>
              <a:off x="2923696" y="4563354"/>
              <a:ext cx="1927175" cy="379380"/>
            </a:xfrm>
            <a:prstGeom prst="left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223736" y="3132306"/>
              <a:ext cx="6157609" cy="3287949"/>
            </a:xfrm>
            <a:custGeom>
              <a:avLst/>
              <a:gdLst>
                <a:gd name="connsiteX0" fmla="*/ 0 w 6157609"/>
                <a:gd name="connsiteY0" fmla="*/ 0 h 3287949"/>
                <a:gd name="connsiteX1" fmla="*/ 29183 w 6157609"/>
                <a:gd name="connsiteY1" fmla="*/ 3287949 h 3287949"/>
                <a:gd name="connsiteX2" fmla="*/ 5651770 w 6157609"/>
                <a:gd name="connsiteY2" fmla="*/ 3210128 h 3287949"/>
                <a:gd name="connsiteX3" fmla="*/ 5680953 w 6157609"/>
                <a:gd name="connsiteY3" fmla="*/ 3103124 h 3287949"/>
                <a:gd name="connsiteX4" fmla="*/ 5690681 w 6157609"/>
                <a:gd name="connsiteY4" fmla="*/ 3035030 h 3287949"/>
                <a:gd name="connsiteX5" fmla="*/ 6157609 w 6157609"/>
                <a:gd name="connsiteY5" fmla="*/ 1429966 h 3287949"/>
                <a:gd name="connsiteX6" fmla="*/ 6040877 w 6157609"/>
                <a:gd name="connsiteY6" fmla="*/ 1371600 h 3287949"/>
                <a:gd name="connsiteX7" fmla="*/ 2996119 w 6157609"/>
                <a:gd name="connsiteY7" fmla="*/ 19456 h 3287949"/>
                <a:gd name="connsiteX8" fmla="*/ 0 w 6157609"/>
                <a:gd name="connsiteY8" fmla="*/ 0 h 3287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57609" h="3287949">
                  <a:moveTo>
                    <a:pt x="0" y="0"/>
                  </a:moveTo>
                  <a:lnTo>
                    <a:pt x="29183" y="3287949"/>
                  </a:lnTo>
                  <a:lnTo>
                    <a:pt x="5651770" y="3210128"/>
                  </a:lnTo>
                  <a:cubicBezTo>
                    <a:pt x="5661498" y="3174460"/>
                    <a:pt x="5672933" y="3139214"/>
                    <a:pt x="5680953" y="3103124"/>
                  </a:cubicBezTo>
                  <a:cubicBezTo>
                    <a:pt x="5685927" y="3080742"/>
                    <a:pt x="5690681" y="3035030"/>
                    <a:pt x="5690681" y="3035030"/>
                  </a:cubicBezTo>
                  <a:lnTo>
                    <a:pt x="6157609" y="1429966"/>
                  </a:lnTo>
                  <a:lnTo>
                    <a:pt x="6040877" y="1371600"/>
                  </a:lnTo>
                  <a:lnTo>
                    <a:pt x="2996119" y="1945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045520" y="5864177"/>
              <a:ext cx="7611711" cy="118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00000"/>
                  </a:solidFill>
                </a:rPr>
                <a:t>对这一块有点不满意</a:t>
              </a:r>
              <a:endParaRPr lang="zh-CN" altLang="en-US" sz="2400" dirty="0">
                <a:solidFill>
                  <a:srgbClr val="C00000"/>
                </a:solidFill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5853946" y="3970758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食材摆太远，取用太耗时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cxnSp>
        <p:nvCxnSpPr>
          <p:cNvPr id="15" name="直接箭头连接符 14"/>
          <p:cNvCxnSpPr>
            <a:stCxn id="13" idx="1"/>
          </p:cNvCxnSpPr>
          <p:nvPr/>
        </p:nvCxnSpPr>
        <p:spPr>
          <a:xfrm flipH="1">
            <a:off x="4735978" y="4201590"/>
            <a:ext cx="1117969" cy="1197128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216" y="2470816"/>
            <a:ext cx="4745983" cy="34282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1901412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怎么办？</a:t>
            </a:r>
            <a:endParaRPr lang="en-US" altLang="zh-CN" sz="3200" dirty="0"/>
          </a:p>
          <a:p>
            <a:pPr lvl="1"/>
            <a:r>
              <a:rPr lang="zh-CN" altLang="en-US" sz="2800" dirty="0"/>
              <a:t>灶台（</a:t>
            </a:r>
            <a:r>
              <a:rPr lang="en-US" altLang="zh-CN" sz="2800" dirty="0"/>
              <a:t>CPU</a:t>
            </a:r>
            <a:r>
              <a:rPr lang="zh-CN" altLang="en-US" sz="2800" dirty="0"/>
              <a:t>芯片）上还有点空间，我放些小碟子来临时存放马上要用的东西（数据）</a:t>
            </a:r>
            <a:endParaRPr lang="en-US" altLang="zh-CN" sz="2800" dirty="0"/>
          </a:p>
          <a:p>
            <a:pPr lvl="1"/>
            <a:r>
              <a:rPr lang="zh-CN" altLang="en-US" sz="2800" dirty="0"/>
              <a:t>这就是</a:t>
            </a:r>
            <a:r>
              <a:rPr lang="en-US" altLang="zh-CN" sz="2800" dirty="0"/>
              <a:t>Cache</a:t>
            </a:r>
            <a:r>
              <a:rPr lang="zh-CN" altLang="en-US" sz="2800" dirty="0"/>
              <a:t>，内存的</a:t>
            </a:r>
            <a:r>
              <a:rPr lang="en-US" altLang="zh-CN" sz="2800" dirty="0"/>
              <a:t>Cache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FCFD9-2D78-4B71-B87E-D73E7B962DE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177285" y="4755654"/>
            <a:ext cx="34534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内存里读出来，马上要用的数据，在</a:t>
            </a:r>
            <a:r>
              <a:rPr lang="en-US" altLang="zh-CN" sz="2000" dirty="0">
                <a:solidFill>
                  <a:srgbClr val="0070C0"/>
                </a:solidFill>
              </a:rPr>
              <a:t>Cache</a:t>
            </a:r>
            <a:r>
              <a:rPr lang="zh-CN" altLang="en-US" sz="2000" dirty="0">
                <a:solidFill>
                  <a:srgbClr val="0070C0"/>
                </a:solidFill>
              </a:rPr>
              <a:t>中摆好。要用的时候直接从</a:t>
            </a:r>
            <a:r>
              <a:rPr lang="en-US" altLang="zh-CN" sz="2000" dirty="0">
                <a:solidFill>
                  <a:srgbClr val="0070C0"/>
                </a:solidFill>
              </a:rPr>
              <a:t>Cache</a:t>
            </a:r>
            <a:r>
              <a:rPr lang="zh-CN" altLang="en-US" sz="2000" dirty="0">
                <a:solidFill>
                  <a:srgbClr val="0070C0"/>
                </a:solidFill>
              </a:rPr>
              <a:t>中读。否则每次都访存，指令没执行几条，时间都消耗了。</a:t>
            </a:r>
            <a:endParaRPr lang="en-US" altLang="zh-CN" sz="2000" dirty="0">
              <a:solidFill>
                <a:srgbClr val="0070C0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5872510" y="3344258"/>
            <a:ext cx="1178530" cy="649191"/>
          </a:xfrm>
          <a:prstGeom prst="straightConnector1">
            <a:avLst/>
          </a:prstGeom>
          <a:ln w="635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177285" y="2972300"/>
            <a:ext cx="34534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</a:rPr>
              <a:t>后厨冰箱送出来，马上要烫的食材，在台面盘子里放好。要吃的时候直接盘子里夹。否则服务员一趟趟的跑，菜没吃几口，汤都烧干了。</a:t>
            </a:r>
            <a:endParaRPr lang="en-US" altLang="zh-CN" sz="20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altLang="zh-CN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/>
              <a:t>基本原理：局部性</a:t>
            </a:r>
            <a:endParaRPr lang="en-US" altLang="zh-CN" sz="3600" dirty="0"/>
          </a:p>
          <a:p>
            <a:pPr lvl="1">
              <a:lnSpc>
                <a:spcPct val="150000"/>
              </a:lnSpc>
            </a:pPr>
            <a:r>
              <a:rPr lang="zh-CN" altLang="en-US" sz="3200" dirty="0"/>
              <a:t>时间局部性</a:t>
            </a:r>
            <a:endParaRPr lang="en-US" altLang="zh-CN" sz="3200" dirty="0"/>
          </a:p>
          <a:p>
            <a:pPr lvl="2">
              <a:lnSpc>
                <a:spcPct val="150000"/>
              </a:lnSpc>
            </a:pPr>
            <a:r>
              <a:rPr lang="zh-CN" altLang="en-US" sz="2400" dirty="0"/>
              <a:t>刚刚被访问过的数据很有可能再被访问（循环）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3200" dirty="0"/>
              <a:t>空间局部性</a:t>
            </a:r>
            <a:endParaRPr lang="en-US" altLang="zh-CN" sz="3200" dirty="0"/>
          </a:p>
          <a:p>
            <a:pPr lvl="2">
              <a:lnSpc>
                <a:spcPct val="150000"/>
              </a:lnSpc>
            </a:pPr>
            <a:r>
              <a:rPr lang="zh-CN" altLang="en-US" sz="2400" dirty="0"/>
              <a:t>刚刚被访问数据附近的数据很有可能马上再被访问（数组、指令序列）</a:t>
            </a:r>
            <a:endParaRPr lang="en-US" altLang="zh-CN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8E0FC-6B8A-41B8-A0AB-D83D1B7B6BA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75840" y="1182255"/>
            <a:ext cx="8727440" cy="499470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Cache</a:t>
            </a:r>
            <a:r>
              <a:rPr lang="zh-CN" altLang="en-US" sz="3200" dirty="0"/>
              <a:t>设计时的三大问题</a:t>
            </a:r>
            <a:endParaRPr lang="en-US" altLang="zh-CN" sz="3200" dirty="0"/>
          </a:p>
          <a:p>
            <a:pPr lvl="1"/>
            <a:r>
              <a:rPr lang="zh-CN" altLang="en-US" sz="2800" dirty="0"/>
              <a:t>问题一：</a:t>
            </a:r>
            <a:r>
              <a:rPr lang="en-US" altLang="zh-CN" sz="2800" dirty="0"/>
              <a:t> Cache</a:t>
            </a:r>
            <a:r>
              <a:rPr lang="zh-CN" altLang="en-US" sz="2800" dirty="0"/>
              <a:t>行和主存块的映射</a:t>
            </a:r>
            <a:endParaRPr lang="en-US" altLang="zh-CN" sz="2800" dirty="0"/>
          </a:p>
          <a:p>
            <a:pPr lvl="2"/>
            <a:r>
              <a:rPr lang="zh-CN" altLang="en-US" sz="2000" dirty="0"/>
              <a:t>某个主存地址对应</a:t>
            </a:r>
            <a:r>
              <a:rPr lang="en-US" altLang="zh-CN" sz="2000" dirty="0"/>
              <a:t>cache</a:t>
            </a:r>
            <a:r>
              <a:rPr lang="zh-CN" altLang="en-US" sz="2000" dirty="0"/>
              <a:t>中的什么位置？</a:t>
            </a:r>
            <a:endParaRPr lang="en-US" altLang="zh-CN" sz="2000" dirty="0"/>
          </a:p>
          <a:p>
            <a:pPr lvl="2"/>
            <a:endParaRPr lang="en-US" altLang="zh-CN" sz="3600" dirty="0"/>
          </a:p>
          <a:p>
            <a:pPr lvl="1"/>
            <a:r>
              <a:rPr lang="zh-CN" altLang="en-US" sz="2800" dirty="0"/>
              <a:t>问题二：</a:t>
            </a:r>
            <a:r>
              <a:rPr lang="en-US" altLang="zh-CN" sz="2800" dirty="0"/>
              <a:t> Cache</a:t>
            </a:r>
            <a:r>
              <a:rPr lang="zh-CN" altLang="en-US" sz="2800" dirty="0"/>
              <a:t>中主存块的替换算法</a:t>
            </a:r>
            <a:endParaRPr lang="en-US" altLang="zh-CN" sz="2800" dirty="0"/>
          </a:p>
          <a:p>
            <a:pPr lvl="2"/>
            <a:r>
              <a:rPr lang="en-US" altLang="zh-CN" sz="2000" dirty="0"/>
              <a:t>Cache</a:t>
            </a:r>
            <a:r>
              <a:rPr lang="zh-CN" altLang="en-US" sz="2000" dirty="0"/>
              <a:t>满了怎么再进新数据？</a:t>
            </a:r>
            <a:endParaRPr lang="en-US" altLang="zh-CN" sz="2000" dirty="0"/>
          </a:p>
          <a:p>
            <a:pPr lvl="2"/>
            <a:endParaRPr lang="en-US" altLang="zh-CN" sz="3600" dirty="0"/>
          </a:p>
          <a:p>
            <a:pPr lvl="1"/>
            <a:r>
              <a:rPr lang="zh-CN" altLang="en-US" sz="2800" dirty="0"/>
              <a:t>问题三：</a:t>
            </a:r>
            <a:r>
              <a:rPr lang="en-US" altLang="zh-CN" sz="2800" dirty="0"/>
              <a:t> Cache</a:t>
            </a:r>
            <a:r>
              <a:rPr lang="zh-CN" altLang="en-US" sz="2800" dirty="0"/>
              <a:t>一致性问题</a:t>
            </a:r>
            <a:endParaRPr lang="en-US" altLang="zh-CN" sz="2800" dirty="0"/>
          </a:p>
          <a:p>
            <a:pPr lvl="2"/>
            <a:r>
              <a:rPr lang="zh-CN" altLang="en-US" sz="2000" dirty="0"/>
              <a:t>写操作要怎么处理？</a:t>
            </a:r>
            <a:endParaRPr lang="en-US" altLang="zh-CN" sz="2000" dirty="0"/>
          </a:p>
          <a:p>
            <a:pPr lvl="2"/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6F3C-44FB-4BA8-9055-0EC360B8E71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2256"/>
            <a:ext cx="10515600" cy="518701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问题一：</a:t>
            </a:r>
            <a:r>
              <a:rPr lang="en-US" altLang="zh-CN" sz="3200" dirty="0"/>
              <a:t> Cache</a:t>
            </a:r>
            <a:r>
              <a:rPr lang="zh-CN" altLang="en-US" sz="3200" dirty="0"/>
              <a:t>行和主存块的映射</a:t>
            </a:r>
            <a:endParaRPr lang="en-US" altLang="zh-CN" sz="3200" dirty="0"/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某个主存地址对应</a:t>
            </a:r>
            <a:r>
              <a:rPr lang="en-US" altLang="zh-CN" sz="2800" dirty="0"/>
              <a:t>cache</a:t>
            </a:r>
            <a:r>
              <a:rPr lang="zh-CN" altLang="en-US" sz="2800" dirty="0"/>
              <a:t>中的什么位置？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首先，映射的基本单元（即，主存块和对应</a:t>
            </a:r>
            <a:r>
              <a:rPr lang="en-US" altLang="zh-CN" sz="2800" dirty="0"/>
              <a:t>cache</a:t>
            </a:r>
            <a:r>
              <a:rPr lang="zh-CN" altLang="en-US" sz="2800" dirty="0"/>
              <a:t>行）取多大？</a:t>
            </a:r>
            <a:endParaRPr lang="en-US" altLang="zh-CN" sz="28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对主存和</a:t>
            </a:r>
            <a:r>
              <a:rPr lang="en-US" altLang="zh-CN" sz="2000" dirty="0"/>
              <a:t>Cache</a:t>
            </a:r>
            <a:r>
              <a:rPr lang="zh-CN" altLang="en-US" sz="2000" dirty="0"/>
              <a:t>都以相同的尺寸进行划分成单元</a:t>
            </a:r>
            <a:endParaRPr lang="en-US" altLang="zh-CN" sz="2000" dirty="0"/>
          </a:p>
          <a:p>
            <a:pPr lvl="3">
              <a:lnSpc>
                <a:spcPct val="150000"/>
              </a:lnSpc>
            </a:pPr>
            <a:r>
              <a:rPr lang="zh-CN" altLang="en-US" sz="1800" dirty="0"/>
              <a:t>设，都以</a:t>
            </a:r>
            <a:r>
              <a:rPr lang="en-US" altLang="zh-CN" sz="6600" dirty="0">
                <a:solidFill>
                  <a:schemeClr val="accent1"/>
                </a:solidFill>
              </a:rPr>
              <a:t>2</a:t>
            </a:r>
            <a:r>
              <a:rPr lang="en-US" altLang="zh-CN" sz="6600" baseline="30000" dirty="0">
                <a:solidFill>
                  <a:schemeClr val="accent1"/>
                </a:solidFill>
              </a:rPr>
              <a:t>b</a:t>
            </a:r>
            <a:r>
              <a:rPr lang="zh-CN" altLang="en-US" sz="1800" dirty="0"/>
              <a:t>字节为大小进行划分</a:t>
            </a:r>
            <a:endParaRPr lang="en-US" altLang="zh-CN" sz="18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主存中的一个单元叫一个主存块（</a:t>
            </a:r>
            <a:r>
              <a:rPr lang="en-US" altLang="zh-CN" sz="2000" dirty="0"/>
              <a:t>block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2">
              <a:lnSpc>
                <a:spcPct val="150000"/>
              </a:lnSpc>
            </a:pPr>
            <a:r>
              <a:rPr lang="en-US" altLang="zh-CN" sz="2000" dirty="0"/>
              <a:t>Cache</a:t>
            </a:r>
            <a:r>
              <a:rPr lang="zh-CN" altLang="en-US" sz="2000" dirty="0"/>
              <a:t>中的一个单元叫一个</a:t>
            </a:r>
            <a:r>
              <a:rPr lang="en-US" altLang="zh-CN" sz="2000" dirty="0"/>
              <a:t>Cache</a:t>
            </a:r>
            <a:r>
              <a:rPr lang="zh-CN" altLang="en-US" sz="2000" dirty="0"/>
              <a:t>行（</a:t>
            </a:r>
            <a:r>
              <a:rPr lang="en-US" altLang="zh-CN" sz="2000" dirty="0"/>
              <a:t>line</a:t>
            </a:r>
            <a:r>
              <a:rPr lang="zh-CN" altLang="en-US" sz="2000" dirty="0"/>
              <a:t>）或槽（</a:t>
            </a:r>
            <a:r>
              <a:rPr lang="en-US" altLang="zh-CN" sz="2000" dirty="0"/>
              <a:t>slot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E7FC-DCD2-48BC-AD13-C2673D6A4F7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83683">
            <a:off x="348060" y="4973726"/>
            <a:ext cx="1268542" cy="126854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主存和</a:t>
            </a:r>
            <a:r>
              <a:rPr lang="en-US" altLang="zh-CN" dirty="0"/>
              <a:t>Cache</a:t>
            </a:r>
            <a:r>
              <a:rPr lang="zh-CN" altLang="en-US" dirty="0"/>
              <a:t>的划分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DEF8-526C-4A85-B954-01B77BCFD5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21063" y="4401511"/>
          <a:ext cx="8579592" cy="5255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4966"/>
                <a:gridCol w="714966"/>
                <a:gridCol w="714966"/>
                <a:gridCol w="714966"/>
                <a:gridCol w="714966"/>
                <a:gridCol w="714966"/>
                <a:gridCol w="714966"/>
                <a:gridCol w="714966"/>
                <a:gridCol w="714966"/>
                <a:gridCol w="714966"/>
                <a:gridCol w="714966"/>
                <a:gridCol w="714966"/>
              </a:tblGrid>
              <a:tr h="525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左大括号 7"/>
          <p:cNvSpPr/>
          <p:nvPr/>
        </p:nvSpPr>
        <p:spPr>
          <a:xfrm rot="16200000">
            <a:off x="2716805" y="3785264"/>
            <a:ext cx="252249" cy="2843734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563846" y="5482581"/>
            <a:ext cx="5581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</a:rPr>
              <a:t>2</a:t>
            </a:r>
            <a:r>
              <a:rPr lang="en-US" altLang="zh-CN" sz="3200" baseline="30000" dirty="0">
                <a:solidFill>
                  <a:schemeClr val="accent1"/>
                </a:solidFill>
              </a:rPr>
              <a:t>b</a:t>
            </a:r>
            <a:endParaRPr lang="zh-CN" altLang="en-US" sz="3200" dirty="0"/>
          </a:p>
        </p:txBody>
      </p:sp>
      <p:sp>
        <p:nvSpPr>
          <p:cNvPr id="10" name="左大括号 9"/>
          <p:cNvSpPr/>
          <p:nvPr/>
        </p:nvSpPr>
        <p:spPr>
          <a:xfrm rot="16200000">
            <a:off x="5607325" y="3790347"/>
            <a:ext cx="252249" cy="2833568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08239" y="5482582"/>
            <a:ext cx="5581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</a:rPr>
              <a:t>2</a:t>
            </a:r>
            <a:r>
              <a:rPr lang="en-US" altLang="zh-CN" sz="3200" baseline="30000" dirty="0">
                <a:solidFill>
                  <a:schemeClr val="accent1"/>
                </a:solidFill>
              </a:rPr>
              <a:t>b</a:t>
            </a:r>
            <a:endParaRPr lang="zh-CN" altLang="en-US" sz="3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3008638" y="568023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主存块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971971" y="567994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主存块</a:t>
            </a:r>
            <a:endParaRPr lang="zh-CN" altLang="en-US" dirty="0"/>
          </a:p>
        </p:txBody>
      </p:sp>
      <p:sp>
        <p:nvSpPr>
          <p:cNvPr id="15" name="左大括号 14"/>
          <p:cNvSpPr/>
          <p:nvPr/>
        </p:nvSpPr>
        <p:spPr>
          <a:xfrm rot="16200000">
            <a:off x="8457747" y="3790347"/>
            <a:ext cx="252249" cy="2833568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358661" y="5482582"/>
            <a:ext cx="5581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</a:rPr>
              <a:t>2</a:t>
            </a:r>
            <a:r>
              <a:rPr lang="en-US" altLang="zh-CN" sz="3200" baseline="30000" dirty="0">
                <a:solidFill>
                  <a:schemeClr val="accent1"/>
                </a:solidFill>
              </a:rPr>
              <a:t>b</a:t>
            </a:r>
            <a:endParaRPr lang="zh-CN" altLang="en-US" sz="3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8822393" y="567994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主存块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0211781" y="4009817"/>
            <a:ext cx="21505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/>
              <a:t>…</a:t>
            </a:r>
            <a:endParaRPr lang="zh-CN" altLang="en-US" sz="8000" dirty="0"/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7150235" y="1287576"/>
          <a:ext cx="283356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8392"/>
                <a:gridCol w="708392"/>
                <a:gridCol w="708392"/>
                <a:gridCol w="70839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" name="左大括号 19"/>
          <p:cNvSpPr/>
          <p:nvPr/>
        </p:nvSpPr>
        <p:spPr>
          <a:xfrm rot="5400000">
            <a:off x="8440894" y="-443780"/>
            <a:ext cx="252249" cy="2833568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351165" y="229586"/>
            <a:ext cx="5581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</a:rPr>
              <a:t>2</a:t>
            </a:r>
            <a:r>
              <a:rPr lang="en-US" altLang="zh-CN" sz="3200" baseline="30000" dirty="0">
                <a:solidFill>
                  <a:schemeClr val="accent1"/>
                </a:solidFill>
              </a:rPr>
              <a:t>b</a:t>
            </a:r>
            <a:endParaRPr lang="zh-CN" altLang="en-US" sz="3200" dirty="0"/>
          </a:p>
        </p:txBody>
      </p:sp>
      <p:sp>
        <p:nvSpPr>
          <p:cNvPr id="22" name="文本框 21"/>
          <p:cNvSpPr txBox="1"/>
          <p:nvPr/>
        </p:nvSpPr>
        <p:spPr>
          <a:xfrm rot="5400000">
            <a:off x="7508604" y="2882545"/>
            <a:ext cx="21505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/>
              <a:t>…</a:t>
            </a:r>
            <a:endParaRPr lang="zh-CN" altLang="en-US" sz="8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0020183" y="1287576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Cache</a:t>
            </a:r>
            <a:r>
              <a:rPr lang="zh-CN" altLang="en-US" dirty="0"/>
              <a:t>行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10020183" y="1641933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Cache</a:t>
            </a:r>
            <a:r>
              <a:rPr lang="zh-CN" altLang="en-US" dirty="0"/>
              <a:t>行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10020183" y="2015047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Cache</a:t>
            </a:r>
            <a:r>
              <a:rPr lang="zh-CN" altLang="en-US" dirty="0"/>
              <a:t>行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150672" y="4332609"/>
            <a:ext cx="1375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主存</a:t>
            </a:r>
            <a:endParaRPr lang="zh-CN" altLang="en-US" sz="3600" dirty="0"/>
          </a:p>
        </p:txBody>
      </p:sp>
      <p:sp>
        <p:nvSpPr>
          <p:cNvPr id="29" name="文本框 28"/>
          <p:cNvSpPr txBox="1"/>
          <p:nvPr/>
        </p:nvSpPr>
        <p:spPr>
          <a:xfrm>
            <a:off x="6588956" y="96542"/>
            <a:ext cx="1762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Cache</a:t>
            </a:r>
            <a:endParaRPr lang="zh-CN" altLang="en-US" sz="3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182" y="118344"/>
            <a:ext cx="964125" cy="71827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878046" y="3907782"/>
            <a:ext cx="200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0</a:t>
            </a:r>
            <a:r>
              <a:rPr lang="zh-CN" altLang="en-US" dirty="0"/>
              <a:t>块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4706981" y="3907782"/>
            <a:ext cx="200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块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7563140" y="3907782"/>
            <a:ext cx="200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块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6066405" y="1287576"/>
            <a:ext cx="912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/>
              <a:t>第</a:t>
            </a:r>
            <a:r>
              <a:rPr lang="en-US" altLang="zh-CN" dirty="0"/>
              <a:t>0</a:t>
            </a:r>
            <a:r>
              <a:rPr lang="zh-CN" altLang="en-US" dirty="0"/>
              <a:t>行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6066405" y="1661270"/>
            <a:ext cx="912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行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6066405" y="2029491"/>
            <a:ext cx="912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行</a:t>
            </a:r>
            <a:endParaRPr lang="zh-CN" altLang="en-US" dirty="0"/>
          </a:p>
        </p:txBody>
      </p:sp>
      <p:sp>
        <p:nvSpPr>
          <p:cNvPr id="37" name="左大括号 36"/>
          <p:cNvSpPr/>
          <p:nvPr/>
        </p:nvSpPr>
        <p:spPr>
          <a:xfrm rot="5400000">
            <a:off x="5575582" y="613394"/>
            <a:ext cx="235076" cy="6258549"/>
          </a:xfrm>
          <a:prstGeom prst="leftBrace">
            <a:avLst>
              <a:gd name="adj1" fmla="val 8333"/>
              <a:gd name="adj2" fmla="val 80844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左大括号 37"/>
          <p:cNvSpPr/>
          <p:nvPr/>
        </p:nvSpPr>
        <p:spPr>
          <a:xfrm>
            <a:off x="6073757" y="1274811"/>
            <a:ext cx="160011" cy="1123209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/>
          <p:cNvCxnSpPr/>
          <p:nvPr/>
        </p:nvCxnSpPr>
        <p:spPr>
          <a:xfrm flipV="1">
            <a:off x="3801533" y="1921933"/>
            <a:ext cx="1985789" cy="1473200"/>
          </a:xfrm>
          <a:prstGeom prst="straightConnector1">
            <a:avLst/>
          </a:prstGeom>
          <a:ln w="63500"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73893" y="1634800"/>
            <a:ext cx="477566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问题一：</a:t>
            </a:r>
            <a:r>
              <a:rPr lang="en-US" altLang="zh-CN" sz="2400" dirty="0"/>
              <a:t> Cache</a:t>
            </a:r>
            <a:r>
              <a:rPr lang="zh-CN" altLang="en-US" sz="2400" dirty="0"/>
              <a:t>行和主存块的映射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某个主存块对应哪个</a:t>
            </a:r>
            <a:r>
              <a:rPr lang="en-US" altLang="zh-CN" sz="2400" dirty="0"/>
              <a:t>Cache</a:t>
            </a:r>
            <a:r>
              <a:rPr lang="zh-CN" altLang="en-US" sz="2400" dirty="0"/>
              <a:t>行？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182255"/>
            <a:ext cx="11133082" cy="4994708"/>
          </a:xfrm>
        </p:spPr>
        <p:txBody>
          <a:bodyPr>
            <a:noAutofit/>
          </a:bodyPr>
          <a:lstStyle/>
          <a:p>
            <a:r>
              <a:rPr lang="zh-CN" altLang="en-US" sz="2600" dirty="0"/>
              <a:t>问题一：</a:t>
            </a:r>
            <a:r>
              <a:rPr lang="en-US" altLang="zh-CN" sz="2600" dirty="0"/>
              <a:t> Cache</a:t>
            </a:r>
            <a:r>
              <a:rPr lang="zh-CN" altLang="en-US" sz="2600" dirty="0"/>
              <a:t>行和主存块的映射</a:t>
            </a:r>
            <a:endParaRPr lang="en-US" altLang="zh-CN" sz="2600" dirty="0"/>
          </a:p>
          <a:p>
            <a:pPr lvl="1"/>
            <a:r>
              <a:rPr lang="zh-CN" altLang="en-US" sz="2800" dirty="0"/>
              <a:t>某个主存地址对应</a:t>
            </a:r>
            <a:r>
              <a:rPr lang="en-US" altLang="zh-CN" sz="2800" dirty="0"/>
              <a:t>cache</a:t>
            </a:r>
            <a:r>
              <a:rPr lang="zh-CN" altLang="en-US" sz="2800" dirty="0"/>
              <a:t>中的什么位置？</a:t>
            </a:r>
            <a:endParaRPr lang="en-US" altLang="zh-CN" sz="2600" dirty="0"/>
          </a:p>
          <a:p>
            <a:pPr lvl="1"/>
            <a:endParaRPr lang="en-US" altLang="zh-CN" sz="2600" dirty="0"/>
          </a:p>
          <a:p>
            <a:pPr lvl="1"/>
            <a:r>
              <a:rPr lang="zh-CN" altLang="en-US" sz="2600" dirty="0"/>
              <a:t>第二，主存块和</a:t>
            </a:r>
            <a:r>
              <a:rPr lang="en-US" altLang="zh-CN" sz="2600" dirty="0"/>
              <a:t>Cache</a:t>
            </a:r>
            <a:r>
              <a:rPr lang="zh-CN" altLang="en-US" sz="2600" dirty="0"/>
              <a:t>行怎么对应？</a:t>
            </a:r>
            <a:endParaRPr lang="en-US" altLang="zh-CN" sz="2600" dirty="0"/>
          </a:p>
          <a:p>
            <a:pPr lvl="2"/>
            <a:r>
              <a:rPr lang="zh-CN" altLang="en-US" sz="2600" b="1" dirty="0"/>
              <a:t>直接映射</a:t>
            </a:r>
            <a:endParaRPr lang="en-US" altLang="zh-CN" sz="2600" b="1" dirty="0"/>
          </a:p>
          <a:p>
            <a:pPr lvl="3"/>
            <a:r>
              <a:rPr lang="zh-CN" altLang="en-US" sz="2600" dirty="0"/>
              <a:t>一个萝卜一个盘</a:t>
            </a:r>
            <a:r>
              <a:rPr lang="en-US" altLang="zh-CN" sz="2600" dirty="0"/>
              <a:t>~</a:t>
            </a:r>
            <a:r>
              <a:rPr lang="zh-CN" altLang="en-US" sz="2600" dirty="0"/>
              <a:t>（坑</a:t>
            </a:r>
            <a:r>
              <a:rPr lang="en-US" altLang="zh-CN" sz="2600" dirty="0"/>
              <a:t>-&gt;</a:t>
            </a:r>
            <a:r>
              <a:rPr lang="zh-CN" altLang="en-US" sz="2600" dirty="0"/>
              <a:t>盘）</a:t>
            </a:r>
            <a:endParaRPr lang="en-US" altLang="zh-CN" sz="2600" dirty="0"/>
          </a:p>
          <a:p>
            <a:pPr lvl="2"/>
            <a:r>
              <a:rPr lang="zh-CN" altLang="en-US" sz="2600" b="1" dirty="0"/>
              <a:t>全相联映射</a:t>
            </a:r>
            <a:endParaRPr lang="en-US" altLang="zh-CN" sz="2600" b="1" dirty="0"/>
          </a:p>
          <a:p>
            <a:pPr lvl="3"/>
            <a:r>
              <a:rPr lang="zh-CN" altLang="en-US" sz="2600" dirty="0"/>
              <a:t>是盘就能占</a:t>
            </a:r>
            <a:endParaRPr lang="en-US" altLang="zh-CN" sz="2600" dirty="0"/>
          </a:p>
          <a:p>
            <a:pPr lvl="2"/>
            <a:r>
              <a:rPr lang="zh-CN" altLang="en-US" sz="2600" b="1" dirty="0"/>
              <a:t>组相联映射</a:t>
            </a:r>
            <a:endParaRPr lang="en-US" altLang="zh-CN" sz="2600" b="1" dirty="0"/>
          </a:p>
          <a:p>
            <a:pPr lvl="3"/>
            <a:r>
              <a:rPr lang="zh-CN" altLang="en-US" sz="2600" dirty="0"/>
              <a:t>划分成组，不能占别组的盘，但自己的组内是盘就能占</a:t>
            </a:r>
            <a:endParaRPr lang="zh-CN" altLang="en-US" sz="2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6995-32B7-4D72-8102-31028807644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182256"/>
            <a:ext cx="10040007" cy="497470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问题一：</a:t>
            </a:r>
            <a:r>
              <a:rPr lang="en-US" altLang="zh-CN" sz="2600" dirty="0"/>
              <a:t> Cache</a:t>
            </a:r>
            <a:r>
              <a:rPr lang="zh-CN" altLang="en-US" sz="2600" dirty="0"/>
              <a:t>行和主存块的映射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直接映射法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都以</a:t>
            </a:r>
            <a:r>
              <a:rPr lang="en-US" altLang="zh-CN" sz="4300" dirty="0">
                <a:solidFill>
                  <a:schemeClr val="accent1"/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1"/>
                </a:solidFill>
              </a:rPr>
              <a:t>b</a:t>
            </a:r>
            <a:r>
              <a:rPr lang="zh-CN" altLang="en-US" sz="2600" dirty="0"/>
              <a:t>字节为大小进行划分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主存可以被划分成</a:t>
            </a:r>
            <a:r>
              <a:rPr lang="en-US" altLang="zh-CN" sz="4300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zh-CN" altLang="en-US" sz="2600" dirty="0"/>
              <a:t>个块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en-US" altLang="zh-CN" sz="2600" dirty="0"/>
              <a:t>Cache</a:t>
            </a:r>
            <a:r>
              <a:rPr lang="zh-CN" altLang="en-US" sz="2600" dirty="0"/>
              <a:t>的数据区提供了</a:t>
            </a:r>
            <a:r>
              <a:rPr lang="en-US" altLang="zh-CN" sz="4300" dirty="0">
                <a:solidFill>
                  <a:srgbClr val="C00000"/>
                </a:solidFill>
              </a:rPr>
              <a:t>2</a:t>
            </a:r>
            <a:r>
              <a:rPr lang="en-US" altLang="zh-CN" sz="4300" baseline="30000" dirty="0">
                <a:solidFill>
                  <a:srgbClr val="C00000"/>
                </a:solidFill>
              </a:rPr>
              <a:t>c</a:t>
            </a:r>
            <a:r>
              <a:rPr lang="zh-CN" altLang="en-US" sz="2600" dirty="0"/>
              <a:t>个行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如何一个萝卜一个盘？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模映射法</a:t>
            </a:r>
            <a:r>
              <a:rPr lang="zh-CN" altLang="en-US" sz="2600" dirty="0"/>
              <a:t>：内存中第</a:t>
            </a:r>
            <a:r>
              <a:rPr lang="en-US" altLang="zh-CN" sz="2600" dirty="0"/>
              <a:t>M</a:t>
            </a:r>
            <a:r>
              <a:rPr lang="zh-CN" altLang="en-US" sz="2600" dirty="0"/>
              <a:t>个块的块号 </a:t>
            </a:r>
            <a:r>
              <a:rPr lang="en-US" altLang="zh-CN" sz="2600" dirty="0"/>
              <a:t>M</a:t>
            </a:r>
            <a:r>
              <a:rPr lang="zh-CN" altLang="en-US" sz="2600" dirty="0"/>
              <a:t> </a:t>
            </a:r>
            <a:r>
              <a:rPr lang="en-US" altLang="zh-CN" sz="2600" i="1" dirty="0"/>
              <a:t>mod</a:t>
            </a:r>
            <a:r>
              <a:rPr lang="en-US" altLang="zh-CN" sz="2600" dirty="0"/>
              <a:t> Cache</a:t>
            </a:r>
            <a:r>
              <a:rPr lang="zh-CN" altLang="en-US" sz="2600" dirty="0"/>
              <a:t>的行数  </a:t>
            </a:r>
            <a:r>
              <a:rPr lang="en-US" altLang="zh-CN" sz="2600" dirty="0"/>
              <a:t>=&gt;  Cache</a:t>
            </a:r>
            <a:r>
              <a:rPr lang="zh-CN" altLang="en-US" sz="2600" dirty="0"/>
              <a:t>行号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对应到主存物理地址的划分</a:t>
            </a:r>
            <a:r>
              <a:rPr lang="en-US" altLang="zh-CN" sz="2600" b="1" dirty="0"/>
              <a:t>?</a:t>
            </a:r>
            <a:endParaRPr lang="zh-CN" altLang="en-US" sz="26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97DD6-A17F-47DC-9929-28E3E405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182256"/>
            <a:ext cx="10040007" cy="497470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问题一：</a:t>
            </a:r>
            <a:r>
              <a:rPr lang="en-US" altLang="zh-CN" sz="2600" dirty="0"/>
              <a:t> Cache</a:t>
            </a:r>
            <a:r>
              <a:rPr lang="zh-CN" altLang="en-US" sz="2600" dirty="0"/>
              <a:t>行和主存块的映射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直接映射法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都以</a:t>
            </a:r>
            <a:r>
              <a:rPr lang="en-US" altLang="zh-CN" sz="4300" dirty="0">
                <a:solidFill>
                  <a:schemeClr val="accent1"/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1"/>
                </a:solidFill>
              </a:rPr>
              <a:t>b</a:t>
            </a:r>
            <a:r>
              <a:rPr lang="zh-CN" altLang="en-US" sz="2600" dirty="0"/>
              <a:t>字节为大小进行划分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主存可以被划分成</a:t>
            </a:r>
            <a:r>
              <a:rPr lang="en-US" altLang="zh-CN" sz="4300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zh-CN" altLang="en-US" sz="2600" dirty="0"/>
              <a:t>个块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en-US" altLang="zh-CN" sz="2600" dirty="0"/>
              <a:t>Cache</a:t>
            </a:r>
            <a:r>
              <a:rPr lang="zh-CN" altLang="en-US" sz="2600" dirty="0"/>
              <a:t>的数据区提供了</a:t>
            </a:r>
            <a:r>
              <a:rPr lang="en-US" altLang="zh-CN" sz="4300" dirty="0">
                <a:solidFill>
                  <a:srgbClr val="C00000"/>
                </a:solidFill>
              </a:rPr>
              <a:t>2</a:t>
            </a:r>
            <a:r>
              <a:rPr lang="en-US" altLang="zh-CN" sz="4300" baseline="30000" dirty="0">
                <a:solidFill>
                  <a:srgbClr val="C00000"/>
                </a:solidFill>
              </a:rPr>
              <a:t>c</a:t>
            </a:r>
            <a:r>
              <a:rPr lang="zh-CN" altLang="en-US" sz="2600" dirty="0"/>
              <a:t>个行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如何一个萝卜一个盘？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模映射法</a:t>
            </a:r>
            <a:r>
              <a:rPr lang="zh-CN" altLang="en-US" sz="2600" dirty="0"/>
              <a:t>：内存中第</a:t>
            </a:r>
            <a:r>
              <a:rPr lang="en-US" altLang="zh-CN" sz="2600" dirty="0"/>
              <a:t>M</a:t>
            </a:r>
            <a:r>
              <a:rPr lang="zh-CN" altLang="en-US" sz="2600" dirty="0"/>
              <a:t>个块的块号 </a:t>
            </a:r>
            <a:r>
              <a:rPr lang="en-US" altLang="zh-CN" sz="2600" dirty="0"/>
              <a:t>M</a:t>
            </a:r>
            <a:r>
              <a:rPr lang="zh-CN" altLang="en-US" sz="2600" dirty="0"/>
              <a:t> </a:t>
            </a:r>
            <a:r>
              <a:rPr lang="en-US" altLang="zh-CN" sz="2600" i="1" dirty="0"/>
              <a:t>mod</a:t>
            </a:r>
            <a:r>
              <a:rPr lang="en-US" altLang="zh-CN" sz="2600" dirty="0"/>
              <a:t> Cache</a:t>
            </a:r>
            <a:r>
              <a:rPr lang="zh-CN" altLang="en-US" sz="2600" dirty="0"/>
              <a:t>的行数  </a:t>
            </a:r>
            <a:r>
              <a:rPr lang="en-US" altLang="zh-CN" sz="2600" dirty="0"/>
              <a:t>=&gt;  Cache</a:t>
            </a:r>
            <a:r>
              <a:rPr lang="zh-CN" altLang="en-US" sz="2600" dirty="0"/>
              <a:t>行号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对应到主存物理地址的划分</a:t>
            </a:r>
            <a:r>
              <a:rPr lang="en-US" altLang="zh-CN" sz="2600" b="1" dirty="0"/>
              <a:t>?</a:t>
            </a:r>
            <a:endParaRPr lang="zh-CN" altLang="en-US" sz="26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97DD6-A17F-47DC-9929-28E3E405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26318" y="112878"/>
            <a:ext cx="4753303" cy="4770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/>
              <a:t>举例：</a:t>
            </a:r>
            <a:endParaRPr lang="en-US" altLang="zh-CN" sz="3200" dirty="0"/>
          </a:p>
          <a:p>
            <a:r>
              <a:rPr lang="zh-CN" altLang="en-US" sz="2400" dirty="0"/>
              <a:t>块大小 </a:t>
            </a:r>
            <a:r>
              <a:rPr lang="en-US" altLang="zh-CN" sz="2400" dirty="0"/>
              <a:t>= </a:t>
            </a:r>
            <a:r>
              <a:rPr lang="en-US" altLang="zh-CN" sz="2400" b="1" dirty="0">
                <a:solidFill>
                  <a:schemeClr val="accent1"/>
                </a:solidFill>
              </a:rPr>
              <a:t>4B</a:t>
            </a:r>
            <a:endParaRPr lang="en-US" altLang="zh-CN" sz="2400" b="1" dirty="0">
              <a:solidFill>
                <a:schemeClr val="accent1"/>
              </a:solidFill>
            </a:endParaRPr>
          </a:p>
          <a:p>
            <a:r>
              <a:rPr lang="zh-CN" altLang="en-US" sz="2400" dirty="0"/>
              <a:t>主存分为 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</a:rPr>
              <a:t>64</a:t>
            </a:r>
            <a:r>
              <a:rPr lang="en-US" altLang="zh-CN" sz="2400" dirty="0"/>
              <a:t> </a:t>
            </a:r>
            <a:r>
              <a:rPr lang="zh-CN" altLang="en-US" sz="2400" dirty="0"/>
              <a:t>块</a:t>
            </a:r>
            <a:endParaRPr lang="en-US" altLang="zh-CN" sz="2400" dirty="0"/>
          </a:p>
          <a:p>
            <a:r>
              <a:rPr lang="en-US" altLang="zh-CN" sz="2400" dirty="0"/>
              <a:t>Cache</a:t>
            </a:r>
            <a:r>
              <a:rPr lang="zh-CN" altLang="en-US" sz="2400" dirty="0"/>
              <a:t>数据区有 </a:t>
            </a:r>
            <a:r>
              <a:rPr lang="en-US" altLang="zh-CN" sz="2400" b="1" dirty="0">
                <a:solidFill>
                  <a:srgbClr val="C00000"/>
                </a:solidFill>
              </a:rPr>
              <a:t>4</a:t>
            </a:r>
            <a:r>
              <a:rPr lang="en-US" altLang="zh-CN" sz="2400" dirty="0"/>
              <a:t> </a:t>
            </a:r>
            <a:r>
              <a:rPr lang="zh-CN" altLang="en-US" sz="2400" dirty="0"/>
              <a:t>行</a:t>
            </a:r>
            <a:endParaRPr lang="en-US" altLang="zh-CN" sz="2400" dirty="0"/>
          </a:p>
          <a:p>
            <a:endParaRPr lang="en-US" altLang="zh-CN" sz="3200" dirty="0"/>
          </a:p>
          <a:p>
            <a:r>
              <a:rPr lang="zh-CN" altLang="en-US" sz="2400" dirty="0"/>
              <a:t>第</a:t>
            </a:r>
            <a:r>
              <a:rPr lang="en-US" altLang="zh-CN" sz="2400" dirty="0"/>
              <a:t>0</a:t>
            </a:r>
            <a:r>
              <a:rPr lang="zh-CN" altLang="en-US" sz="2400" dirty="0"/>
              <a:t>块 </a:t>
            </a:r>
            <a:r>
              <a:rPr lang="en-US" altLang="zh-CN" sz="2400" dirty="0"/>
              <a:t>-&gt; </a:t>
            </a:r>
            <a:r>
              <a:rPr lang="zh-CN" altLang="en-US" sz="2400" dirty="0"/>
              <a:t>第</a:t>
            </a:r>
            <a:r>
              <a:rPr lang="en-US" altLang="zh-CN" sz="2400" dirty="0"/>
              <a:t>0</a:t>
            </a:r>
            <a:r>
              <a:rPr lang="zh-CN" altLang="en-US" sz="2400" dirty="0"/>
              <a:t>行</a:t>
            </a:r>
            <a:endParaRPr lang="en-US" altLang="zh-CN" sz="2400" dirty="0"/>
          </a:p>
          <a:p>
            <a:r>
              <a:rPr lang="zh-CN" altLang="en-US" sz="2400" dirty="0"/>
              <a:t>第</a:t>
            </a:r>
            <a:r>
              <a:rPr lang="en-US" altLang="zh-CN" sz="2400" dirty="0"/>
              <a:t>1</a:t>
            </a:r>
            <a:r>
              <a:rPr lang="zh-CN" altLang="en-US" sz="2400" dirty="0"/>
              <a:t>块 </a:t>
            </a:r>
            <a:r>
              <a:rPr lang="en-US" altLang="zh-CN" sz="2400" dirty="0"/>
              <a:t>-&gt; </a:t>
            </a:r>
            <a:r>
              <a:rPr lang="zh-CN" altLang="en-US" sz="2400" dirty="0"/>
              <a:t>第</a:t>
            </a:r>
            <a:r>
              <a:rPr lang="en-US" altLang="zh-CN" sz="2400" dirty="0"/>
              <a:t>1</a:t>
            </a:r>
            <a:r>
              <a:rPr lang="zh-CN" altLang="en-US" sz="2400" dirty="0"/>
              <a:t>行</a:t>
            </a:r>
            <a:endParaRPr lang="zh-CN" altLang="en-US" sz="2400" dirty="0"/>
          </a:p>
          <a:p>
            <a:r>
              <a:rPr lang="zh-CN" altLang="en-US" sz="2400" dirty="0"/>
              <a:t>第</a:t>
            </a:r>
            <a:r>
              <a:rPr lang="en-US" altLang="zh-CN" sz="2400" dirty="0"/>
              <a:t>2</a:t>
            </a:r>
            <a:r>
              <a:rPr lang="zh-CN" altLang="en-US" sz="2400" dirty="0"/>
              <a:t>块 </a:t>
            </a:r>
            <a:r>
              <a:rPr lang="en-US" altLang="zh-CN" sz="2400" dirty="0"/>
              <a:t>-&gt; </a:t>
            </a:r>
            <a:r>
              <a:rPr lang="zh-CN" altLang="en-US" sz="2400" dirty="0"/>
              <a:t>第</a:t>
            </a:r>
            <a:r>
              <a:rPr lang="en-US" altLang="zh-CN" sz="2400" dirty="0"/>
              <a:t>2</a:t>
            </a:r>
            <a:r>
              <a:rPr lang="zh-CN" altLang="en-US" sz="2400" dirty="0"/>
              <a:t>行</a:t>
            </a:r>
            <a:endParaRPr lang="zh-CN" altLang="en-US" sz="2400" dirty="0"/>
          </a:p>
          <a:p>
            <a:r>
              <a:rPr lang="zh-CN" altLang="en-US" sz="2400" dirty="0"/>
              <a:t>第</a:t>
            </a:r>
            <a:r>
              <a:rPr lang="en-US" altLang="zh-CN" sz="2400" dirty="0"/>
              <a:t>3</a:t>
            </a:r>
            <a:r>
              <a:rPr lang="zh-CN" altLang="en-US" sz="2400" dirty="0"/>
              <a:t>块 </a:t>
            </a:r>
            <a:r>
              <a:rPr lang="en-US" altLang="zh-CN" sz="2400" dirty="0"/>
              <a:t>-&gt; </a:t>
            </a:r>
            <a:r>
              <a:rPr lang="zh-CN" altLang="en-US" sz="2400" dirty="0"/>
              <a:t>第</a:t>
            </a:r>
            <a:r>
              <a:rPr lang="en-US" altLang="zh-CN" sz="2400" dirty="0"/>
              <a:t>3</a:t>
            </a:r>
            <a:r>
              <a:rPr lang="zh-CN" altLang="en-US" sz="2400" dirty="0"/>
              <a:t>行</a:t>
            </a:r>
            <a:endParaRPr lang="zh-CN" altLang="en-US" sz="2400" dirty="0"/>
          </a:p>
          <a:p>
            <a:r>
              <a:rPr lang="zh-CN" altLang="en-US" sz="2400" dirty="0"/>
              <a:t>第</a:t>
            </a:r>
            <a:r>
              <a:rPr lang="en-US" altLang="zh-CN" sz="2400" dirty="0"/>
              <a:t>4</a:t>
            </a:r>
            <a:r>
              <a:rPr lang="zh-CN" altLang="en-US" sz="2400" dirty="0"/>
              <a:t>块 </a:t>
            </a:r>
            <a:r>
              <a:rPr lang="en-US" altLang="zh-CN" sz="2400" dirty="0"/>
              <a:t>-&gt; </a:t>
            </a:r>
            <a:r>
              <a:rPr lang="zh-CN" altLang="en-US" sz="2400" dirty="0"/>
              <a:t>第</a:t>
            </a:r>
            <a:r>
              <a:rPr lang="en-US" altLang="zh-CN" sz="2400" dirty="0"/>
              <a:t>0</a:t>
            </a:r>
            <a:r>
              <a:rPr lang="zh-CN" altLang="en-US" sz="2400" dirty="0"/>
              <a:t>行</a:t>
            </a:r>
            <a:endParaRPr lang="zh-CN" altLang="en-US" sz="2400" dirty="0"/>
          </a:p>
          <a:p>
            <a:r>
              <a:rPr lang="en-US" altLang="zh-CN" sz="2400" dirty="0"/>
              <a:t>…</a:t>
            </a:r>
            <a:endParaRPr lang="en-US" altLang="zh-CN" sz="2400" dirty="0"/>
          </a:p>
          <a:p>
            <a:r>
              <a:rPr lang="zh-CN" altLang="en-US" sz="2400" dirty="0"/>
              <a:t>第</a:t>
            </a:r>
            <a:r>
              <a:rPr lang="en-US" altLang="zh-CN" sz="2400" dirty="0"/>
              <a:t>63</a:t>
            </a:r>
            <a:r>
              <a:rPr lang="zh-CN" altLang="en-US" sz="2400" dirty="0"/>
              <a:t>块 </a:t>
            </a:r>
            <a:r>
              <a:rPr lang="en-US" altLang="zh-CN" sz="2400" dirty="0"/>
              <a:t>-&gt; </a:t>
            </a:r>
            <a:r>
              <a:rPr lang="zh-CN" altLang="en-US" sz="2400" dirty="0"/>
              <a:t>第</a:t>
            </a:r>
            <a:r>
              <a:rPr lang="en-US" altLang="zh-CN" sz="2400" dirty="0"/>
              <a:t>3</a:t>
            </a:r>
            <a:r>
              <a:rPr lang="zh-CN" altLang="en-US" sz="2400" dirty="0"/>
              <a:t>行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182256"/>
            <a:ext cx="10040007" cy="497470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问题一：</a:t>
            </a:r>
            <a:r>
              <a:rPr lang="en-US" altLang="zh-CN" sz="2600" dirty="0"/>
              <a:t> Cache</a:t>
            </a:r>
            <a:r>
              <a:rPr lang="zh-CN" altLang="en-US" sz="2600" dirty="0"/>
              <a:t>行和主存块的映射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直接映射法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都以</a:t>
            </a:r>
            <a:r>
              <a:rPr lang="en-US" altLang="zh-CN" sz="4300" dirty="0">
                <a:solidFill>
                  <a:schemeClr val="accent1"/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1"/>
                </a:solidFill>
              </a:rPr>
              <a:t>b</a:t>
            </a:r>
            <a:r>
              <a:rPr lang="zh-CN" altLang="en-US" sz="2600" dirty="0"/>
              <a:t>字节为大小进行划分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主存可以被划分成</a:t>
            </a:r>
            <a:r>
              <a:rPr lang="en-US" altLang="zh-CN" sz="4300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zh-CN" altLang="en-US" sz="2600" dirty="0"/>
              <a:t>个块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en-US" altLang="zh-CN" sz="2600" dirty="0"/>
              <a:t>Cache</a:t>
            </a:r>
            <a:r>
              <a:rPr lang="zh-CN" altLang="en-US" sz="2600" dirty="0"/>
              <a:t>的数据区提供了</a:t>
            </a:r>
            <a:r>
              <a:rPr lang="en-US" altLang="zh-CN" sz="4300" dirty="0">
                <a:solidFill>
                  <a:srgbClr val="C00000"/>
                </a:solidFill>
              </a:rPr>
              <a:t>2</a:t>
            </a:r>
            <a:r>
              <a:rPr lang="en-US" altLang="zh-CN" sz="4300" baseline="30000" dirty="0">
                <a:solidFill>
                  <a:srgbClr val="C00000"/>
                </a:solidFill>
              </a:rPr>
              <a:t>c</a:t>
            </a:r>
            <a:r>
              <a:rPr lang="zh-CN" altLang="en-US" sz="2600" dirty="0"/>
              <a:t>个行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如何一个萝卜一个盘？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模映射法</a:t>
            </a:r>
            <a:r>
              <a:rPr lang="zh-CN" altLang="en-US" sz="2600" dirty="0"/>
              <a:t>：内存中第</a:t>
            </a:r>
            <a:r>
              <a:rPr lang="en-US" altLang="zh-CN" sz="2600" dirty="0"/>
              <a:t>M</a:t>
            </a:r>
            <a:r>
              <a:rPr lang="zh-CN" altLang="en-US" sz="2600" dirty="0"/>
              <a:t>个块的块号 </a:t>
            </a:r>
            <a:r>
              <a:rPr lang="en-US" altLang="zh-CN" sz="2600" dirty="0"/>
              <a:t>M</a:t>
            </a:r>
            <a:r>
              <a:rPr lang="zh-CN" altLang="en-US" sz="2600" dirty="0"/>
              <a:t> </a:t>
            </a:r>
            <a:r>
              <a:rPr lang="en-US" altLang="zh-CN" sz="2600" i="1" dirty="0"/>
              <a:t>mod</a:t>
            </a:r>
            <a:r>
              <a:rPr lang="en-US" altLang="zh-CN" sz="2600" dirty="0"/>
              <a:t> Cache</a:t>
            </a:r>
            <a:r>
              <a:rPr lang="zh-CN" altLang="en-US" sz="2600" dirty="0"/>
              <a:t>的行数  </a:t>
            </a:r>
            <a:r>
              <a:rPr lang="en-US" altLang="zh-CN" sz="2600" dirty="0"/>
              <a:t>=&gt;  Cache</a:t>
            </a:r>
            <a:r>
              <a:rPr lang="zh-CN" altLang="en-US" sz="2600" dirty="0"/>
              <a:t>行号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对应到主存物理地址的划分</a:t>
            </a:r>
            <a:r>
              <a:rPr lang="en-US" altLang="zh-CN" sz="2600" b="1" dirty="0"/>
              <a:t>?</a:t>
            </a:r>
            <a:endParaRPr lang="zh-CN" altLang="en-US" sz="26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97DD6-A17F-47DC-9929-28E3E405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316718" y="850785"/>
            <a:ext cx="52656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给定</a:t>
            </a:r>
            <a:r>
              <a:rPr lang="en-US" altLang="zh-CN" sz="3200" dirty="0"/>
              <a:t>NEMU</a:t>
            </a:r>
            <a:r>
              <a:rPr lang="zh-CN" altLang="en-US" sz="3200" dirty="0"/>
              <a:t>中的一个</a:t>
            </a:r>
            <a:r>
              <a:rPr lang="en-US" altLang="zh-CN" sz="3200" dirty="0"/>
              <a:t>32</a:t>
            </a:r>
            <a:r>
              <a:rPr lang="zh-CN" altLang="en-US" sz="3200" dirty="0"/>
              <a:t>位的物理地址，如何计算其块号？如何计算其行号？</a:t>
            </a:r>
            <a:endParaRPr lang="zh-CN" altLang="en-US" sz="3200" dirty="0"/>
          </a:p>
        </p:txBody>
      </p:sp>
      <p:sp>
        <p:nvSpPr>
          <p:cNvPr id="9" name="文本框 8"/>
          <p:cNvSpPr txBox="1"/>
          <p:nvPr/>
        </p:nvSpPr>
        <p:spPr>
          <a:xfrm>
            <a:off x="6316718" y="2906104"/>
            <a:ext cx="56369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块号 </a:t>
            </a:r>
            <a:r>
              <a:rPr lang="en-US" altLang="zh-CN" sz="3200" dirty="0"/>
              <a:t>= </a:t>
            </a:r>
            <a:r>
              <a:rPr lang="zh-CN" altLang="en-US" sz="3200" dirty="0"/>
              <a:t>物理地址 </a:t>
            </a:r>
            <a:r>
              <a:rPr lang="en-US" altLang="zh-CN" sz="3200" dirty="0"/>
              <a:t>/ 2</a:t>
            </a:r>
            <a:r>
              <a:rPr lang="en-US" altLang="zh-CN" sz="3200" baseline="30000" dirty="0"/>
              <a:t>b</a:t>
            </a:r>
            <a:r>
              <a:rPr lang="zh-CN" altLang="en-US" sz="3200" dirty="0"/>
              <a:t>（取整）</a:t>
            </a:r>
            <a:endParaRPr lang="en-US" altLang="zh-CN" sz="3200" dirty="0"/>
          </a:p>
          <a:p>
            <a:r>
              <a:rPr lang="zh-CN" altLang="en-US" sz="3200" dirty="0"/>
              <a:t>行号 </a:t>
            </a:r>
            <a:r>
              <a:rPr lang="en-US" altLang="zh-CN" sz="3200" dirty="0"/>
              <a:t>= </a:t>
            </a:r>
            <a:r>
              <a:rPr lang="zh-CN" altLang="en-US" sz="3200" dirty="0"/>
              <a:t>块号 </a:t>
            </a:r>
            <a:r>
              <a:rPr lang="en-US" altLang="zh-CN" sz="3200" dirty="0"/>
              <a:t>mod 2</a:t>
            </a:r>
            <a:r>
              <a:rPr lang="en-US" altLang="zh-CN" sz="3200" baseline="30000" dirty="0"/>
              <a:t>c</a:t>
            </a:r>
            <a:endParaRPr lang="zh-CN" altLang="en-US" sz="3200" baseline="30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182256"/>
            <a:ext cx="10040007" cy="497470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问题一：</a:t>
            </a:r>
            <a:r>
              <a:rPr lang="en-US" altLang="zh-CN" sz="2600" dirty="0"/>
              <a:t> Cache</a:t>
            </a:r>
            <a:r>
              <a:rPr lang="zh-CN" altLang="en-US" sz="2600" dirty="0"/>
              <a:t>行和主存块的映射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直接映射法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都以</a:t>
            </a:r>
            <a:r>
              <a:rPr lang="en-US" altLang="zh-CN" sz="4300" dirty="0">
                <a:solidFill>
                  <a:schemeClr val="accent1"/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1"/>
                </a:solidFill>
              </a:rPr>
              <a:t>b</a:t>
            </a:r>
            <a:r>
              <a:rPr lang="zh-CN" altLang="en-US" sz="2600" dirty="0"/>
              <a:t>字节为大小进行划分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主存可以被划分成</a:t>
            </a:r>
            <a:r>
              <a:rPr lang="en-US" altLang="zh-CN" sz="4300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zh-CN" altLang="en-US" sz="2600" dirty="0"/>
              <a:t>个块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en-US" altLang="zh-CN" sz="2600" dirty="0"/>
              <a:t>Cache</a:t>
            </a:r>
            <a:r>
              <a:rPr lang="zh-CN" altLang="en-US" sz="2600" dirty="0"/>
              <a:t>的数据区提供了</a:t>
            </a:r>
            <a:r>
              <a:rPr lang="en-US" altLang="zh-CN" sz="4300" dirty="0">
                <a:solidFill>
                  <a:srgbClr val="C00000"/>
                </a:solidFill>
              </a:rPr>
              <a:t>2</a:t>
            </a:r>
            <a:r>
              <a:rPr lang="en-US" altLang="zh-CN" sz="4300" baseline="30000" dirty="0">
                <a:solidFill>
                  <a:srgbClr val="C00000"/>
                </a:solidFill>
              </a:rPr>
              <a:t>c</a:t>
            </a:r>
            <a:r>
              <a:rPr lang="zh-CN" altLang="en-US" sz="2600" dirty="0"/>
              <a:t>个行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如何一个萝卜一个盘？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模映射法</a:t>
            </a:r>
            <a:r>
              <a:rPr lang="zh-CN" altLang="en-US" sz="2600" dirty="0"/>
              <a:t>：内存中第</a:t>
            </a:r>
            <a:r>
              <a:rPr lang="en-US" altLang="zh-CN" sz="2600" dirty="0"/>
              <a:t>M</a:t>
            </a:r>
            <a:r>
              <a:rPr lang="zh-CN" altLang="en-US" sz="2600" dirty="0"/>
              <a:t>个块的块号 </a:t>
            </a:r>
            <a:r>
              <a:rPr lang="en-US" altLang="zh-CN" sz="2600" dirty="0"/>
              <a:t>M</a:t>
            </a:r>
            <a:r>
              <a:rPr lang="zh-CN" altLang="en-US" sz="2600" dirty="0"/>
              <a:t> </a:t>
            </a:r>
            <a:r>
              <a:rPr lang="en-US" altLang="zh-CN" sz="2600" i="1" dirty="0"/>
              <a:t>mod</a:t>
            </a:r>
            <a:r>
              <a:rPr lang="en-US" altLang="zh-CN" sz="2600" dirty="0"/>
              <a:t> Cache</a:t>
            </a:r>
            <a:r>
              <a:rPr lang="zh-CN" altLang="en-US" sz="2600" dirty="0"/>
              <a:t>的行数  </a:t>
            </a:r>
            <a:r>
              <a:rPr lang="en-US" altLang="zh-CN" sz="2600" dirty="0"/>
              <a:t>=&gt;  Cache</a:t>
            </a:r>
            <a:r>
              <a:rPr lang="zh-CN" altLang="en-US" sz="2600" dirty="0"/>
              <a:t>行号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对应到主存物理地址的划分</a:t>
            </a:r>
            <a:r>
              <a:rPr lang="en-US" altLang="zh-CN" sz="2600" b="1" dirty="0"/>
              <a:t>?</a:t>
            </a:r>
            <a:endParaRPr lang="zh-CN" altLang="en-US" sz="26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97DD6-A17F-47DC-9929-28E3E405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316718" y="850785"/>
            <a:ext cx="52656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给定</a:t>
            </a:r>
            <a:r>
              <a:rPr lang="en-US" altLang="zh-CN" sz="3200" dirty="0"/>
              <a:t>NEMU</a:t>
            </a:r>
            <a:r>
              <a:rPr lang="zh-CN" altLang="en-US" sz="3200" dirty="0"/>
              <a:t>中的一个</a:t>
            </a:r>
            <a:r>
              <a:rPr lang="en-US" altLang="zh-CN" sz="3200" dirty="0"/>
              <a:t>32</a:t>
            </a:r>
            <a:r>
              <a:rPr lang="zh-CN" altLang="en-US" sz="3200" dirty="0"/>
              <a:t>位的物理地址，</a:t>
            </a:r>
            <a:r>
              <a:rPr lang="zh-CN" altLang="en-US" sz="3200" dirty="0">
                <a:solidFill>
                  <a:srgbClr val="C00000"/>
                </a:solidFill>
              </a:rPr>
              <a:t>如何计算其块号？</a:t>
            </a:r>
            <a:r>
              <a:rPr lang="zh-CN" altLang="en-US" sz="3200" dirty="0"/>
              <a:t>如何计算其行号？</a:t>
            </a:r>
            <a:endParaRPr lang="zh-CN" altLang="en-US" sz="3200" dirty="0"/>
          </a:p>
        </p:txBody>
      </p:sp>
      <p:sp>
        <p:nvSpPr>
          <p:cNvPr id="9" name="文本框 8"/>
          <p:cNvSpPr txBox="1"/>
          <p:nvPr/>
        </p:nvSpPr>
        <p:spPr>
          <a:xfrm>
            <a:off x="6316718" y="2906104"/>
            <a:ext cx="52656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块号 </a:t>
            </a:r>
            <a:r>
              <a:rPr lang="en-US" altLang="zh-CN" sz="3200" dirty="0">
                <a:solidFill>
                  <a:srgbClr val="C00000"/>
                </a:solidFill>
              </a:rPr>
              <a:t>= </a:t>
            </a:r>
            <a:r>
              <a:rPr lang="zh-CN" altLang="en-US" sz="3200" dirty="0">
                <a:solidFill>
                  <a:srgbClr val="C00000"/>
                </a:solidFill>
              </a:rPr>
              <a:t>物理地址 </a:t>
            </a:r>
            <a:r>
              <a:rPr lang="en-US" altLang="zh-CN" sz="3200" dirty="0">
                <a:solidFill>
                  <a:srgbClr val="C00000"/>
                </a:solidFill>
              </a:rPr>
              <a:t>/ 2</a:t>
            </a:r>
            <a:r>
              <a:rPr lang="en-US" altLang="zh-CN" sz="3200" baseline="30000" dirty="0">
                <a:solidFill>
                  <a:srgbClr val="C00000"/>
                </a:solidFill>
              </a:rPr>
              <a:t>b </a:t>
            </a:r>
            <a:r>
              <a:rPr lang="zh-CN" altLang="en-US" sz="3200" dirty="0">
                <a:solidFill>
                  <a:srgbClr val="C00000"/>
                </a:solidFill>
              </a:rPr>
              <a:t>（取整）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zh-CN" altLang="en-US" sz="3200" dirty="0"/>
              <a:t>行号 </a:t>
            </a:r>
            <a:r>
              <a:rPr lang="en-US" altLang="zh-CN" sz="3200" dirty="0"/>
              <a:t>= </a:t>
            </a:r>
            <a:r>
              <a:rPr lang="zh-CN" altLang="en-US" sz="3200" dirty="0"/>
              <a:t>块号 </a:t>
            </a:r>
            <a:r>
              <a:rPr lang="en-US" altLang="zh-CN" sz="3200" dirty="0"/>
              <a:t>mod 2</a:t>
            </a:r>
            <a:r>
              <a:rPr lang="en-US" altLang="zh-CN" sz="3200" baseline="30000" dirty="0"/>
              <a:t>c</a:t>
            </a:r>
            <a:endParaRPr lang="zh-CN" altLang="en-US" sz="3200" baseline="30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6934200" y="1649187"/>
            <a:ext cx="53775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块号 </a:t>
            </a:r>
            <a:r>
              <a:rPr lang="en-US" altLang="zh-CN" sz="3200" dirty="0">
                <a:solidFill>
                  <a:srgbClr val="C00000"/>
                </a:solidFill>
              </a:rPr>
              <a:t>= </a:t>
            </a:r>
            <a:r>
              <a:rPr lang="zh-CN" altLang="en-US" sz="3200" dirty="0">
                <a:solidFill>
                  <a:srgbClr val="C00000"/>
                </a:solidFill>
              </a:rPr>
              <a:t>物理地址 </a:t>
            </a:r>
            <a:r>
              <a:rPr lang="en-US" altLang="zh-CN" sz="3200" dirty="0">
                <a:solidFill>
                  <a:srgbClr val="C00000"/>
                </a:solidFill>
              </a:rPr>
              <a:t>/ 2</a:t>
            </a:r>
            <a:r>
              <a:rPr lang="en-US" altLang="zh-CN" sz="3200" baseline="30000" dirty="0">
                <a:solidFill>
                  <a:srgbClr val="C00000"/>
                </a:solidFill>
              </a:rPr>
              <a:t>b </a:t>
            </a:r>
            <a:r>
              <a:rPr lang="zh-CN" altLang="en-US" sz="3200" dirty="0">
                <a:solidFill>
                  <a:srgbClr val="C00000"/>
                </a:solidFill>
              </a:rPr>
              <a:t>（取整）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zh-CN" altLang="en-US" sz="3200" dirty="0"/>
              <a:t>行号 </a:t>
            </a:r>
            <a:r>
              <a:rPr lang="en-US" altLang="zh-CN" sz="3200" dirty="0"/>
              <a:t>= </a:t>
            </a:r>
            <a:r>
              <a:rPr lang="zh-CN" altLang="en-US" sz="3200" dirty="0"/>
              <a:t>块号 </a:t>
            </a:r>
            <a:r>
              <a:rPr lang="en-US" altLang="zh-CN" sz="3200" dirty="0"/>
              <a:t>mod 2</a:t>
            </a:r>
            <a:r>
              <a:rPr lang="en-US" altLang="zh-CN" sz="3200" baseline="30000" dirty="0"/>
              <a:t>c</a:t>
            </a:r>
            <a:endParaRPr lang="zh-CN" altLang="en-US" sz="3200" baseline="30000" dirty="0"/>
          </a:p>
        </p:txBody>
      </p:sp>
      <p:sp>
        <p:nvSpPr>
          <p:cNvPr id="26" name="内容占位符 2"/>
          <p:cNvSpPr>
            <a:spLocks noGrp="1"/>
          </p:cNvSpPr>
          <p:nvPr>
            <p:ph idx="1"/>
          </p:nvPr>
        </p:nvSpPr>
        <p:spPr>
          <a:xfrm>
            <a:off x="838199" y="1182256"/>
            <a:ext cx="10040007" cy="497470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问题一：</a:t>
            </a:r>
            <a:r>
              <a:rPr lang="en-US" altLang="zh-CN" sz="2600" dirty="0"/>
              <a:t> Cache</a:t>
            </a:r>
            <a:r>
              <a:rPr lang="zh-CN" altLang="en-US" sz="2600" dirty="0"/>
              <a:t>行和主存块的映射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直接映射法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都以</a:t>
            </a:r>
            <a:r>
              <a:rPr lang="en-US" altLang="zh-CN" sz="4300" dirty="0">
                <a:solidFill>
                  <a:schemeClr val="accent1"/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1"/>
                </a:solidFill>
              </a:rPr>
              <a:t>b</a:t>
            </a:r>
            <a:r>
              <a:rPr lang="zh-CN" altLang="en-US" sz="2600" dirty="0"/>
              <a:t>字节为大小进行划分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主存可以被划分成</a:t>
            </a:r>
            <a:r>
              <a:rPr lang="en-US" altLang="zh-CN" sz="4300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zh-CN" altLang="en-US" sz="2600" dirty="0"/>
              <a:t>个块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en-US" altLang="zh-CN" sz="2600" dirty="0"/>
              <a:t>Cache</a:t>
            </a:r>
            <a:r>
              <a:rPr lang="zh-CN" altLang="en-US" sz="2600" dirty="0"/>
              <a:t>的数据区提供了</a:t>
            </a:r>
            <a:r>
              <a:rPr lang="en-US" altLang="zh-CN" sz="4300" dirty="0">
                <a:solidFill>
                  <a:srgbClr val="C00000"/>
                </a:solidFill>
              </a:rPr>
              <a:t>2</a:t>
            </a:r>
            <a:r>
              <a:rPr lang="en-US" altLang="zh-CN" sz="4300" baseline="30000" dirty="0">
                <a:solidFill>
                  <a:srgbClr val="C00000"/>
                </a:solidFill>
              </a:rPr>
              <a:t>c</a:t>
            </a:r>
            <a:r>
              <a:rPr lang="zh-CN" altLang="en-US" sz="2600" dirty="0"/>
              <a:t>个行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如何一个萝卜一个盘？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模映射法</a:t>
            </a:r>
            <a:r>
              <a:rPr lang="zh-CN" altLang="en-US" sz="2600" dirty="0"/>
              <a:t>：内存中第</a:t>
            </a:r>
            <a:r>
              <a:rPr lang="en-US" altLang="zh-CN" sz="2600" dirty="0"/>
              <a:t>M</a:t>
            </a:r>
            <a:r>
              <a:rPr lang="zh-CN" altLang="en-US" sz="2600" dirty="0"/>
              <a:t>个块的块号 </a:t>
            </a:r>
            <a:r>
              <a:rPr lang="en-US" altLang="zh-CN" sz="2600" dirty="0"/>
              <a:t>M</a:t>
            </a:r>
            <a:r>
              <a:rPr lang="zh-CN" altLang="en-US" sz="2600" dirty="0"/>
              <a:t> </a:t>
            </a:r>
            <a:r>
              <a:rPr lang="en-US" altLang="zh-CN" sz="2600" i="1" dirty="0"/>
              <a:t>mod</a:t>
            </a:r>
            <a:r>
              <a:rPr lang="en-US" altLang="zh-CN" sz="2600" dirty="0"/>
              <a:t> Cache</a:t>
            </a:r>
            <a:r>
              <a:rPr lang="zh-CN" altLang="en-US" sz="2600" dirty="0"/>
              <a:t>的行数  </a:t>
            </a:r>
            <a:r>
              <a:rPr lang="en-US" altLang="zh-CN" sz="2600" dirty="0"/>
              <a:t>=&gt;  Cache</a:t>
            </a:r>
            <a:r>
              <a:rPr lang="zh-CN" altLang="en-US" sz="2600" dirty="0"/>
              <a:t>行号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对应到主存物理地址的划分</a:t>
            </a:r>
            <a:r>
              <a:rPr lang="en-US" altLang="zh-CN" sz="2600" b="1" dirty="0"/>
              <a:t>?</a:t>
            </a:r>
            <a:endParaRPr lang="zh-CN" altLang="en-US" sz="2600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635E-155E-47F9-A246-F349977DD5D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172960" y="3670566"/>
            <a:ext cx="19608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块号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270475" y="3670566"/>
            <a:ext cx="12496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块内地址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38062" y="3294646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高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511236" y="329464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低</a:t>
            </a:r>
            <a:r>
              <a:rPr lang="en-US" altLang="zh-CN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位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4409366" y="2807946"/>
            <a:ext cx="3605048" cy="515219"/>
          </a:xfrm>
          <a:custGeom>
            <a:avLst/>
            <a:gdLst>
              <a:gd name="connsiteX0" fmla="*/ 0 w 3605048"/>
              <a:gd name="connsiteY0" fmla="*/ 344549 h 649349"/>
              <a:gd name="connsiteX1" fmla="*/ 1828800 w 3605048"/>
              <a:gd name="connsiteY1" fmla="*/ 8218 h 649349"/>
              <a:gd name="connsiteX2" fmla="*/ 3605048 w 3605048"/>
              <a:gd name="connsiteY2" fmla="*/ 649349 h 64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05048" h="649349">
                <a:moveTo>
                  <a:pt x="0" y="344549"/>
                </a:moveTo>
                <a:cubicBezTo>
                  <a:pt x="613979" y="150983"/>
                  <a:pt x="1227959" y="-42582"/>
                  <a:pt x="1828800" y="8218"/>
                </a:cubicBezTo>
                <a:cubicBezTo>
                  <a:pt x="2429641" y="59018"/>
                  <a:pt x="3017344" y="354183"/>
                  <a:pt x="3605048" y="649349"/>
                </a:cubicBezTo>
              </a:path>
            </a:pathLst>
          </a:custGeom>
          <a:ln w="635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2745202" y="1959922"/>
            <a:ext cx="6726620" cy="1356655"/>
          </a:xfrm>
          <a:custGeom>
            <a:avLst/>
            <a:gdLst>
              <a:gd name="connsiteX0" fmla="*/ 0 w 7462344"/>
              <a:gd name="connsiteY0" fmla="*/ 536848 h 1356655"/>
              <a:gd name="connsiteX1" fmla="*/ 4141075 w 7462344"/>
              <a:gd name="connsiteY1" fmla="*/ 32352 h 1356655"/>
              <a:gd name="connsiteX2" fmla="*/ 7462344 w 7462344"/>
              <a:gd name="connsiteY2" fmla="*/ 1356655 h 1356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62344" h="1356655">
                <a:moveTo>
                  <a:pt x="0" y="536848"/>
                </a:moveTo>
                <a:cubicBezTo>
                  <a:pt x="1448675" y="216283"/>
                  <a:pt x="2897351" y="-104282"/>
                  <a:pt x="4141075" y="32352"/>
                </a:cubicBezTo>
                <a:cubicBezTo>
                  <a:pt x="5384799" y="168986"/>
                  <a:pt x="6423571" y="762820"/>
                  <a:pt x="7462344" y="1356655"/>
                </a:cubicBezTo>
              </a:path>
            </a:pathLst>
          </a:cu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360935" y="108280"/>
            <a:ext cx="52656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给定</a:t>
            </a:r>
            <a:r>
              <a:rPr lang="en-US" altLang="zh-CN" sz="3200" dirty="0"/>
              <a:t>NEMU</a:t>
            </a:r>
            <a:r>
              <a:rPr lang="zh-CN" altLang="en-US" sz="3200" dirty="0"/>
              <a:t>中的一个</a:t>
            </a:r>
            <a:r>
              <a:rPr lang="en-US" altLang="zh-CN" sz="3200" dirty="0"/>
              <a:t>32</a:t>
            </a:r>
            <a:r>
              <a:rPr lang="zh-CN" altLang="en-US" sz="3200" dirty="0"/>
              <a:t>位的物理地址，</a:t>
            </a:r>
            <a:r>
              <a:rPr lang="zh-CN" altLang="en-US" sz="3200" dirty="0">
                <a:solidFill>
                  <a:srgbClr val="C00000"/>
                </a:solidFill>
              </a:rPr>
              <a:t>如何计算其块号？</a:t>
            </a:r>
            <a:r>
              <a:rPr lang="zh-CN" altLang="en-US" sz="3200" dirty="0"/>
              <a:t>如何计算其行号？</a:t>
            </a:r>
            <a:endParaRPr lang="zh-CN" altLang="en-US" sz="3200" dirty="0"/>
          </a:p>
        </p:txBody>
      </p:sp>
      <p:sp>
        <p:nvSpPr>
          <p:cNvPr id="30" name="左大括号 29"/>
          <p:cNvSpPr/>
          <p:nvPr/>
        </p:nvSpPr>
        <p:spPr>
          <a:xfrm rot="16200000">
            <a:off x="8712547" y="2689459"/>
            <a:ext cx="252249" cy="3331423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172960" y="4623214"/>
            <a:ext cx="3488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 + b = 32 </a:t>
            </a:r>
            <a:r>
              <a:rPr lang="zh-CN" altLang="en-US" sz="2400" dirty="0"/>
              <a:t>位物理地址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内容占位符 2"/>
          <p:cNvSpPr>
            <a:spLocks noGrp="1"/>
          </p:cNvSpPr>
          <p:nvPr>
            <p:ph idx="1"/>
          </p:nvPr>
        </p:nvSpPr>
        <p:spPr>
          <a:xfrm>
            <a:off x="838199" y="1182256"/>
            <a:ext cx="10040007" cy="497470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问题一：</a:t>
            </a:r>
            <a:r>
              <a:rPr lang="en-US" altLang="zh-CN" sz="2600" dirty="0"/>
              <a:t> Cache</a:t>
            </a:r>
            <a:r>
              <a:rPr lang="zh-CN" altLang="en-US" sz="2600" dirty="0"/>
              <a:t>行和主存块的映射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直接映射法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都以</a:t>
            </a:r>
            <a:r>
              <a:rPr lang="en-US" altLang="zh-CN" sz="4300" dirty="0">
                <a:solidFill>
                  <a:schemeClr val="accent1"/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1"/>
                </a:solidFill>
              </a:rPr>
              <a:t>b</a:t>
            </a:r>
            <a:r>
              <a:rPr lang="zh-CN" altLang="en-US" sz="2600" dirty="0"/>
              <a:t>字节为大小进行划分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主存可以被划分成</a:t>
            </a:r>
            <a:r>
              <a:rPr lang="en-US" altLang="zh-CN" sz="4300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zh-CN" altLang="en-US" sz="2600" dirty="0"/>
              <a:t>个块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en-US" altLang="zh-CN" sz="2600" dirty="0"/>
              <a:t>Cache</a:t>
            </a:r>
            <a:r>
              <a:rPr lang="zh-CN" altLang="en-US" sz="2600" dirty="0"/>
              <a:t>的数据区提供了</a:t>
            </a:r>
            <a:r>
              <a:rPr lang="en-US" altLang="zh-CN" sz="4300" dirty="0">
                <a:solidFill>
                  <a:srgbClr val="C00000"/>
                </a:solidFill>
              </a:rPr>
              <a:t>2</a:t>
            </a:r>
            <a:r>
              <a:rPr lang="en-US" altLang="zh-CN" sz="4300" baseline="30000" dirty="0">
                <a:solidFill>
                  <a:srgbClr val="C00000"/>
                </a:solidFill>
              </a:rPr>
              <a:t>c</a:t>
            </a:r>
            <a:r>
              <a:rPr lang="zh-CN" altLang="en-US" sz="2600" dirty="0"/>
              <a:t>个行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如何一个萝卜一个盘？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模映射法</a:t>
            </a:r>
            <a:r>
              <a:rPr lang="zh-CN" altLang="en-US" sz="2600" dirty="0"/>
              <a:t>：内存中第</a:t>
            </a:r>
            <a:r>
              <a:rPr lang="en-US" altLang="zh-CN" sz="2600" dirty="0"/>
              <a:t>M</a:t>
            </a:r>
            <a:r>
              <a:rPr lang="zh-CN" altLang="en-US" sz="2600" dirty="0"/>
              <a:t>个块的块号 </a:t>
            </a:r>
            <a:r>
              <a:rPr lang="en-US" altLang="zh-CN" sz="2600" dirty="0"/>
              <a:t>M</a:t>
            </a:r>
            <a:r>
              <a:rPr lang="zh-CN" altLang="en-US" sz="2600" dirty="0"/>
              <a:t> </a:t>
            </a:r>
            <a:r>
              <a:rPr lang="en-US" altLang="zh-CN" sz="2600" i="1" dirty="0"/>
              <a:t>mod</a:t>
            </a:r>
            <a:r>
              <a:rPr lang="en-US" altLang="zh-CN" sz="2600" dirty="0"/>
              <a:t> Cache</a:t>
            </a:r>
            <a:r>
              <a:rPr lang="zh-CN" altLang="en-US" sz="2600" dirty="0"/>
              <a:t>的行数  </a:t>
            </a:r>
            <a:r>
              <a:rPr lang="en-US" altLang="zh-CN" sz="2600" dirty="0"/>
              <a:t>=&gt;  Cache</a:t>
            </a:r>
            <a:r>
              <a:rPr lang="zh-CN" altLang="en-US" sz="2600" dirty="0"/>
              <a:t>行号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对应到主存物理地址的划分</a:t>
            </a:r>
            <a:r>
              <a:rPr lang="en-US" altLang="zh-CN" sz="2600" b="1" dirty="0"/>
              <a:t>?</a:t>
            </a:r>
            <a:endParaRPr lang="zh-CN" altLang="en-US" sz="2600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635E-155E-47F9-A246-F349977DD5D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172960" y="3670566"/>
            <a:ext cx="19608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块号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270475" y="3670566"/>
            <a:ext cx="12496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块内地址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38062" y="3294646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高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511236" y="329464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低</a:t>
            </a:r>
            <a:r>
              <a:rPr lang="en-US" altLang="zh-CN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位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4409366" y="2807946"/>
            <a:ext cx="3605048" cy="515219"/>
          </a:xfrm>
          <a:custGeom>
            <a:avLst/>
            <a:gdLst>
              <a:gd name="connsiteX0" fmla="*/ 0 w 3605048"/>
              <a:gd name="connsiteY0" fmla="*/ 344549 h 649349"/>
              <a:gd name="connsiteX1" fmla="*/ 1828800 w 3605048"/>
              <a:gd name="connsiteY1" fmla="*/ 8218 h 649349"/>
              <a:gd name="connsiteX2" fmla="*/ 3605048 w 3605048"/>
              <a:gd name="connsiteY2" fmla="*/ 649349 h 64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05048" h="649349">
                <a:moveTo>
                  <a:pt x="0" y="344549"/>
                </a:moveTo>
                <a:cubicBezTo>
                  <a:pt x="613979" y="150983"/>
                  <a:pt x="1227959" y="-42582"/>
                  <a:pt x="1828800" y="8218"/>
                </a:cubicBezTo>
                <a:cubicBezTo>
                  <a:pt x="2429641" y="59018"/>
                  <a:pt x="3017344" y="354183"/>
                  <a:pt x="3605048" y="649349"/>
                </a:cubicBezTo>
              </a:path>
            </a:pathLst>
          </a:custGeom>
          <a:ln w="635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2745202" y="1959922"/>
            <a:ext cx="6726620" cy="1356655"/>
          </a:xfrm>
          <a:custGeom>
            <a:avLst/>
            <a:gdLst>
              <a:gd name="connsiteX0" fmla="*/ 0 w 7462344"/>
              <a:gd name="connsiteY0" fmla="*/ 536848 h 1356655"/>
              <a:gd name="connsiteX1" fmla="*/ 4141075 w 7462344"/>
              <a:gd name="connsiteY1" fmla="*/ 32352 h 1356655"/>
              <a:gd name="connsiteX2" fmla="*/ 7462344 w 7462344"/>
              <a:gd name="connsiteY2" fmla="*/ 1356655 h 1356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62344" h="1356655">
                <a:moveTo>
                  <a:pt x="0" y="536848"/>
                </a:moveTo>
                <a:cubicBezTo>
                  <a:pt x="1448675" y="216283"/>
                  <a:pt x="2897351" y="-104282"/>
                  <a:pt x="4141075" y="32352"/>
                </a:cubicBezTo>
                <a:cubicBezTo>
                  <a:pt x="5384799" y="168986"/>
                  <a:pt x="6423571" y="762820"/>
                  <a:pt x="7462344" y="1356655"/>
                </a:cubicBezTo>
              </a:path>
            </a:pathLst>
          </a:cu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360935" y="108280"/>
            <a:ext cx="52656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给定</a:t>
            </a:r>
            <a:r>
              <a:rPr lang="en-US" altLang="zh-CN" sz="3200" dirty="0"/>
              <a:t>NEMU</a:t>
            </a:r>
            <a:r>
              <a:rPr lang="zh-CN" altLang="en-US" sz="3200" dirty="0"/>
              <a:t>中的一个</a:t>
            </a:r>
            <a:r>
              <a:rPr lang="en-US" altLang="zh-CN" sz="3200" dirty="0"/>
              <a:t>32</a:t>
            </a:r>
            <a:r>
              <a:rPr lang="zh-CN" altLang="en-US" sz="3200" dirty="0"/>
              <a:t>位的物理地址，如何计算其块号？</a:t>
            </a:r>
            <a:r>
              <a:rPr lang="zh-CN" altLang="en-US" sz="3200" dirty="0">
                <a:solidFill>
                  <a:srgbClr val="C00000"/>
                </a:solidFill>
              </a:rPr>
              <a:t>如何计算其行号？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30" name="左大括号 29"/>
          <p:cNvSpPr/>
          <p:nvPr/>
        </p:nvSpPr>
        <p:spPr>
          <a:xfrm rot="16200000">
            <a:off x="8712547" y="2689459"/>
            <a:ext cx="252249" cy="3331423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172960" y="4623214"/>
            <a:ext cx="3488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 + b = 32 </a:t>
            </a:r>
            <a:r>
              <a:rPr lang="zh-CN" altLang="en-US" sz="2400" dirty="0"/>
              <a:t>位物理地址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6934200" y="1649187"/>
            <a:ext cx="5377543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块号 </a:t>
            </a:r>
            <a:r>
              <a:rPr lang="en-US" altLang="zh-CN" sz="3200" dirty="0"/>
              <a:t>= </a:t>
            </a:r>
            <a:r>
              <a:rPr lang="zh-CN" altLang="en-US" sz="3200" dirty="0"/>
              <a:t>物理地址 </a:t>
            </a:r>
            <a:r>
              <a:rPr lang="en-US" altLang="zh-CN" sz="3200" dirty="0"/>
              <a:t>/ 2</a:t>
            </a:r>
            <a:r>
              <a:rPr lang="en-US" altLang="zh-CN" sz="3200" baseline="30000" dirty="0"/>
              <a:t>b </a:t>
            </a:r>
            <a:r>
              <a:rPr lang="zh-CN" altLang="en-US" sz="3200" dirty="0"/>
              <a:t>（取整）</a:t>
            </a:r>
            <a:endParaRPr lang="en-US" altLang="zh-CN" sz="3200" dirty="0"/>
          </a:p>
          <a:p>
            <a:r>
              <a:rPr lang="zh-CN" altLang="en-US" sz="3200" dirty="0">
                <a:solidFill>
                  <a:srgbClr val="C00000"/>
                </a:solidFill>
              </a:rPr>
              <a:t>行号 </a:t>
            </a:r>
            <a:r>
              <a:rPr lang="en-US" altLang="zh-CN" sz="3200" dirty="0">
                <a:solidFill>
                  <a:srgbClr val="C00000"/>
                </a:solidFill>
              </a:rPr>
              <a:t>= </a:t>
            </a:r>
            <a:r>
              <a:rPr lang="zh-CN" altLang="en-US" sz="3200" dirty="0">
                <a:solidFill>
                  <a:srgbClr val="C00000"/>
                </a:solidFill>
              </a:rPr>
              <a:t>块号 </a:t>
            </a:r>
            <a:r>
              <a:rPr lang="en-US" altLang="zh-CN" sz="3200" dirty="0">
                <a:solidFill>
                  <a:srgbClr val="C00000"/>
                </a:solidFill>
              </a:rPr>
              <a:t>mod 2</a:t>
            </a:r>
            <a:r>
              <a:rPr lang="en-US" altLang="zh-CN" sz="3200" baseline="30000" dirty="0">
                <a:solidFill>
                  <a:srgbClr val="C00000"/>
                </a:solidFill>
              </a:rPr>
              <a:t>c</a:t>
            </a:r>
            <a:endParaRPr lang="zh-CN" altLang="en-US" sz="3200" baseline="30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内容占位符 2"/>
          <p:cNvSpPr>
            <a:spLocks noGrp="1"/>
          </p:cNvSpPr>
          <p:nvPr>
            <p:ph idx="1"/>
          </p:nvPr>
        </p:nvSpPr>
        <p:spPr>
          <a:xfrm>
            <a:off x="838199" y="1182256"/>
            <a:ext cx="10040007" cy="497470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问题一：</a:t>
            </a:r>
            <a:r>
              <a:rPr lang="en-US" altLang="zh-CN" sz="2600" dirty="0"/>
              <a:t> Cache</a:t>
            </a:r>
            <a:r>
              <a:rPr lang="zh-CN" altLang="en-US" sz="2600" dirty="0"/>
              <a:t>行和主存块的映射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直接映射法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都以</a:t>
            </a:r>
            <a:r>
              <a:rPr lang="en-US" altLang="zh-CN" sz="4300" dirty="0">
                <a:solidFill>
                  <a:schemeClr val="accent1"/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1"/>
                </a:solidFill>
              </a:rPr>
              <a:t>b</a:t>
            </a:r>
            <a:r>
              <a:rPr lang="zh-CN" altLang="en-US" sz="2600" dirty="0"/>
              <a:t>字节为大小进行划分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dirty="0"/>
              <a:t>主存可以被划分成</a:t>
            </a:r>
            <a:r>
              <a:rPr lang="en-US" altLang="zh-CN" sz="4300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en-US" altLang="zh-CN" sz="4300" baseline="30000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zh-CN" altLang="en-US" sz="2600" dirty="0"/>
              <a:t>个块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en-US" altLang="zh-CN" sz="2600" dirty="0"/>
              <a:t>Cache</a:t>
            </a:r>
            <a:r>
              <a:rPr lang="zh-CN" altLang="en-US" sz="2600" dirty="0"/>
              <a:t>的数据区提供了</a:t>
            </a:r>
            <a:r>
              <a:rPr lang="en-US" altLang="zh-CN" sz="4300" dirty="0">
                <a:solidFill>
                  <a:srgbClr val="C00000"/>
                </a:solidFill>
              </a:rPr>
              <a:t>2</a:t>
            </a:r>
            <a:r>
              <a:rPr lang="en-US" altLang="zh-CN" sz="4300" baseline="30000" dirty="0">
                <a:solidFill>
                  <a:srgbClr val="C00000"/>
                </a:solidFill>
              </a:rPr>
              <a:t>c</a:t>
            </a:r>
            <a:r>
              <a:rPr lang="zh-CN" altLang="en-US" sz="2600" dirty="0"/>
              <a:t>个行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如何一个萝卜一个盘？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模映射法</a:t>
            </a:r>
            <a:r>
              <a:rPr lang="zh-CN" altLang="en-US" sz="2600" dirty="0"/>
              <a:t>：内存中第</a:t>
            </a:r>
            <a:r>
              <a:rPr lang="en-US" altLang="zh-CN" sz="2600" dirty="0"/>
              <a:t>M</a:t>
            </a:r>
            <a:r>
              <a:rPr lang="zh-CN" altLang="en-US" sz="2600" dirty="0"/>
              <a:t>个块的块号 </a:t>
            </a:r>
            <a:r>
              <a:rPr lang="en-US" altLang="zh-CN" sz="2600" dirty="0"/>
              <a:t>M</a:t>
            </a:r>
            <a:r>
              <a:rPr lang="zh-CN" altLang="en-US" sz="2600" dirty="0"/>
              <a:t> </a:t>
            </a:r>
            <a:r>
              <a:rPr lang="en-US" altLang="zh-CN" sz="2600" i="1" dirty="0"/>
              <a:t>mod</a:t>
            </a:r>
            <a:r>
              <a:rPr lang="en-US" altLang="zh-CN" sz="2600" dirty="0"/>
              <a:t> Cache</a:t>
            </a:r>
            <a:r>
              <a:rPr lang="zh-CN" altLang="en-US" sz="2600" dirty="0"/>
              <a:t>的行数  </a:t>
            </a:r>
            <a:r>
              <a:rPr lang="en-US" altLang="zh-CN" sz="2600" dirty="0"/>
              <a:t>=&gt;  Cache</a:t>
            </a:r>
            <a:r>
              <a:rPr lang="zh-CN" altLang="en-US" sz="2600" dirty="0"/>
              <a:t>行号</a:t>
            </a:r>
            <a:endParaRPr lang="en-US" altLang="zh-CN" sz="2600" dirty="0"/>
          </a:p>
          <a:p>
            <a:pPr lvl="2">
              <a:lnSpc>
                <a:spcPct val="150000"/>
              </a:lnSpc>
            </a:pPr>
            <a:r>
              <a:rPr lang="zh-CN" altLang="en-US" sz="2600" b="1" dirty="0"/>
              <a:t>对应到主存物理地址的划分</a:t>
            </a:r>
            <a:r>
              <a:rPr lang="en-US" altLang="zh-CN" sz="2600" b="1" dirty="0"/>
              <a:t>?</a:t>
            </a:r>
            <a:endParaRPr lang="zh-CN" altLang="en-US" sz="2600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635E-155E-47F9-A246-F349977DD5D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172960" y="3670566"/>
            <a:ext cx="19608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块号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270475" y="3670566"/>
            <a:ext cx="12496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块内地址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38062" y="3294646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高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511236" y="329464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低</a:t>
            </a:r>
            <a:r>
              <a:rPr lang="en-US" altLang="zh-CN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位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4409366" y="2807946"/>
            <a:ext cx="3605048" cy="515219"/>
          </a:xfrm>
          <a:custGeom>
            <a:avLst/>
            <a:gdLst>
              <a:gd name="connsiteX0" fmla="*/ 0 w 3605048"/>
              <a:gd name="connsiteY0" fmla="*/ 344549 h 649349"/>
              <a:gd name="connsiteX1" fmla="*/ 1828800 w 3605048"/>
              <a:gd name="connsiteY1" fmla="*/ 8218 h 649349"/>
              <a:gd name="connsiteX2" fmla="*/ 3605048 w 3605048"/>
              <a:gd name="connsiteY2" fmla="*/ 649349 h 64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05048" h="649349">
                <a:moveTo>
                  <a:pt x="0" y="344549"/>
                </a:moveTo>
                <a:cubicBezTo>
                  <a:pt x="613979" y="150983"/>
                  <a:pt x="1227959" y="-42582"/>
                  <a:pt x="1828800" y="8218"/>
                </a:cubicBezTo>
                <a:cubicBezTo>
                  <a:pt x="2429641" y="59018"/>
                  <a:pt x="3017344" y="354183"/>
                  <a:pt x="3605048" y="649349"/>
                </a:cubicBezTo>
              </a:path>
            </a:pathLst>
          </a:custGeom>
          <a:ln w="635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2745202" y="1959922"/>
            <a:ext cx="6726620" cy="1356655"/>
          </a:xfrm>
          <a:custGeom>
            <a:avLst/>
            <a:gdLst>
              <a:gd name="connsiteX0" fmla="*/ 0 w 7462344"/>
              <a:gd name="connsiteY0" fmla="*/ 536848 h 1356655"/>
              <a:gd name="connsiteX1" fmla="*/ 4141075 w 7462344"/>
              <a:gd name="connsiteY1" fmla="*/ 32352 h 1356655"/>
              <a:gd name="connsiteX2" fmla="*/ 7462344 w 7462344"/>
              <a:gd name="connsiteY2" fmla="*/ 1356655 h 1356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62344" h="1356655">
                <a:moveTo>
                  <a:pt x="0" y="536848"/>
                </a:moveTo>
                <a:cubicBezTo>
                  <a:pt x="1448675" y="216283"/>
                  <a:pt x="2897351" y="-104282"/>
                  <a:pt x="4141075" y="32352"/>
                </a:cubicBezTo>
                <a:cubicBezTo>
                  <a:pt x="5384799" y="168986"/>
                  <a:pt x="6423571" y="762820"/>
                  <a:pt x="7462344" y="1356655"/>
                </a:cubicBezTo>
              </a:path>
            </a:pathLst>
          </a:cu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360935" y="108280"/>
            <a:ext cx="52656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给定</a:t>
            </a:r>
            <a:r>
              <a:rPr lang="en-US" altLang="zh-CN" sz="3200" dirty="0"/>
              <a:t>NEMU</a:t>
            </a:r>
            <a:r>
              <a:rPr lang="zh-CN" altLang="en-US" sz="3200" dirty="0"/>
              <a:t>中的一个</a:t>
            </a:r>
            <a:r>
              <a:rPr lang="en-US" altLang="zh-CN" sz="3200" dirty="0"/>
              <a:t>32</a:t>
            </a:r>
            <a:r>
              <a:rPr lang="zh-CN" altLang="en-US" sz="3200" dirty="0"/>
              <a:t>位的物理地址，如何计算其块号？</a:t>
            </a:r>
            <a:r>
              <a:rPr lang="zh-CN" altLang="en-US" sz="3200" dirty="0">
                <a:solidFill>
                  <a:srgbClr val="C00000"/>
                </a:solidFill>
              </a:rPr>
              <a:t>如何计算其行号？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172960" y="4323503"/>
            <a:ext cx="68961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270475" y="4323503"/>
            <a:ext cx="12496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块内地址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900694" y="4323503"/>
            <a:ext cx="1233146" cy="41656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</a:rPr>
              <a:t>Cache</a:t>
            </a:r>
            <a:r>
              <a:rPr lang="zh-CN" altLang="en-US" sz="1600" dirty="0">
                <a:solidFill>
                  <a:srgbClr val="C00000"/>
                </a:solidFill>
              </a:rPr>
              <a:t>行号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899179" y="4753984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高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m-c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029793" y="4753984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中间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34200" y="1649187"/>
            <a:ext cx="5377543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块号 </a:t>
            </a:r>
            <a:r>
              <a:rPr lang="en-US" altLang="zh-CN" sz="3200" dirty="0"/>
              <a:t>= </a:t>
            </a:r>
            <a:r>
              <a:rPr lang="zh-CN" altLang="en-US" sz="3200" dirty="0"/>
              <a:t>物理地址 </a:t>
            </a:r>
            <a:r>
              <a:rPr lang="en-US" altLang="zh-CN" sz="3200" dirty="0"/>
              <a:t>/ 2</a:t>
            </a:r>
            <a:r>
              <a:rPr lang="en-US" altLang="zh-CN" sz="3200" baseline="30000" dirty="0"/>
              <a:t>b </a:t>
            </a:r>
            <a:r>
              <a:rPr lang="zh-CN" altLang="en-US" sz="3200" dirty="0"/>
              <a:t>（取整）</a:t>
            </a:r>
            <a:endParaRPr lang="en-US" altLang="zh-CN" sz="3200" dirty="0"/>
          </a:p>
          <a:p>
            <a:r>
              <a:rPr lang="zh-CN" altLang="en-US" sz="3200" dirty="0">
                <a:solidFill>
                  <a:srgbClr val="C00000"/>
                </a:solidFill>
              </a:rPr>
              <a:t>行号 </a:t>
            </a:r>
            <a:r>
              <a:rPr lang="en-US" altLang="zh-CN" sz="3200" dirty="0">
                <a:solidFill>
                  <a:srgbClr val="C00000"/>
                </a:solidFill>
              </a:rPr>
              <a:t>= </a:t>
            </a:r>
            <a:r>
              <a:rPr lang="zh-CN" altLang="en-US" sz="3200" dirty="0">
                <a:solidFill>
                  <a:srgbClr val="C00000"/>
                </a:solidFill>
              </a:rPr>
              <a:t>块号 </a:t>
            </a:r>
            <a:r>
              <a:rPr lang="en-US" altLang="zh-CN" sz="3200" dirty="0">
                <a:solidFill>
                  <a:srgbClr val="C00000"/>
                </a:solidFill>
              </a:rPr>
              <a:t>mod 2</a:t>
            </a:r>
            <a:r>
              <a:rPr lang="en-US" altLang="zh-CN" sz="3200" baseline="30000" dirty="0">
                <a:solidFill>
                  <a:srgbClr val="C00000"/>
                </a:solidFill>
              </a:rPr>
              <a:t>c</a:t>
            </a:r>
            <a:endParaRPr lang="zh-CN" altLang="en-US" sz="3200" baseline="30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959432"/>
            <a:ext cx="7886700" cy="1988962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问题一：</a:t>
            </a:r>
            <a:r>
              <a:rPr lang="en-US" altLang="zh-CN" sz="2800" dirty="0"/>
              <a:t> Cache</a:t>
            </a:r>
            <a:r>
              <a:rPr lang="zh-CN" altLang="en-US" sz="2800" dirty="0"/>
              <a:t>行和主存块的映射</a:t>
            </a:r>
            <a:endParaRPr lang="en-US" altLang="zh-CN" sz="2800" dirty="0"/>
          </a:p>
          <a:p>
            <a:pPr lvl="1"/>
            <a:r>
              <a:rPr lang="zh-CN" altLang="en-US" sz="2400" dirty="0"/>
              <a:t>直接映射法</a:t>
            </a:r>
            <a:endParaRPr lang="en-US" altLang="zh-CN" sz="2400" dirty="0"/>
          </a:p>
          <a:p>
            <a:pPr lvl="1"/>
            <a:r>
              <a:rPr lang="en-US" altLang="zh-CN" sz="2400" dirty="0"/>
              <a:t>Cache</a:t>
            </a:r>
            <a:r>
              <a:rPr lang="zh-CN" altLang="en-US" sz="2400" dirty="0"/>
              <a:t>的组织</a:t>
            </a:r>
            <a:endParaRPr lang="en-US" altLang="zh-CN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48CC5-13FF-485F-8E6D-E7C38841C49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336030" y="2037888"/>
            <a:ext cx="68961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520430" y="2037888"/>
            <a:ext cx="12496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块内地址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29473" y="2474768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高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m-c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761191" y="2474768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低</a:t>
            </a:r>
            <a:r>
              <a:rPr lang="en-US" altLang="zh-CN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位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063764" y="2037888"/>
            <a:ext cx="1233146" cy="41656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</a:rPr>
              <a:t>Cache</a:t>
            </a:r>
            <a:r>
              <a:rPr lang="zh-CN" altLang="en-US" sz="1600" dirty="0">
                <a:solidFill>
                  <a:srgbClr val="C00000"/>
                </a:solidFill>
              </a:rPr>
              <a:t>行号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192864" y="2472222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中间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667089" y="3746960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667089" y="4163520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667089" y="4584660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667089" y="5009762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390960" y="3746960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390960" y="4167010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90960" y="4589712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390960" y="5009762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98951" y="3119183"/>
            <a:ext cx="71769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</a:rPr>
              <a:t>Cache</a:t>
            </a:r>
            <a:r>
              <a:rPr lang="zh-CN" altLang="en-US" sz="2000" dirty="0">
                <a:solidFill>
                  <a:srgbClr val="C00000"/>
                </a:solidFill>
              </a:rPr>
              <a:t>行号（就是</a:t>
            </a:r>
            <a:r>
              <a:rPr lang="en-US" altLang="zh-CN" sz="2000" dirty="0">
                <a:solidFill>
                  <a:srgbClr val="C00000"/>
                </a:solidFill>
              </a:rPr>
              <a:t>Cache</a:t>
            </a:r>
            <a:r>
              <a:rPr lang="zh-CN" altLang="en-US" sz="2000" dirty="0">
                <a:solidFill>
                  <a:srgbClr val="C00000"/>
                </a:solidFill>
              </a:rPr>
              <a:t>行构成的数组之下标，不用显式给了）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84707" y="3558661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949539" y="3746501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949539" y="4163061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949539" y="4584201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949539" y="5009303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988909" y="5652149"/>
            <a:ext cx="5952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额外的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en-US" dirty="0">
                <a:solidFill>
                  <a:srgbClr val="00B050"/>
                </a:solidFill>
              </a:rPr>
              <a:t>比特有效位：为</a:t>
            </a:r>
            <a:r>
              <a:rPr lang="en-US" altLang="zh-CN" dirty="0">
                <a:solidFill>
                  <a:srgbClr val="00B050"/>
                </a:solidFill>
              </a:rPr>
              <a:t>0</a:t>
            </a:r>
            <a:r>
              <a:rPr lang="zh-CN" altLang="en-US" dirty="0">
                <a:solidFill>
                  <a:srgbClr val="00B050"/>
                </a:solidFill>
              </a:rPr>
              <a:t>表示</a:t>
            </a:r>
            <a:r>
              <a:rPr lang="en-US" altLang="zh-CN" dirty="0">
                <a:solidFill>
                  <a:srgbClr val="00B050"/>
                </a:solidFill>
              </a:rPr>
              <a:t>Cache</a:t>
            </a:r>
            <a:r>
              <a:rPr lang="zh-CN" altLang="en-US" dirty="0">
                <a:solidFill>
                  <a:srgbClr val="00B050"/>
                </a:solidFill>
              </a:rPr>
              <a:t>行无效，为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en-US" dirty="0">
                <a:solidFill>
                  <a:srgbClr val="00B050"/>
                </a:solidFill>
              </a:rPr>
              <a:t>表示有效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901475" y="1433395"/>
            <a:ext cx="3243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/>
              <a:t>主存（物理）地址：</a:t>
            </a:r>
            <a:endParaRPr lang="zh-CN" altLang="en-US" sz="24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61484" y="3820915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53F95-6A2C-4B3A-B518-896D06986B5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905497" y="3206046"/>
            <a:ext cx="68961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89897" y="3206046"/>
            <a:ext cx="12496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块内地址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98940" y="3642926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高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m-c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330658" y="364292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低</a:t>
            </a:r>
            <a:r>
              <a:rPr lang="en-US" altLang="zh-CN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位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33231" y="3206046"/>
            <a:ext cx="1233146" cy="41656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</a:rPr>
              <a:t>Cache</a:t>
            </a:r>
            <a:r>
              <a:rPr lang="zh-CN" altLang="en-US" sz="1600" dirty="0">
                <a:solidFill>
                  <a:srgbClr val="C00000"/>
                </a:solidFill>
              </a:rPr>
              <a:t>行号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762331" y="3640380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中间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661171" y="4598522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661171" y="5015082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661171" y="5436222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661171" y="5861324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78789" y="4410223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943621" y="4598063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943621" y="5014623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943621" y="5435763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943621" y="5860865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3520" y="3171219"/>
            <a:ext cx="3243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/>
              <a:t>主存（物理）</a:t>
            </a:r>
            <a:endParaRPr lang="en-US" altLang="zh-CN" sz="2400" b="1" dirty="0"/>
          </a:p>
          <a:p>
            <a:pPr algn="r"/>
            <a:r>
              <a:rPr lang="zh-CN" altLang="en-US" sz="2400" b="1" dirty="0"/>
              <a:t>地址：</a:t>
            </a:r>
            <a:endParaRPr lang="zh-CN" altLang="en-US" sz="2400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629227" y="4479892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34" name="矩形 33"/>
          <p:cNvSpPr/>
          <p:nvPr/>
        </p:nvSpPr>
        <p:spPr>
          <a:xfrm>
            <a:off x="5389314" y="4603806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389314" y="5023856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389314" y="5446558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389314" y="5866608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7" name="内容占位符 2"/>
          <p:cNvSpPr txBox="1"/>
          <p:nvPr/>
        </p:nvSpPr>
        <p:spPr>
          <a:xfrm>
            <a:off x="2152650" y="1182256"/>
            <a:ext cx="9201150" cy="1496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问题一：</a:t>
            </a:r>
            <a:r>
              <a:rPr lang="en-US" altLang="zh-CN" sz="2400" dirty="0"/>
              <a:t> Cache</a:t>
            </a:r>
            <a:r>
              <a:rPr lang="zh-CN" altLang="en-US" sz="2400" dirty="0"/>
              <a:t>行和主存块的映射</a:t>
            </a:r>
            <a:endParaRPr lang="en-US" altLang="zh-CN" sz="2400" dirty="0"/>
          </a:p>
          <a:p>
            <a:pPr lvl="1"/>
            <a:r>
              <a:rPr lang="zh-CN" altLang="en-US" sz="2400" dirty="0"/>
              <a:t>直接映射法</a:t>
            </a:r>
            <a:endParaRPr lang="en-US" altLang="zh-CN" sz="2400" dirty="0"/>
          </a:p>
          <a:p>
            <a:pPr lvl="1"/>
            <a:r>
              <a:rPr lang="zh-CN" altLang="en-US" sz="2400" dirty="0"/>
              <a:t>所以说我有了主存物理地址，我想读数据，怎么知道它对应</a:t>
            </a:r>
            <a:r>
              <a:rPr lang="en-US" altLang="zh-CN" sz="2400" dirty="0"/>
              <a:t>Cache</a:t>
            </a:r>
            <a:r>
              <a:rPr lang="zh-CN" altLang="en-US" sz="2400" dirty="0"/>
              <a:t>里的哪一行？在不在</a:t>
            </a:r>
            <a:r>
              <a:rPr lang="en-US" altLang="zh-CN" sz="2400" dirty="0"/>
              <a:t>Cache</a:t>
            </a:r>
            <a:r>
              <a:rPr lang="zh-CN" altLang="en-US" sz="2400" dirty="0"/>
              <a:t>里？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02FF3-F850-47B6-A83A-5D420471065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3520" y="3171219"/>
            <a:ext cx="3243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/>
              <a:t>主存（物理）</a:t>
            </a:r>
            <a:endParaRPr lang="en-US" altLang="zh-CN" sz="2400" b="1" dirty="0"/>
          </a:p>
          <a:p>
            <a:pPr algn="r"/>
            <a:r>
              <a:rPr lang="zh-CN" altLang="en-US" sz="2400" b="1" dirty="0"/>
              <a:t>地址：</a:t>
            </a:r>
            <a:endParaRPr lang="zh-CN" altLang="en-US" sz="2400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629227" y="4479892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34" name="矩形 33"/>
          <p:cNvSpPr/>
          <p:nvPr/>
        </p:nvSpPr>
        <p:spPr>
          <a:xfrm>
            <a:off x="3905497" y="3206046"/>
            <a:ext cx="68961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089897" y="3206046"/>
            <a:ext cx="12496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块内地址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798940" y="3642926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高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m-c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330658" y="364292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低</a:t>
            </a:r>
            <a:r>
              <a:rPr lang="en-US" altLang="zh-CN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位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633231" y="3206046"/>
            <a:ext cx="1233146" cy="41656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</a:rPr>
              <a:t>Cache</a:t>
            </a:r>
            <a:r>
              <a:rPr lang="zh-CN" altLang="en-US" sz="1600" dirty="0">
                <a:solidFill>
                  <a:srgbClr val="C00000"/>
                </a:solidFill>
              </a:rPr>
              <a:t>行号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762331" y="3640380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中间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661171" y="4598522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661171" y="5015082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661171" y="5436222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661171" y="5861324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278789" y="4410223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943621" y="4598063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943621" y="5014623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943621" y="5435763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943621" y="5860865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389314" y="4603806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389314" y="5023856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389314" y="5446558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5389314" y="5866608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cxnSp>
        <p:nvCxnSpPr>
          <p:cNvPr id="13" name="直接箭头连接符 12"/>
          <p:cNvCxnSpPr>
            <a:stCxn id="47" idx="2"/>
          </p:cNvCxnSpPr>
          <p:nvPr/>
        </p:nvCxnSpPr>
        <p:spPr>
          <a:xfrm flipH="1">
            <a:off x="3685108" y="4009712"/>
            <a:ext cx="1564697" cy="1131248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7793543" y="263772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第一步：找行号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1" name="内容占位符 2"/>
          <p:cNvSpPr txBox="1"/>
          <p:nvPr/>
        </p:nvSpPr>
        <p:spPr>
          <a:xfrm>
            <a:off x="2152650" y="1182256"/>
            <a:ext cx="9201150" cy="1496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问题一：</a:t>
            </a:r>
            <a:r>
              <a:rPr lang="en-US" altLang="zh-CN" sz="2400" dirty="0"/>
              <a:t> Cache</a:t>
            </a:r>
            <a:r>
              <a:rPr lang="zh-CN" altLang="en-US" sz="2400" dirty="0"/>
              <a:t>行和主存块的映射</a:t>
            </a:r>
            <a:endParaRPr lang="en-US" altLang="zh-CN" sz="2400" dirty="0"/>
          </a:p>
          <a:p>
            <a:pPr lvl="1"/>
            <a:r>
              <a:rPr lang="zh-CN" altLang="en-US" sz="2400" dirty="0"/>
              <a:t>直接映射法</a:t>
            </a:r>
            <a:endParaRPr lang="en-US" altLang="zh-CN" sz="2400" dirty="0"/>
          </a:p>
          <a:p>
            <a:pPr lvl="1"/>
            <a:r>
              <a:rPr lang="zh-CN" altLang="en-US" sz="2400" dirty="0"/>
              <a:t>所以说我有了主存物理地址，我想读数据，怎么知道它对应</a:t>
            </a:r>
            <a:r>
              <a:rPr lang="en-US" altLang="zh-CN" sz="2400" dirty="0"/>
              <a:t>Cache</a:t>
            </a:r>
            <a:r>
              <a:rPr lang="zh-CN" altLang="en-US" sz="2400" dirty="0"/>
              <a:t>里的哪一行？在不在</a:t>
            </a:r>
            <a:r>
              <a:rPr lang="en-US" altLang="zh-CN" sz="2400" dirty="0"/>
              <a:t>Cache</a:t>
            </a:r>
            <a:r>
              <a:rPr lang="zh-CN" altLang="en-US" sz="2400" dirty="0"/>
              <a:t>里？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EE39E-815D-4BEC-8DF6-11AD257F307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905497" y="3206046"/>
            <a:ext cx="68961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89897" y="3206046"/>
            <a:ext cx="12496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块内地址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98940" y="3642926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高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m-c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330658" y="364292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低</a:t>
            </a:r>
            <a:r>
              <a:rPr lang="en-US" altLang="zh-CN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位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33231" y="3206046"/>
            <a:ext cx="1233146" cy="41656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</a:rPr>
              <a:t>Cache</a:t>
            </a:r>
            <a:r>
              <a:rPr lang="zh-CN" altLang="en-US" sz="1600" dirty="0">
                <a:solidFill>
                  <a:srgbClr val="C00000"/>
                </a:solidFill>
              </a:rPr>
              <a:t>行号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762331" y="3640380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中间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661171" y="4598522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标记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661171" y="5436222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标记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661171" y="5861324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标记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78789" y="4410223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943621" y="4598063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有效位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943621" y="5435763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有效位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943621" y="5860865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有效位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3520" y="3171219"/>
            <a:ext cx="3243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/>
              <a:t>主存（物理）</a:t>
            </a:r>
            <a:endParaRPr lang="en-US" altLang="zh-CN" sz="2400" b="1" dirty="0"/>
          </a:p>
          <a:p>
            <a:pPr algn="r"/>
            <a:r>
              <a:rPr lang="zh-CN" altLang="en-US" sz="2400" b="1" dirty="0"/>
              <a:t>地址：</a:t>
            </a:r>
            <a:endParaRPr lang="zh-CN" altLang="en-US" sz="2400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629227" y="4479892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42" name="矩形 41"/>
          <p:cNvSpPr/>
          <p:nvPr/>
        </p:nvSpPr>
        <p:spPr>
          <a:xfrm>
            <a:off x="3943621" y="5014623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有效位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661171" y="5015082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389314" y="4603806"/>
            <a:ext cx="2905951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altLang="zh-CN" baseline="30000" dirty="0">
                <a:solidFill>
                  <a:schemeClr val="bg1">
                    <a:lumMod val="8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字节块（行）内数据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389314" y="5023856"/>
            <a:ext cx="2905951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altLang="zh-CN" baseline="30000" dirty="0">
                <a:solidFill>
                  <a:schemeClr val="bg1">
                    <a:lumMod val="8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字节块（行）内数据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389314" y="5446558"/>
            <a:ext cx="2905951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altLang="zh-CN" baseline="30000" dirty="0">
                <a:solidFill>
                  <a:schemeClr val="bg1">
                    <a:lumMod val="8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字节块（行）内数据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389314" y="5866608"/>
            <a:ext cx="2905951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altLang="zh-CN" baseline="30000" dirty="0">
                <a:solidFill>
                  <a:schemeClr val="bg1">
                    <a:lumMod val="8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字节块（行）内数据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7793543" y="2637722"/>
            <a:ext cx="293541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第一步：找行号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第二步：比标记</a:t>
            </a:r>
            <a:endParaRPr lang="en-US" altLang="zh-CN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</a:rPr>
              <a:t>相等</a:t>
            </a:r>
            <a:r>
              <a:rPr lang="zh-CN" altLang="en-US" sz="1600" dirty="0">
                <a:solidFill>
                  <a:schemeClr val="accent4">
                    <a:lumMod val="75000"/>
                  </a:schemeClr>
                </a:solidFill>
              </a:rPr>
              <a:t>？有希望！继续</a:t>
            </a:r>
            <a:endParaRPr lang="en-US" altLang="zh-CN" sz="1600" dirty="0">
              <a:solidFill>
                <a:schemeClr val="accent4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</a:rPr>
              <a:t>不等</a:t>
            </a:r>
            <a:r>
              <a:rPr lang="zh-CN" altLang="en-US" sz="1600" dirty="0">
                <a:solidFill>
                  <a:schemeClr val="accent4">
                    <a:lumMod val="75000"/>
                  </a:schemeClr>
                </a:solidFill>
              </a:rPr>
              <a:t>？没希望！读内存块去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4" name="内容占位符 2"/>
          <p:cNvSpPr txBox="1"/>
          <p:nvPr/>
        </p:nvSpPr>
        <p:spPr>
          <a:xfrm>
            <a:off x="2152650" y="1182256"/>
            <a:ext cx="9201150" cy="1496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问题一：</a:t>
            </a:r>
            <a:r>
              <a:rPr lang="en-US" altLang="zh-CN" sz="2400" dirty="0"/>
              <a:t> Cache</a:t>
            </a:r>
            <a:r>
              <a:rPr lang="zh-CN" altLang="en-US" sz="2400" dirty="0"/>
              <a:t>行和主存块的映射</a:t>
            </a:r>
            <a:endParaRPr lang="en-US" altLang="zh-CN" sz="2400" dirty="0"/>
          </a:p>
          <a:p>
            <a:pPr lvl="1"/>
            <a:r>
              <a:rPr lang="zh-CN" altLang="en-US" sz="2400" dirty="0"/>
              <a:t>直接映射法</a:t>
            </a:r>
            <a:endParaRPr lang="en-US" altLang="zh-CN" sz="2400" dirty="0"/>
          </a:p>
          <a:p>
            <a:pPr lvl="1"/>
            <a:r>
              <a:rPr lang="zh-CN" altLang="en-US" sz="2400" dirty="0"/>
              <a:t>所以说我有了主存物理地址，我想读数据，怎么知道它对应</a:t>
            </a:r>
            <a:r>
              <a:rPr lang="en-US" altLang="zh-CN" sz="2400" dirty="0"/>
              <a:t>Cache</a:t>
            </a:r>
            <a:r>
              <a:rPr lang="zh-CN" altLang="en-US" sz="2400" dirty="0"/>
              <a:t>里的哪一行？在不在</a:t>
            </a:r>
            <a:r>
              <a:rPr lang="en-US" altLang="zh-CN" sz="2400" dirty="0"/>
              <a:t>Cache</a:t>
            </a:r>
            <a:r>
              <a:rPr lang="zh-CN" altLang="en-US" sz="2400" dirty="0"/>
              <a:t>里？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B040-E07C-43C2-B697-D3FF70084B8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905497" y="3206046"/>
            <a:ext cx="68961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89897" y="3206046"/>
            <a:ext cx="12496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块内地址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98940" y="3642926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高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m-c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330658" y="364292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低</a:t>
            </a:r>
            <a:r>
              <a:rPr lang="en-US" altLang="zh-CN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位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33231" y="3206046"/>
            <a:ext cx="1233146" cy="41656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</a:rPr>
              <a:t>Cache</a:t>
            </a:r>
            <a:r>
              <a:rPr lang="zh-CN" altLang="en-US" dirty="0">
                <a:solidFill>
                  <a:srgbClr val="C00000"/>
                </a:solidFill>
              </a:rPr>
              <a:t>行号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762331" y="3640380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中间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661171" y="4598522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标记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661171" y="5015082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标记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661171" y="5436222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标记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661171" y="5861324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标记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78789" y="4410223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943621" y="4598063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有效位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943621" y="5435763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有效位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943621" y="5860865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有效位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3520" y="3171219"/>
            <a:ext cx="3243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/>
              <a:t>主存（物理）</a:t>
            </a:r>
            <a:endParaRPr lang="en-US" altLang="zh-CN" sz="2400" b="1" dirty="0"/>
          </a:p>
          <a:p>
            <a:pPr algn="r"/>
            <a:r>
              <a:rPr lang="zh-CN" altLang="en-US" sz="2400" b="1" dirty="0"/>
              <a:t>地址：</a:t>
            </a:r>
            <a:endParaRPr lang="zh-CN" altLang="en-US" sz="2400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629227" y="4479892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42" name="矩形 41"/>
          <p:cNvSpPr/>
          <p:nvPr/>
        </p:nvSpPr>
        <p:spPr>
          <a:xfrm>
            <a:off x="3943621" y="5014623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389314" y="4603806"/>
            <a:ext cx="2905951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altLang="zh-CN" baseline="30000" dirty="0">
                <a:solidFill>
                  <a:schemeClr val="bg1">
                    <a:lumMod val="8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字节块（行）内数据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389314" y="5023856"/>
            <a:ext cx="2905951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altLang="zh-CN" baseline="30000" dirty="0">
                <a:solidFill>
                  <a:schemeClr val="bg1">
                    <a:lumMod val="8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字节块（行）内数据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389314" y="5446558"/>
            <a:ext cx="2905951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altLang="zh-CN" baseline="30000" dirty="0">
                <a:solidFill>
                  <a:schemeClr val="bg1">
                    <a:lumMod val="8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字节块（行）内数据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389314" y="5866608"/>
            <a:ext cx="2905951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altLang="zh-CN" baseline="30000" dirty="0">
                <a:solidFill>
                  <a:schemeClr val="bg1">
                    <a:lumMod val="8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字节块（行）内数据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793543" y="2637721"/>
            <a:ext cx="2935419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第一步：找行号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第二步：比标记</a:t>
            </a:r>
            <a:endParaRPr lang="en-US" altLang="zh-CN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</a:rPr>
              <a:t>相等</a:t>
            </a:r>
            <a:r>
              <a:rPr lang="zh-CN" altLang="en-US" sz="1600" dirty="0">
                <a:solidFill>
                  <a:schemeClr val="accent4">
                    <a:lumMod val="75000"/>
                  </a:schemeClr>
                </a:solidFill>
              </a:rPr>
              <a:t>？有希望！继续</a:t>
            </a:r>
            <a:endParaRPr lang="en-US" altLang="zh-CN" sz="1600" dirty="0">
              <a:solidFill>
                <a:schemeClr val="accent4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</a:rPr>
              <a:t>不等</a:t>
            </a:r>
            <a:r>
              <a:rPr lang="zh-CN" altLang="en-US" sz="1600" dirty="0">
                <a:solidFill>
                  <a:schemeClr val="accent4">
                    <a:lumMod val="75000"/>
                  </a:schemeClr>
                </a:solidFill>
              </a:rPr>
              <a:t>？没希望！读内存块去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第三步：看有效位</a:t>
            </a:r>
            <a:endParaRPr lang="en-US" altLang="zh-CN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B050"/>
                </a:solidFill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</a:rPr>
              <a:t>1</a:t>
            </a:r>
            <a:r>
              <a:rPr lang="zh-CN" altLang="en-US" sz="1600" dirty="0">
                <a:solidFill>
                  <a:srgbClr val="00B050"/>
                </a:solidFill>
              </a:rPr>
              <a:t>？中！读</a:t>
            </a:r>
            <a:r>
              <a:rPr lang="en-US" altLang="zh-CN" sz="1600" dirty="0">
                <a:solidFill>
                  <a:srgbClr val="00B050"/>
                </a:solidFill>
              </a:rPr>
              <a:t>Cache</a:t>
            </a:r>
            <a:endParaRPr lang="en-US" altLang="zh-CN" sz="1600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B050"/>
                </a:solidFill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</a:rPr>
              <a:t>0</a:t>
            </a:r>
            <a:r>
              <a:rPr lang="zh-CN" altLang="en-US" sz="1600" dirty="0">
                <a:solidFill>
                  <a:srgbClr val="00B050"/>
                </a:solidFill>
              </a:rPr>
              <a:t>？没中！读内存块去</a:t>
            </a:r>
            <a:endParaRPr lang="en-US" altLang="zh-CN" sz="1600" dirty="0">
              <a:solidFill>
                <a:srgbClr val="00B050"/>
              </a:solidFill>
            </a:endParaRPr>
          </a:p>
        </p:txBody>
      </p:sp>
      <p:sp>
        <p:nvSpPr>
          <p:cNvPr id="37" name="内容占位符 2"/>
          <p:cNvSpPr txBox="1"/>
          <p:nvPr/>
        </p:nvSpPr>
        <p:spPr>
          <a:xfrm>
            <a:off x="2152650" y="1182256"/>
            <a:ext cx="9201150" cy="1496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问题一：</a:t>
            </a:r>
            <a:r>
              <a:rPr lang="en-US" altLang="zh-CN" sz="2400" dirty="0"/>
              <a:t> Cache</a:t>
            </a:r>
            <a:r>
              <a:rPr lang="zh-CN" altLang="en-US" sz="2400" dirty="0"/>
              <a:t>行和主存块的映射</a:t>
            </a:r>
            <a:endParaRPr lang="en-US" altLang="zh-CN" sz="2400" dirty="0"/>
          </a:p>
          <a:p>
            <a:pPr lvl="1"/>
            <a:r>
              <a:rPr lang="zh-CN" altLang="en-US" sz="2400" dirty="0"/>
              <a:t>直接映射法</a:t>
            </a:r>
            <a:endParaRPr lang="en-US" altLang="zh-CN" sz="2400" dirty="0"/>
          </a:p>
          <a:p>
            <a:pPr lvl="1"/>
            <a:r>
              <a:rPr lang="zh-CN" altLang="en-US" sz="2400" dirty="0"/>
              <a:t>所以说我有了主存物理地址，我想读数据，怎么知道它对应</a:t>
            </a:r>
            <a:r>
              <a:rPr lang="en-US" altLang="zh-CN" sz="2400" dirty="0"/>
              <a:t>Cache</a:t>
            </a:r>
            <a:r>
              <a:rPr lang="zh-CN" altLang="en-US" sz="2400" dirty="0"/>
              <a:t>里的哪一行？在不在</a:t>
            </a:r>
            <a:r>
              <a:rPr lang="en-US" altLang="zh-CN" sz="2400" dirty="0"/>
              <a:t>Cache</a:t>
            </a:r>
            <a:r>
              <a:rPr lang="zh-CN" altLang="en-US" sz="2400" dirty="0"/>
              <a:t>里？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FA60-1847-4A6B-B7F8-338BB756EDC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905497" y="3206046"/>
            <a:ext cx="68961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89897" y="3206046"/>
            <a:ext cx="12496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块内地址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98940" y="3642926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高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m-c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330658" y="364292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低</a:t>
            </a:r>
            <a:r>
              <a:rPr lang="en-US" altLang="zh-CN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位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33231" y="3206046"/>
            <a:ext cx="1233146" cy="41656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</a:rPr>
              <a:t>Cache</a:t>
            </a:r>
            <a:r>
              <a:rPr lang="zh-CN" altLang="en-US" sz="1600" dirty="0">
                <a:solidFill>
                  <a:srgbClr val="C00000"/>
                </a:solidFill>
              </a:rPr>
              <a:t>行号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762331" y="3640380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中间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661171" y="4598522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标记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661171" y="5015082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标记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661171" y="5436222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标记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661171" y="5861324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标记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78789" y="4410223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943621" y="4598063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有效位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943621" y="5435763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有效位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943621" y="5860865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有效位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3520" y="3171219"/>
            <a:ext cx="3243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/>
              <a:t>主存（物理）</a:t>
            </a:r>
            <a:endParaRPr lang="en-US" altLang="zh-CN" sz="2400" b="1" dirty="0"/>
          </a:p>
          <a:p>
            <a:pPr algn="r"/>
            <a:r>
              <a:rPr lang="zh-CN" altLang="en-US" sz="2400" b="1" dirty="0"/>
              <a:t>地址：</a:t>
            </a:r>
            <a:endParaRPr lang="zh-CN" altLang="en-US" sz="2400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629227" y="4479892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42" name="矩形 41"/>
          <p:cNvSpPr/>
          <p:nvPr/>
        </p:nvSpPr>
        <p:spPr>
          <a:xfrm>
            <a:off x="3943621" y="5014623"/>
            <a:ext cx="689610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85000"/>
                  </a:schemeClr>
                </a:solidFill>
              </a:rPr>
              <a:t>有效位</a:t>
            </a:r>
            <a:endParaRPr lang="zh-CN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406331" y="4562832"/>
            <a:ext cx="242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第四步：如命中，按照块内地址读</a:t>
            </a:r>
            <a:r>
              <a:rPr lang="en-US" altLang="zh-CN" dirty="0">
                <a:solidFill>
                  <a:schemeClr val="accent5"/>
                </a:solidFill>
              </a:rPr>
              <a:t>cache</a:t>
            </a:r>
            <a:endParaRPr lang="en-US" altLang="zh-CN" sz="1600" dirty="0">
              <a:solidFill>
                <a:schemeClr val="accent5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389314" y="4603806"/>
            <a:ext cx="2905951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altLang="zh-CN" baseline="30000" dirty="0">
                <a:solidFill>
                  <a:schemeClr val="bg1">
                    <a:lumMod val="8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字节块（行）内数据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389314" y="5446558"/>
            <a:ext cx="2905951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altLang="zh-CN" baseline="30000" dirty="0">
                <a:solidFill>
                  <a:schemeClr val="bg1">
                    <a:lumMod val="8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字节块（行）内数据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389314" y="5866608"/>
            <a:ext cx="2905951" cy="416560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altLang="zh-CN" baseline="30000" dirty="0">
                <a:solidFill>
                  <a:schemeClr val="bg1">
                    <a:lumMod val="8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字节块（行）内数据</a:t>
            </a:r>
            <a:endParaRPr lang="zh-CN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93543" y="2637721"/>
            <a:ext cx="2935419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第一步：找行号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第二步：比标记</a:t>
            </a:r>
            <a:endParaRPr lang="en-US" altLang="zh-CN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</a:rPr>
              <a:t>相等</a:t>
            </a:r>
            <a:r>
              <a:rPr lang="zh-CN" altLang="en-US" sz="1600" dirty="0">
                <a:solidFill>
                  <a:schemeClr val="accent4">
                    <a:lumMod val="75000"/>
                  </a:schemeClr>
                </a:solidFill>
              </a:rPr>
              <a:t>？有希望！继续</a:t>
            </a:r>
            <a:endParaRPr lang="en-US" altLang="zh-CN" sz="1600" dirty="0">
              <a:solidFill>
                <a:schemeClr val="accent4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</a:rPr>
              <a:t>不等</a:t>
            </a:r>
            <a:r>
              <a:rPr lang="zh-CN" altLang="en-US" sz="1600" dirty="0">
                <a:solidFill>
                  <a:schemeClr val="accent4">
                    <a:lumMod val="75000"/>
                  </a:schemeClr>
                </a:solidFill>
              </a:rPr>
              <a:t>？没希望！读内存块去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第三步：看有效位</a:t>
            </a:r>
            <a:endParaRPr lang="en-US" altLang="zh-CN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B050"/>
                </a:solidFill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</a:rPr>
              <a:t>1</a:t>
            </a:r>
            <a:r>
              <a:rPr lang="zh-CN" altLang="en-US" sz="1600" dirty="0">
                <a:solidFill>
                  <a:srgbClr val="00B050"/>
                </a:solidFill>
              </a:rPr>
              <a:t>？中！读</a:t>
            </a:r>
            <a:r>
              <a:rPr lang="en-US" altLang="zh-CN" sz="1600" dirty="0">
                <a:solidFill>
                  <a:srgbClr val="00B050"/>
                </a:solidFill>
              </a:rPr>
              <a:t>cache</a:t>
            </a:r>
            <a:endParaRPr lang="en-US" altLang="zh-CN" sz="1600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B050"/>
                </a:solidFill>
              </a:rPr>
              <a:t>为</a:t>
            </a:r>
            <a:r>
              <a:rPr lang="en-US" altLang="zh-CN" sz="1600" dirty="0">
                <a:solidFill>
                  <a:srgbClr val="00B050"/>
                </a:solidFill>
              </a:rPr>
              <a:t>0</a:t>
            </a:r>
            <a:r>
              <a:rPr lang="zh-CN" altLang="en-US" sz="1600" dirty="0">
                <a:solidFill>
                  <a:srgbClr val="00B050"/>
                </a:solidFill>
              </a:rPr>
              <a:t>？没中！读内存块去</a:t>
            </a:r>
            <a:endParaRPr lang="en-US" altLang="zh-CN" sz="1600" dirty="0">
              <a:solidFill>
                <a:srgbClr val="00B050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389314" y="5023856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406331" y="5280433"/>
            <a:ext cx="24252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第四步*：如不命中，按照物理内存读主存，把块搬入</a:t>
            </a:r>
            <a:r>
              <a:rPr lang="en-US" altLang="zh-CN" dirty="0">
                <a:solidFill>
                  <a:schemeClr val="accent5"/>
                </a:solidFill>
              </a:rPr>
              <a:t>cache</a:t>
            </a:r>
            <a:r>
              <a:rPr lang="zh-CN" altLang="en-US" dirty="0">
                <a:solidFill>
                  <a:schemeClr val="accent5"/>
                </a:solidFill>
              </a:rPr>
              <a:t>，填好标记和有效位，按照块内地址读</a:t>
            </a:r>
            <a:r>
              <a:rPr lang="en-US" altLang="zh-CN" dirty="0">
                <a:solidFill>
                  <a:schemeClr val="accent5"/>
                </a:solidFill>
              </a:rPr>
              <a:t>cache</a:t>
            </a:r>
            <a:endParaRPr lang="en-US" altLang="zh-CN" dirty="0">
              <a:solidFill>
                <a:schemeClr val="accent5"/>
              </a:solidFill>
            </a:endParaRPr>
          </a:p>
        </p:txBody>
      </p:sp>
      <p:sp>
        <p:nvSpPr>
          <p:cNvPr id="36" name="内容占位符 2"/>
          <p:cNvSpPr txBox="1"/>
          <p:nvPr/>
        </p:nvSpPr>
        <p:spPr>
          <a:xfrm>
            <a:off x="2152650" y="1182256"/>
            <a:ext cx="9201150" cy="1496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问题一：</a:t>
            </a:r>
            <a:r>
              <a:rPr lang="en-US" altLang="zh-CN" sz="2400" dirty="0"/>
              <a:t> Cache</a:t>
            </a:r>
            <a:r>
              <a:rPr lang="zh-CN" altLang="en-US" sz="2400" dirty="0"/>
              <a:t>行和主存块的映射</a:t>
            </a:r>
            <a:endParaRPr lang="en-US" altLang="zh-CN" sz="2400" dirty="0"/>
          </a:p>
          <a:p>
            <a:pPr lvl="1"/>
            <a:r>
              <a:rPr lang="zh-CN" altLang="en-US" sz="2400" dirty="0"/>
              <a:t>直接映射法</a:t>
            </a:r>
            <a:endParaRPr lang="en-US" altLang="zh-CN" sz="2400" dirty="0"/>
          </a:p>
          <a:p>
            <a:pPr lvl="1"/>
            <a:r>
              <a:rPr lang="zh-CN" altLang="en-US" sz="2400" dirty="0"/>
              <a:t>所以说我有了主存物理地址，我想读数据，怎么知道它对应</a:t>
            </a:r>
            <a:r>
              <a:rPr lang="en-US" altLang="zh-CN" sz="2400" dirty="0"/>
              <a:t>Cache</a:t>
            </a:r>
            <a:r>
              <a:rPr lang="zh-CN" altLang="en-US" sz="2400" dirty="0"/>
              <a:t>里的哪一行？在不在</a:t>
            </a:r>
            <a:r>
              <a:rPr lang="en-US" altLang="zh-CN" sz="2400" dirty="0"/>
              <a:t>Cache</a:t>
            </a:r>
            <a:r>
              <a:rPr lang="zh-CN" altLang="en-US" sz="2400" dirty="0"/>
              <a:t>里？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DEF8-526C-4A85-B954-01B77BCFD5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113639"/>
            <a:ext cx="4483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块大小：</a:t>
            </a:r>
            <a:r>
              <a:rPr lang="en-US" altLang="zh-CN" sz="3600" dirty="0"/>
              <a:t>4B</a:t>
            </a:r>
            <a:endParaRPr lang="en-US" altLang="zh-CN" sz="3600" dirty="0"/>
          </a:p>
          <a:p>
            <a:r>
              <a:rPr lang="zh-CN" altLang="en-US" sz="3600" dirty="0"/>
              <a:t>物理地址：</a:t>
            </a:r>
            <a:r>
              <a:rPr lang="en-US" altLang="zh-CN" sz="3600" dirty="0"/>
              <a:t>32</a:t>
            </a:r>
            <a:r>
              <a:rPr lang="zh-CN" altLang="en-US" sz="3600" dirty="0"/>
              <a:t>位</a:t>
            </a:r>
            <a:endParaRPr lang="en-US" altLang="zh-CN" sz="3600" dirty="0"/>
          </a:p>
          <a:p>
            <a:r>
              <a:rPr lang="en-US" altLang="zh-CN" sz="3600" dirty="0"/>
              <a:t>Cache</a:t>
            </a:r>
            <a:r>
              <a:rPr lang="zh-CN" altLang="en-US" sz="3600" dirty="0"/>
              <a:t>行数：</a:t>
            </a:r>
            <a:r>
              <a:rPr lang="en-US" altLang="zh-CN" sz="3600" dirty="0"/>
              <a:t>4</a:t>
            </a:r>
            <a:r>
              <a:rPr lang="zh-CN" altLang="en-US" sz="3600" dirty="0"/>
              <a:t>行</a:t>
            </a:r>
            <a:endParaRPr lang="en-US" altLang="zh-CN" sz="3600" dirty="0"/>
          </a:p>
          <a:p>
            <a:r>
              <a:rPr lang="zh-CN" altLang="en-US" sz="3600" dirty="0"/>
              <a:t>直接映射法</a:t>
            </a:r>
            <a:endParaRPr lang="zh-CN" altLang="en-US" sz="3600" dirty="0"/>
          </a:p>
        </p:txBody>
      </p:sp>
      <p:sp>
        <p:nvSpPr>
          <p:cNvPr id="8" name="文本框 7"/>
          <p:cNvSpPr txBox="1"/>
          <p:nvPr/>
        </p:nvSpPr>
        <p:spPr>
          <a:xfrm>
            <a:off x="113808" y="3794649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4519306" y="40492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19306" y="446581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19306" y="48869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19306" y="5312059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36924" y="3860958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01756" y="404879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01756" y="446535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01756" y="488649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01756" y="5311600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247449" y="405454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7D      3A      4C      56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47449" y="447459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FF      01      83      9D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47449" y="489729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33      8D      9C      7F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47449" y="531734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BC      A5      34      21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07979" y="345814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有效位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038600" y="5920758"/>
            <a:ext cx="2153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标记（高位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省略）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77383" y="326979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数据区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26956" y="1853657"/>
            <a:ext cx="451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00…00101001</a:t>
            </a:r>
            <a:endParaRPr lang="zh-CN" altLang="en-US" sz="4400" dirty="0"/>
          </a:p>
        </p:txBody>
      </p:sp>
      <p:sp>
        <p:nvSpPr>
          <p:cNvPr id="27" name="文本框 26"/>
          <p:cNvSpPr txBox="1"/>
          <p:nvPr/>
        </p:nvSpPr>
        <p:spPr>
          <a:xfrm>
            <a:off x="5520453" y="3703423"/>
            <a:ext cx="229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0         1        2        3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6238261" y="1291785"/>
            <a:ext cx="5116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主存物理地址（读</a:t>
            </a:r>
            <a:r>
              <a:rPr lang="en-US" altLang="zh-CN" sz="3200" dirty="0"/>
              <a:t>1</a:t>
            </a:r>
            <a:r>
              <a:rPr lang="zh-CN" altLang="en-US" sz="3200" dirty="0"/>
              <a:t>字节）</a:t>
            </a:r>
            <a:r>
              <a:rPr lang="en-US" altLang="zh-CN" sz="3200" dirty="0"/>
              <a:t>: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DEF8-526C-4A85-B954-01B77BCFD5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113639"/>
            <a:ext cx="4483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块大小：</a:t>
            </a:r>
            <a:r>
              <a:rPr lang="en-US" altLang="zh-CN" sz="3600" dirty="0"/>
              <a:t>4B</a:t>
            </a:r>
            <a:endParaRPr lang="en-US" altLang="zh-CN" sz="3600" dirty="0"/>
          </a:p>
          <a:p>
            <a:r>
              <a:rPr lang="zh-CN" altLang="en-US" sz="3600" dirty="0"/>
              <a:t>物理地址：</a:t>
            </a:r>
            <a:r>
              <a:rPr lang="en-US" altLang="zh-CN" sz="3600" dirty="0"/>
              <a:t>32</a:t>
            </a:r>
            <a:r>
              <a:rPr lang="zh-CN" altLang="en-US" sz="3600" dirty="0"/>
              <a:t>位</a:t>
            </a:r>
            <a:endParaRPr lang="en-US" altLang="zh-CN" sz="3600" dirty="0"/>
          </a:p>
          <a:p>
            <a:r>
              <a:rPr lang="en-US" altLang="zh-CN" sz="3600" dirty="0"/>
              <a:t>Cache</a:t>
            </a:r>
            <a:r>
              <a:rPr lang="zh-CN" altLang="en-US" sz="3600" dirty="0"/>
              <a:t>行数：</a:t>
            </a:r>
            <a:r>
              <a:rPr lang="en-US" altLang="zh-CN" sz="3600" dirty="0"/>
              <a:t>4</a:t>
            </a:r>
            <a:r>
              <a:rPr lang="zh-CN" altLang="en-US" sz="3600" dirty="0"/>
              <a:t>行</a:t>
            </a:r>
            <a:endParaRPr lang="en-US" altLang="zh-CN" sz="3600" dirty="0"/>
          </a:p>
          <a:p>
            <a:r>
              <a:rPr lang="zh-CN" altLang="en-US" sz="3600" dirty="0"/>
              <a:t>直接映射法</a:t>
            </a:r>
            <a:endParaRPr lang="zh-CN" altLang="en-US" sz="3600" dirty="0"/>
          </a:p>
        </p:txBody>
      </p:sp>
      <p:sp>
        <p:nvSpPr>
          <p:cNvPr id="8" name="文本框 7"/>
          <p:cNvSpPr txBox="1"/>
          <p:nvPr/>
        </p:nvSpPr>
        <p:spPr>
          <a:xfrm>
            <a:off x="113808" y="3794649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4519306" y="40492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19306" y="446581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19306" y="48869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19306" y="5312059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36924" y="3860958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01756" y="404879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01756" y="446535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01756" y="488649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01756" y="5311600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247449" y="405454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7D      3A      4C      56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47449" y="447459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FF      01      83      9D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47449" y="489729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33      8D      9C      7F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47449" y="531734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BC      A5      34      21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07979" y="345814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有效位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038600" y="5920758"/>
            <a:ext cx="2153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标记（高位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省略）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77383" y="326979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数据区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26956" y="1853657"/>
            <a:ext cx="451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accent2"/>
                </a:solidFill>
              </a:rPr>
              <a:t>00…001010</a:t>
            </a:r>
            <a:r>
              <a:rPr lang="en-US" altLang="zh-CN" sz="4400" dirty="0">
                <a:solidFill>
                  <a:schemeClr val="accent5"/>
                </a:solidFill>
              </a:rPr>
              <a:t>01</a:t>
            </a:r>
            <a:endParaRPr lang="zh-CN" altLang="en-US" sz="4400" dirty="0">
              <a:solidFill>
                <a:schemeClr val="accent5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520453" y="3703423"/>
            <a:ext cx="229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0         1        2        3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433786" y="2516929"/>
            <a:ext cx="1602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</a:rPr>
              <a:t>块内偏移量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62554" y="2553989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</a:rPr>
              <a:t>块号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3402941" y="817594"/>
            <a:ext cx="7478713" cy="1128053"/>
          </a:xfrm>
          <a:custGeom>
            <a:avLst/>
            <a:gdLst>
              <a:gd name="connsiteX0" fmla="*/ 0 w 7689842"/>
              <a:gd name="connsiteY0" fmla="*/ 473131 h 1223901"/>
              <a:gd name="connsiteX1" fmla="*/ 6679932 w 7689842"/>
              <a:gd name="connsiteY1" fmla="*/ 30368 h 1223901"/>
              <a:gd name="connsiteX2" fmla="*/ 7546206 w 7689842"/>
              <a:gd name="connsiteY2" fmla="*/ 1223901 h 122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89842" h="1223901">
                <a:moveTo>
                  <a:pt x="0" y="473131"/>
                </a:moveTo>
                <a:cubicBezTo>
                  <a:pt x="2711115" y="189185"/>
                  <a:pt x="5422231" y="-94760"/>
                  <a:pt x="6679932" y="30368"/>
                </a:cubicBezTo>
                <a:cubicBezTo>
                  <a:pt x="7937633" y="155496"/>
                  <a:pt x="7741919" y="689698"/>
                  <a:pt x="7546206" y="1223901"/>
                </a:cubicBezTo>
              </a:path>
            </a:pathLst>
          </a:custGeom>
          <a:noFill/>
          <a:ln w="6350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491366" y="1207202"/>
            <a:ext cx="190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2</a:t>
            </a:r>
            <a:r>
              <a:rPr lang="zh-CN" altLang="en-US" dirty="0">
                <a:solidFill>
                  <a:schemeClr val="tx2"/>
                </a:solidFill>
              </a:rPr>
              <a:t>位块内偏移量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238261" y="1291785"/>
            <a:ext cx="5116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主存物理地址（读</a:t>
            </a:r>
            <a:r>
              <a:rPr lang="en-US" altLang="zh-CN" sz="3200" dirty="0"/>
              <a:t>1</a:t>
            </a:r>
            <a:r>
              <a:rPr lang="zh-CN" altLang="en-US" sz="3200" dirty="0"/>
              <a:t>字节）</a:t>
            </a:r>
            <a:r>
              <a:rPr lang="en-US" altLang="zh-CN" sz="3200" dirty="0"/>
              <a:t>: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DEF8-526C-4A85-B954-01B77BCFD5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113639"/>
            <a:ext cx="4483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块大小：</a:t>
            </a:r>
            <a:r>
              <a:rPr lang="en-US" altLang="zh-CN" sz="3600" dirty="0"/>
              <a:t>4B</a:t>
            </a:r>
            <a:endParaRPr lang="en-US" altLang="zh-CN" sz="3600" dirty="0"/>
          </a:p>
          <a:p>
            <a:r>
              <a:rPr lang="zh-CN" altLang="en-US" sz="3600" dirty="0"/>
              <a:t>物理地址：</a:t>
            </a:r>
            <a:r>
              <a:rPr lang="en-US" altLang="zh-CN" sz="3600" dirty="0"/>
              <a:t>32</a:t>
            </a:r>
            <a:r>
              <a:rPr lang="zh-CN" altLang="en-US" sz="3600" dirty="0"/>
              <a:t>位</a:t>
            </a:r>
            <a:endParaRPr lang="en-US" altLang="zh-CN" sz="3600" dirty="0"/>
          </a:p>
          <a:p>
            <a:r>
              <a:rPr lang="en-US" altLang="zh-CN" sz="3600" dirty="0"/>
              <a:t>Cache</a:t>
            </a:r>
            <a:r>
              <a:rPr lang="zh-CN" altLang="en-US" sz="3600" dirty="0"/>
              <a:t>行数：</a:t>
            </a:r>
            <a:r>
              <a:rPr lang="en-US" altLang="zh-CN" sz="3600" dirty="0"/>
              <a:t>4</a:t>
            </a:r>
            <a:r>
              <a:rPr lang="zh-CN" altLang="en-US" sz="3600" dirty="0"/>
              <a:t>行</a:t>
            </a:r>
            <a:endParaRPr lang="en-US" altLang="zh-CN" sz="3600" dirty="0"/>
          </a:p>
          <a:p>
            <a:r>
              <a:rPr lang="zh-CN" altLang="en-US" sz="3600" dirty="0"/>
              <a:t>直接映射法</a:t>
            </a:r>
            <a:endParaRPr lang="zh-CN" altLang="en-US" sz="3600" dirty="0"/>
          </a:p>
        </p:txBody>
      </p:sp>
      <p:sp>
        <p:nvSpPr>
          <p:cNvPr id="8" name="文本框 7"/>
          <p:cNvSpPr txBox="1"/>
          <p:nvPr/>
        </p:nvSpPr>
        <p:spPr>
          <a:xfrm>
            <a:off x="113808" y="3794649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4519306" y="40492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19306" y="446581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19306" y="48869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19306" y="5312059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36924" y="3860958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01756" y="404879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01756" y="446535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01756" y="488649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01756" y="5311600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247449" y="405454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7D      3A      4C      56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47449" y="447459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FF      01      83      9D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47449" y="489729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33      8D      9C      7F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47449" y="531734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BC      A5      34      21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07979" y="345814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有效位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038600" y="5920758"/>
            <a:ext cx="2153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标记（高位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省略）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77383" y="326979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数据区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26956" y="1853657"/>
            <a:ext cx="451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accent2"/>
                </a:solidFill>
              </a:rPr>
              <a:t>00…0010</a:t>
            </a:r>
            <a:r>
              <a:rPr lang="en-US" altLang="zh-CN" sz="4400" dirty="0">
                <a:solidFill>
                  <a:srgbClr val="C00000"/>
                </a:solidFill>
              </a:rPr>
              <a:t>10</a:t>
            </a:r>
            <a:r>
              <a:rPr lang="en-US" altLang="zh-CN" sz="4400" dirty="0">
                <a:solidFill>
                  <a:schemeClr val="accent5"/>
                </a:solidFill>
              </a:rPr>
              <a:t>01</a:t>
            </a:r>
            <a:endParaRPr lang="zh-CN" altLang="en-US" sz="4400" dirty="0">
              <a:solidFill>
                <a:schemeClr val="accent5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520453" y="3703423"/>
            <a:ext cx="229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0         1        2        3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433786" y="2516929"/>
            <a:ext cx="1602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</a:rPr>
              <a:t>块内偏移量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62554" y="2553989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</a:rPr>
              <a:t>标记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447998" y="2552632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行号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4292867" y="2772076"/>
            <a:ext cx="5659655" cy="739794"/>
          </a:xfrm>
          <a:custGeom>
            <a:avLst/>
            <a:gdLst>
              <a:gd name="connsiteX0" fmla="*/ 0 w 5659655"/>
              <a:gd name="connsiteY0" fmla="*/ 0 h 739794"/>
              <a:gd name="connsiteX1" fmla="*/ 105878 w 5659655"/>
              <a:gd name="connsiteY1" fmla="*/ 9625 h 739794"/>
              <a:gd name="connsiteX2" fmla="*/ 4668253 w 5659655"/>
              <a:gd name="connsiteY2" fmla="*/ 731520 h 739794"/>
              <a:gd name="connsiteX3" fmla="*/ 5659655 w 5659655"/>
              <a:gd name="connsiteY3" fmla="*/ 336884 h 73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59655" h="739794">
                <a:moveTo>
                  <a:pt x="0" y="0"/>
                </a:moveTo>
                <a:lnTo>
                  <a:pt x="105878" y="9625"/>
                </a:lnTo>
                <a:cubicBezTo>
                  <a:pt x="883920" y="131545"/>
                  <a:pt x="3742624" y="676977"/>
                  <a:pt x="4668253" y="731520"/>
                </a:cubicBezTo>
                <a:cubicBezTo>
                  <a:pt x="5593883" y="786063"/>
                  <a:pt x="5626769" y="561473"/>
                  <a:pt x="5659655" y="336884"/>
                </a:cubicBezTo>
              </a:path>
            </a:pathLst>
          </a:custGeom>
          <a:noFill/>
          <a:ln w="6350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791714" y="2599267"/>
            <a:ext cx="190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位行号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238261" y="1291785"/>
            <a:ext cx="5116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主存物理地址（读</a:t>
            </a:r>
            <a:r>
              <a:rPr lang="en-US" altLang="zh-CN" sz="3200" dirty="0"/>
              <a:t>1</a:t>
            </a:r>
            <a:r>
              <a:rPr lang="zh-CN" altLang="en-US" sz="3200" dirty="0"/>
              <a:t>字节）</a:t>
            </a:r>
            <a:r>
              <a:rPr lang="en-US" altLang="zh-CN" sz="3200" dirty="0"/>
              <a:t>: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DEF8-526C-4A85-B954-01B77BCFD5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113639"/>
            <a:ext cx="4483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块大小：</a:t>
            </a:r>
            <a:r>
              <a:rPr lang="en-US" altLang="zh-CN" sz="3600" dirty="0"/>
              <a:t>4B</a:t>
            </a:r>
            <a:endParaRPr lang="en-US" altLang="zh-CN" sz="3600" dirty="0"/>
          </a:p>
          <a:p>
            <a:r>
              <a:rPr lang="zh-CN" altLang="en-US" sz="3600" dirty="0"/>
              <a:t>物理地址：</a:t>
            </a:r>
            <a:r>
              <a:rPr lang="en-US" altLang="zh-CN" sz="3600" dirty="0"/>
              <a:t>32</a:t>
            </a:r>
            <a:r>
              <a:rPr lang="zh-CN" altLang="en-US" sz="3600" dirty="0"/>
              <a:t>位</a:t>
            </a:r>
            <a:endParaRPr lang="en-US" altLang="zh-CN" sz="3600" dirty="0"/>
          </a:p>
          <a:p>
            <a:r>
              <a:rPr lang="en-US" altLang="zh-CN" sz="3600" dirty="0"/>
              <a:t>Cache</a:t>
            </a:r>
            <a:r>
              <a:rPr lang="zh-CN" altLang="en-US" sz="3600" dirty="0"/>
              <a:t>行数：</a:t>
            </a:r>
            <a:r>
              <a:rPr lang="en-US" altLang="zh-CN" sz="3600" dirty="0"/>
              <a:t>4</a:t>
            </a:r>
            <a:r>
              <a:rPr lang="zh-CN" altLang="en-US" sz="3600" dirty="0"/>
              <a:t>行</a:t>
            </a:r>
            <a:endParaRPr lang="en-US" altLang="zh-CN" sz="3600" dirty="0"/>
          </a:p>
          <a:p>
            <a:r>
              <a:rPr lang="zh-CN" altLang="en-US" sz="3600" dirty="0"/>
              <a:t>直接映射法</a:t>
            </a:r>
            <a:endParaRPr lang="zh-CN" altLang="en-US" sz="3600" dirty="0"/>
          </a:p>
        </p:txBody>
      </p:sp>
      <p:sp>
        <p:nvSpPr>
          <p:cNvPr id="8" name="文本框 7"/>
          <p:cNvSpPr txBox="1"/>
          <p:nvPr/>
        </p:nvSpPr>
        <p:spPr>
          <a:xfrm>
            <a:off x="113808" y="3794649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4519306" y="40492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19306" y="446581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19306" y="48869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19306" y="5312059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36924" y="3860958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01756" y="404879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01756" y="446535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01756" y="488649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01756" y="5311600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247449" y="405454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7D      3A      4C      56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47449" y="447459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FF      01      83      9D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47449" y="489729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33      8D      9C      7F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47449" y="531734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BC      A5      34      21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07979" y="345814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有效位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038600" y="5920758"/>
            <a:ext cx="2153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标记（高位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省略）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77383" y="326979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数据区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26956" y="1853657"/>
            <a:ext cx="451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accent2"/>
                </a:solidFill>
              </a:rPr>
              <a:t>00…0010</a:t>
            </a:r>
            <a:r>
              <a:rPr lang="en-US" altLang="zh-CN" sz="4400" dirty="0">
                <a:solidFill>
                  <a:srgbClr val="C00000"/>
                </a:solidFill>
              </a:rPr>
              <a:t>10</a:t>
            </a:r>
            <a:r>
              <a:rPr lang="en-US" altLang="zh-CN" sz="4400" dirty="0">
                <a:solidFill>
                  <a:schemeClr val="accent5"/>
                </a:solidFill>
              </a:rPr>
              <a:t>01</a:t>
            </a:r>
            <a:endParaRPr lang="zh-CN" altLang="en-US" sz="4400" dirty="0">
              <a:solidFill>
                <a:schemeClr val="accent5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520453" y="3703423"/>
            <a:ext cx="229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0         1        2        3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433786" y="2516929"/>
            <a:ext cx="1602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</a:rPr>
              <a:t>块内偏移量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62554" y="2553989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</a:rPr>
              <a:t>标记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447998" y="2552632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行号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2817553" y="3012707"/>
            <a:ext cx="6701832" cy="2002055"/>
          </a:xfrm>
          <a:custGeom>
            <a:avLst/>
            <a:gdLst>
              <a:gd name="connsiteX0" fmla="*/ 6701832 w 6701832"/>
              <a:gd name="connsiteY0" fmla="*/ 0 h 2002055"/>
              <a:gd name="connsiteX1" fmla="*/ 743794 w 6701832"/>
              <a:gd name="connsiteY1" fmla="*/ 385011 h 2002055"/>
              <a:gd name="connsiteX2" fmla="*/ 291407 w 6701832"/>
              <a:gd name="connsiteY2" fmla="*/ 2002055 h 200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01832" h="2002055">
                <a:moveTo>
                  <a:pt x="6701832" y="0"/>
                </a:moveTo>
                <a:cubicBezTo>
                  <a:pt x="4257015" y="25667"/>
                  <a:pt x="1812198" y="51335"/>
                  <a:pt x="743794" y="385011"/>
                </a:cubicBezTo>
                <a:cubicBezTo>
                  <a:pt x="-324610" y="718687"/>
                  <a:pt x="-16602" y="1360371"/>
                  <a:pt x="291407" y="2002055"/>
                </a:cubicBezTo>
              </a:path>
            </a:pathLst>
          </a:custGeom>
          <a:noFill/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6238261" y="1291785"/>
            <a:ext cx="5116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主存物理地址（读</a:t>
            </a:r>
            <a:r>
              <a:rPr lang="en-US" altLang="zh-CN" sz="3200" dirty="0"/>
              <a:t>1</a:t>
            </a:r>
            <a:r>
              <a:rPr lang="zh-CN" altLang="en-US" sz="3200" dirty="0"/>
              <a:t>字节）</a:t>
            </a:r>
            <a:r>
              <a:rPr lang="en-US" altLang="zh-CN" sz="3200" dirty="0"/>
              <a:t>: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DEF8-526C-4A85-B954-01B77BCFD5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113639"/>
            <a:ext cx="4483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块大小：</a:t>
            </a:r>
            <a:r>
              <a:rPr lang="en-US" altLang="zh-CN" sz="3600" dirty="0"/>
              <a:t>4B</a:t>
            </a:r>
            <a:endParaRPr lang="en-US" altLang="zh-CN" sz="3600" dirty="0"/>
          </a:p>
          <a:p>
            <a:r>
              <a:rPr lang="zh-CN" altLang="en-US" sz="3600" dirty="0"/>
              <a:t>物理地址：</a:t>
            </a:r>
            <a:r>
              <a:rPr lang="en-US" altLang="zh-CN" sz="3600" dirty="0"/>
              <a:t>32</a:t>
            </a:r>
            <a:r>
              <a:rPr lang="zh-CN" altLang="en-US" sz="3600" dirty="0"/>
              <a:t>位</a:t>
            </a:r>
            <a:endParaRPr lang="en-US" altLang="zh-CN" sz="3600" dirty="0"/>
          </a:p>
          <a:p>
            <a:r>
              <a:rPr lang="en-US" altLang="zh-CN" sz="3600" dirty="0"/>
              <a:t>Cache</a:t>
            </a:r>
            <a:r>
              <a:rPr lang="zh-CN" altLang="en-US" sz="3600" dirty="0"/>
              <a:t>行数：</a:t>
            </a:r>
            <a:r>
              <a:rPr lang="en-US" altLang="zh-CN" sz="3600" dirty="0"/>
              <a:t>4</a:t>
            </a:r>
            <a:r>
              <a:rPr lang="zh-CN" altLang="en-US" sz="3600" dirty="0"/>
              <a:t>行</a:t>
            </a:r>
            <a:endParaRPr lang="en-US" altLang="zh-CN" sz="3600" dirty="0"/>
          </a:p>
          <a:p>
            <a:r>
              <a:rPr lang="zh-CN" altLang="en-US" sz="3600" dirty="0"/>
              <a:t>直接映射法</a:t>
            </a:r>
            <a:endParaRPr lang="zh-CN" altLang="en-US" sz="3600" dirty="0"/>
          </a:p>
        </p:txBody>
      </p:sp>
      <p:sp>
        <p:nvSpPr>
          <p:cNvPr id="8" name="文本框 7"/>
          <p:cNvSpPr txBox="1"/>
          <p:nvPr/>
        </p:nvSpPr>
        <p:spPr>
          <a:xfrm>
            <a:off x="113808" y="3794649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4519306" y="40492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19306" y="446581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19306" y="48869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19306" y="5312059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36924" y="3860958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01756" y="404879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01756" y="446535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01756" y="5311600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247449" y="405454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7D      3A      4C      56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47449" y="447459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FF      01      83      9D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47449" y="489729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33      8D      9C      7F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47449" y="531734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BC      A5      34      21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07979" y="345814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有效位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038600" y="5920758"/>
            <a:ext cx="2153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标记（高位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省略）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77383" y="326979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数据区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26956" y="1853657"/>
            <a:ext cx="451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accent2"/>
                </a:solidFill>
              </a:rPr>
              <a:t>00…0010</a:t>
            </a:r>
            <a:r>
              <a:rPr lang="en-US" altLang="zh-CN" sz="4400" dirty="0">
                <a:solidFill>
                  <a:srgbClr val="C00000"/>
                </a:solidFill>
              </a:rPr>
              <a:t>10</a:t>
            </a:r>
            <a:r>
              <a:rPr lang="en-US" altLang="zh-CN" sz="4400" dirty="0">
                <a:solidFill>
                  <a:schemeClr val="accent5"/>
                </a:solidFill>
              </a:rPr>
              <a:t>01</a:t>
            </a:r>
            <a:endParaRPr lang="zh-CN" altLang="en-US" sz="4400" dirty="0">
              <a:solidFill>
                <a:schemeClr val="accent5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520453" y="3703423"/>
            <a:ext cx="229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0         1        2        3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433786" y="2516929"/>
            <a:ext cx="1602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</a:rPr>
              <a:t>块内偏移量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62554" y="2553989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</a:rPr>
              <a:t>标记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447998" y="2552632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行号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2817553" y="3012707"/>
            <a:ext cx="6701832" cy="2002055"/>
          </a:xfrm>
          <a:custGeom>
            <a:avLst/>
            <a:gdLst>
              <a:gd name="connsiteX0" fmla="*/ 6701832 w 6701832"/>
              <a:gd name="connsiteY0" fmla="*/ 0 h 2002055"/>
              <a:gd name="connsiteX1" fmla="*/ 743794 w 6701832"/>
              <a:gd name="connsiteY1" fmla="*/ 385011 h 2002055"/>
              <a:gd name="connsiteX2" fmla="*/ 291407 w 6701832"/>
              <a:gd name="connsiteY2" fmla="*/ 2002055 h 200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01832" h="2002055">
                <a:moveTo>
                  <a:pt x="6701832" y="0"/>
                </a:moveTo>
                <a:cubicBezTo>
                  <a:pt x="4257015" y="25667"/>
                  <a:pt x="1812198" y="51335"/>
                  <a:pt x="743794" y="385011"/>
                </a:cubicBezTo>
                <a:cubicBezTo>
                  <a:pt x="-324610" y="718687"/>
                  <a:pt x="-16602" y="1360371"/>
                  <a:pt x="291407" y="2002055"/>
                </a:cubicBezTo>
              </a:path>
            </a:pathLst>
          </a:custGeom>
          <a:noFill/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801756" y="4886498"/>
            <a:ext cx="689610" cy="416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</a:rPr>
              <a:t>1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914834" y="5045793"/>
            <a:ext cx="1248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有效位为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238261" y="1291785"/>
            <a:ext cx="5116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主存物理地址（读</a:t>
            </a:r>
            <a:r>
              <a:rPr lang="en-US" altLang="zh-CN" sz="3200" dirty="0"/>
              <a:t>1</a:t>
            </a:r>
            <a:r>
              <a:rPr lang="zh-CN" altLang="en-US" sz="3200" dirty="0"/>
              <a:t>字节）</a:t>
            </a:r>
            <a:r>
              <a:rPr lang="en-US" altLang="zh-CN" sz="3200" dirty="0"/>
              <a:t>: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DEF8-526C-4A85-B954-01B77BCFD5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113639"/>
            <a:ext cx="4483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块大小：</a:t>
            </a:r>
            <a:r>
              <a:rPr lang="en-US" altLang="zh-CN" sz="3600" dirty="0"/>
              <a:t>4B</a:t>
            </a:r>
            <a:endParaRPr lang="en-US" altLang="zh-CN" sz="3600" dirty="0"/>
          </a:p>
          <a:p>
            <a:r>
              <a:rPr lang="zh-CN" altLang="en-US" sz="3600" dirty="0"/>
              <a:t>物理地址：</a:t>
            </a:r>
            <a:r>
              <a:rPr lang="en-US" altLang="zh-CN" sz="3600" dirty="0"/>
              <a:t>32</a:t>
            </a:r>
            <a:r>
              <a:rPr lang="zh-CN" altLang="en-US" sz="3600" dirty="0"/>
              <a:t>位</a:t>
            </a:r>
            <a:endParaRPr lang="en-US" altLang="zh-CN" sz="3600" dirty="0"/>
          </a:p>
          <a:p>
            <a:r>
              <a:rPr lang="en-US" altLang="zh-CN" sz="3600" dirty="0"/>
              <a:t>Cache</a:t>
            </a:r>
            <a:r>
              <a:rPr lang="zh-CN" altLang="en-US" sz="3600" dirty="0"/>
              <a:t>行数：</a:t>
            </a:r>
            <a:r>
              <a:rPr lang="en-US" altLang="zh-CN" sz="3600" dirty="0"/>
              <a:t>4</a:t>
            </a:r>
            <a:r>
              <a:rPr lang="zh-CN" altLang="en-US" sz="3600" dirty="0"/>
              <a:t>行</a:t>
            </a:r>
            <a:endParaRPr lang="en-US" altLang="zh-CN" sz="3600" dirty="0"/>
          </a:p>
          <a:p>
            <a:r>
              <a:rPr lang="zh-CN" altLang="en-US" sz="3600" dirty="0"/>
              <a:t>直接映射法</a:t>
            </a:r>
            <a:endParaRPr lang="zh-CN" altLang="en-US" sz="3600" dirty="0"/>
          </a:p>
        </p:txBody>
      </p:sp>
      <p:sp>
        <p:nvSpPr>
          <p:cNvPr id="8" name="文本框 7"/>
          <p:cNvSpPr txBox="1"/>
          <p:nvPr/>
        </p:nvSpPr>
        <p:spPr>
          <a:xfrm>
            <a:off x="113808" y="3794649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4519306" y="40492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19306" y="446581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19306" y="48869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19306" y="5312059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36924" y="3860958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01756" y="404879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01756" y="446535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01756" y="5311600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247449" y="405454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7D      3A      4C      56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47449" y="447459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FF      01      83      9D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47449" y="489729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33      8D      9C      7F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47449" y="531734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BC      A5      34      21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07979" y="345814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有效位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038600" y="5920758"/>
            <a:ext cx="2153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标记（高位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省略）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77383" y="326979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数据区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26956" y="1853657"/>
            <a:ext cx="451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accent2"/>
                </a:solidFill>
              </a:rPr>
              <a:t>00…0010</a:t>
            </a:r>
            <a:r>
              <a:rPr lang="en-US" altLang="zh-CN" sz="4400" dirty="0">
                <a:solidFill>
                  <a:srgbClr val="C00000"/>
                </a:solidFill>
              </a:rPr>
              <a:t>10</a:t>
            </a:r>
            <a:r>
              <a:rPr lang="en-US" altLang="zh-CN" sz="4400" dirty="0">
                <a:solidFill>
                  <a:schemeClr val="accent5"/>
                </a:solidFill>
              </a:rPr>
              <a:t>01</a:t>
            </a:r>
            <a:endParaRPr lang="zh-CN" altLang="en-US" sz="4400" dirty="0">
              <a:solidFill>
                <a:schemeClr val="accent5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520453" y="3703423"/>
            <a:ext cx="229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0         1        2        3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433786" y="2516929"/>
            <a:ext cx="1602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</a:rPr>
              <a:t>块内偏移量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62554" y="2553989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</a:rPr>
              <a:t>标记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447998" y="2552632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行号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01756" y="4886498"/>
            <a:ext cx="689610" cy="416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</a:rPr>
              <a:t>1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5072514" y="3075852"/>
            <a:ext cx="3190040" cy="1900409"/>
          </a:xfrm>
          <a:prstGeom prst="straightConnector1">
            <a:avLst/>
          </a:prstGeom>
          <a:ln w="635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8224912" y="3315957"/>
            <a:ext cx="1886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标记不同，</a:t>
            </a:r>
            <a:r>
              <a:rPr lang="en-US" altLang="zh-CN" sz="2800" dirty="0">
                <a:solidFill>
                  <a:srgbClr val="C00000"/>
                </a:solidFill>
              </a:rPr>
              <a:t>Cache</a:t>
            </a:r>
            <a:r>
              <a:rPr lang="zh-CN" altLang="en-US" sz="2800" dirty="0">
                <a:solidFill>
                  <a:srgbClr val="C00000"/>
                </a:solidFill>
              </a:rPr>
              <a:t>缺失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238261" y="1291785"/>
            <a:ext cx="5116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主存物理地址（读</a:t>
            </a:r>
            <a:r>
              <a:rPr lang="en-US" altLang="zh-CN" sz="3200" dirty="0"/>
              <a:t>1</a:t>
            </a:r>
            <a:r>
              <a:rPr lang="zh-CN" altLang="en-US" sz="3200" dirty="0"/>
              <a:t>字节）</a:t>
            </a:r>
            <a:r>
              <a:rPr lang="en-US" altLang="zh-CN" sz="3200" dirty="0"/>
              <a:t>: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DEF8-526C-4A85-B954-01B77BCFD5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113639"/>
            <a:ext cx="4483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块大小：</a:t>
            </a:r>
            <a:r>
              <a:rPr lang="en-US" altLang="zh-CN" sz="3600" dirty="0"/>
              <a:t>4B</a:t>
            </a:r>
            <a:endParaRPr lang="en-US" altLang="zh-CN" sz="3600" dirty="0"/>
          </a:p>
          <a:p>
            <a:r>
              <a:rPr lang="zh-CN" altLang="en-US" sz="3600" dirty="0"/>
              <a:t>物理地址：</a:t>
            </a:r>
            <a:r>
              <a:rPr lang="en-US" altLang="zh-CN" sz="3600" dirty="0"/>
              <a:t>32</a:t>
            </a:r>
            <a:r>
              <a:rPr lang="zh-CN" altLang="en-US" sz="3600" dirty="0"/>
              <a:t>位</a:t>
            </a:r>
            <a:endParaRPr lang="en-US" altLang="zh-CN" sz="3600" dirty="0"/>
          </a:p>
          <a:p>
            <a:r>
              <a:rPr lang="en-US" altLang="zh-CN" sz="3600" dirty="0"/>
              <a:t>Cache</a:t>
            </a:r>
            <a:r>
              <a:rPr lang="zh-CN" altLang="en-US" sz="3600" dirty="0"/>
              <a:t>行数：</a:t>
            </a:r>
            <a:r>
              <a:rPr lang="en-US" altLang="zh-CN" sz="3600" dirty="0"/>
              <a:t>4</a:t>
            </a:r>
            <a:r>
              <a:rPr lang="zh-CN" altLang="en-US" sz="3600" dirty="0"/>
              <a:t>行</a:t>
            </a:r>
            <a:endParaRPr lang="en-US" altLang="zh-CN" sz="3600" dirty="0"/>
          </a:p>
          <a:p>
            <a:r>
              <a:rPr lang="zh-CN" altLang="en-US" sz="3600" dirty="0"/>
              <a:t>直接映射法</a:t>
            </a:r>
            <a:endParaRPr lang="zh-CN" altLang="en-US" sz="3600" dirty="0"/>
          </a:p>
        </p:txBody>
      </p:sp>
      <p:sp>
        <p:nvSpPr>
          <p:cNvPr id="8" name="文本框 7"/>
          <p:cNvSpPr txBox="1"/>
          <p:nvPr/>
        </p:nvSpPr>
        <p:spPr>
          <a:xfrm>
            <a:off x="113808" y="3794649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4519306" y="40492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19306" y="446581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19306" y="5312059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36924" y="3860958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01756" y="404879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01756" y="446535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01756" y="5311600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247449" y="405454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7D      3A      4C      56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47449" y="447459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FF      01      83      9D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47449" y="531734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BC      A5      34      21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07979" y="345814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有效位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038600" y="5920758"/>
            <a:ext cx="2153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标记（高位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省略）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77383" y="326979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数据区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26956" y="1853657"/>
            <a:ext cx="451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accent2"/>
                </a:solidFill>
              </a:rPr>
              <a:t>00…0010</a:t>
            </a:r>
            <a:r>
              <a:rPr lang="en-US" altLang="zh-CN" sz="4400" dirty="0">
                <a:solidFill>
                  <a:srgbClr val="C00000"/>
                </a:solidFill>
              </a:rPr>
              <a:t>10</a:t>
            </a:r>
            <a:r>
              <a:rPr lang="en-US" altLang="zh-CN" sz="4400" dirty="0">
                <a:solidFill>
                  <a:schemeClr val="accent5"/>
                </a:solidFill>
              </a:rPr>
              <a:t>01</a:t>
            </a:r>
            <a:endParaRPr lang="zh-CN" altLang="en-US" sz="4400" dirty="0">
              <a:solidFill>
                <a:schemeClr val="accent5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520453" y="3703423"/>
            <a:ext cx="229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0         1        2        3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433786" y="2516929"/>
            <a:ext cx="1602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</a:rPr>
              <a:t>块内偏移量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62554" y="2553989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</a:rPr>
              <a:t>标记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447998" y="2552632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行号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01756" y="4886498"/>
            <a:ext cx="689610" cy="416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</a:rPr>
              <a:t>1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19306" y="4886957"/>
            <a:ext cx="689610" cy="416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10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47449" y="4897293"/>
            <a:ext cx="2905951" cy="416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51      99      07      85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62554" y="4170011"/>
            <a:ext cx="3585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将第</a:t>
            </a:r>
            <a:r>
              <a:rPr lang="en-US" altLang="zh-CN" sz="2400" b="1" dirty="0">
                <a:solidFill>
                  <a:srgbClr val="C00000"/>
                </a:solidFill>
              </a:rPr>
              <a:t>00..001010</a:t>
            </a:r>
            <a:r>
              <a:rPr lang="zh-CN" altLang="en-US" sz="2400" dirty="0"/>
              <a:t>主存块读入</a:t>
            </a:r>
            <a:r>
              <a:rPr lang="en-US" altLang="zh-CN" sz="2400" dirty="0"/>
              <a:t>Cache</a:t>
            </a:r>
            <a:r>
              <a:rPr lang="zh-CN" altLang="en-US" sz="2400" dirty="0"/>
              <a:t>，替换当前行，更新有效位和标记</a:t>
            </a:r>
            <a:endParaRPr lang="en-US" altLang="zh-CN" sz="2400" dirty="0"/>
          </a:p>
        </p:txBody>
      </p:sp>
      <p:sp>
        <p:nvSpPr>
          <p:cNvPr id="31" name="左大括号 30"/>
          <p:cNvSpPr/>
          <p:nvPr/>
        </p:nvSpPr>
        <p:spPr>
          <a:xfrm rot="16200000">
            <a:off x="9183414" y="2301779"/>
            <a:ext cx="285381" cy="1901476"/>
          </a:xfrm>
          <a:prstGeom prst="leftBr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箭头连接符 34"/>
          <p:cNvCxnSpPr>
            <a:stCxn id="31" idx="1"/>
          </p:cNvCxnSpPr>
          <p:nvPr/>
        </p:nvCxnSpPr>
        <p:spPr>
          <a:xfrm>
            <a:off x="9326105" y="3395208"/>
            <a:ext cx="311881" cy="774803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9630512" y="359794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块号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238261" y="1291785"/>
            <a:ext cx="5116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主存物理地址（读</a:t>
            </a:r>
            <a:r>
              <a:rPr lang="en-US" altLang="zh-CN" sz="3200" dirty="0"/>
              <a:t>1</a:t>
            </a:r>
            <a:r>
              <a:rPr lang="zh-CN" altLang="en-US" sz="3200" dirty="0"/>
              <a:t>字节）</a:t>
            </a:r>
            <a:r>
              <a:rPr lang="en-US" altLang="zh-CN" sz="3200" dirty="0"/>
              <a:t>: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DEF8-526C-4A85-B954-01B77BCFD5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113639"/>
            <a:ext cx="4483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块大小：</a:t>
            </a:r>
            <a:r>
              <a:rPr lang="en-US" altLang="zh-CN" sz="3600" dirty="0"/>
              <a:t>4B</a:t>
            </a:r>
            <a:endParaRPr lang="en-US" altLang="zh-CN" sz="3600" dirty="0"/>
          </a:p>
          <a:p>
            <a:r>
              <a:rPr lang="zh-CN" altLang="en-US" sz="3600" dirty="0"/>
              <a:t>物理地址：</a:t>
            </a:r>
            <a:r>
              <a:rPr lang="en-US" altLang="zh-CN" sz="3600" dirty="0"/>
              <a:t>32</a:t>
            </a:r>
            <a:r>
              <a:rPr lang="zh-CN" altLang="en-US" sz="3600" dirty="0"/>
              <a:t>位</a:t>
            </a:r>
            <a:endParaRPr lang="en-US" altLang="zh-CN" sz="3600" dirty="0"/>
          </a:p>
          <a:p>
            <a:r>
              <a:rPr lang="en-US" altLang="zh-CN" sz="3600" dirty="0"/>
              <a:t>Cache</a:t>
            </a:r>
            <a:r>
              <a:rPr lang="zh-CN" altLang="en-US" sz="3600" dirty="0"/>
              <a:t>行数：</a:t>
            </a:r>
            <a:r>
              <a:rPr lang="en-US" altLang="zh-CN" sz="3600" dirty="0"/>
              <a:t>4</a:t>
            </a:r>
            <a:r>
              <a:rPr lang="zh-CN" altLang="en-US" sz="3600" dirty="0"/>
              <a:t>行</a:t>
            </a:r>
            <a:endParaRPr lang="en-US" altLang="zh-CN" sz="3600" dirty="0"/>
          </a:p>
          <a:p>
            <a:r>
              <a:rPr lang="zh-CN" altLang="en-US" sz="3600" dirty="0"/>
              <a:t>直接映射法</a:t>
            </a:r>
            <a:endParaRPr lang="zh-CN" altLang="en-US" sz="3600" dirty="0"/>
          </a:p>
        </p:txBody>
      </p:sp>
      <p:sp>
        <p:nvSpPr>
          <p:cNvPr id="8" name="文本框 7"/>
          <p:cNvSpPr txBox="1"/>
          <p:nvPr/>
        </p:nvSpPr>
        <p:spPr>
          <a:xfrm>
            <a:off x="113808" y="3794649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4519306" y="40492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19306" y="446581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19306" y="5312059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36924" y="3860958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01756" y="404879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01756" y="446535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01756" y="5311600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247449" y="405454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7D      3A      4C      56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47449" y="447459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FF      01      83      9D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47449" y="531734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BC      A5      34      21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07979" y="345814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有效位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038600" y="5920758"/>
            <a:ext cx="2153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标记（高位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省略）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77383" y="326979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数据区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26956" y="1853657"/>
            <a:ext cx="451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accent2"/>
                </a:solidFill>
              </a:rPr>
              <a:t>00…0010</a:t>
            </a:r>
            <a:r>
              <a:rPr lang="en-US" altLang="zh-CN" sz="4400" dirty="0">
                <a:solidFill>
                  <a:srgbClr val="C00000"/>
                </a:solidFill>
              </a:rPr>
              <a:t>10</a:t>
            </a:r>
            <a:r>
              <a:rPr lang="en-US" altLang="zh-CN" sz="4400" dirty="0">
                <a:solidFill>
                  <a:schemeClr val="accent5"/>
                </a:solidFill>
              </a:rPr>
              <a:t>01</a:t>
            </a:r>
            <a:endParaRPr lang="zh-CN" altLang="en-US" sz="4400" dirty="0">
              <a:solidFill>
                <a:schemeClr val="accent5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520453" y="3703423"/>
            <a:ext cx="229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0         1        2        3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433786" y="2516929"/>
            <a:ext cx="1602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</a:rPr>
              <a:t>块内偏移量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62554" y="2553989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</a:rPr>
              <a:t>标记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447998" y="2552632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行号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01756" y="4886498"/>
            <a:ext cx="689610" cy="416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</a:rPr>
              <a:t>1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19306" y="4886957"/>
            <a:ext cx="689610" cy="416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10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47449" y="4897293"/>
            <a:ext cx="2905951" cy="416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51      99      07      85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6077383" y="4891151"/>
            <a:ext cx="628217" cy="42044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/>
          <p:cNvCxnSpPr/>
          <p:nvPr/>
        </p:nvCxnSpPr>
        <p:spPr>
          <a:xfrm flipH="1">
            <a:off x="6779172" y="3471036"/>
            <a:ext cx="4099035" cy="1531888"/>
          </a:xfrm>
          <a:prstGeom prst="straightConnector1">
            <a:avLst/>
          </a:prstGeom>
          <a:ln w="635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8909483" y="4256314"/>
            <a:ext cx="20422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读</a:t>
            </a:r>
            <a:r>
              <a:rPr lang="en-US" altLang="zh-CN" sz="3200" dirty="0"/>
              <a:t>Cache</a:t>
            </a:r>
            <a:r>
              <a:rPr lang="zh-CN" altLang="en-US" sz="3200" dirty="0"/>
              <a:t>得到</a:t>
            </a:r>
            <a:r>
              <a:rPr lang="en-US" altLang="zh-CN" sz="3200" dirty="0"/>
              <a:t>99</a:t>
            </a:r>
            <a:endParaRPr lang="zh-CN" altLang="en-US" sz="3200" dirty="0"/>
          </a:p>
        </p:txBody>
      </p:sp>
      <p:sp>
        <p:nvSpPr>
          <p:cNvPr id="38" name="文本框 37"/>
          <p:cNvSpPr txBox="1"/>
          <p:nvPr/>
        </p:nvSpPr>
        <p:spPr>
          <a:xfrm>
            <a:off x="6238261" y="1291785"/>
            <a:ext cx="5116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主存物理地址（读</a:t>
            </a:r>
            <a:r>
              <a:rPr lang="en-US" altLang="zh-CN" sz="3200" dirty="0"/>
              <a:t>1</a:t>
            </a:r>
            <a:r>
              <a:rPr lang="zh-CN" altLang="en-US" sz="3200" dirty="0"/>
              <a:t>字节）</a:t>
            </a:r>
            <a:r>
              <a:rPr lang="en-US" altLang="zh-CN" sz="3200" dirty="0"/>
              <a:t>: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DEF8-526C-4A85-B954-01B77BCFD5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1113639"/>
            <a:ext cx="4483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块大小：</a:t>
            </a:r>
            <a:r>
              <a:rPr lang="en-US" altLang="zh-CN" sz="3600" dirty="0"/>
              <a:t>4B</a:t>
            </a:r>
            <a:endParaRPr lang="en-US" altLang="zh-CN" sz="3600" dirty="0"/>
          </a:p>
          <a:p>
            <a:r>
              <a:rPr lang="zh-CN" altLang="en-US" sz="3600" dirty="0"/>
              <a:t>物理地址：</a:t>
            </a:r>
            <a:r>
              <a:rPr lang="en-US" altLang="zh-CN" sz="3600" dirty="0"/>
              <a:t>32</a:t>
            </a:r>
            <a:r>
              <a:rPr lang="zh-CN" altLang="en-US" sz="3600" dirty="0"/>
              <a:t>位</a:t>
            </a:r>
            <a:endParaRPr lang="en-US" altLang="zh-CN" sz="3600" dirty="0"/>
          </a:p>
          <a:p>
            <a:r>
              <a:rPr lang="en-US" altLang="zh-CN" sz="3600" dirty="0"/>
              <a:t>Cache</a:t>
            </a:r>
            <a:r>
              <a:rPr lang="zh-CN" altLang="en-US" sz="3600" dirty="0"/>
              <a:t>行数：</a:t>
            </a:r>
            <a:r>
              <a:rPr lang="en-US" altLang="zh-CN" sz="3600" dirty="0"/>
              <a:t>4</a:t>
            </a:r>
            <a:r>
              <a:rPr lang="zh-CN" altLang="en-US" sz="3600" dirty="0"/>
              <a:t>行</a:t>
            </a:r>
            <a:endParaRPr lang="en-US" altLang="zh-CN" sz="3600" dirty="0"/>
          </a:p>
          <a:p>
            <a:r>
              <a:rPr lang="zh-CN" altLang="en-US" sz="3600" dirty="0"/>
              <a:t>直接映射法</a:t>
            </a:r>
            <a:endParaRPr lang="zh-CN" altLang="en-US" sz="3600" dirty="0"/>
          </a:p>
        </p:txBody>
      </p:sp>
      <p:sp>
        <p:nvSpPr>
          <p:cNvPr id="8" name="文本框 7"/>
          <p:cNvSpPr txBox="1"/>
          <p:nvPr/>
        </p:nvSpPr>
        <p:spPr>
          <a:xfrm>
            <a:off x="113808" y="3794649"/>
            <a:ext cx="283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4519306" y="404925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19306" y="446581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10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19306" y="5312059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01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36924" y="3860958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01756" y="404879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01756" y="4465358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01756" y="5311600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247449" y="405454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7D      3A      4C      56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47449" y="4474591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FF      01      83      9D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47449" y="5317343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BC      A5      34      21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707979" y="345814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有效位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038600" y="5920758"/>
            <a:ext cx="2153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标记（高位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省略）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77383" y="326979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数据区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26956" y="1853657"/>
            <a:ext cx="451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chemeClr val="accent2"/>
                </a:solidFill>
              </a:rPr>
              <a:t>00…0010</a:t>
            </a:r>
            <a:r>
              <a:rPr lang="en-US" altLang="zh-CN" sz="4400" dirty="0">
                <a:solidFill>
                  <a:srgbClr val="C00000"/>
                </a:solidFill>
              </a:rPr>
              <a:t>10</a:t>
            </a:r>
            <a:r>
              <a:rPr lang="en-US" altLang="zh-CN" sz="4400" dirty="0">
                <a:solidFill>
                  <a:schemeClr val="accent5"/>
                </a:solidFill>
              </a:rPr>
              <a:t>10</a:t>
            </a:r>
            <a:endParaRPr lang="zh-CN" altLang="en-US" sz="4400" dirty="0">
              <a:solidFill>
                <a:schemeClr val="accent5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238261" y="1291785"/>
            <a:ext cx="5116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主存物理地址（读</a:t>
            </a:r>
            <a:r>
              <a:rPr lang="en-US" altLang="zh-CN" sz="3200" dirty="0"/>
              <a:t>1</a:t>
            </a:r>
            <a:r>
              <a:rPr lang="zh-CN" altLang="en-US" sz="3200" dirty="0"/>
              <a:t>字节）</a:t>
            </a:r>
            <a:r>
              <a:rPr lang="en-US" altLang="zh-CN" sz="3200" dirty="0"/>
              <a:t>:</a:t>
            </a:r>
            <a:endParaRPr lang="zh-CN" altLang="en-US" sz="3200" dirty="0"/>
          </a:p>
        </p:txBody>
      </p:sp>
      <p:sp>
        <p:nvSpPr>
          <p:cNvPr id="27" name="文本框 26"/>
          <p:cNvSpPr txBox="1"/>
          <p:nvPr/>
        </p:nvSpPr>
        <p:spPr>
          <a:xfrm>
            <a:off x="5520453" y="3703423"/>
            <a:ext cx="229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0         1        2        3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433786" y="2516929"/>
            <a:ext cx="1602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5"/>
                </a:solidFill>
              </a:rPr>
              <a:t>块内偏移量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62554" y="2553989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</a:rPr>
              <a:t>标记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447998" y="2552632"/>
            <a:ext cx="106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行号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01756" y="4886498"/>
            <a:ext cx="689610" cy="416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</a:rPr>
              <a:t>1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19306" y="4886957"/>
            <a:ext cx="689610" cy="416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10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47449" y="4897293"/>
            <a:ext cx="2905951" cy="416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51      99      07      85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6700424" y="4891151"/>
            <a:ext cx="628217" cy="42044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/>
          <p:cNvCxnSpPr/>
          <p:nvPr/>
        </p:nvCxnSpPr>
        <p:spPr>
          <a:xfrm flipH="1">
            <a:off x="7328641" y="3471036"/>
            <a:ext cx="3549567" cy="1590351"/>
          </a:xfrm>
          <a:prstGeom prst="straightConnector1">
            <a:avLst/>
          </a:prstGeom>
          <a:ln w="635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8752421" y="4441125"/>
            <a:ext cx="31271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Cache</a:t>
            </a:r>
            <a:r>
              <a:rPr lang="zh-CN" altLang="en-US" sz="3200" dirty="0"/>
              <a:t>命中，读</a:t>
            </a:r>
            <a:r>
              <a:rPr lang="en-US" altLang="zh-CN" sz="3200" dirty="0"/>
              <a:t>Cache</a:t>
            </a:r>
            <a:r>
              <a:rPr lang="zh-CN" altLang="en-US" sz="3200" dirty="0"/>
              <a:t>得到</a:t>
            </a:r>
            <a:r>
              <a:rPr lang="en-US" altLang="zh-CN" sz="3200" dirty="0"/>
              <a:t>07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2256"/>
            <a:ext cx="9201150" cy="3420224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问题一：</a:t>
            </a:r>
            <a:r>
              <a:rPr lang="en-US" altLang="zh-CN" sz="2800" dirty="0"/>
              <a:t> Cache</a:t>
            </a:r>
            <a:r>
              <a:rPr lang="zh-CN" altLang="en-US" sz="2800" dirty="0"/>
              <a:t>行和主存块的映射</a:t>
            </a:r>
            <a:endParaRPr lang="en-US" altLang="zh-CN" sz="2800" dirty="0"/>
          </a:p>
          <a:p>
            <a:pPr lvl="1"/>
            <a:r>
              <a:rPr lang="zh-CN" altLang="en-US" sz="2400" dirty="0"/>
              <a:t>理解直接映射法的基础上</a:t>
            </a:r>
            <a:endParaRPr lang="en-US" altLang="zh-CN" sz="2400" dirty="0"/>
          </a:p>
          <a:p>
            <a:pPr lvl="1"/>
            <a:r>
              <a:rPr lang="zh-CN" altLang="en-US" sz="2400" b="1" dirty="0"/>
              <a:t>全相联映射：是坑就占</a:t>
            </a: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CEAF-6D62-4F8C-883C-3A9CE650F90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291169" y="4508960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91169" y="4925520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91169" y="5346660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291169" y="5771762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15040" y="4508960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15040" y="4929010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15040" y="5351712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015040" y="5771762"/>
            <a:ext cx="2905951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5"/>
                </a:solidFill>
              </a:rPr>
              <a:t>2</a:t>
            </a:r>
            <a:r>
              <a:rPr lang="en-US" altLang="zh-CN" baseline="30000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字节块（行）内数据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02721" y="3957944"/>
            <a:ext cx="26548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</a:rPr>
              <a:t>Cache</a:t>
            </a:r>
            <a:r>
              <a:rPr lang="zh-CN" altLang="en-US" sz="2000" dirty="0">
                <a:solidFill>
                  <a:srgbClr val="C00000"/>
                </a:solidFill>
              </a:rPr>
              <a:t>行号（没用了）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908787" y="4320661"/>
            <a:ext cx="4063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0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2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73619" y="4508501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573619" y="4925061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573619" y="5346201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573619" y="5771303"/>
            <a:ext cx="689610" cy="416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00B050"/>
                </a:solidFill>
              </a:rPr>
              <a:t>有效位</a:t>
            </a:r>
            <a:endParaRPr lang="zh-CN" altLang="en-US" sz="1200" dirty="0">
              <a:solidFill>
                <a:srgbClr val="00B05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25870" y="2640622"/>
            <a:ext cx="196088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块号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510270" y="2640622"/>
            <a:ext cx="1249680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块内地址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890972" y="2264702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高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751031" y="2264702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低</a:t>
            </a:r>
            <a:r>
              <a:rPr lang="en-US" altLang="zh-CN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位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396642" y="4037965"/>
            <a:ext cx="609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/>
          </a:p>
        </p:txBody>
      </p:sp>
      <p:cxnSp>
        <p:nvCxnSpPr>
          <p:cNvPr id="28" name="直接箭头连接符 27"/>
          <p:cNvCxnSpPr/>
          <p:nvPr/>
        </p:nvCxnSpPr>
        <p:spPr>
          <a:xfrm flipH="1">
            <a:off x="5015040" y="3200401"/>
            <a:ext cx="1792161" cy="837565"/>
          </a:xfrm>
          <a:prstGeom prst="straightConnector1">
            <a:avLst/>
          </a:prstGeom>
          <a:ln w="635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890972" y="3423920"/>
            <a:ext cx="3276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根据主存物理地址找</a:t>
            </a:r>
            <a:r>
              <a:rPr lang="en-US" altLang="zh-CN" dirty="0"/>
              <a:t>Cache</a:t>
            </a:r>
            <a:r>
              <a:rPr lang="zh-CN" altLang="en-US" dirty="0"/>
              <a:t>行的时候就拿块号和标记一个个去比，比到一样的就是命中</a:t>
            </a:r>
            <a:endParaRPr lang="zh-CN" altLang="en-US" dirty="0"/>
          </a:p>
        </p:txBody>
      </p:sp>
      <p:sp>
        <p:nvSpPr>
          <p:cNvPr id="30" name="左大括号 29"/>
          <p:cNvSpPr/>
          <p:nvPr/>
        </p:nvSpPr>
        <p:spPr>
          <a:xfrm rot="5400000">
            <a:off x="7916784" y="338410"/>
            <a:ext cx="252249" cy="343408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306310" y="1349093"/>
            <a:ext cx="3488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 + b = 32 </a:t>
            </a:r>
            <a:r>
              <a:rPr lang="zh-CN" altLang="en-US" sz="2400" dirty="0"/>
              <a:t>位物理地址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2256"/>
            <a:ext cx="10515600" cy="498994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问题一：</a:t>
            </a:r>
            <a:r>
              <a:rPr lang="en-US" altLang="zh-CN" sz="2800" dirty="0"/>
              <a:t> Cache</a:t>
            </a:r>
            <a:r>
              <a:rPr lang="zh-CN" altLang="en-US" sz="2800" dirty="0"/>
              <a:t>行和主存块的映射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直接映射法的基础上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800" b="1" dirty="0"/>
              <a:t>组相联映射：折中方案</a:t>
            </a:r>
            <a:endParaRPr lang="en-US" altLang="zh-CN" sz="2800" b="1" dirty="0"/>
          </a:p>
          <a:p>
            <a:pPr lvl="2">
              <a:lnSpc>
                <a:spcPct val="150000"/>
              </a:lnSpc>
            </a:pPr>
            <a:r>
              <a:rPr lang="en-US" altLang="zh-CN" sz="2800" dirty="0"/>
              <a:t>Cache</a:t>
            </a:r>
            <a:r>
              <a:rPr lang="zh-CN" altLang="en-US" sz="2800" dirty="0"/>
              <a:t>的数据区提供了</a:t>
            </a:r>
            <a:r>
              <a:rPr lang="en-US" altLang="zh-CN" sz="3600" b="1" dirty="0">
                <a:solidFill>
                  <a:srgbClr val="C00000"/>
                </a:solidFill>
              </a:rPr>
              <a:t>2</a:t>
            </a:r>
            <a:r>
              <a:rPr lang="en-US" altLang="zh-CN" sz="3600" b="1" baseline="30000" dirty="0">
                <a:solidFill>
                  <a:srgbClr val="C00000"/>
                </a:solidFill>
              </a:rPr>
              <a:t>c</a:t>
            </a:r>
            <a:r>
              <a:rPr lang="zh-CN" altLang="en-US" sz="2800" dirty="0"/>
              <a:t>个行</a:t>
            </a:r>
            <a:endParaRPr lang="en-US" altLang="zh-CN" sz="2800" dirty="0"/>
          </a:p>
          <a:p>
            <a:pPr lvl="2">
              <a:lnSpc>
                <a:spcPct val="150000"/>
              </a:lnSpc>
            </a:pPr>
            <a:r>
              <a:rPr lang="zh-CN" altLang="en-US" sz="2800" dirty="0"/>
              <a:t>划分成</a:t>
            </a:r>
            <a:r>
              <a:rPr lang="en-US" altLang="zh-CN" sz="4000" b="1" dirty="0">
                <a:solidFill>
                  <a:srgbClr val="7030A0"/>
                </a:solidFill>
              </a:rPr>
              <a:t>2</a:t>
            </a:r>
            <a:r>
              <a:rPr lang="en-US" altLang="zh-CN" sz="4000" b="1" baseline="30000" dirty="0">
                <a:solidFill>
                  <a:srgbClr val="7030A0"/>
                </a:solidFill>
              </a:rPr>
              <a:t>q</a:t>
            </a:r>
            <a:r>
              <a:rPr lang="zh-CN" altLang="en-US" sz="2800" dirty="0"/>
              <a:t>个组（</a:t>
            </a:r>
            <a:r>
              <a:rPr lang="en-US" altLang="zh-CN" sz="2800" dirty="0"/>
              <a:t>q</a:t>
            </a:r>
            <a:r>
              <a:rPr lang="zh-CN" altLang="en-US" sz="2800" dirty="0"/>
              <a:t>肯定小于</a:t>
            </a:r>
            <a:r>
              <a:rPr lang="en-US" altLang="zh-CN" sz="2800" dirty="0"/>
              <a:t>c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lvl="2">
              <a:lnSpc>
                <a:spcPct val="150000"/>
              </a:lnSpc>
            </a:pPr>
            <a:r>
              <a:rPr lang="zh-CN" altLang="en-US" sz="2800" dirty="0"/>
              <a:t>一个组里有</a:t>
            </a:r>
            <a:r>
              <a:rPr lang="en-US" altLang="zh-CN" sz="4000" b="1" dirty="0"/>
              <a:t>2</a:t>
            </a:r>
            <a:r>
              <a:rPr lang="en-US" altLang="zh-CN" sz="4000" b="1" baseline="30000" dirty="0"/>
              <a:t>s</a:t>
            </a:r>
            <a:r>
              <a:rPr lang="en-US" altLang="zh-CN" sz="4000" b="1" dirty="0"/>
              <a:t> = 2</a:t>
            </a:r>
            <a:r>
              <a:rPr lang="en-US" altLang="zh-CN" sz="4000" b="1" baseline="30000" dirty="0">
                <a:solidFill>
                  <a:srgbClr val="C00000"/>
                </a:solidFill>
              </a:rPr>
              <a:t>c</a:t>
            </a:r>
            <a:r>
              <a:rPr lang="en-US" altLang="zh-CN" sz="4000" b="1" baseline="30000" dirty="0"/>
              <a:t>-</a:t>
            </a:r>
            <a:r>
              <a:rPr lang="en-US" altLang="zh-CN" sz="4000" b="1" baseline="30000" dirty="0">
                <a:solidFill>
                  <a:srgbClr val="7030A0"/>
                </a:solidFill>
              </a:rPr>
              <a:t>q</a:t>
            </a:r>
            <a:r>
              <a:rPr lang="zh-CN" altLang="en-US" sz="2800" dirty="0"/>
              <a:t>行，称为</a:t>
            </a:r>
            <a:r>
              <a:rPr lang="en-US" altLang="zh-CN" sz="4400" b="1" dirty="0"/>
              <a:t>2</a:t>
            </a:r>
            <a:r>
              <a:rPr lang="en-US" altLang="zh-CN" sz="4400" b="1" baseline="30000" dirty="0"/>
              <a:t>s</a:t>
            </a:r>
            <a:r>
              <a:rPr lang="zh-CN" altLang="en-US" sz="2800" dirty="0"/>
              <a:t>路组相联</a:t>
            </a:r>
            <a:endParaRPr lang="en-US" altLang="zh-CN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F315D-4C26-41B7-995A-F5C2A46BE64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241627" y="4088525"/>
            <a:ext cx="4529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组间采用直接映射</a:t>
            </a:r>
            <a:endParaRPr lang="en-US" altLang="zh-C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组内采用全相联映射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3420224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问题一：</a:t>
            </a:r>
            <a:r>
              <a:rPr lang="en-US" altLang="zh-CN" sz="2800" dirty="0"/>
              <a:t> Cache</a:t>
            </a:r>
            <a:r>
              <a:rPr lang="zh-CN" altLang="en-US" sz="2800" dirty="0"/>
              <a:t>行和主存块的映射</a:t>
            </a:r>
            <a:endParaRPr lang="en-US" altLang="zh-CN" sz="2800" dirty="0"/>
          </a:p>
          <a:p>
            <a:pPr lvl="1"/>
            <a:r>
              <a:rPr lang="zh-CN" altLang="en-US" sz="2400" dirty="0"/>
              <a:t>直接映射法的基础上</a:t>
            </a:r>
            <a:endParaRPr lang="en-US" altLang="zh-CN" sz="2400" dirty="0"/>
          </a:p>
          <a:p>
            <a:pPr lvl="1"/>
            <a:r>
              <a:rPr lang="zh-CN" altLang="en-US" sz="2400" dirty="0"/>
              <a:t>组相联映射：折中方案</a:t>
            </a:r>
            <a:endParaRPr lang="en-US" altLang="zh-CN" sz="2400" dirty="0"/>
          </a:p>
          <a:p>
            <a:pPr lvl="2"/>
            <a:r>
              <a:rPr lang="en-US" altLang="zh-CN" sz="1800" dirty="0"/>
              <a:t>Cache</a:t>
            </a:r>
            <a:r>
              <a:rPr lang="zh-CN" altLang="en-US" sz="1800" dirty="0"/>
              <a:t>的数据区提供了</a:t>
            </a:r>
            <a:r>
              <a:rPr lang="en-US" altLang="zh-CN" sz="4800" dirty="0">
                <a:solidFill>
                  <a:srgbClr val="C00000"/>
                </a:solidFill>
              </a:rPr>
              <a:t>2</a:t>
            </a:r>
            <a:r>
              <a:rPr lang="en-US" altLang="zh-CN" sz="4800" baseline="30000" dirty="0">
                <a:solidFill>
                  <a:srgbClr val="C00000"/>
                </a:solidFill>
              </a:rPr>
              <a:t>c</a:t>
            </a:r>
            <a:r>
              <a:rPr lang="zh-CN" altLang="en-US" sz="1800" dirty="0"/>
              <a:t>个行</a:t>
            </a:r>
            <a:endParaRPr lang="en-US" altLang="zh-CN" sz="1800" dirty="0"/>
          </a:p>
          <a:p>
            <a:pPr lvl="2"/>
            <a:r>
              <a:rPr lang="zh-CN" altLang="en-US" sz="1800" dirty="0"/>
              <a:t>划分成</a:t>
            </a:r>
            <a:r>
              <a:rPr lang="en-US" altLang="zh-CN" sz="4800" dirty="0">
                <a:solidFill>
                  <a:srgbClr val="7030A0"/>
                </a:solidFill>
              </a:rPr>
              <a:t>2</a:t>
            </a:r>
            <a:r>
              <a:rPr lang="en-US" altLang="zh-CN" sz="4800" baseline="30000" dirty="0">
                <a:solidFill>
                  <a:srgbClr val="7030A0"/>
                </a:solidFill>
              </a:rPr>
              <a:t>q</a:t>
            </a:r>
            <a:r>
              <a:rPr lang="zh-CN" altLang="en-US" sz="1800" dirty="0"/>
              <a:t>个组（</a:t>
            </a:r>
            <a:r>
              <a:rPr lang="en-US" altLang="zh-CN" sz="1800" dirty="0"/>
              <a:t>q</a:t>
            </a:r>
            <a:r>
              <a:rPr lang="zh-CN" altLang="en-US" sz="1800" dirty="0"/>
              <a:t>肯定小于</a:t>
            </a:r>
            <a:r>
              <a:rPr lang="en-US" altLang="zh-CN" sz="1800" dirty="0"/>
              <a:t>c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2"/>
            <a:r>
              <a:rPr lang="zh-CN" altLang="en-US" sz="1800" dirty="0"/>
              <a:t>一个组里有</a:t>
            </a:r>
            <a:r>
              <a:rPr lang="en-US" altLang="zh-CN" sz="4800" dirty="0"/>
              <a:t>2</a:t>
            </a:r>
            <a:r>
              <a:rPr lang="en-US" altLang="zh-CN" sz="4800" baseline="30000" dirty="0"/>
              <a:t>s</a:t>
            </a:r>
            <a:r>
              <a:rPr lang="en-US" altLang="zh-CN" sz="4800" dirty="0"/>
              <a:t> = 2</a:t>
            </a:r>
            <a:r>
              <a:rPr lang="en-US" altLang="zh-CN" sz="4800" baseline="30000" dirty="0">
                <a:solidFill>
                  <a:srgbClr val="C00000"/>
                </a:solidFill>
              </a:rPr>
              <a:t>c</a:t>
            </a:r>
            <a:r>
              <a:rPr lang="en-US" altLang="zh-CN" sz="4800" baseline="30000" dirty="0"/>
              <a:t>-</a:t>
            </a:r>
            <a:r>
              <a:rPr lang="en-US" altLang="zh-CN" sz="4800" baseline="30000" dirty="0">
                <a:solidFill>
                  <a:srgbClr val="7030A0"/>
                </a:solidFill>
              </a:rPr>
              <a:t>q</a:t>
            </a:r>
            <a:r>
              <a:rPr lang="zh-CN" altLang="en-US" sz="1800" dirty="0"/>
              <a:t>行，称为</a:t>
            </a:r>
            <a:r>
              <a:rPr lang="en-US" altLang="zh-CN" sz="4800" dirty="0"/>
              <a:t>2</a:t>
            </a:r>
            <a:r>
              <a:rPr lang="en-US" altLang="zh-CN" sz="4800" baseline="30000" dirty="0"/>
              <a:t>s</a:t>
            </a:r>
            <a:r>
              <a:rPr lang="zh-CN" altLang="en-US" sz="1800" dirty="0"/>
              <a:t>路组相联</a:t>
            </a:r>
            <a:endParaRPr lang="en-US" altLang="zh-CN" sz="1800" dirty="0"/>
          </a:p>
          <a:p>
            <a:pPr lvl="2"/>
            <a:endParaRPr lang="en-US" altLang="zh-CN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AA4F4-E99D-437B-9BB1-8F820508977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905497" y="529429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89897" y="5294297"/>
            <a:ext cx="1249680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块内地址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798940" y="5731177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高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m-q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330658" y="573117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低</a:t>
            </a:r>
            <a:r>
              <a:rPr lang="en-US" altLang="zh-CN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位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633231" y="5294297"/>
            <a:ext cx="1233146" cy="41656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7030A0"/>
                </a:solidFill>
              </a:rPr>
              <a:t>Cache</a:t>
            </a:r>
            <a:r>
              <a:rPr lang="zh-CN" altLang="en-US" sz="1600" dirty="0">
                <a:solidFill>
                  <a:srgbClr val="7030A0"/>
                </a:solidFill>
              </a:rPr>
              <a:t>组号</a:t>
            </a:r>
            <a:endParaRPr lang="zh-CN" altLang="en-US" sz="1600" dirty="0">
              <a:solidFill>
                <a:srgbClr val="7030A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762331" y="5728631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中间</a:t>
            </a:r>
            <a:r>
              <a:rPr lang="en-US" altLang="zh-CN" dirty="0">
                <a:solidFill>
                  <a:srgbClr val="7030A0"/>
                </a:solidFill>
              </a:rPr>
              <a:t>q</a:t>
            </a:r>
            <a:r>
              <a:rPr lang="zh-CN" altLang="en-US" dirty="0">
                <a:solidFill>
                  <a:srgbClr val="7030A0"/>
                </a:solidFill>
              </a:rPr>
              <a:t>位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578183" y="4572602"/>
            <a:ext cx="3243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/>
              <a:t>主存（物理）地址：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的另外两种映射方法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3068" y="1064871"/>
            <a:ext cx="9796282" cy="4132162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组相联映射：直接映射和全相联映射的折中</a:t>
            </a:r>
            <a:endParaRPr lang="en-US" altLang="zh-CN" sz="28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/>
              <a:t>主存和</a:t>
            </a:r>
            <a:r>
              <a:rPr lang="en-US" altLang="zh-CN" sz="2400" dirty="0"/>
              <a:t>Cache</a:t>
            </a:r>
            <a:r>
              <a:rPr lang="zh-CN" altLang="en-US" sz="2400" dirty="0"/>
              <a:t>都以</a:t>
            </a:r>
            <a:r>
              <a:rPr lang="en-US" altLang="zh-CN" sz="3600" b="1" dirty="0">
                <a:solidFill>
                  <a:srgbClr val="0070C0"/>
                </a:solidFill>
              </a:rPr>
              <a:t>2</a:t>
            </a:r>
            <a:r>
              <a:rPr lang="en-US" altLang="zh-CN" sz="3600" b="1" baseline="30000" dirty="0">
                <a:solidFill>
                  <a:srgbClr val="0070C0"/>
                </a:solidFill>
              </a:rPr>
              <a:t>b</a:t>
            </a:r>
            <a:r>
              <a:rPr lang="zh-CN" altLang="en-US" sz="2400" dirty="0"/>
              <a:t>字节为大小进行划分成块和行</a:t>
            </a:r>
            <a:endParaRPr lang="en-US" altLang="zh-CN" sz="24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/>
              <a:t>主存可以被划分成</a:t>
            </a:r>
            <a:r>
              <a:rPr lang="en-US" altLang="zh-CN" sz="3600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altLang="zh-CN" sz="3600" b="1" baseline="30000" dirty="0">
                <a:solidFill>
                  <a:schemeClr val="accent6">
                    <a:lumMod val="50000"/>
                  </a:schemeClr>
                </a:solidFill>
              </a:rPr>
              <a:t>m</a:t>
            </a:r>
            <a:r>
              <a:rPr lang="zh-CN" altLang="en-US" sz="2400" dirty="0"/>
              <a:t>个块</a:t>
            </a:r>
            <a:endParaRPr lang="en-US" altLang="zh-CN" sz="24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2400" dirty="0"/>
              <a:t>Cache</a:t>
            </a:r>
            <a:r>
              <a:rPr lang="zh-CN" altLang="en-US" sz="2400" dirty="0"/>
              <a:t>包括</a:t>
            </a:r>
            <a:r>
              <a:rPr lang="en-US" altLang="zh-CN" sz="3600" b="1" dirty="0">
                <a:solidFill>
                  <a:srgbClr val="C00000"/>
                </a:solidFill>
              </a:rPr>
              <a:t>2</a:t>
            </a:r>
            <a:r>
              <a:rPr lang="en-US" altLang="zh-CN" sz="3600" b="1" baseline="30000" dirty="0">
                <a:solidFill>
                  <a:srgbClr val="C00000"/>
                </a:solidFill>
              </a:rPr>
              <a:t>c</a:t>
            </a:r>
            <a:r>
              <a:rPr lang="zh-CN" altLang="en-US" sz="2400" dirty="0"/>
              <a:t>个行</a:t>
            </a:r>
            <a:r>
              <a:rPr lang="zh-CN" altLang="en-US" dirty="0"/>
              <a:t>，分为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en-US" altLang="zh-CN" sz="3600" b="1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q</a:t>
            </a:r>
            <a:r>
              <a:rPr lang="zh-CN" altLang="en-US" dirty="0"/>
              <a:t>组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3600" b="1" dirty="0">
                <a:solidFill>
                  <a:schemeClr val="tx1"/>
                </a:solidFill>
              </a:rPr>
              <a:t>2</a:t>
            </a:r>
            <a:r>
              <a:rPr lang="en-US" altLang="zh-CN" sz="3600" b="1" baseline="30000" dirty="0">
                <a:solidFill>
                  <a:schemeClr val="tx1"/>
                </a:solidFill>
              </a:rPr>
              <a:t>c-q </a:t>
            </a:r>
            <a:r>
              <a:rPr lang="zh-CN" altLang="en-US" sz="2400" dirty="0"/>
              <a:t>路组相联</a:t>
            </a:r>
            <a:endParaRPr lang="en-US" altLang="zh-CN" sz="24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6826515" y="2591931"/>
            <a:ext cx="4415186" cy="837069"/>
            <a:chOff x="6427139" y="2629975"/>
            <a:chExt cx="4415186" cy="837069"/>
          </a:xfrm>
        </p:grpSpPr>
        <p:sp>
          <p:nvSpPr>
            <p:cNvPr id="7" name="矩形 6"/>
            <p:cNvSpPr/>
            <p:nvPr/>
          </p:nvSpPr>
          <p:spPr>
            <a:xfrm>
              <a:off x="7179414" y="2630434"/>
              <a:ext cx="689610" cy="416560"/>
            </a:xfrm>
            <a:prstGeom prst="rect">
              <a:avLst/>
            </a:prstGeom>
            <a:noFill/>
            <a:ln w="38100"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CC9900"/>
                  </a:solidFill>
                </a:rPr>
                <a:t>标记</a:t>
              </a:r>
              <a:endParaRPr lang="zh-CN" altLang="en-US" dirty="0">
                <a:solidFill>
                  <a:srgbClr val="CC9900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7179414" y="3046994"/>
              <a:ext cx="689610" cy="416560"/>
            </a:xfrm>
            <a:prstGeom prst="rect">
              <a:avLst/>
            </a:prstGeom>
            <a:noFill/>
            <a:ln w="38100"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CC9900"/>
                  </a:solidFill>
                </a:rPr>
                <a:t>标记</a:t>
              </a:r>
              <a:endParaRPr lang="zh-CN" altLang="en-US" dirty="0">
                <a:solidFill>
                  <a:srgbClr val="CC9900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936374" y="2630434"/>
              <a:ext cx="2905951" cy="416560"/>
            </a:xfrm>
            <a:prstGeom prst="rect">
              <a:avLst/>
            </a:prstGeom>
            <a:noFill/>
            <a:ln w="38100">
              <a:solidFill>
                <a:schemeClr val="accent5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2</a:t>
              </a:r>
              <a:r>
                <a:rPr lang="en-US" altLang="zh-CN" baseline="30000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b</a:t>
              </a:r>
              <a:r>
                <a:rPr lang="zh-CN" altLang="en-US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字节块（行）内数据</a:t>
              </a:r>
              <a:endParaRPr lang="zh-CN" altLang="en-US" dirty="0">
                <a:solidFill>
                  <a:schemeClr val="accent5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7936374" y="3050484"/>
              <a:ext cx="2905951" cy="416560"/>
            </a:xfrm>
            <a:prstGeom prst="rect">
              <a:avLst/>
            </a:prstGeom>
            <a:noFill/>
            <a:ln w="38100">
              <a:solidFill>
                <a:schemeClr val="accent5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2</a:t>
              </a:r>
              <a:r>
                <a:rPr lang="en-US" altLang="zh-CN" baseline="30000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b</a:t>
              </a:r>
              <a:r>
                <a:rPr lang="zh-CN" altLang="en-US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字节块（行）内数据</a:t>
              </a:r>
              <a:endParaRPr lang="zh-CN" altLang="en-US" dirty="0">
                <a:solidFill>
                  <a:schemeClr val="accent5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427139" y="2629975"/>
              <a:ext cx="689610" cy="416560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B050"/>
                  </a:solidFill>
                </a:rPr>
                <a:t>有效位</a:t>
              </a:r>
              <a:endParaRPr lang="zh-CN" altLang="en-US" sz="1200" dirty="0">
                <a:solidFill>
                  <a:srgbClr val="00B050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427139" y="3046535"/>
              <a:ext cx="689610" cy="416560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B050"/>
                  </a:solidFill>
                </a:rPr>
                <a:t>有效位</a:t>
              </a:r>
              <a:endParaRPr lang="zh-CN" altLang="en-US" sz="12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826515" y="3645627"/>
            <a:ext cx="4415186" cy="842121"/>
            <a:chOff x="6427139" y="3687594"/>
            <a:chExt cx="4415186" cy="842121"/>
          </a:xfrm>
        </p:grpSpPr>
        <p:sp>
          <p:nvSpPr>
            <p:cNvPr id="9" name="矩形 8"/>
            <p:cNvSpPr/>
            <p:nvPr/>
          </p:nvSpPr>
          <p:spPr>
            <a:xfrm>
              <a:off x="7179414" y="3688053"/>
              <a:ext cx="689610" cy="416560"/>
            </a:xfrm>
            <a:prstGeom prst="rect">
              <a:avLst/>
            </a:prstGeom>
            <a:noFill/>
            <a:ln w="38100"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CC9900"/>
                  </a:solidFill>
                </a:rPr>
                <a:t>标记</a:t>
              </a:r>
              <a:endParaRPr lang="zh-CN" altLang="en-US" dirty="0">
                <a:solidFill>
                  <a:srgbClr val="CC9900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179414" y="4113155"/>
              <a:ext cx="689610" cy="416560"/>
            </a:xfrm>
            <a:prstGeom prst="rect">
              <a:avLst/>
            </a:prstGeom>
            <a:noFill/>
            <a:ln w="38100"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CC9900"/>
                  </a:solidFill>
                </a:rPr>
                <a:t>标记</a:t>
              </a:r>
              <a:endParaRPr lang="zh-CN" altLang="en-US" dirty="0">
                <a:solidFill>
                  <a:srgbClr val="CC9900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936374" y="3693105"/>
              <a:ext cx="2905951" cy="416560"/>
            </a:xfrm>
            <a:prstGeom prst="rect">
              <a:avLst/>
            </a:prstGeom>
            <a:noFill/>
            <a:ln w="38100">
              <a:solidFill>
                <a:schemeClr val="accent5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2</a:t>
              </a:r>
              <a:r>
                <a:rPr lang="en-US" altLang="zh-CN" baseline="30000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b</a:t>
              </a:r>
              <a:r>
                <a:rPr lang="zh-CN" altLang="en-US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字节块（行）内数据</a:t>
              </a:r>
              <a:endParaRPr lang="zh-CN" altLang="en-US" dirty="0">
                <a:solidFill>
                  <a:schemeClr val="accent5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936374" y="4113155"/>
              <a:ext cx="2905951" cy="416560"/>
            </a:xfrm>
            <a:prstGeom prst="rect">
              <a:avLst/>
            </a:prstGeom>
            <a:noFill/>
            <a:ln w="38100">
              <a:solidFill>
                <a:schemeClr val="accent5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2</a:t>
              </a:r>
              <a:r>
                <a:rPr lang="en-US" altLang="zh-CN" baseline="30000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b</a:t>
              </a:r>
              <a:r>
                <a:rPr lang="zh-CN" altLang="en-US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字节块（行）内数据</a:t>
              </a:r>
              <a:endParaRPr lang="zh-CN" altLang="en-US" dirty="0">
                <a:solidFill>
                  <a:schemeClr val="accent5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6427139" y="3687594"/>
              <a:ext cx="689610" cy="416560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B050"/>
                  </a:solidFill>
                </a:rPr>
                <a:t>有效位</a:t>
              </a:r>
              <a:endParaRPr lang="zh-CN" altLang="en-US" sz="1200" dirty="0">
                <a:solidFill>
                  <a:srgbClr val="00B050"/>
                </a:solidFill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6427139" y="4112696"/>
              <a:ext cx="689610" cy="416560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B050"/>
                  </a:solidFill>
                </a:rPr>
                <a:t>有效位</a:t>
              </a:r>
              <a:endParaRPr lang="zh-CN" altLang="en-US" sz="12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826515" y="4704375"/>
            <a:ext cx="4415186" cy="837069"/>
            <a:chOff x="6427139" y="4773221"/>
            <a:chExt cx="4415186" cy="837069"/>
          </a:xfrm>
        </p:grpSpPr>
        <p:sp>
          <p:nvSpPr>
            <p:cNvPr id="19" name="矩形 18"/>
            <p:cNvSpPr/>
            <p:nvPr/>
          </p:nvSpPr>
          <p:spPr>
            <a:xfrm>
              <a:off x="7179414" y="4773680"/>
              <a:ext cx="689610" cy="416560"/>
            </a:xfrm>
            <a:prstGeom prst="rect">
              <a:avLst/>
            </a:prstGeom>
            <a:noFill/>
            <a:ln w="38100"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CC9900"/>
                  </a:solidFill>
                </a:rPr>
                <a:t>标记</a:t>
              </a:r>
              <a:endParaRPr lang="zh-CN" altLang="en-US" dirty="0">
                <a:solidFill>
                  <a:srgbClr val="CC9900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7179414" y="5190240"/>
              <a:ext cx="689610" cy="416560"/>
            </a:xfrm>
            <a:prstGeom prst="rect">
              <a:avLst/>
            </a:prstGeom>
            <a:noFill/>
            <a:ln w="38100"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CC9900"/>
                  </a:solidFill>
                </a:rPr>
                <a:t>标记</a:t>
              </a:r>
              <a:endParaRPr lang="zh-CN" altLang="en-US" dirty="0">
                <a:solidFill>
                  <a:srgbClr val="CC9900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7936374" y="4773680"/>
              <a:ext cx="2905951" cy="416560"/>
            </a:xfrm>
            <a:prstGeom prst="rect">
              <a:avLst/>
            </a:prstGeom>
            <a:noFill/>
            <a:ln w="38100">
              <a:solidFill>
                <a:schemeClr val="accent5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2</a:t>
              </a:r>
              <a:r>
                <a:rPr lang="en-US" altLang="zh-CN" baseline="30000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b</a:t>
              </a:r>
              <a:r>
                <a:rPr lang="zh-CN" altLang="en-US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字节块（行）内数据</a:t>
              </a:r>
              <a:endParaRPr lang="zh-CN" altLang="en-US" dirty="0">
                <a:solidFill>
                  <a:schemeClr val="accent5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936374" y="5193730"/>
              <a:ext cx="2905951" cy="416560"/>
            </a:xfrm>
            <a:prstGeom prst="rect">
              <a:avLst/>
            </a:prstGeom>
            <a:noFill/>
            <a:ln w="38100">
              <a:solidFill>
                <a:schemeClr val="accent5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2</a:t>
              </a:r>
              <a:r>
                <a:rPr lang="en-US" altLang="zh-CN" baseline="30000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b</a:t>
              </a:r>
              <a:r>
                <a:rPr lang="zh-CN" altLang="en-US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字节块（行）内数据</a:t>
              </a:r>
              <a:endParaRPr lang="zh-CN" altLang="en-US" dirty="0">
                <a:solidFill>
                  <a:schemeClr val="accent5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6427139" y="4773221"/>
              <a:ext cx="689610" cy="416560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B050"/>
                  </a:solidFill>
                </a:rPr>
                <a:t>有效位</a:t>
              </a:r>
              <a:endParaRPr lang="zh-CN" altLang="en-US" sz="1200" dirty="0">
                <a:solidFill>
                  <a:srgbClr val="00B050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427139" y="5189781"/>
              <a:ext cx="689610" cy="416560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B050"/>
                  </a:solidFill>
                </a:rPr>
                <a:t>有效位</a:t>
              </a:r>
              <a:endParaRPr lang="zh-CN" altLang="en-US" sz="12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26515" y="5758072"/>
            <a:ext cx="4415186" cy="842121"/>
            <a:chOff x="6427139" y="5796116"/>
            <a:chExt cx="4415186" cy="842121"/>
          </a:xfrm>
        </p:grpSpPr>
        <p:sp>
          <p:nvSpPr>
            <p:cNvPr id="21" name="矩形 20"/>
            <p:cNvSpPr/>
            <p:nvPr/>
          </p:nvSpPr>
          <p:spPr>
            <a:xfrm>
              <a:off x="7179414" y="5796575"/>
              <a:ext cx="689610" cy="416560"/>
            </a:xfrm>
            <a:prstGeom prst="rect">
              <a:avLst/>
            </a:prstGeom>
            <a:noFill/>
            <a:ln w="38100"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CC9900"/>
                  </a:solidFill>
                </a:rPr>
                <a:t>标记</a:t>
              </a:r>
              <a:endParaRPr lang="zh-CN" altLang="en-US" dirty="0">
                <a:solidFill>
                  <a:srgbClr val="CC9900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7179414" y="6221677"/>
              <a:ext cx="689610" cy="416560"/>
            </a:xfrm>
            <a:prstGeom prst="rect">
              <a:avLst/>
            </a:prstGeom>
            <a:noFill/>
            <a:ln w="38100">
              <a:solidFill>
                <a:srgbClr val="CC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CC9900"/>
                  </a:solidFill>
                </a:rPr>
                <a:t>标记</a:t>
              </a:r>
              <a:endParaRPr lang="zh-CN" altLang="en-US" dirty="0">
                <a:solidFill>
                  <a:srgbClr val="CC9900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936374" y="5801627"/>
              <a:ext cx="2905951" cy="416560"/>
            </a:xfrm>
            <a:prstGeom prst="rect">
              <a:avLst/>
            </a:prstGeom>
            <a:noFill/>
            <a:ln w="38100">
              <a:solidFill>
                <a:schemeClr val="accent5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2</a:t>
              </a:r>
              <a:r>
                <a:rPr lang="en-US" altLang="zh-CN" baseline="30000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b</a:t>
              </a:r>
              <a:r>
                <a:rPr lang="zh-CN" altLang="en-US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字节块（行）内数据</a:t>
              </a:r>
              <a:endParaRPr lang="zh-CN" altLang="en-US" dirty="0">
                <a:solidFill>
                  <a:schemeClr val="accent5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7936374" y="6221677"/>
              <a:ext cx="2905951" cy="416560"/>
            </a:xfrm>
            <a:prstGeom prst="rect">
              <a:avLst/>
            </a:prstGeom>
            <a:noFill/>
            <a:ln w="38100">
              <a:solidFill>
                <a:schemeClr val="accent5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2</a:t>
              </a:r>
              <a:r>
                <a:rPr lang="en-US" altLang="zh-CN" baseline="30000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b</a:t>
              </a:r>
              <a:r>
                <a:rPr lang="zh-CN" altLang="en-US" dirty="0">
                  <a:solidFill>
                    <a:schemeClr val="accent5">
                      <a:lumMod val="50000"/>
                      <a:lumOff val="50000"/>
                    </a:schemeClr>
                  </a:solidFill>
                </a:rPr>
                <a:t>字节块（行）内数据</a:t>
              </a:r>
              <a:endParaRPr lang="zh-CN" altLang="en-US" dirty="0">
                <a:solidFill>
                  <a:schemeClr val="accent5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6427139" y="5796116"/>
              <a:ext cx="689610" cy="416560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B050"/>
                  </a:solidFill>
                </a:rPr>
                <a:t>有效位</a:t>
              </a:r>
              <a:endParaRPr lang="zh-CN" altLang="en-US" sz="1200" dirty="0">
                <a:solidFill>
                  <a:srgbClr val="00B050"/>
                </a:solidFill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6427139" y="6221218"/>
              <a:ext cx="689610" cy="416560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B050"/>
                  </a:solidFill>
                </a:rPr>
                <a:t>有效位</a:t>
              </a:r>
              <a:endParaRPr lang="zh-CN" altLang="en-US" sz="1200" dirty="0">
                <a:solidFill>
                  <a:srgbClr val="00B050"/>
                </a:solidFill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11387020" y="2753911"/>
            <a:ext cx="950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组</a:t>
            </a:r>
            <a:r>
              <a:rPr lang="en-US" altLang="zh-CN" sz="3200" dirty="0"/>
              <a:t>0</a:t>
            </a:r>
            <a:endParaRPr lang="zh-CN" altLang="en-US" sz="3200" dirty="0"/>
          </a:p>
        </p:txBody>
      </p:sp>
      <p:sp>
        <p:nvSpPr>
          <p:cNvPr id="36" name="文本框 35"/>
          <p:cNvSpPr txBox="1"/>
          <p:nvPr/>
        </p:nvSpPr>
        <p:spPr>
          <a:xfrm>
            <a:off x="11387020" y="3771044"/>
            <a:ext cx="950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组</a:t>
            </a:r>
            <a:r>
              <a:rPr lang="en-US" altLang="zh-CN" sz="3200" dirty="0"/>
              <a:t>1</a:t>
            </a:r>
            <a:endParaRPr lang="zh-CN" altLang="en-US" sz="3200" dirty="0"/>
          </a:p>
        </p:txBody>
      </p:sp>
      <p:sp>
        <p:nvSpPr>
          <p:cNvPr id="37" name="文本框 36"/>
          <p:cNvSpPr txBox="1"/>
          <p:nvPr/>
        </p:nvSpPr>
        <p:spPr>
          <a:xfrm>
            <a:off x="11387020" y="4821250"/>
            <a:ext cx="950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组</a:t>
            </a:r>
            <a:r>
              <a:rPr lang="en-US" altLang="zh-CN" sz="3200" dirty="0"/>
              <a:t>2</a:t>
            </a:r>
            <a:endParaRPr lang="zh-CN" altLang="en-US" sz="3200" dirty="0"/>
          </a:p>
        </p:txBody>
      </p:sp>
      <p:sp>
        <p:nvSpPr>
          <p:cNvPr id="38" name="文本框 37"/>
          <p:cNvSpPr txBox="1"/>
          <p:nvPr/>
        </p:nvSpPr>
        <p:spPr>
          <a:xfrm>
            <a:off x="11387020" y="5906041"/>
            <a:ext cx="950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组</a:t>
            </a:r>
            <a:r>
              <a:rPr lang="en-US" altLang="zh-CN" sz="3200" dirty="0"/>
              <a:t>3</a:t>
            </a:r>
            <a:endParaRPr lang="zh-CN" altLang="en-US" sz="3200" dirty="0"/>
          </a:p>
        </p:txBody>
      </p:sp>
      <p:sp>
        <p:nvSpPr>
          <p:cNvPr id="39" name="文本框 38"/>
          <p:cNvSpPr txBox="1"/>
          <p:nvPr/>
        </p:nvSpPr>
        <p:spPr>
          <a:xfrm>
            <a:off x="9363919" y="1689904"/>
            <a:ext cx="2314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2</a:t>
            </a:r>
            <a:r>
              <a:rPr lang="zh-CN" altLang="en-US" sz="3200" dirty="0"/>
              <a:t>路组相联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7405" y="5320609"/>
            <a:ext cx="3368642" cy="6705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访问</a:t>
            </a:r>
            <a:r>
              <a:rPr lang="en-US" altLang="zh-CN" dirty="0"/>
              <a:t>cache</a:t>
            </a:r>
            <a:r>
              <a:rPr lang="zh-CN" altLang="en-US" dirty="0"/>
              <a:t>的流程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4D88F-011D-4334-8C6C-2C7D2A964EE2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092950" y="1091843"/>
            <a:ext cx="4338864" cy="699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从物理地址中提取</a:t>
            </a:r>
            <a:r>
              <a:rPr lang="en-US" altLang="zh-CN" sz="2400" dirty="0"/>
              <a:t>cache</a:t>
            </a:r>
            <a:r>
              <a:rPr lang="zh-CN" altLang="en-US" sz="2400" dirty="0"/>
              <a:t>的行号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7402985" y="1505188"/>
            <a:ext cx="1233146" cy="416560"/>
          </a:xfrm>
          <a:prstGeom prst="rect">
            <a:avLst/>
          </a:prstGeom>
          <a:solidFill>
            <a:schemeClr val="bg1"/>
          </a:solidFill>
          <a:ln w="38100"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C9900"/>
                </a:solidFill>
              </a:rPr>
              <a:t>标记</a:t>
            </a:r>
            <a:endParaRPr lang="zh-CN" altLang="en-US" dirty="0">
              <a:solidFill>
                <a:srgbClr val="CC99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992021" y="1505188"/>
            <a:ext cx="1249680" cy="4165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块内地址</a:t>
            </a:r>
            <a:endParaRPr lang="zh-CN" altLang="en-US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73019" y="1090080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高</a:t>
            </a:r>
            <a:r>
              <a:rPr lang="en-US" altLang="zh-CN" dirty="0"/>
              <a:t>32-c-b</a:t>
            </a:r>
            <a:r>
              <a:rPr lang="zh-CN" altLang="en-US" dirty="0"/>
              <a:t>位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232782" y="109711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低</a:t>
            </a:r>
            <a:r>
              <a:rPr lang="en-US" altLang="zh-CN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位</a:t>
            </a:r>
            <a:endParaRPr lang="zh-CN" altLang="en-US" dirty="0">
              <a:solidFill>
                <a:schemeClr val="accent5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697405" y="1505188"/>
            <a:ext cx="1233146" cy="416560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</a:rPr>
              <a:t>Cache</a:t>
            </a:r>
            <a:r>
              <a:rPr lang="zh-CN" altLang="en-US" sz="1600" dirty="0">
                <a:solidFill>
                  <a:srgbClr val="C00000"/>
                </a:solidFill>
              </a:rPr>
              <a:t>行号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826505" y="1094570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中间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zh-CN" altLang="en-US" dirty="0">
                <a:solidFill>
                  <a:srgbClr val="C00000"/>
                </a:solidFill>
              </a:rPr>
              <a:t>位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78299" y="635451"/>
            <a:ext cx="1646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/>
              <a:t>物理地址：</a:t>
            </a:r>
            <a:endParaRPr lang="zh-CN" altLang="en-US" sz="2400" b="1" dirty="0"/>
          </a:p>
        </p:txBody>
      </p:sp>
      <p:sp>
        <p:nvSpPr>
          <p:cNvPr id="26" name="矩形 25"/>
          <p:cNvSpPr/>
          <p:nvPr/>
        </p:nvSpPr>
        <p:spPr>
          <a:xfrm>
            <a:off x="2092950" y="2369300"/>
            <a:ext cx="4338864" cy="699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根据行号选择对应的</a:t>
            </a:r>
            <a:r>
              <a:rPr lang="en-US" altLang="zh-CN" sz="2400" dirty="0"/>
              <a:t>cache</a:t>
            </a:r>
            <a:r>
              <a:rPr lang="zh-CN" altLang="en-US" sz="2400" dirty="0"/>
              <a:t>行</a:t>
            </a:r>
            <a:endParaRPr lang="zh-CN" altLang="en-US" sz="240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316" y="2197995"/>
            <a:ext cx="3085452" cy="1407853"/>
          </a:xfrm>
          <a:prstGeom prst="rect">
            <a:avLst/>
          </a:prstGeom>
        </p:spPr>
      </p:pic>
      <p:cxnSp>
        <p:nvCxnSpPr>
          <p:cNvPr id="30" name="直接箭头连接符 29"/>
          <p:cNvCxnSpPr>
            <a:stCxn id="5" idx="2"/>
            <a:endCxn id="26" idx="0"/>
          </p:cNvCxnSpPr>
          <p:nvPr/>
        </p:nvCxnSpPr>
        <p:spPr>
          <a:xfrm>
            <a:off x="4262382" y="1790923"/>
            <a:ext cx="0" cy="57837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流程图: 决策 34"/>
          <p:cNvSpPr/>
          <p:nvPr/>
        </p:nvSpPr>
        <p:spPr>
          <a:xfrm>
            <a:off x="2092948" y="3549738"/>
            <a:ext cx="4338866" cy="110328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有效位为</a:t>
            </a:r>
            <a:r>
              <a:rPr lang="en-US" altLang="zh-CN" sz="2400" dirty="0"/>
              <a:t>1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algn="ctr"/>
            <a:r>
              <a:rPr lang="en-US" altLang="zh-CN" sz="2400" dirty="0"/>
              <a:t>AND </a:t>
            </a:r>
            <a:r>
              <a:rPr lang="zh-CN" altLang="en-US" sz="2400" dirty="0"/>
              <a:t>标记一致？</a:t>
            </a:r>
            <a:endParaRPr lang="en-US" altLang="zh-CN" sz="2400" dirty="0"/>
          </a:p>
        </p:txBody>
      </p:sp>
      <p:cxnSp>
        <p:nvCxnSpPr>
          <p:cNvPr id="37" name="直接箭头连接符 36"/>
          <p:cNvCxnSpPr>
            <a:stCxn id="26" idx="2"/>
            <a:endCxn id="35" idx="0"/>
          </p:cNvCxnSpPr>
          <p:nvPr/>
        </p:nvCxnSpPr>
        <p:spPr>
          <a:xfrm flipH="1">
            <a:off x="4262381" y="3068380"/>
            <a:ext cx="1" cy="48135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63592" y="5168393"/>
            <a:ext cx="3379806" cy="9832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根据块内地址访问数据</a:t>
            </a:r>
            <a:endParaRPr lang="zh-CN" altLang="en-US" sz="2400" dirty="0"/>
          </a:p>
        </p:txBody>
      </p:sp>
      <p:cxnSp>
        <p:nvCxnSpPr>
          <p:cNvPr id="46" name="连接符: 肘形 45"/>
          <p:cNvCxnSpPr>
            <a:stCxn id="35" idx="1"/>
            <a:endCxn id="44" idx="0"/>
          </p:cNvCxnSpPr>
          <p:nvPr/>
        </p:nvCxnSpPr>
        <p:spPr>
          <a:xfrm rot="10800000" flipV="1">
            <a:off x="1753496" y="4101381"/>
            <a:ext cx="339453" cy="1067012"/>
          </a:xfrm>
          <a:prstGeom prst="bentConnector2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63592" y="4127661"/>
            <a:ext cx="1689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是</a:t>
            </a:r>
            <a:endParaRPr lang="en-US" altLang="zh-CN" sz="2400" dirty="0"/>
          </a:p>
          <a:p>
            <a:pPr algn="ctr"/>
            <a:r>
              <a:rPr lang="en-US" altLang="zh-CN" sz="2400" dirty="0"/>
              <a:t>Cache</a:t>
            </a:r>
            <a:r>
              <a:rPr lang="zh-CN" altLang="en-US" sz="2400" dirty="0"/>
              <a:t>命中</a:t>
            </a:r>
            <a:endParaRPr lang="zh-CN" altLang="en-US" sz="2400" dirty="0"/>
          </a:p>
        </p:txBody>
      </p:sp>
      <p:sp>
        <p:nvSpPr>
          <p:cNvPr id="49" name="矩形 48"/>
          <p:cNvSpPr/>
          <p:nvPr/>
        </p:nvSpPr>
        <p:spPr>
          <a:xfrm>
            <a:off x="4996337" y="5168393"/>
            <a:ext cx="3379806" cy="9832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将对应主存块送</a:t>
            </a:r>
            <a:r>
              <a:rPr lang="en-US" altLang="zh-CN" sz="2400" dirty="0"/>
              <a:t>cache</a:t>
            </a:r>
            <a:r>
              <a:rPr lang="zh-CN" altLang="en-US" sz="2400" dirty="0"/>
              <a:t>行并更新有效位和标记</a:t>
            </a:r>
            <a:endParaRPr lang="zh-CN" altLang="en-US" sz="2400" dirty="0"/>
          </a:p>
        </p:txBody>
      </p:sp>
      <p:cxnSp>
        <p:nvCxnSpPr>
          <p:cNvPr id="50" name="连接符: 肘形 49"/>
          <p:cNvCxnSpPr>
            <a:stCxn id="35" idx="3"/>
            <a:endCxn id="49" idx="0"/>
          </p:cNvCxnSpPr>
          <p:nvPr/>
        </p:nvCxnSpPr>
        <p:spPr>
          <a:xfrm>
            <a:off x="6431814" y="4101381"/>
            <a:ext cx="254426" cy="1067012"/>
          </a:xfrm>
          <a:prstGeom prst="bentConnector2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6686240" y="4127286"/>
            <a:ext cx="1689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否</a:t>
            </a:r>
            <a:endParaRPr lang="en-US" altLang="zh-CN" sz="2400" dirty="0"/>
          </a:p>
          <a:p>
            <a:pPr algn="ctr"/>
            <a:r>
              <a:rPr lang="en-US" altLang="zh-CN" sz="2400" dirty="0"/>
              <a:t>Cache</a:t>
            </a:r>
            <a:r>
              <a:rPr lang="zh-CN" altLang="en-US" sz="2400" dirty="0"/>
              <a:t>缺失</a:t>
            </a:r>
            <a:endParaRPr lang="zh-CN" altLang="en-US" sz="2400" dirty="0"/>
          </a:p>
        </p:txBody>
      </p:sp>
      <p:sp>
        <p:nvSpPr>
          <p:cNvPr id="54" name="文本框 53"/>
          <p:cNvSpPr txBox="1"/>
          <p:nvPr/>
        </p:nvSpPr>
        <p:spPr>
          <a:xfrm>
            <a:off x="5122949" y="6242496"/>
            <a:ext cx="3126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Cache</a:t>
            </a:r>
            <a:r>
              <a:rPr lang="zh-CN" altLang="en-US" sz="2400" dirty="0"/>
              <a:t>的缺失处理</a:t>
            </a:r>
            <a:endParaRPr lang="zh-CN" altLang="en-US" sz="2400" dirty="0"/>
          </a:p>
        </p:txBody>
      </p:sp>
      <p:cxnSp>
        <p:nvCxnSpPr>
          <p:cNvPr id="56" name="直接箭头连接符 55"/>
          <p:cNvCxnSpPr/>
          <p:nvPr/>
        </p:nvCxnSpPr>
        <p:spPr>
          <a:xfrm>
            <a:off x="6894693" y="2718840"/>
            <a:ext cx="38704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/>
          <p:cNvCxnSpPr/>
          <p:nvPr/>
        </p:nvCxnSpPr>
        <p:spPr>
          <a:xfrm rot="16200000" flipV="1">
            <a:off x="9264032" y="3840488"/>
            <a:ext cx="2570901" cy="401583"/>
          </a:xfrm>
          <a:prstGeom prst="bentConnector2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10903352" y="3429000"/>
            <a:ext cx="1058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整块送入</a:t>
            </a:r>
            <a:r>
              <a:rPr lang="en-US" altLang="zh-CN" sz="2400" dirty="0"/>
              <a:t>cache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8800" y="1182256"/>
            <a:ext cx="10922000" cy="4100944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问题一：</a:t>
            </a:r>
            <a:r>
              <a:rPr lang="en-US" altLang="zh-CN" sz="2800" dirty="0"/>
              <a:t> Cache</a:t>
            </a:r>
            <a:r>
              <a:rPr lang="zh-CN" altLang="en-US" sz="2800" dirty="0"/>
              <a:t>行和主存块的映射</a:t>
            </a:r>
            <a:endParaRPr lang="en-US" altLang="zh-CN" sz="2800" dirty="0"/>
          </a:p>
          <a:p>
            <a:pPr lvl="1"/>
            <a:r>
              <a:rPr lang="zh-CN" altLang="en-US" sz="2400" dirty="0"/>
              <a:t>直接映射法的基础上</a:t>
            </a:r>
            <a:endParaRPr lang="en-US" altLang="zh-CN" sz="2400" dirty="0"/>
          </a:p>
          <a:p>
            <a:pPr lvl="1"/>
            <a:r>
              <a:rPr lang="zh-CN" altLang="en-US" sz="2400" dirty="0"/>
              <a:t>组相联映射：折中方案</a:t>
            </a:r>
            <a:endParaRPr lang="en-US" altLang="zh-CN" sz="2400" dirty="0"/>
          </a:p>
          <a:p>
            <a:pPr lvl="2"/>
            <a:r>
              <a:rPr lang="zh-CN" altLang="en-US" sz="2800" dirty="0"/>
              <a:t>有了物理地址找到</a:t>
            </a:r>
            <a:r>
              <a:rPr lang="en-US" altLang="zh-CN" sz="2800" dirty="0"/>
              <a:t>Cache</a:t>
            </a:r>
            <a:r>
              <a:rPr lang="zh-CN" altLang="en-US" sz="2800" dirty="0"/>
              <a:t>行的过程</a:t>
            </a:r>
            <a:endParaRPr lang="en-US" altLang="zh-CN" sz="2800" dirty="0"/>
          </a:p>
          <a:p>
            <a:pPr lvl="3"/>
            <a:r>
              <a:rPr lang="zh-CN" altLang="en-US" sz="2400" dirty="0"/>
              <a:t>第一步：根据组号找到相应的组</a:t>
            </a:r>
            <a:endParaRPr lang="en-US" altLang="zh-CN" sz="2400" dirty="0"/>
          </a:p>
          <a:p>
            <a:pPr lvl="3"/>
            <a:r>
              <a:rPr lang="zh-CN" altLang="en-US" sz="2400" dirty="0"/>
              <a:t>第二步：组内的</a:t>
            </a:r>
            <a:r>
              <a:rPr lang="en-US" altLang="zh-CN" sz="2400" dirty="0"/>
              <a:t>Cache</a:t>
            </a:r>
            <a:r>
              <a:rPr lang="zh-CN" altLang="en-US" sz="2400" dirty="0"/>
              <a:t>行一个个比标记，命中？不命中？</a:t>
            </a:r>
            <a:endParaRPr lang="en-US" altLang="zh-CN" sz="2400" dirty="0"/>
          </a:p>
          <a:p>
            <a:pPr lvl="3"/>
            <a:r>
              <a:rPr lang="zh-CN" altLang="en-US" sz="2400" dirty="0"/>
              <a:t>第三步：看有效位，命中？不命中？</a:t>
            </a:r>
            <a:endParaRPr lang="en-US" altLang="zh-CN" sz="2400" dirty="0"/>
          </a:p>
          <a:p>
            <a:pPr lvl="3"/>
            <a:r>
              <a:rPr lang="zh-CN" altLang="en-US" sz="2400" dirty="0"/>
              <a:t>第四步：命中？读</a:t>
            </a:r>
            <a:r>
              <a:rPr lang="en-US" altLang="zh-CN" sz="2400" dirty="0"/>
              <a:t>Cache</a:t>
            </a:r>
            <a:r>
              <a:rPr lang="zh-CN" altLang="en-US" sz="2400" dirty="0"/>
              <a:t>：不命中？先搬主存块到</a:t>
            </a:r>
            <a:r>
              <a:rPr lang="en-US" altLang="zh-CN" sz="2400" dirty="0"/>
              <a:t>Cache</a:t>
            </a:r>
            <a:r>
              <a:rPr lang="zh-CN" altLang="en-US" sz="2400" dirty="0"/>
              <a:t>，再读</a:t>
            </a:r>
            <a:r>
              <a:rPr lang="en-US" altLang="zh-CN" sz="2400" dirty="0"/>
              <a:t>Cache</a:t>
            </a:r>
            <a:endParaRPr lang="en-US" altLang="zh-CN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17D84-8095-4C69-96C8-A14BA5E92D8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867397" y="5776897"/>
            <a:ext cx="689610" cy="416560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标记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51797" y="5776897"/>
            <a:ext cx="1249680" cy="41656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5"/>
                </a:solidFill>
              </a:rPr>
              <a:t>块内地址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760840" y="6213777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高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m-q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位</a:t>
            </a:r>
            <a:endParaRPr lang="zh-CN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292558" y="621377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/>
                </a:solidFill>
              </a:rPr>
              <a:t>低</a:t>
            </a:r>
            <a:r>
              <a:rPr lang="en-US" altLang="zh-CN" dirty="0">
                <a:solidFill>
                  <a:schemeClr val="accent5"/>
                </a:solidFill>
              </a:rPr>
              <a:t>b</a:t>
            </a:r>
            <a:r>
              <a:rPr lang="zh-CN" altLang="en-US" dirty="0">
                <a:solidFill>
                  <a:schemeClr val="accent5"/>
                </a:solidFill>
              </a:rPr>
              <a:t>位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595131" y="5776897"/>
            <a:ext cx="1233146" cy="41656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7030A0"/>
                </a:solidFill>
              </a:rPr>
              <a:t>Cache</a:t>
            </a:r>
            <a:r>
              <a:rPr lang="zh-CN" altLang="en-US" sz="1600" dirty="0">
                <a:solidFill>
                  <a:srgbClr val="7030A0"/>
                </a:solidFill>
              </a:rPr>
              <a:t>组号</a:t>
            </a:r>
            <a:endParaRPr lang="zh-CN" altLang="en-US" sz="1600" dirty="0">
              <a:solidFill>
                <a:srgbClr val="7030A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724231" y="6211231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中间</a:t>
            </a:r>
            <a:r>
              <a:rPr lang="en-US" altLang="zh-CN" dirty="0">
                <a:solidFill>
                  <a:srgbClr val="7030A0"/>
                </a:solidFill>
              </a:rPr>
              <a:t>q</a:t>
            </a:r>
            <a:r>
              <a:rPr lang="zh-CN" altLang="en-US" dirty="0">
                <a:solidFill>
                  <a:srgbClr val="7030A0"/>
                </a:solidFill>
              </a:rPr>
              <a:t>位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540083" y="5055202"/>
            <a:ext cx="3243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/>
              <a:t>主存（物理）地址：</a:t>
            </a:r>
            <a:endParaRPr lang="zh-CN" altLang="en-US" sz="24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979052" y="5055201"/>
            <a:ext cx="4022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/>
              <a:t>Cache</a:t>
            </a:r>
            <a:r>
              <a:rPr lang="zh-CN" altLang="en-US" sz="2400" b="1" dirty="0"/>
              <a:t>组织（参见课本）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8953F-0F53-4E24-9D3D-4EF17FB25F1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730247" y="3297678"/>
            <a:ext cx="2227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</a:rPr>
              <a:t>各有优劣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838201" y="1182255"/>
            <a:ext cx="11133082" cy="4994708"/>
          </a:xfrm>
        </p:spPr>
        <p:txBody>
          <a:bodyPr>
            <a:noAutofit/>
          </a:bodyPr>
          <a:lstStyle/>
          <a:p>
            <a:r>
              <a:rPr lang="zh-CN" altLang="en-US" sz="2600" dirty="0"/>
              <a:t>问题一：</a:t>
            </a:r>
            <a:r>
              <a:rPr lang="en-US" altLang="zh-CN" sz="2600" dirty="0"/>
              <a:t> Cache</a:t>
            </a:r>
            <a:r>
              <a:rPr lang="zh-CN" altLang="en-US" sz="2600" dirty="0"/>
              <a:t>行和主存块的映射</a:t>
            </a:r>
            <a:endParaRPr lang="en-US" altLang="zh-CN" sz="2600" dirty="0"/>
          </a:p>
          <a:p>
            <a:pPr lvl="1"/>
            <a:r>
              <a:rPr lang="zh-CN" altLang="en-US" sz="2800" dirty="0"/>
              <a:t>某个主存地址对应</a:t>
            </a:r>
            <a:r>
              <a:rPr lang="en-US" altLang="zh-CN" sz="2800" dirty="0"/>
              <a:t>cache</a:t>
            </a:r>
            <a:r>
              <a:rPr lang="zh-CN" altLang="en-US" sz="2800" dirty="0"/>
              <a:t>中的什么位置？</a:t>
            </a:r>
            <a:endParaRPr lang="en-US" altLang="zh-CN" sz="2600" dirty="0"/>
          </a:p>
          <a:p>
            <a:pPr lvl="1"/>
            <a:endParaRPr lang="en-US" altLang="zh-CN" sz="2600" dirty="0"/>
          </a:p>
          <a:p>
            <a:pPr lvl="1"/>
            <a:r>
              <a:rPr lang="zh-CN" altLang="en-US" sz="2600" dirty="0"/>
              <a:t>第二，主存块和</a:t>
            </a:r>
            <a:r>
              <a:rPr lang="en-US" altLang="zh-CN" sz="2600" dirty="0"/>
              <a:t>Cache</a:t>
            </a:r>
            <a:r>
              <a:rPr lang="zh-CN" altLang="en-US" sz="2600" dirty="0"/>
              <a:t>行怎么对应？</a:t>
            </a:r>
            <a:endParaRPr lang="en-US" altLang="zh-CN" sz="2600" dirty="0"/>
          </a:p>
          <a:p>
            <a:pPr lvl="2"/>
            <a:r>
              <a:rPr lang="zh-CN" altLang="en-US" sz="2600" b="1" dirty="0"/>
              <a:t>直接映射</a:t>
            </a:r>
            <a:endParaRPr lang="en-US" altLang="zh-CN" sz="2600" b="1" dirty="0"/>
          </a:p>
          <a:p>
            <a:pPr lvl="3"/>
            <a:r>
              <a:rPr lang="zh-CN" altLang="en-US" sz="2600" dirty="0"/>
              <a:t>一个萝卜一个盘</a:t>
            </a:r>
            <a:r>
              <a:rPr lang="en-US" altLang="zh-CN" sz="2600" dirty="0"/>
              <a:t>~</a:t>
            </a:r>
            <a:r>
              <a:rPr lang="zh-CN" altLang="en-US" sz="2600" dirty="0"/>
              <a:t>（坑</a:t>
            </a:r>
            <a:r>
              <a:rPr lang="en-US" altLang="zh-CN" sz="2600" dirty="0"/>
              <a:t>-&gt;</a:t>
            </a:r>
            <a:r>
              <a:rPr lang="zh-CN" altLang="en-US" sz="2600" dirty="0"/>
              <a:t>盘）</a:t>
            </a:r>
            <a:endParaRPr lang="en-US" altLang="zh-CN" sz="2600" dirty="0"/>
          </a:p>
          <a:p>
            <a:pPr lvl="2"/>
            <a:r>
              <a:rPr lang="zh-CN" altLang="en-US" sz="2600" b="1" dirty="0"/>
              <a:t>全相联映射</a:t>
            </a:r>
            <a:endParaRPr lang="en-US" altLang="zh-CN" sz="2600" b="1" dirty="0"/>
          </a:p>
          <a:p>
            <a:pPr lvl="3"/>
            <a:r>
              <a:rPr lang="zh-CN" altLang="en-US" sz="2600" dirty="0"/>
              <a:t>是盘就能占</a:t>
            </a:r>
            <a:endParaRPr lang="en-US" altLang="zh-CN" sz="2600" dirty="0"/>
          </a:p>
          <a:p>
            <a:pPr lvl="2"/>
            <a:r>
              <a:rPr lang="zh-CN" altLang="en-US" sz="2600" b="1" dirty="0"/>
              <a:t>组相联映射</a:t>
            </a:r>
            <a:endParaRPr lang="en-US" altLang="zh-CN" sz="2600" b="1" dirty="0"/>
          </a:p>
          <a:p>
            <a:pPr lvl="3"/>
            <a:r>
              <a:rPr lang="zh-CN" altLang="en-US" sz="2600" dirty="0"/>
              <a:t>划分成组，不能占别组的盘，但自己的组内是盘就能占</a:t>
            </a:r>
            <a:endParaRPr lang="zh-CN" altLang="en-US" sz="2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数据跨块的处理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DEF8-526C-4A85-B954-01B77BCFD5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114550" y="1946849"/>
          <a:ext cx="8280400" cy="7725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8040"/>
                <a:gridCol w="828040"/>
                <a:gridCol w="828040"/>
                <a:gridCol w="828040"/>
                <a:gridCol w="828040"/>
                <a:gridCol w="828040"/>
                <a:gridCol w="828040"/>
                <a:gridCol w="828040"/>
                <a:gridCol w="828040"/>
                <a:gridCol w="828040"/>
              </a:tblGrid>
              <a:tr h="772584">
                <a:tc>
                  <a:txBody>
                    <a:bodyPr/>
                    <a:lstStyle/>
                    <a:p>
                      <a:pPr algn="ctr"/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78</a:t>
                      </a:r>
                      <a:endParaRPr lang="zh-CN" altLang="en-US" sz="36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56</a:t>
                      </a:r>
                      <a:endParaRPr lang="zh-CN" altLang="en-US" sz="36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34</a:t>
                      </a:r>
                      <a:endParaRPr lang="zh-CN" altLang="en-US" sz="36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12</a:t>
                      </a:r>
                      <a:endParaRPr lang="zh-CN" altLang="en-US" sz="36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9" name="直接连接符 8"/>
          <p:cNvCxnSpPr/>
          <p:nvPr/>
        </p:nvCxnSpPr>
        <p:spPr>
          <a:xfrm>
            <a:off x="6248400" y="903333"/>
            <a:ext cx="0" cy="958850"/>
          </a:xfrm>
          <a:prstGeom prst="line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838200" y="2148475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低地址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0483850" y="2148475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高地址</a:t>
            </a:r>
            <a:endParaRPr lang="zh-CN" altLang="en-US" dirty="0"/>
          </a:p>
        </p:txBody>
      </p:sp>
      <p:sp>
        <p:nvSpPr>
          <p:cNvPr id="12" name="右箭头 11"/>
          <p:cNvSpPr/>
          <p:nvPr/>
        </p:nvSpPr>
        <p:spPr>
          <a:xfrm>
            <a:off x="6464300" y="1170033"/>
            <a:ext cx="711200" cy="412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397750" y="1189083"/>
            <a:ext cx="155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后一个主存块</a:t>
            </a:r>
            <a:endParaRPr lang="zh-CN" altLang="en-US" dirty="0"/>
          </a:p>
        </p:txBody>
      </p:sp>
      <p:sp>
        <p:nvSpPr>
          <p:cNvPr id="14" name="右箭头 13"/>
          <p:cNvSpPr/>
          <p:nvPr/>
        </p:nvSpPr>
        <p:spPr>
          <a:xfrm flipH="1">
            <a:off x="5334000" y="1170033"/>
            <a:ext cx="711200" cy="412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613150" y="1210818"/>
            <a:ext cx="155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前一个主存块</a:t>
            </a:r>
            <a:endParaRPr lang="zh-CN" altLang="en-US" dirty="0"/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4591050" y="2821033"/>
            <a:ext cx="0" cy="584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657600" y="358402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数据的起始地址</a:t>
            </a:r>
            <a:endParaRPr lang="zh-CN" altLang="en-US" dirty="0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4826000" y="3221083"/>
            <a:ext cx="2857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7918450" y="2821033"/>
            <a:ext cx="0" cy="584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7067550" y="358402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数据的终止地址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5711904" y="284855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数据长度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5829300" y="4654342"/>
            <a:ext cx="5662659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要不要判断数据跨块的情形？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出现了跨块怎么办？拆开访问</a:t>
            </a:r>
            <a:r>
              <a:rPr lang="en-US" altLang="zh-CN" sz="2400" dirty="0"/>
              <a:t>cache</a:t>
            </a:r>
            <a:r>
              <a:rPr lang="zh-CN" altLang="en-US" sz="2400" dirty="0"/>
              <a:t>行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要不要注意大小端？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5705" y="1182256"/>
            <a:ext cx="10551988" cy="497470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问题二：</a:t>
            </a:r>
            <a:r>
              <a:rPr lang="en-US" altLang="zh-CN" sz="2800" dirty="0"/>
              <a:t> Cache</a:t>
            </a:r>
            <a:r>
              <a:rPr lang="zh-CN" altLang="en-US" sz="2800" dirty="0"/>
              <a:t>中主存块的替换算法</a:t>
            </a:r>
            <a:endParaRPr lang="en-US" altLang="zh-CN" sz="2800" dirty="0"/>
          </a:p>
          <a:p>
            <a:pPr lvl="1"/>
            <a:r>
              <a:rPr lang="en-US" altLang="zh-CN" sz="2400" dirty="0"/>
              <a:t>Cache</a:t>
            </a:r>
            <a:r>
              <a:rPr lang="zh-CN" altLang="en-US" sz="2400" dirty="0"/>
              <a:t>满了怎么再进新数据？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根据程序特性各有优劣（略，参见课本）</a:t>
            </a:r>
            <a:endParaRPr lang="en-US" altLang="zh-CN" sz="2400" dirty="0"/>
          </a:p>
          <a:p>
            <a:pPr lvl="2"/>
            <a:r>
              <a:rPr lang="zh-CN" altLang="en-US" sz="1800" dirty="0"/>
              <a:t>先进先出法</a:t>
            </a:r>
            <a:endParaRPr lang="en-US" altLang="zh-CN" sz="1800" dirty="0"/>
          </a:p>
          <a:p>
            <a:pPr lvl="2"/>
            <a:r>
              <a:rPr lang="zh-CN" altLang="en-US" sz="1800" dirty="0"/>
              <a:t>最近最少用法</a:t>
            </a:r>
            <a:endParaRPr lang="en-US" altLang="zh-CN" sz="1800" dirty="0"/>
          </a:p>
          <a:p>
            <a:pPr lvl="2"/>
            <a:r>
              <a:rPr lang="zh-CN" altLang="en-US" sz="1800" dirty="0"/>
              <a:t>最近不经常用法</a:t>
            </a:r>
            <a:endParaRPr lang="en-US" altLang="zh-CN" sz="1800" dirty="0"/>
          </a:p>
          <a:p>
            <a:pPr lvl="2"/>
            <a:r>
              <a:rPr lang="zh-CN" altLang="en-US" sz="1800" dirty="0"/>
              <a:t>随机替换算法</a:t>
            </a:r>
            <a:endParaRPr lang="en-US" altLang="zh-CN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2557D-949C-4A56-A4C7-528B28A0848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4143" y="1182256"/>
            <a:ext cx="11309683" cy="497470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问题三：</a:t>
            </a:r>
            <a:r>
              <a:rPr lang="en-US" altLang="zh-CN" sz="4000" dirty="0"/>
              <a:t> Cache</a:t>
            </a:r>
            <a:r>
              <a:rPr lang="zh-CN" altLang="en-US" sz="4000" dirty="0"/>
              <a:t>一致性问题</a:t>
            </a:r>
            <a:endParaRPr lang="en-US" altLang="zh-CN" sz="4000" dirty="0"/>
          </a:p>
          <a:p>
            <a:pPr lvl="1"/>
            <a:r>
              <a:rPr lang="zh-CN" altLang="en-US" sz="3600" dirty="0"/>
              <a:t>发生于</a:t>
            </a:r>
            <a:r>
              <a:rPr lang="en-US" altLang="zh-CN" sz="3600" dirty="0"/>
              <a:t>Cache</a:t>
            </a:r>
            <a:r>
              <a:rPr lang="zh-CN" altLang="en-US" sz="3600" dirty="0"/>
              <a:t>被写了之后，</a:t>
            </a:r>
            <a:r>
              <a:rPr lang="en-US" altLang="zh-CN" sz="3600" dirty="0"/>
              <a:t>Cache</a:t>
            </a:r>
            <a:r>
              <a:rPr lang="zh-CN" altLang="en-US" sz="3600" dirty="0"/>
              <a:t>和主存内容不一致了</a:t>
            </a:r>
            <a:endParaRPr lang="en-US" altLang="zh-CN" sz="3600" dirty="0"/>
          </a:p>
          <a:p>
            <a:pPr lvl="1"/>
            <a:endParaRPr lang="en-US" altLang="zh-CN" sz="3600" dirty="0"/>
          </a:p>
          <a:p>
            <a:pPr lvl="1"/>
            <a:r>
              <a:rPr lang="zh-CN" altLang="en-US" sz="3600" dirty="0"/>
              <a:t>通常两种策略（略，参见课本）</a:t>
            </a:r>
            <a:endParaRPr lang="en-US" altLang="zh-CN" sz="3600" dirty="0"/>
          </a:p>
          <a:p>
            <a:pPr lvl="2"/>
            <a:r>
              <a:rPr lang="zh-CN" altLang="en-US" sz="2800" dirty="0"/>
              <a:t>全写法（</a:t>
            </a:r>
            <a:r>
              <a:rPr lang="en-US" altLang="zh-CN" sz="2800" dirty="0"/>
              <a:t>write through</a:t>
            </a:r>
            <a:r>
              <a:rPr lang="zh-CN" altLang="en-US" sz="2800" dirty="0"/>
              <a:t>）：写</a:t>
            </a:r>
            <a:r>
              <a:rPr lang="en-US" altLang="zh-CN" sz="2800" dirty="0"/>
              <a:t>Cache</a:t>
            </a:r>
            <a:r>
              <a:rPr lang="zh-CN" altLang="en-US" sz="2800" dirty="0"/>
              <a:t>同时写主存</a:t>
            </a:r>
            <a:endParaRPr lang="en-US" altLang="zh-CN" sz="2800" dirty="0"/>
          </a:p>
          <a:p>
            <a:pPr lvl="3"/>
            <a:r>
              <a:rPr lang="zh-CN" altLang="en-US" sz="2400" dirty="0"/>
              <a:t>写分配法（</a:t>
            </a:r>
            <a:r>
              <a:rPr lang="en-US" altLang="zh-CN" sz="2400" dirty="0"/>
              <a:t>write allocate</a:t>
            </a:r>
            <a:r>
              <a:rPr lang="zh-CN" altLang="en-US" sz="2400" dirty="0"/>
              <a:t>）：写缺失会导致</a:t>
            </a:r>
            <a:r>
              <a:rPr lang="en-US" altLang="zh-CN" sz="2400" dirty="0"/>
              <a:t>Cache</a:t>
            </a:r>
            <a:r>
              <a:rPr lang="zh-CN" altLang="en-US" sz="2400" dirty="0"/>
              <a:t>装载</a:t>
            </a:r>
            <a:endParaRPr lang="en-US" altLang="zh-CN" sz="2400" dirty="0"/>
          </a:p>
          <a:p>
            <a:pPr lvl="3"/>
            <a:r>
              <a:rPr lang="zh-CN" altLang="en-US" sz="2400" dirty="0"/>
              <a:t>非写分配法（</a:t>
            </a:r>
            <a:r>
              <a:rPr lang="en-US" altLang="zh-CN" sz="2400" dirty="0"/>
              <a:t>not write allocate</a:t>
            </a:r>
            <a:r>
              <a:rPr lang="zh-CN" altLang="en-US" sz="2400" dirty="0"/>
              <a:t>）：写缺失不导致</a:t>
            </a:r>
            <a:r>
              <a:rPr lang="en-US" altLang="zh-CN" sz="2400" dirty="0"/>
              <a:t>Cache</a:t>
            </a:r>
            <a:r>
              <a:rPr lang="zh-CN" altLang="en-US" sz="2400" dirty="0"/>
              <a:t>装载</a:t>
            </a:r>
            <a:endParaRPr lang="en-US" altLang="zh-CN" sz="2400" dirty="0"/>
          </a:p>
          <a:p>
            <a:pPr lvl="2"/>
            <a:r>
              <a:rPr lang="zh-CN" altLang="en-US" sz="2800" dirty="0"/>
              <a:t>回写法（</a:t>
            </a:r>
            <a:r>
              <a:rPr lang="en-US" altLang="zh-CN" sz="2800" dirty="0"/>
              <a:t>write back</a:t>
            </a:r>
            <a:r>
              <a:rPr lang="zh-CN" altLang="en-US" sz="2800" dirty="0"/>
              <a:t>）：</a:t>
            </a:r>
            <a:r>
              <a:rPr lang="en-US" altLang="zh-CN" sz="2800" dirty="0"/>
              <a:t>Cache</a:t>
            </a:r>
            <a:r>
              <a:rPr lang="zh-CN" altLang="en-US" sz="2800" dirty="0"/>
              <a:t>行被替换时再写主存块</a:t>
            </a:r>
            <a:endParaRPr lang="en-US" altLang="zh-CN" sz="2800" dirty="0"/>
          </a:p>
          <a:p>
            <a:pPr lvl="3"/>
            <a:r>
              <a:rPr lang="zh-CN" altLang="en-US" sz="2400" dirty="0"/>
              <a:t>需要额外设置脏位</a:t>
            </a:r>
            <a:endParaRPr lang="en-US" altLang="zh-CN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EF947-3E80-4DE7-BA8C-AA6702BB9BE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CPU</a:t>
            </a:r>
            <a:r>
              <a:rPr lang="zh-CN" altLang="en-US" dirty="0"/>
              <a:t>访问</a:t>
            </a:r>
            <a:r>
              <a:rPr lang="en-US" altLang="zh-CN" dirty="0"/>
              <a:t>Cache</a:t>
            </a:r>
            <a:r>
              <a:rPr lang="zh-CN" altLang="en-US" dirty="0"/>
              <a:t>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7DE5-78AB-4D8F-B262-065FE9B4C4C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763803" y="1707091"/>
            <a:ext cx="3000396" cy="6429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CPU</a:t>
            </a:r>
            <a:r>
              <a:rPr lang="zh-CN" altLang="en-US" dirty="0"/>
              <a:t>给出虚拟地址</a:t>
            </a:r>
            <a:endParaRPr lang="en-US" altLang="zh-CN" dirty="0"/>
          </a:p>
          <a:p>
            <a:pPr algn="ctr"/>
            <a:r>
              <a:rPr lang="zh-CN" altLang="en-US" dirty="0"/>
              <a:t>（</a:t>
            </a:r>
            <a:r>
              <a:rPr lang="zh-CN" altLang="en-US" dirty="0">
                <a:solidFill>
                  <a:srgbClr val="C00000"/>
                </a:solidFill>
              </a:rPr>
              <a:t>以后再谈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24" name="矩形 23"/>
          <p:cNvSpPr/>
          <p:nvPr/>
        </p:nvSpPr>
        <p:spPr>
          <a:xfrm>
            <a:off x="2763803" y="2635785"/>
            <a:ext cx="3000396" cy="6429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计算其物理地址</a:t>
            </a:r>
            <a:endParaRPr lang="en-US" altLang="zh-CN" dirty="0"/>
          </a:p>
          <a:p>
            <a:pPr algn="ctr"/>
            <a:r>
              <a:rPr lang="zh-CN" altLang="en-US" dirty="0"/>
              <a:t>（</a:t>
            </a:r>
            <a:r>
              <a:rPr lang="en-US" altLang="zh-CN" dirty="0">
                <a:solidFill>
                  <a:srgbClr val="C00000"/>
                </a:solidFill>
              </a:rPr>
              <a:t>Cache</a:t>
            </a:r>
            <a:r>
              <a:rPr lang="zh-CN" altLang="en-US" dirty="0">
                <a:solidFill>
                  <a:srgbClr val="C00000"/>
                </a:solidFill>
              </a:rPr>
              <a:t>对应的是物理地址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25" name="流程图: 决策 24"/>
          <p:cNvSpPr/>
          <p:nvPr/>
        </p:nvSpPr>
        <p:spPr>
          <a:xfrm>
            <a:off x="2835241" y="3707355"/>
            <a:ext cx="2857520" cy="100013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对应主存块在</a:t>
            </a:r>
            <a:r>
              <a:rPr lang="en-US" altLang="zh-CN" sz="1400" dirty="0"/>
              <a:t>Cache</a:t>
            </a:r>
            <a:r>
              <a:rPr lang="zh-CN" altLang="en-US" sz="1400" dirty="0"/>
              <a:t>中？</a:t>
            </a:r>
            <a:endParaRPr lang="en-US" altLang="zh-CN" sz="1400" dirty="0"/>
          </a:p>
          <a:p>
            <a:pPr algn="ctr"/>
            <a:r>
              <a:rPr lang="zh-CN" altLang="en-US" sz="1400" dirty="0"/>
              <a:t>（</a:t>
            </a:r>
            <a:r>
              <a:rPr lang="zh-CN" altLang="en-US" sz="1400" dirty="0">
                <a:solidFill>
                  <a:srgbClr val="C00000"/>
                </a:solidFill>
              </a:rPr>
              <a:t>映射方法</a:t>
            </a:r>
            <a:r>
              <a:rPr lang="zh-CN" altLang="en-US" sz="1400" dirty="0"/>
              <a:t>）</a:t>
            </a:r>
            <a:endParaRPr lang="zh-CN" altLang="en-US" sz="1400" dirty="0"/>
          </a:p>
        </p:txBody>
      </p:sp>
      <p:sp>
        <p:nvSpPr>
          <p:cNvPr id="26" name="矩形 25"/>
          <p:cNvSpPr/>
          <p:nvPr/>
        </p:nvSpPr>
        <p:spPr>
          <a:xfrm>
            <a:off x="4549753" y="5350429"/>
            <a:ext cx="3000396" cy="6429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访问</a:t>
            </a:r>
            <a:r>
              <a:rPr lang="en-US" altLang="zh-CN" dirty="0"/>
              <a:t>Cache</a:t>
            </a:r>
            <a:r>
              <a:rPr lang="zh-CN" altLang="en-US" dirty="0"/>
              <a:t>存取数据</a:t>
            </a:r>
            <a:endParaRPr lang="en-US" altLang="zh-CN" dirty="0"/>
          </a:p>
          <a:p>
            <a:pPr algn="ctr"/>
            <a:r>
              <a:rPr lang="zh-CN" altLang="en-US" dirty="0"/>
              <a:t>（</a:t>
            </a:r>
            <a:r>
              <a:rPr lang="zh-CN" altLang="en-US" dirty="0">
                <a:solidFill>
                  <a:srgbClr val="C00000"/>
                </a:solidFill>
              </a:rPr>
              <a:t>写的时候考虑一致性问题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3" name="流程图: 决策 32"/>
          <p:cNvSpPr/>
          <p:nvPr/>
        </p:nvSpPr>
        <p:spPr>
          <a:xfrm>
            <a:off x="6835769" y="1135587"/>
            <a:ext cx="2857520" cy="100013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Cache</a:t>
            </a:r>
            <a:r>
              <a:rPr lang="zh-CN" altLang="en-US" dirty="0"/>
              <a:t>中有空闲行？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6764331" y="2635785"/>
            <a:ext cx="3000396" cy="6429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从</a:t>
            </a:r>
            <a:r>
              <a:rPr lang="en-US" altLang="zh-CN" dirty="0"/>
              <a:t>Cache</a:t>
            </a:r>
            <a:r>
              <a:rPr lang="zh-CN" altLang="en-US" dirty="0"/>
              <a:t>中替换出一行</a:t>
            </a:r>
            <a:endParaRPr lang="en-US" altLang="zh-CN" dirty="0"/>
          </a:p>
          <a:p>
            <a:pPr algn="ctr"/>
            <a:r>
              <a:rPr lang="zh-CN" altLang="en-US" dirty="0"/>
              <a:t>（替换算法）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6764331" y="3921669"/>
            <a:ext cx="3000396" cy="6429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主存块送</a:t>
            </a:r>
            <a:r>
              <a:rPr lang="en-US" altLang="zh-CN" dirty="0"/>
              <a:t>Cache</a:t>
            </a:r>
            <a:endParaRPr lang="zh-CN" altLang="en-US" dirty="0"/>
          </a:p>
        </p:txBody>
      </p:sp>
      <p:cxnSp>
        <p:nvCxnSpPr>
          <p:cNvPr id="47" name="直接箭头连接符 46"/>
          <p:cNvCxnSpPr>
            <a:stCxn id="23" idx="2"/>
            <a:endCxn id="24" idx="0"/>
          </p:cNvCxnSpPr>
          <p:nvPr/>
        </p:nvCxnSpPr>
        <p:spPr>
          <a:xfrm rot="5400000">
            <a:off x="4121125" y="2492909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24" idx="2"/>
            <a:endCxn id="25" idx="0"/>
          </p:cNvCxnSpPr>
          <p:nvPr/>
        </p:nvCxnSpPr>
        <p:spPr>
          <a:xfrm rot="5400000">
            <a:off x="4049687" y="3493041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25" idx="2"/>
            <a:endCxn id="26" idx="0"/>
          </p:cNvCxnSpPr>
          <p:nvPr/>
        </p:nvCxnSpPr>
        <p:spPr>
          <a:xfrm rot="16200000" flipH="1">
            <a:off x="4835505" y="4135983"/>
            <a:ext cx="642942" cy="178595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25" idx="3"/>
            <a:endCxn id="33" idx="1"/>
          </p:cNvCxnSpPr>
          <p:nvPr/>
        </p:nvCxnSpPr>
        <p:spPr>
          <a:xfrm flipV="1">
            <a:off x="5692761" y="1635653"/>
            <a:ext cx="1143008" cy="257176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33" idx="2"/>
            <a:endCxn id="45" idx="0"/>
          </p:cNvCxnSpPr>
          <p:nvPr/>
        </p:nvCxnSpPr>
        <p:spPr>
          <a:xfrm rot="5400000">
            <a:off x="8014496" y="2385752"/>
            <a:ext cx="50006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肘形连接符 51"/>
          <p:cNvCxnSpPr>
            <a:stCxn id="33" idx="3"/>
            <a:endCxn id="46" idx="3"/>
          </p:cNvCxnSpPr>
          <p:nvPr/>
        </p:nvCxnSpPr>
        <p:spPr>
          <a:xfrm>
            <a:off x="9693289" y="1635654"/>
            <a:ext cx="71438" cy="2607487"/>
          </a:xfrm>
          <a:prstGeom prst="bentConnector3">
            <a:avLst>
              <a:gd name="adj1" fmla="val 419998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45" idx="2"/>
            <a:endCxn id="46" idx="0"/>
          </p:cNvCxnSpPr>
          <p:nvPr/>
        </p:nvCxnSpPr>
        <p:spPr>
          <a:xfrm rot="5400000">
            <a:off x="7943058" y="3600198"/>
            <a:ext cx="64294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肘形连接符 53"/>
          <p:cNvCxnSpPr>
            <a:stCxn id="46" idx="2"/>
            <a:endCxn id="26" idx="0"/>
          </p:cNvCxnSpPr>
          <p:nvPr/>
        </p:nvCxnSpPr>
        <p:spPr>
          <a:xfrm rot="5400000">
            <a:off x="6764331" y="3850231"/>
            <a:ext cx="785818" cy="2214578"/>
          </a:xfrm>
          <a:prstGeom prst="bentConnector3">
            <a:avLst>
              <a:gd name="adj1" fmla="val 59309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36"/>
          <p:cNvSpPr txBox="1"/>
          <p:nvPr/>
        </p:nvSpPr>
        <p:spPr>
          <a:xfrm>
            <a:off x="4835505" y="4707487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56" name="TextBox 37"/>
          <p:cNvSpPr txBox="1"/>
          <p:nvPr/>
        </p:nvSpPr>
        <p:spPr>
          <a:xfrm>
            <a:off x="5835637" y="3695213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57" name="TextBox 38"/>
          <p:cNvSpPr txBox="1"/>
          <p:nvPr/>
        </p:nvSpPr>
        <p:spPr>
          <a:xfrm>
            <a:off x="10050479" y="1992843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58" name="TextBox 39"/>
          <p:cNvSpPr txBox="1"/>
          <p:nvPr/>
        </p:nvSpPr>
        <p:spPr>
          <a:xfrm>
            <a:off x="8335967" y="2195015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的模拟（要求）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3200" dirty="0"/>
              <a:t>在</a:t>
            </a:r>
            <a:r>
              <a:rPr lang="en-US" altLang="zh-CN" sz="3200" dirty="0"/>
              <a:t>NEMU</a:t>
            </a:r>
            <a:r>
              <a:rPr lang="zh-CN" altLang="zh-CN" sz="3200" dirty="0"/>
              <a:t>中实现一个</a:t>
            </a:r>
            <a:r>
              <a:rPr lang="en-US" altLang="zh-CN" sz="3200" dirty="0"/>
              <a:t>cache</a:t>
            </a:r>
            <a:r>
              <a:rPr lang="zh-CN" altLang="zh-CN" sz="3200" dirty="0"/>
              <a:t>，它的</a:t>
            </a:r>
            <a:r>
              <a:rPr lang="zh-CN" altLang="en-US" sz="3200" dirty="0"/>
              <a:t>性质</a:t>
            </a:r>
            <a:r>
              <a:rPr lang="zh-CN" altLang="zh-CN" sz="3200" dirty="0"/>
              <a:t>如下</a:t>
            </a:r>
            <a:r>
              <a:rPr lang="en-US" altLang="zh-CN" sz="3200" dirty="0"/>
              <a:t>:</a:t>
            </a:r>
            <a:endParaRPr lang="zh-CN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3200"/>
              <a:t>主存块</a:t>
            </a:r>
            <a:r>
              <a:rPr lang="zh-CN" altLang="zh-CN" sz="3200"/>
              <a:t>大小</a:t>
            </a:r>
            <a:r>
              <a:rPr lang="zh-CN" altLang="zh-CN" sz="3200" dirty="0"/>
              <a:t>为</a:t>
            </a:r>
            <a:r>
              <a:rPr lang="en-US" altLang="zh-CN" sz="3200" dirty="0"/>
              <a:t>64B</a:t>
            </a:r>
            <a:endParaRPr lang="zh-CN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3200" dirty="0"/>
              <a:t>cache</a:t>
            </a:r>
            <a:r>
              <a:rPr lang="zh-CN" altLang="zh-CN" sz="3200" dirty="0"/>
              <a:t>存储空间的大小为</a:t>
            </a:r>
            <a:r>
              <a:rPr lang="en-US" altLang="zh-CN" sz="3200" dirty="0"/>
              <a:t>64KB</a:t>
            </a:r>
            <a:endParaRPr lang="zh-CN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3200" dirty="0"/>
              <a:t>8-way set associative</a:t>
            </a:r>
            <a:endParaRPr lang="zh-CN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sz="3200" dirty="0"/>
              <a:t>标志位只需要</a:t>
            </a:r>
            <a:r>
              <a:rPr lang="en-US" altLang="zh-CN" sz="3200" dirty="0"/>
              <a:t>valid bit</a:t>
            </a:r>
            <a:r>
              <a:rPr lang="zh-CN" altLang="zh-CN" sz="3200" dirty="0"/>
              <a:t>即可</a:t>
            </a:r>
            <a:endParaRPr lang="zh-CN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sz="3200" dirty="0"/>
              <a:t>替换算法采用随机方式</a:t>
            </a:r>
            <a:endParaRPr lang="zh-CN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3200" dirty="0"/>
              <a:t>write through</a:t>
            </a:r>
            <a:endParaRPr lang="zh-CN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3200" dirty="0"/>
              <a:t>not write allocate</a:t>
            </a:r>
            <a:endParaRPr lang="zh-CN" altLang="en-US" sz="3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A93D-9075-4DC3-97D2-70BFA8A1170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的模拟（</a:t>
            </a:r>
            <a:r>
              <a:rPr lang="en-US" altLang="zh-CN" dirty="0"/>
              <a:t>NEMU</a:t>
            </a:r>
            <a:r>
              <a:rPr lang="zh-CN" altLang="en-US" dirty="0"/>
              <a:t>代码）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30400"/>
            <a:ext cx="9201150" cy="3215532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第一步：编辑</a:t>
            </a:r>
            <a:r>
              <a:rPr lang="en-US" altLang="zh-CN" sz="3600" b="1" dirty="0"/>
              <a:t>include/</a:t>
            </a:r>
            <a:r>
              <a:rPr lang="en-US" altLang="zh-CN" sz="3600" b="1" dirty="0" err="1"/>
              <a:t>config.h</a:t>
            </a:r>
            <a:endParaRPr lang="en-US" altLang="zh-CN" sz="3600" b="1" dirty="0"/>
          </a:p>
          <a:p>
            <a:endParaRPr lang="en-US" altLang="zh-CN" sz="3200" dirty="0"/>
          </a:p>
          <a:p>
            <a:pPr marL="0" indent="0">
              <a:buNone/>
            </a:pPr>
            <a:endParaRPr lang="en-US" altLang="zh-CN" sz="3200" dirty="0"/>
          </a:p>
          <a:p>
            <a:endParaRPr lang="zh-CN" altLang="en-US" sz="3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8D8DB-A932-4C1F-9FA6-F2C5C7B756D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404984" y="2871705"/>
            <a:ext cx="47484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#define CACHE_ENABLED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的模拟（</a:t>
            </a:r>
            <a:r>
              <a:rPr lang="en-US" altLang="zh-CN" dirty="0"/>
              <a:t>NEMU</a:t>
            </a:r>
            <a:r>
              <a:rPr lang="zh-CN" altLang="en-US" dirty="0"/>
              <a:t>代码）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2255"/>
            <a:ext cx="10318750" cy="513099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/>
              <a:t>第二步：编辑 </a:t>
            </a:r>
            <a:r>
              <a:rPr lang="en-US" altLang="zh-CN" sz="3600" b="1" dirty="0" err="1"/>
              <a:t>nemu</a:t>
            </a:r>
            <a:r>
              <a:rPr lang="en-US" altLang="zh-CN" sz="3600" b="1" dirty="0"/>
              <a:t>/include/memory/</a:t>
            </a:r>
            <a:r>
              <a:rPr lang="en-US" altLang="zh-CN" sz="3600" b="1" dirty="0" err="1"/>
              <a:t>mmu</a:t>
            </a:r>
            <a:r>
              <a:rPr lang="en-US" altLang="zh-CN" sz="3600" b="1" dirty="0"/>
              <a:t>/</a:t>
            </a:r>
            <a:r>
              <a:rPr lang="en-US" altLang="zh-CN" sz="3600" b="1" dirty="0" err="1"/>
              <a:t>cache.h</a:t>
            </a:r>
            <a:endParaRPr lang="en-US" altLang="zh-CN" sz="3600" b="1" dirty="0"/>
          </a:p>
          <a:p>
            <a:pPr lvl="1">
              <a:lnSpc>
                <a:spcPct val="150000"/>
              </a:lnSpc>
            </a:pPr>
            <a:r>
              <a:rPr lang="zh-CN" altLang="en-US" sz="3200" dirty="0"/>
              <a:t>在里面定义一个</a:t>
            </a:r>
            <a:r>
              <a:rPr lang="en-US" altLang="zh-CN" sz="3200" dirty="0"/>
              <a:t>Cache</a:t>
            </a:r>
            <a:r>
              <a:rPr lang="zh-CN" altLang="en-US" sz="3200" dirty="0"/>
              <a:t>行所对应的结构体，假设名称为</a:t>
            </a:r>
            <a:r>
              <a:rPr lang="en-US" altLang="zh-CN" sz="3200" dirty="0" err="1"/>
              <a:t>CacheLine</a:t>
            </a:r>
            <a:endParaRPr lang="en-US" altLang="zh-CN" sz="3200" dirty="0"/>
          </a:p>
          <a:p>
            <a:pPr lvl="1">
              <a:lnSpc>
                <a:spcPct val="150000"/>
              </a:lnSpc>
            </a:pPr>
            <a:r>
              <a:rPr lang="zh-CN" altLang="en-US" sz="3200" dirty="0"/>
              <a:t>结构的几个要点</a:t>
            </a:r>
            <a:endParaRPr lang="en-US" altLang="zh-CN" sz="3200" dirty="0"/>
          </a:p>
          <a:p>
            <a:pPr lvl="2">
              <a:lnSpc>
                <a:spcPct val="150000"/>
              </a:lnSpc>
            </a:pPr>
            <a:r>
              <a:rPr lang="zh-CN" altLang="en-US" sz="2400" dirty="0"/>
              <a:t>标志位有哪些？（</a:t>
            </a:r>
            <a:r>
              <a:rPr lang="zh-CN" altLang="zh-CN" sz="2400" dirty="0">
                <a:solidFill>
                  <a:srgbClr val="C00000"/>
                </a:solidFill>
              </a:rPr>
              <a:t>只需要</a:t>
            </a:r>
            <a:r>
              <a:rPr lang="en-US" altLang="zh-CN" sz="2400" dirty="0">
                <a:solidFill>
                  <a:srgbClr val="C00000"/>
                </a:solidFill>
              </a:rPr>
              <a:t>valid bit</a:t>
            </a:r>
            <a:r>
              <a:rPr lang="zh-CN" altLang="zh-CN" sz="2400" dirty="0">
                <a:solidFill>
                  <a:srgbClr val="C00000"/>
                </a:solidFill>
              </a:rPr>
              <a:t>即可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2">
              <a:lnSpc>
                <a:spcPct val="150000"/>
              </a:lnSpc>
            </a:pPr>
            <a:r>
              <a:rPr lang="zh-CN" altLang="en-US" sz="2400" dirty="0"/>
              <a:t>标记部分多少位？（</a:t>
            </a:r>
            <a:r>
              <a:rPr lang="en-US" altLang="zh-CN" sz="2400" dirty="0">
                <a:solidFill>
                  <a:srgbClr val="C00000"/>
                </a:solidFill>
              </a:rPr>
              <a:t>8-way set associative</a:t>
            </a:r>
            <a:r>
              <a:rPr lang="zh-CN" altLang="en-US" sz="2400" dirty="0">
                <a:solidFill>
                  <a:srgbClr val="C00000"/>
                </a:solidFill>
              </a:rPr>
              <a:t>，</a:t>
            </a:r>
            <a:r>
              <a:rPr lang="en-US" altLang="zh-CN" sz="2400" dirty="0">
                <a:solidFill>
                  <a:srgbClr val="C00000"/>
                </a:solidFill>
              </a:rPr>
              <a:t> cache block</a:t>
            </a:r>
            <a:r>
              <a:rPr lang="zh-CN" altLang="en-US" sz="2400" dirty="0">
                <a:solidFill>
                  <a:srgbClr val="C00000"/>
                </a:solidFill>
              </a:rPr>
              <a:t>存储空间的大小为</a:t>
            </a:r>
            <a:r>
              <a:rPr lang="en-US" altLang="zh-CN" sz="2400" dirty="0">
                <a:solidFill>
                  <a:srgbClr val="C00000"/>
                </a:solidFill>
              </a:rPr>
              <a:t>64B 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2">
              <a:lnSpc>
                <a:spcPct val="150000"/>
              </a:lnSpc>
            </a:pPr>
            <a:r>
              <a:rPr lang="zh-CN" altLang="en-US" sz="2400" dirty="0"/>
              <a:t>数据区怎么表示？（</a:t>
            </a:r>
            <a:r>
              <a:rPr lang="en-US" altLang="zh-CN" sz="2400" dirty="0">
                <a:solidFill>
                  <a:srgbClr val="C00000"/>
                </a:solidFill>
              </a:rPr>
              <a:t>cache block</a:t>
            </a:r>
            <a:r>
              <a:rPr lang="zh-CN" altLang="en-US" sz="2400" dirty="0">
                <a:solidFill>
                  <a:srgbClr val="C00000"/>
                </a:solidFill>
              </a:rPr>
              <a:t>存储空间的大小为</a:t>
            </a:r>
            <a:r>
              <a:rPr lang="en-US" altLang="zh-CN" sz="2400" dirty="0">
                <a:solidFill>
                  <a:srgbClr val="C00000"/>
                </a:solidFill>
              </a:rPr>
              <a:t>64B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363C8-0F24-4FE7-BBCF-E7430E35E42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53400" y="272374"/>
            <a:ext cx="3003550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注意把</a:t>
            </a:r>
            <a:r>
              <a:rPr lang="en-US" altLang="zh-CN" sz="2000" dirty="0">
                <a:solidFill>
                  <a:srgbClr val="FF0000"/>
                </a:solidFill>
              </a:rPr>
              <a:t>cache</a:t>
            </a:r>
            <a:r>
              <a:rPr lang="zh-CN" altLang="en-US" sz="2000" dirty="0">
                <a:solidFill>
                  <a:srgbClr val="FF0000"/>
                </a:solidFill>
              </a:rPr>
              <a:t>放在</a:t>
            </a:r>
            <a:r>
              <a:rPr lang="en-US" altLang="zh-CN" sz="2000" dirty="0" err="1">
                <a:solidFill>
                  <a:srgbClr val="FF0000"/>
                </a:solidFill>
              </a:rPr>
              <a:t>mmu</a:t>
            </a:r>
            <a:r>
              <a:rPr lang="zh-CN" altLang="en-US" sz="2000" dirty="0">
                <a:solidFill>
                  <a:srgbClr val="FF0000"/>
                </a:solidFill>
              </a:rPr>
              <a:t>目录下只是为了方便，概念上并不合适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的模拟（</a:t>
            </a:r>
            <a:r>
              <a:rPr lang="en-US" altLang="zh-CN" dirty="0"/>
              <a:t>NEMU</a:t>
            </a:r>
            <a:r>
              <a:rPr lang="zh-CN" altLang="en-US" dirty="0"/>
              <a:t>代码）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2255"/>
            <a:ext cx="11049000" cy="513099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/>
              <a:t>第三步：编辑 </a:t>
            </a:r>
            <a:r>
              <a:rPr lang="en-US" altLang="zh-CN" sz="3600" b="1" dirty="0" err="1"/>
              <a:t>nemu</a:t>
            </a:r>
            <a:r>
              <a:rPr lang="en-US" altLang="zh-CN" sz="3600" b="1" dirty="0"/>
              <a:t>/</a:t>
            </a:r>
            <a:r>
              <a:rPr lang="en-US" altLang="zh-CN" sz="3600" b="1" dirty="0" err="1"/>
              <a:t>src</a:t>
            </a:r>
            <a:r>
              <a:rPr lang="en-US" altLang="zh-CN" sz="3600" b="1" dirty="0"/>
              <a:t>/memory/</a:t>
            </a:r>
            <a:r>
              <a:rPr lang="en-US" altLang="zh-CN" sz="3600" b="1" dirty="0" err="1"/>
              <a:t>mmu</a:t>
            </a:r>
            <a:r>
              <a:rPr lang="en-US" altLang="zh-CN" sz="3600" b="1" dirty="0"/>
              <a:t>/</a:t>
            </a:r>
            <a:r>
              <a:rPr lang="en-US" altLang="zh-CN" sz="3600" b="1" dirty="0" err="1"/>
              <a:t>cache.c</a:t>
            </a:r>
            <a:endParaRPr lang="en-US" altLang="zh-CN" sz="3600" b="1" dirty="0"/>
          </a:p>
          <a:p>
            <a:pPr lvl="1">
              <a:lnSpc>
                <a:spcPct val="150000"/>
              </a:lnSpc>
            </a:pPr>
            <a:r>
              <a:rPr lang="zh-CN" altLang="en-US" sz="3200" dirty="0"/>
              <a:t>在里面为模拟</a:t>
            </a:r>
            <a:r>
              <a:rPr lang="en-US" altLang="zh-CN" sz="3200" dirty="0"/>
              <a:t>Cache</a:t>
            </a:r>
            <a:r>
              <a:rPr lang="zh-CN" altLang="en-US" sz="3200" dirty="0"/>
              <a:t>分配存储空间，也就是在</a:t>
            </a:r>
            <a:r>
              <a:rPr lang="en-US" altLang="zh-CN" sz="3200" dirty="0" err="1"/>
              <a:t>cache.c</a:t>
            </a:r>
            <a:r>
              <a:rPr lang="zh-CN" altLang="en-US" sz="3200" dirty="0"/>
              <a:t>中定义一个全局变量，其形式为在</a:t>
            </a:r>
            <a:r>
              <a:rPr lang="en-US" altLang="zh-CN" sz="3200" dirty="0" err="1"/>
              <a:t>cache.h</a:t>
            </a:r>
            <a:r>
              <a:rPr lang="zh-CN" altLang="en-US" sz="3200" dirty="0"/>
              <a:t>中定义的</a:t>
            </a:r>
            <a:r>
              <a:rPr lang="en-US" altLang="zh-CN" sz="3200" dirty="0" err="1"/>
              <a:t>CacheLine</a:t>
            </a:r>
            <a:r>
              <a:rPr lang="zh-CN" altLang="en-US" sz="3200" dirty="0"/>
              <a:t>类型的数组</a:t>
            </a:r>
            <a:endParaRPr lang="en-US" altLang="zh-CN" sz="3200" dirty="0"/>
          </a:p>
          <a:p>
            <a:pPr lvl="1">
              <a:lnSpc>
                <a:spcPct val="150000"/>
              </a:lnSpc>
            </a:pPr>
            <a:r>
              <a:rPr lang="zh-CN" altLang="en-US" sz="3200" dirty="0"/>
              <a:t>因为是用内存中的数组模拟的</a:t>
            </a:r>
            <a:r>
              <a:rPr lang="en-US" altLang="zh-CN" sz="3200" dirty="0"/>
              <a:t>cache</a:t>
            </a:r>
            <a:r>
              <a:rPr lang="zh-CN" altLang="en-US" sz="3200" dirty="0"/>
              <a:t>，所以完成模拟后性能没法提升</a:t>
            </a:r>
            <a:endParaRPr lang="en-US" altLang="zh-CN" sz="3200" dirty="0"/>
          </a:p>
          <a:p>
            <a:pPr lvl="1">
              <a:lnSpc>
                <a:spcPct val="150000"/>
              </a:lnSpc>
            </a:pPr>
            <a:r>
              <a:rPr lang="zh-CN" altLang="en-US" sz="3200" dirty="0"/>
              <a:t>该数组的要点</a:t>
            </a:r>
            <a:endParaRPr lang="en-US" altLang="zh-CN" sz="3200" dirty="0"/>
          </a:p>
          <a:p>
            <a:pPr lvl="2">
              <a:lnSpc>
                <a:spcPct val="150000"/>
              </a:lnSpc>
            </a:pPr>
            <a:r>
              <a:rPr lang="en-US" altLang="zh-CN" sz="2400" dirty="0"/>
              <a:t>Cache</a:t>
            </a:r>
            <a:r>
              <a:rPr lang="zh-CN" altLang="en-US" sz="2400" dirty="0"/>
              <a:t>该有多少行？</a:t>
            </a:r>
            <a:endParaRPr lang="en-US" altLang="zh-CN" sz="2400" dirty="0"/>
          </a:p>
          <a:p>
            <a:pPr marL="685800" lvl="2" indent="0">
              <a:lnSpc>
                <a:spcPct val="15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>
                <a:solidFill>
                  <a:srgbClr val="C00000"/>
                </a:solidFill>
              </a:rPr>
              <a:t>cache block</a:t>
            </a:r>
            <a:r>
              <a:rPr lang="zh-CN" altLang="en-US" sz="2400" dirty="0">
                <a:solidFill>
                  <a:srgbClr val="C00000"/>
                </a:solidFill>
              </a:rPr>
              <a:t>存储空间的大小为</a:t>
            </a:r>
            <a:r>
              <a:rPr lang="en-US" altLang="zh-CN" sz="2400" dirty="0">
                <a:solidFill>
                  <a:srgbClr val="C00000"/>
                </a:solidFill>
              </a:rPr>
              <a:t>64B</a:t>
            </a:r>
            <a:r>
              <a:rPr lang="zh-CN" altLang="en-US" sz="2400" dirty="0">
                <a:solidFill>
                  <a:srgbClr val="C00000"/>
                </a:solidFill>
              </a:rPr>
              <a:t>，</a:t>
            </a:r>
            <a:r>
              <a:rPr lang="en-US" altLang="zh-CN" sz="2400" dirty="0">
                <a:solidFill>
                  <a:srgbClr val="C00000"/>
                </a:solidFill>
              </a:rPr>
              <a:t>cache</a:t>
            </a:r>
            <a:r>
              <a:rPr lang="zh-CN" altLang="en-US" sz="2400" dirty="0">
                <a:solidFill>
                  <a:srgbClr val="C00000"/>
                </a:solidFill>
              </a:rPr>
              <a:t>存储空间的大小为</a:t>
            </a:r>
            <a:r>
              <a:rPr lang="en-US" altLang="zh-CN" sz="2400" dirty="0">
                <a:solidFill>
                  <a:srgbClr val="C00000"/>
                </a:solidFill>
              </a:rPr>
              <a:t>64KB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0C2E-978C-47E7-9282-233454CC500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的模拟（</a:t>
            </a:r>
            <a:r>
              <a:rPr lang="en-US" altLang="zh-CN" dirty="0"/>
              <a:t>NEMU</a:t>
            </a:r>
            <a:r>
              <a:rPr lang="zh-CN" altLang="en-US" dirty="0"/>
              <a:t>代码）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01710"/>
            <a:ext cx="12192000" cy="513099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第四步：编辑 </a:t>
            </a:r>
            <a:r>
              <a:rPr lang="en-US" altLang="zh-CN" sz="3200" b="1" dirty="0" err="1"/>
              <a:t>nemu</a:t>
            </a:r>
            <a:r>
              <a:rPr lang="en-US" altLang="zh-CN" sz="3200" b="1" dirty="0"/>
              <a:t>/include/memory/</a:t>
            </a:r>
            <a:r>
              <a:rPr lang="en-US" altLang="zh-CN" sz="3200" b="1" dirty="0" err="1"/>
              <a:t>mmu</a:t>
            </a:r>
            <a:r>
              <a:rPr lang="en-US" altLang="zh-CN" sz="3200" b="1" dirty="0"/>
              <a:t>/</a:t>
            </a:r>
            <a:r>
              <a:rPr lang="en-US" altLang="zh-CN" sz="3200" b="1" dirty="0" err="1"/>
              <a:t>cache.h</a:t>
            </a:r>
            <a:endParaRPr lang="en-US" altLang="zh-CN" sz="2800" b="1" dirty="0"/>
          </a:p>
          <a:p>
            <a:pPr lvl="1"/>
            <a:r>
              <a:rPr lang="zh-CN" altLang="en-US" sz="2400" dirty="0"/>
              <a:t>在里面声明一些</a:t>
            </a:r>
            <a:r>
              <a:rPr lang="en-US" altLang="zh-CN" sz="2400" dirty="0"/>
              <a:t>cache</a:t>
            </a:r>
            <a:r>
              <a:rPr lang="zh-CN" altLang="en-US" sz="2400" dirty="0"/>
              <a:t>所提供的函数</a:t>
            </a:r>
            <a:endParaRPr lang="en-US" altLang="zh-CN" sz="2400" dirty="0"/>
          </a:p>
          <a:p>
            <a:pPr marL="808355" lvl="2" indent="-186055"/>
            <a:r>
              <a:rPr lang="en-US" altLang="zh-CN" sz="2400" dirty="0" err="1">
                <a:solidFill>
                  <a:srgbClr val="C00000"/>
                </a:solidFill>
              </a:rPr>
              <a:t>init_cache</a:t>
            </a:r>
            <a:r>
              <a:rPr lang="en-US" altLang="zh-CN" sz="2400" dirty="0">
                <a:solidFill>
                  <a:srgbClr val="C00000"/>
                </a:solidFill>
              </a:rPr>
              <a:t>();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3"/>
            <a:r>
              <a:rPr lang="zh-CN" altLang="en-US" sz="2000" dirty="0"/>
              <a:t>初始化</a:t>
            </a:r>
            <a:r>
              <a:rPr lang="en-US" altLang="zh-CN" sz="2000" dirty="0"/>
              <a:t>cache</a:t>
            </a:r>
            <a:r>
              <a:rPr lang="zh-CN" altLang="en-US" sz="2000" dirty="0"/>
              <a:t>，核心就是把</a:t>
            </a:r>
            <a:r>
              <a:rPr lang="en-US" altLang="zh-CN" sz="2000" dirty="0"/>
              <a:t>valid bit</a:t>
            </a:r>
            <a:r>
              <a:rPr lang="zh-CN" altLang="en-US" sz="2000" dirty="0"/>
              <a:t>都清</a:t>
            </a:r>
            <a:r>
              <a:rPr lang="en-US" altLang="zh-CN" sz="2000" dirty="0"/>
              <a:t>0</a:t>
            </a:r>
            <a:endParaRPr lang="en-US" altLang="zh-CN" sz="2000" dirty="0"/>
          </a:p>
          <a:p>
            <a:pPr marL="808355" lvl="2" indent="-186055"/>
            <a:r>
              <a:rPr lang="en-US" altLang="zh-CN" sz="2400" dirty="0">
                <a:solidFill>
                  <a:srgbClr val="C00000"/>
                </a:solidFill>
              </a:rPr>
              <a:t>uint32_t </a:t>
            </a:r>
            <a:r>
              <a:rPr lang="en-US" altLang="zh-CN" sz="2400" dirty="0" err="1">
                <a:solidFill>
                  <a:srgbClr val="C00000"/>
                </a:solidFill>
              </a:rPr>
              <a:t>cache_read</a:t>
            </a:r>
            <a:r>
              <a:rPr lang="en-US" altLang="zh-CN" sz="2400" dirty="0">
                <a:solidFill>
                  <a:srgbClr val="C00000"/>
                </a:solidFill>
              </a:rPr>
              <a:t>(</a:t>
            </a:r>
            <a:r>
              <a:rPr lang="en-US" altLang="zh-CN" sz="2400" dirty="0" err="1">
                <a:solidFill>
                  <a:srgbClr val="C00000"/>
                </a:solidFill>
              </a:rPr>
              <a:t>paddr_t</a:t>
            </a:r>
            <a:r>
              <a:rPr lang="en-US" altLang="zh-CN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 err="1">
                <a:solidFill>
                  <a:srgbClr val="C00000"/>
                </a:solidFill>
              </a:rPr>
              <a:t>paddr</a:t>
            </a:r>
            <a:r>
              <a:rPr lang="en-US" altLang="zh-CN" sz="2400" dirty="0">
                <a:solidFill>
                  <a:srgbClr val="C00000"/>
                </a:solidFill>
              </a:rPr>
              <a:t>, </a:t>
            </a:r>
            <a:r>
              <a:rPr lang="en-US" altLang="zh-CN" sz="2400" dirty="0" err="1">
                <a:solidFill>
                  <a:srgbClr val="C00000"/>
                </a:solidFill>
              </a:rPr>
              <a:t>size_t</a:t>
            </a:r>
            <a:r>
              <a:rPr lang="en-US" altLang="zh-CN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 err="1">
                <a:solidFill>
                  <a:srgbClr val="C00000"/>
                </a:solidFill>
              </a:rPr>
              <a:t>len</a:t>
            </a:r>
            <a:r>
              <a:rPr lang="en-US" altLang="zh-CN" sz="2400" dirty="0">
                <a:solidFill>
                  <a:srgbClr val="C00000"/>
                </a:solidFill>
              </a:rPr>
              <a:t>);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3"/>
            <a:r>
              <a:rPr lang="zh-CN" altLang="en-US" sz="2000" dirty="0"/>
              <a:t>读</a:t>
            </a:r>
            <a:r>
              <a:rPr lang="en-US" altLang="zh-CN" sz="2000" dirty="0"/>
              <a:t>cache</a:t>
            </a:r>
            <a:endParaRPr lang="en-US" altLang="zh-CN" sz="2000" dirty="0"/>
          </a:p>
          <a:p>
            <a:pPr lvl="3"/>
            <a:r>
              <a:rPr lang="zh-CN" altLang="en-US" sz="2000" dirty="0"/>
              <a:t>前两个参数分别是物理地址和读的字节数</a:t>
            </a:r>
            <a:endParaRPr lang="en-US" altLang="zh-CN" sz="2000" dirty="0"/>
          </a:p>
          <a:p>
            <a:pPr lvl="3"/>
            <a:r>
              <a:rPr lang="zh-CN" altLang="en-US" sz="2000" dirty="0"/>
              <a:t>最后一个参数就是</a:t>
            </a:r>
            <a:r>
              <a:rPr lang="en-US" altLang="zh-CN" sz="2000" dirty="0"/>
              <a:t>cache</a:t>
            </a:r>
            <a:r>
              <a:rPr lang="zh-CN" altLang="en-US" sz="2000" dirty="0"/>
              <a:t>数组的首地址，假设在</a:t>
            </a:r>
            <a:r>
              <a:rPr lang="en-US" altLang="zh-CN" sz="2000" dirty="0" err="1"/>
              <a:t>cache.h</a:t>
            </a:r>
            <a:r>
              <a:rPr lang="zh-CN" altLang="en-US" sz="2000" dirty="0"/>
              <a:t>中定义的</a:t>
            </a:r>
            <a:r>
              <a:rPr lang="en-US" altLang="zh-CN" sz="2000" dirty="0"/>
              <a:t>Cache</a:t>
            </a:r>
            <a:r>
              <a:rPr lang="zh-CN" altLang="en-US" sz="2000" dirty="0"/>
              <a:t>行的结构体名称为</a:t>
            </a:r>
            <a:r>
              <a:rPr lang="en-US" altLang="zh-CN" sz="2000" dirty="0" err="1"/>
              <a:t>CacheLine</a:t>
            </a:r>
            <a:endParaRPr lang="en-US" altLang="zh-CN" sz="2000" dirty="0"/>
          </a:p>
          <a:p>
            <a:pPr lvl="3"/>
            <a:r>
              <a:rPr lang="zh-CN" altLang="en-US" sz="2000" dirty="0"/>
              <a:t>返回值为读出的数据</a:t>
            </a:r>
            <a:endParaRPr lang="en-US" altLang="zh-CN" sz="2000" dirty="0"/>
          </a:p>
          <a:p>
            <a:pPr marL="808355" lvl="2" indent="-186055"/>
            <a:r>
              <a:rPr lang="en-US" altLang="zh-CN" sz="2400" dirty="0">
                <a:solidFill>
                  <a:srgbClr val="C00000"/>
                </a:solidFill>
              </a:rPr>
              <a:t>void </a:t>
            </a:r>
            <a:r>
              <a:rPr lang="en-US" altLang="zh-CN" sz="2400" dirty="0" err="1">
                <a:solidFill>
                  <a:srgbClr val="C00000"/>
                </a:solidFill>
              </a:rPr>
              <a:t>cache_write</a:t>
            </a:r>
            <a:r>
              <a:rPr lang="en-US" altLang="zh-CN" sz="2400" dirty="0">
                <a:solidFill>
                  <a:srgbClr val="C00000"/>
                </a:solidFill>
              </a:rPr>
              <a:t>(</a:t>
            </a:r>
            <a:r>
              <a:rPr lang="en-US" altLang="zh-CN" sz="2400" dirty="0" err="1">
                <a:solidFill>
                  <a:srgbClr val="C00000"/>
                </a:solidFill>
              </a:rPr>
              <a:t>paddr_t</a:t>
            </a:r>
            <a:r>
              <a:rPr lang="en-US" altLang="zh-CN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 err="1">
                <a:solidFill>
                  <a:srgbClr val="C00000"/>
                </a:solidFill>
              </a:rPr>
              <a:t>paddr</a:t>
            </a:r>
            <a:r>
              <a:rPr lang="en-US" altLang="zh-CN" sz="2400" dirty="0">
                <a:solidFill>
                  <a:srgbClr val="C00000"/>
                </a:solidFill>
              </a:rPr>
              <a:t>, </a:t>
            </a:r>
            <a:r>
              <a:rPr lang="en-US" altLang="zh-CN" sz="2400" dirty="0" err="1">
                <a:solidFill>
                  <a:srgbClr val="C00000"/>
                </a:solidFill>
              </a:rPr>
              <a:t>size_t</a:t>
            </a:r>
            <a:r>
              <a:rPr lang="en-US" altLang="zh-CN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 err="1">
                <a:solidFill>
                  <a:srgbClr val="C00000"/>
                </a:solidFill>
              </a:rPr>
              <a:t>len</a:t>
            </a:r>
            <a:r>
              <a:rPr lang="en-US" altLang="zh-CN" sz="2400" dirty="0">
                <a:solidFill>
                  <a:srgbClr val="C00000"/>
                </a:solidFill>
              </a:rPr>
              <a:t>, uint32_t data);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3"/>
            <a:r>
              <a:rPr lang="zh-CN" altLang="en-US" sz="2000" dirty="0"/>
              <a:t>写</a:t>
            </a:r>
            <a:r>
              <a:rPr lang="en-US" altLang="zh-CN" sz="2000" dirty="0"/>
              <a:t>cache</a:t>
            </a:r>
            <a:endParaRPr lang="en-US" altLang="zh-CN" sz="2000" dirty="0"/>
          </a:p>
          <a:p>
            <a:pPr lvl="3"/>
            <a:r>
              <a:rPr lang="zh-CN" altLang="en-US" sz="2000" dirty="0"/>
              <a:t>除</a:t>
            </a:r>
            <a:r>
              <a:rPr lang="en-US" altLang="zh-CN" sz="2000" dirty="0"/>
              <a:t>data</a:t>
            </a:r>
            <a:r>
              <a:rPr lang="zh-CN" altLang="en-US" sz="2000" dirty="0"/>
              <a:t>参数是待写的数据外，其它参数含义和</a:t>
            </a:r>
            <a:r>
              <a:rPr lang="en-US" altLang="zh-CN" sz="2000" dirty="0" err="1"/>
              <a:t>cache_read</a:t>
            </a:r>
            <a:r>
              <a:rPr lang="en-US" altLang="zh-CN" sz="2000" dirty="0"/>
              <a:t>()</a:t>
            </a:r>
            <a:r>
              <a:rPr lang="zh-CN" altLang="en-US" sz="2000" dirty="0"/>
              <a:t>相同</a:t>
            </a:r>
            <a:endParaRPr lang="en-US" altLang="zh-CN" sz="2000" dirty="0"/>
          </a:p>
          <a:p>
            <a:pPr lvl="3"/>
            <a:r>
              <a:rPr lang="zh-CN" altLang="en-US" sz="2000" dirty="0"/>
              <a:t>不需要返回值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C9CCD-7864-43DD-A148-6D5C2E6BE98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的模拟（</a:t>
            </a:r>
            <a:r>
              <a:rPr lang="en-US" altLang="zh-CN" dirty="0"/>
              <a:t>NEMU</a:t>
            </a:r>
            <a:r>
              <a:rPr lang="zh-CN" altLang="en-US" dirty="0"/>
              <a:t>代码）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9300" y="1201710"/>
            <a:ext cx="11252200" cy="513099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第五步：编辑 </a:t>
            </a:r>
            <a:r>
              <a:rPr lang="en-US" altLang="zh-CN" sz="3200" b="1" dirty="0" err="1"/>
              <a:t>nemu</a:t>
            </a:r>
            <a:r>
              <a:rPr lang="en-US" altLang="zh-CN" sz="3200" b="1" dirty="0"/>
              <a:t>/</a:t>
            </a:r>
            <a:r>
              <a:rPr lang="en-US" altLang="zh-CN" sz="3200" b="1" dirty="0" err="1"/>
              <a:t>src</a:t>
            </a:r>
            <a:r>
              <a:rPr lang="en-US" altLang="zh-CN" sz="3200" b="1" dirty="0"/>
              <a:t>/memory/</a:t>
            </a:r>
            <a:r>
              <a:rPr lang="en-US" altLang="zh-CN" sz="3200" b="1" dirty="0" err="1"/>
              <a:t>mmu</a:t>
            </a:r>
            <a:r>
              <a:rPr lang="en-US" altLang="zh-CN" sz="3200" b="1" dirty="0"/>
              <a:t>/</a:t>
            </a:r>
            <a:r>
              <a:rPr lang="en-US" altLang="zh-CN" sz="3200" b="1" dirty="0" err="1"/>
              <a:t>cache.c</a:t>
            </a:r>
            <a:endParaRPr lang="en-US" altLang="zh-CN" sz="2800" b="1" dirty="0"/>
          </a:p>
          <a:p>
            <a:pPr lvl="1"/>
            <a:r>
              <a:rPr lang="zh-CN" altLang="en-US" sz="2400" dirty="0"/>
              <a:t>实现在</a:t>
            </a:r>
            <a:r>
              <a:rPr lang="en-US" altLang="zh-CN" sz="2400" dirty="0" err="1"/>
              <a:t>cache.h</a:t>
            </a:r>
            <a:r>
              <a:rPr lang="zh-CN" altLang="en-US" sz="2400" dirty="0"/>
              <a:t>中所声明的函数</a:t>
            </a:r>
            <a:endParaRPr lang="en-US" altLang="zh-CN" sz="2400" dirty="0"/>
          </a:p>
          <a:p>
            <a:pPr marL="808355" lvl="2" indent="-186055"/>
            <a:r>
              <a:rPr lang="en-US" altLang="zh-CN" sz="1800" dirty="0" err="1">
                <a:solidFill>
                  <a:srgbClr val="C00000"/>
                </a:solidFill>
              </a:rPr>
              <a:t>init_cache</a:t>
            </a:r>
            <a:r>
              <a:rPr lang="en-US" altLang="zh-CN" sz="1800" dirty="0">
                <a:solidFill>
                  <a:srgbClr val="C00000"/>
                </a:solidFill>
              </a:rPr>
              <a:t>();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初始化</a:t>
            </a:r>
            <a:r>
              <a:rPr lang="en-US" altLang="zh-CN" sz="1600" dirty="0"/>
              <a:t>cache</a:t>
            </a:r>
            <a:r>
              <a:rPr lang="zh-CN" altLang="en-US" sz="1600" dirty="0"/>
              <a:t>，核心就是把</a:t>
            </a:r>
            <a:r>
              <a:rPr lang="en-US" altLang="zh-CN" sz="1600" dirty="0"/>
              <a:t>valid bit</a:t>
            </a:r>
            <a:r>
              <a:rPr lang="zh-CN" altLang="en-US" sz="1600" dirty="0"/>
              <a:t>都清</a:t>
            </a:r>
            <a:r>
              <a:rPr lang="en-US" altLang="zh-CN" sz="1600" dirty="0"/>
              <a:t>0</a:t>
            </a:r>
            <a:endParaRPr lang="en-US" altLang="zh-CN" sz="1600" dirty="0"/>
          </a:p>
          <a:p>
            <a:pPr marL="808355" lvl="2" indent="-186055"/>
            <a:r>
              <a:rPr lang="en-US" altLang="zh-CN" sz="1800" dirty="0">
                <a:solidFill>
                  <a:srgbClr val="C00000"/>
                </a:solidFill>
              </a:rPr>
              <a:t>uint32_t </a:t>
            </a:r>
            <a:r>
              <a:rPr lang="en-US" altLang="zh-CN" sz="1800" dirty="0" err="1">
                <a:solidFill>
                  <a:srgbClr val="C00000"/>
                </a:solidFill>
              </a:rPr>
              <a:t>cache_read</a:t>
            </a:r>
            <a:r>
              <a:rPr lang="en-US" altLang="zh-CN" sz="1800" dirty="0">
                <a:solidFill>
                  <a:srgbClr val="C00000"/>
                </a:solidFill>
              </a:rPr>
              <a:t>(</a:t>
            </a:r>
            <a:r>
              <a:rPr lang="en-US" altLang="zh-CN" sz="1800" dirty="0" err="1">
                <a:solidFill>
                  <a:srgbClr val="C00000"/>
                </a:solidFill>
              </a:rPr>
              <a:t>paddr_t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 err="1">
                <a:solidFill>
                  <a:srgbClr val="C00000"/>
                </a:solidFill>
              </a:rPr>
              <a:t>paddr</a:t>
            </a:r>
            <a:r>
              <a:rPr lang="en-US" altLang="zh-CN" sz="1800" dirty="0">
                <a:solidFill>
                  <a:srgbClr val="C00000"/>
                </a:solidFill>
              </a:rPr>
              <a:t>, </a:t>
            </a:r>
            <a:r>
              <a:rPr lang="en-US" altLang="zh-CN" sz="1800" dirty="0" err="1">
                <a:solidFill>
                  <a:srgbClr val="C00000"/>
                </a:solidFill>
              </a:rPr>
              <a:t>size_t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 err="1">
                <a:solidFill>
                  <a:srgbClr val="C00000"/>
                </a:solidFill>
              </a:rPr>
              <a:t>len</a:t>
            </a:r>
            <a:r>
              <a:rPr lang="en-US" altLang="zh-CN" sz="1800" dirty="0">
                <a:solidFill>
                  <a:srgbClr val="C00000"/>
                </a:solidFill>
              </a:rPr>
              <a:t>);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读</a:t>
            </a:r>
            <a:r>
              <a:rPr lang="en-US" altLang="zh-CN" sz="1600" dirty="0"/>
              <a:t>cache</a:t>
            </a:r>
            <a:endParaRPr lang="en-US" altLang="zh-CN" sz="1600" dirty="0"/>
          </a:p>
          <a:p>
            <a:pPr lvl="3"/>
            <a:r>
              <a:rPr lang="zh-CN" altLang="en-US" sz="1600" dirty="0"/>
              <a:t>根据</a:t>
            </a:r>
            <a:r>
              <a:rPr lang="en-US" altLang="zh-CN" sz="1600" dirty="0" err="1"/>
              <a:t>paddr</a:t>
            </a:r>
            <a:r>
              <a:rPr lang="zh-CN" altLang="en-US" sz="1600" dirty="0"/>
              <a:t>找到标记、组号、与块内地址</a:t>
            </a:r>
            <a:endParaRPr lang="en-US" altLang="zh-CN" sz="1600" dirty="0"/>
          </a:p>
          <a:p>
            <a:pPr lvl="3"/>
            <a:r>
              <a:rPr lang="zh-CN" altLang="en-US" sz="1600" dirty="0"/>
              <a:t>根据组号去定位相应的组（起始</a:t>
            </a:r>
            <a:r>
              <a:rPr lang="en-US" altLang="zh-CN" sz="1600" dirty="0"/>
              <a:t>Cache</a:t>
            </a:r>
            <a:r>
              <a:rPr lang="zh-CN" altLang="en-US" sz="1600" dirty="0"/>
              <a:t>行号）</a:t>
            </a:r>
            <a:endParaRPr lang="en-US" altLang="zh-CN" sz="1600" dirty="0"/>
          </a:p>
          <a:p>
            <a:pPr lvl="3"/>
            <a:r>
              <a:rPr lang="zh-CN" altLang="en-US" sz="1600" dirty="0"/>
              <a:t>与组内的</a:t>
            </a:r>
            <a:r>
              <a:rPr lang="en-US" altLang="zh-CN" sz="1600" dirty="0" err="1"/>
              <a:t>CacheLine</a:t>
            </a:r>
            <a:r>
              <a:rPr lang="zh-CN" altLang="en-US" sz="1600" dirty="0"/>
              <a:t>比较标记和有效位</a:t>
            </a:r>
            <a:endParaRPr lang="en-US" altLang="zh-CN" sz="1600" dirty="0"/>
          </a:p>
          <a:p>
            <a:pPr lvl="3"/>
            <a:r>
              <a:rPr lang="zh-CN" altLang="en-US" sz="1600" dirty="0"/>
              <a:t>命中怎样？不命中（缺失）又怎样？</a:t>
            </a:r>
            <a:endParaRPr lang="en-US" altLang="zh-CN" sz="1600" dirty="0"/>
          </a:p>
          <a:p>
            <a:pPr lvl="3"/>
            <a:r>
              <a:rPr lang="zh-CN" altLang="en-US" sz="1600" dirty="0"/>
              <a:t>组满了怎办？（</a:t>
            </a:r>
            <a:r>
              <a:rPr lang="zh-CN" altLang="en-US" sz="1600" dirty="0">
                <a:solidFill>
                  <a:srgbClr val="C00000"/>
                </a:solidFill>
              </a:rPr>
              <a:t>随机替换算法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 marL="808355" lvl="2" indent="-186055"/>
            <a:r>
              <a:rPr lang="en-US" altLang="zh-CN" sz="1800" dirty="0">
                <a:solidFill>
                  <a:srgbClr val="C00000"/>
                </a:solidFill>
              </a:rPr>
              <a:t>void </a:t>
            </a:r>
            <a:r>
              <a:rPr lang="en-US" altLang="zh-CN" sz="1800" dirty="0" err="1">
                <a:solidFill>
                  <a:srgbClr val="C00000"/>
                </a:solidFill>
              </a:rPr>
              <a:t>cache_write</a:t>
            </a:r>
            <a:r>
              <a:rPr lang="en-US" altLang="zh-CN" sz="1800" dirty="0">
                <a:solidFill>
                  <a:srgbClr val="C00000"/>
                </a:solidFill>
              </a:rPr>
              <a:t>(</a:t>
            </a:r>
            <a:r>
              <a:rPr lang="en-US" altLang="zh-CN" sz="1800" dirty="0" err="1">
                <a:solidFill>
                  <a:srgbClr val="C00000"/>
                </a:solidFill>
              </a:rPr>
              <a:t>paddr_t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 err="1">
                <a:solidFill>
                  <a:srgbClr val="C00000"/>
                </a:solidFill>
              </a:rPr>
              <a:t>paddr</a:t>
            </a:r>
            <a:r>
              <a:rPr lang="en-US" altLang="zh-CN" sz="1800" dirty="0">
                <a:solidFill>
                  <a:srgbClr val="C00000"/>
                </a:solidFill>
              </a:rPr>
              <a:t>, </a:t>
            </a:r>
            <a:r>
              <a:rPr lang="en-US" altLang="zh-CN" sz="1800" dirty="0" err="1">
                <a:solidFill>
                  <a:srgbClr val="C00000"/>
                </a:solidFill>
              </a:rPr>
              <a:t>size_t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 err="1">
                <a:solidFill>
                  <a:srgbClr val="C00000"/>
                </a:solidFill>
              </a:rPr>
              <a:t>len</a:t>
            </a:r>
            <a:r>
              <a:rPr lang="en-US" altLang="zh-CN" sz="1800" dirty="0">
                <a:solidFill>
                  <a:srgbClr val="C00000"/>
                </a:solidFill>
              </a:rPr>
              <a:t>, uint32_t data);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写</a:t>
            </a:r>
            <a:r>
              <a:rPr lang="en-US" altLang="zh-CN" sz="1600" dirty="0"/>
              <a:t>cache</a:t>
            </a:r>
            <a:endParaRPr lang="en-US" altLang="zh-CN" sz="1600" dirty="0"/>
          </a:p>
          <a:p>
            <a:pPr lvl="3"/>
            <a:r>
              <a:rPr lang="zh-CN" altLang="en-US" sz="1600" dirty="0"/>
              <a:t>和</a:t>
            </a:r>
            <a:r>
              <a:rPr lang="en-US" altLang="zh-CN" sz="1600" dirty="0" err="1"/>
              <a:t>cache_read</a:t>
            </a:r>
            <a:r>
              <a:rPr lang="en-US" altLang="zh-CN" sz="1600" dirty="0"/>
              <a:t>()</a:t>
            </a:r>
            <a:r>
              <a:rPr lang="zh-CN" altLang="en-US" sz="1600" dirty="0"/>
              <a:t>采用同样过程根据</a:t>
            </a:r>
            <a:r>
              <a:rPr lang="en-US" altLang="zh-CN" sz="1600" dirty="0" err="1"/>
              <a:t>paddr</a:t>
            </a:r>
            <a:r>
              <a:rPr lang="zh-CN" altLang="en-US" sz="1600" dirty="0"/>
              <a:t>定位</a:t>
            </a:r>
            <a:r>
              <a:rPr lang="en-US" altLang="zh-CN" sz="1600" dirty="0" err="1"/>
              <a:t>CacheLine</a:t>
            </a:r>
            <a:endParaRPr lang="en-US" altLang="zh-CN" sz="1600" dirty="0"/>
          </a:p>
          <a:p>
            <a:pPr lvl="3"/>
            <a:r>
              <a:rPr lang="zh-CN" altLang="en-US" sz="1600" dirty="0"/>
              <a:t>命中怎样？不命中（缺失）又怎样？（</a:t>
            </a:r>
            <a:r>
              <a:rPr lang="en-US" altLang="zh-CN" sz="1600" dirty="0">
                <a:solidFill>
                  <a:srgbClr val="C00000"/>
                </a:solidFill>
              </a:rPr>
              <a:t>not write allocate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 lvl="3"/>
            <a:r>
              <a:rPr lang="zh-CN" altLang="en-US" sz="1600" dirty="0"/>
              <a:t>写</a:t>
            </a:r>
            <a:r>
              <a:rPr lang="en-US" altLang="zh-CN" sz="1600" dirty="0"/>
              <a:t>cache</a:t>
            </a:r>
            <a:r>
              <a:rPr lang="zh-CN" altLang="en-US" sz="1600" dirty="0"/>
              <a:t>，同时主存里面对应的块怎么办？（</a:t>
            </a:r>
            <a:r>
              <a:rPr lang="en-US" altLang="zh-CN" sz="1600" dirty="0">
                <a:solidFill>
                  <a:srgbClr val="C00000"/>
                </a:solidFill>
              </a:rPr>
              <a:t>write through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 marL="0" indent="0">
              <a:buNone/>
            </a:pP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E6502-5804-4FE3-B7EF-4F75D13E23F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2044460" y="6043646"/>
            <a:ext cx="8103080" cy="363227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</a:rPr>
              <a:t>注意数据跨</a:t>
            </a:r>
            <a:r>
              <a:rPr lang="en-US" altLang="zh-CN" dirty="0">
                <a:solidFill>
                  <a:srgbClr val="C00000"/>
                </a:solidFill>
              </a:rPr>
              <a:t>cache</a:t>
            </a:r>
            <a:r>
              <a:rPr lang="zh-CN" altLang="en-US" dirty="0">
                <a:solidFill>
                  <a:srgbClr val="C00000"/>
                </a:solidFill>
              </a:rPr>
              <a:t>行的情形！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的模拟（</a:t>
            </a:r>
            <a:r>
              <a:rPr lang="en-US" altLang="zh-CN" dirty="0"/>
              <a:t>NEMU</a:t>
            </a:r>
            <a:r>
              <a:rPr lang="zh-CN" altLang="en-US" dirty="0"/>
              <a:t>代码）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201710"/>
            <a:ext cx="11353800" cy="513099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/>
              <a:t>第六步：编辑 </a:t>
            </a:r>
            <a:r>
              <a:rPr lang="en-US" altLang="zh-CN" sz="3200" b="1" dirty="0" err="1"/>
              <a:t>nemu</a:t>
            </a:r>
            <a:r>
              <a:rPr lang="en-US" altLang="zh-CN" sz="3200" b="1" dirty="0"/>
              <a:t>/</a:t>
            </a:r>
            <a:r>
              <a:rPr lang="en-US" altLang="zh-CN" sz="3200" b="1" dirty="0" err="1"/>
              <a:t>src</a:t>
            </a:r>
            <a:r>
              <a:rPr lang="en-US" altLang="zh-CN" sz="3200" b="1" dirty="0"/>
              <a:t>/memory/</a:t>
            </a:r>
            <a:r>
              <a:rPr lang="en-US" altLang="zh-CN" sz="3200" b="1" dirty="0" err="1"/>
              <a:t>memory.c</a:t>
            </a:r>
            <a:endParaRPr lang="en-US" altLang="zh-CN" sz="3200" b="1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#include “memory/</a:t>
            </a:r>
            <a:r>
              <a:rPr lang="en-US" altLang="zh-CN" sz="2400" dirty="0" err="1"/>
              <a:t>mmu</a:t>
            </a:r>
            <a:r>
              <a:rPr lang="en-US" altLang="zh-CN" sz="2400" dirty="0"/>
              <a:t>/</a:t>
            </a:r>
            <a:r>
              <a:rPr lang="en-US" altLang="zh-CN" sz="2400" dirty="0" err="1"/>
              <a:t>cache.h</a:t>
            </a:r>
            <a:r>
              <a:rPr lang="en-US" altLang="zh-CN" sz="2400" dirty="0"/>
              <a:t>”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在</a:t>
            </a:r>
            <a:r>
              <a:rPr lang="en-US" altLang="zh-CN" sz="2400" dirty="0" err="1"/>
              <a:t>init_mem</a:t>
            </a:r>
            <a:r>
              <a:rPr lang="en-US" altLang="zh-CN" sz="2400" dirty="0"/>
              <a:t>()</a:t>
            </a:r>
            <a:r>
              <a:rPr lang="zh-CN" altLang="en-US" sz="2400" dirty="0"/>
              <a:t>函数中调用</a:t>
            </a:r>
            <a:r>
              <a:rPr lang="en-US" altLang="zh-CN" sz="2400" dirty="0" err="1"/>
              <a:t>init_cache</a:t>
            </a:r>
            <a:r>
              <a:rPr lang="en-US" altLang="zh-CN" sz="2400" dirty="0"/>
              <a:t>()</a:t>
            </a:r>
            <a:endParaRPr lang="en-US" altLang="zh-CN" sz="2400" dirty="0"/>
          </a:p>
          <a:p>
            <a:pPr lvl="2">
              <a:lnSpc>
                <a:spcPct val="150000"/>
              </a:lnSpc>
            </a:pPr>
            <a:r>
              <a:rPr lang="zh-CN" altLang="en-US" sz="2400" dirty="0"/>
              <a:t>加入条件编译选项以便日后通过修改</a:t>
            </a:r>
            <a:r>
              <a:rPr lang="en-US" altLang="zh-CN" sz="2400" dirty="0"/>
              <a:t>include/</a:t>
            </a:r>
            <a:r>
              <a:rPr lang="en-US" altLang="zh-CN" sz="2400" dirty="0" err="1"/>
              <a:t>config.h</a:t>
            </a:r>
            <a:r>
              <a:rPr lang="zh-CN" altLang="en-US" sz="2400" dirty="0"/>
              <a:t>来跳过</a:t>
            </a:r>
            <a:r>
              <a:rPr lang="en-US" altLang="zh-CN" sz="2400" dirty="0"/>
              <a:t>cache</a:t>
            </a:r>
            <a:r>
              <a:rPr lang="zh-CN" altLang="en-US" sz="2400" dirty="0"/>
              <a:t>相关代码</a:t>
            </a:r>
            <a:endParaRPr lang="en-US" altLang="zh-CN" sz="2400" dirty="0"/>
          </a:p>
          <a:p>
            <a:pPr lvl="2">
              <a:lnSpc>
                <a:spcPct val="150000"/>
              </a:lnSpc>
            </a:pPr>
            <a:r>
              <a:rPr lang="zh-CN" altLang="en-US" sz="2400" dirty="0"/>
              <a:t>具体仿照教程中（或后页）针对</a:t>
            </a:r>
            <a:r>
              <a:rPr lang="en-US" altLang="zh-CN" sz="2400" dirty="0" err="1"/>
              <a:t>paddr_read</a:t>
            </a:r>
            <a:r>
              <a:rPr lang="en-US" altLang="zh-CN" sz="2400" dirty="0"/>
              <a:t>()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paddr_write</a:t>
            </a:r>
            <a:r>
              <a:rPr lang="en-US" altLang="zh-CN" sz="2400" dirty="0"/>
              <a:t>()</a:t>
            </a:r>
            <a:r>
              <a:rPr lang="zh-CN" altLang="en-US" sz="2400" dirty="0"/>
              <a:t>的修改方法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在</a:t>
            </a:r>
            <a:r>
              <a:rPr lang="en-US" altLang="zh-CN" sz="2400" dirty="0" err="1"/>
              <a:t>paddr_read</a:t>
            </a:r>
            <a:r>
              <a:rPr lang="en-US" altLang="zh-CN" sz="2400" dirty="0"/>
              <a:t>()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paddr_write</a:t>
            </a:r>
            <a:r>
              <a:rPr lang="en-US" altLang="zh-CN" sz="2400" dirty="0"/>
              <a:t>()</a:t>
            </a:r>
            <a:r>
              <a:rPr lang="zh-CN" altLang="en-US" sz="2400" dirty="0"/>
              <a:t>中分别通过</a:t>
            </a:r>
            <a:r>
              <a:rPr lang="en-US" altLang="zh-CN" sz="2400" dirty="0" err="1"/>
              <a:t>cache_read</a:t>
            </a:r>
            <a:r>
              <a:rPr lang="en-US" altLang="zh-CN" sz="2400" dirty="0"/>
              <a:t>()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cache_write</a:t>
            </a:r>
            <a:r>
              <a:rPr lang="en-US" altLang="zh-CN" sz="2400" dirty="0"/>
              <a:t>()</a:t>
            </a:r>
            <a:r>
              <a:rPr lang="zh-CN" altLang="en-US" sz="2400" dirty="0"/>
              <a:t>函数来实现对物理地址的读写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可以设置一个简单的模拟计时器，如果</a:t>
            </a:r>
            <a:r>
              <a:rPr lang="en-US" altLang="zh-CN" sz="2400" dirty="0"/>
              <a:t>cache</a:t>
            </a:r>
            <a:r>
              <a:rPr lang="zh-CN" altLang="en-US" sz="2400" dirty="0"/>
              <a:t>命中则时间</a:t>
            </a:r>
            <a:r>
              <a:rPr lang="en-US" altLang="zh-CN" sz="2400" dirty="0"/>
              <a:t>+10</a:t>
            </a:r>
            <a:r>
              <a:rPr lang="zh-CN" altLang="en-US" sz="2400" dirty="0"/>
              <a:t>，</a:t>
            </a:r>
            <a:r>
              <a:rPr lang="en-US" altLang="zh-CN" sz="2400" dirty="0"/>
              <a:t>cache</a:t>
            </a:r>
            <a:r>
              <a:rPr lang="zh-CN" altLang="en-US" sz="2400" dirty="0"/>
              <a:t>缺失则时间</a:t>
            </a:r>
            <a:r>
              <a:rPr lang="en-US" altLang="zh-CN" sz="2400" dirty="0"/>
              <a:t>+100</a:t>
            </a:r>
            <a:r>
              <a:rPr lang="zh-CN" altLang="en-US" sz="2400" dirty="0"/>
              <a:t>，比较一下模拟的时间消耗有什么变化</a:t>
            </a:r>
            <a:endParaRPr lang="en-US" altLang="zh-CN" sz="2400" dirty="0"/>
          </a:p>
          <a:p>
            <a:pPr lvl="2">
              <a:lnSpc>
                <a:spcPct val="150000"/>
              </a:lnSpc>
            </a:pPr>
            <a:r>
              <a:rPr lang="zh-CN" altLang="en-US" sz="1800" dirty="0"/>
              <a:t>也可以加入对</a:t>
            </a:r>
            <a:r>
              <a:rPr lang="en-US" altLang="zh-CN" sz="1800" dirty="0"/>
              <a:t>cache</a:t>
            </a:r>
            <a:r>
              <a:rPr lang="zh-CN" altLang="en-US" sz="1800" dirty="0"/>
              <a:t>命中率的统计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800" dirty="0"/>
          </a:p>
          <a:p>
            <a:pPr>
              <a:lnSpc>
                <a:spcPct val="150000"/>
              </a:lnSpc>
            </a:pP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9F3C4-E9F9-450B-96F8-2F50F4CE7DF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3-1 Cache</a:t>
            </a:r>
            <a:r>
              <a:rPr lang="zh-CN" altLang="en-US" dirty="0"/>
              <a:t>的模拟（</a:t>
            </a:r>
            <a:r>
              <a:rPr lang="en-US" altLang="zh-CN" dirty="0"/>
              <a:t>NEMU</a:t>
            </a:r>
            <a:r>
              <a:rPr lang="zh-CN" altLang="en-US" dirty="0"/>
              <a:t>代码）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6053-E53C-4972-878A-5C788CB95AB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9F60D-7609-4D8B-9914-ABEA9042DC77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998764" y="999286"/>
            <a:ext cx="7475436" cy="5378395"/>
          </a:xfrm>
          <a:prstGeom prst="rect">
            <a:avLst/>
          </a:prstGeom>
          <a:ln>
            <a:solidFill>
              <a:schemeClr val="dk1"/>
            </a:solidFill>
            <a:prstDash val="dash"/>
          </a:ln>
        </p:spPr>
        <p:txBody>
          <a:bodyPr wrap="square">
            <a:spAutoFit/>
          </a:bodyPr>
          <a:lstStyle/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uint32_t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paddr_read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paddr_t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paddr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size_t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	uint32_t ret = 0;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#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ifdef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CACHE_ENABLED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		ret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cache_read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paddr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#else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		ret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hw_mem_read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paddr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#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endif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	return ret;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void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paddr_write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paddr_t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paddr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size_t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, uint32_t data)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#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ifdef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CACHE_ENABLED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		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cache_write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paddr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, data);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#else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		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hw_mem_write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paddr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, data);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#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endif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等线" panose="02010600030101010101" charset="-122"/>
                <a:cs typeface="Times New Roman" panose="02020603050405020304" pitchFamily="18" charset="0"/>
              </a:rPr>
              <a:t>     }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055677" y="5916016"/>
            <a:ext cx="42963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accent5"/>
                </a:solidFill>
              </a:rPr>
              <a:t>nemu</a:t>
            </a:r>
            <a:r>
              <a:rPr lang="en-US" altLang="zh-CN" sz="2400" b="1" dirty="0">
                <a:solidFill>
                  <a:schemeClr val="accent5"/>
                </a:solidFill>
              </a:rPr>
              <a:t>/</a:t>
            </a:r>
            <a:r>
              <a:rPr lang="en-US" altLang="zh-CN" sz="2400" b="1" dirty="0" err="1">
                <a:solidFill>
                  <a:schemeClr val="accent5"/>
                </a:solidFill>
              </a:rPr>
              <a:t>src</a:t>
            </a:r>
            <a:r>
              <a:rPr lang="en-US" altLang="zh-CN" sz="2400" b="1" dirty="0">
                <a:solidFill>
                  <a:schemeClr val="accent5"/>
                </a:solidFill>
              </a:rPr>
              <a:t>/memory/</a:t>
            </a:r>
            <a:r>
              <a:rPr lang="en-US" altLang="zh-CN" sz="2400" b="1" dirty="0" err="1">
                <a:solidFill>
                  <a:schemeClr val="accent5"/>
                </a:solidFill>
              </a:rPr>
              <a:t>memory.c</a:t>
            </a:r>
            <a:endParaRPr lang="en-US" altLang="zh-CN" sz="2400" b="1" dirty="0">
              <a:solidFill>
                <a:schemeClr val="accent5"/>
              </a:solidFill>
            </a:endParaRPr>
          </a:p>
        </p:txBody>
      </p:sp>
      <p:sp>
        <p:nvSpPr>
          <p:cNvPr id="3" name="右大括号 2"/>
          <p:cNvSpPr/>
          <p:nvPr/>
        </p:nvSpPr>
        <p:spPr>
          <a:xfrm>
            <a:off x="7210697" y="1939834"/>
            <a:ext cx="280852" cy="927463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791994" y="2201091"/>
            <a:ext cx="195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能不能</a:t>
            </a:r>
            <a:r>
              <a:rPr lang="en-US" altLang="zh-CN" dirty="0"/>
              <a:t>assert</a:t>
            </a:r>
            <a:r>
              <a:rPr lang="zh-CN" altLang="en-US" dirty="0"/>
              <a:t>？</a:t>
            </a:r>
            <a:endParaRPr lang="zh-CN" altLang="en-US" dirty="0"/>
          </a:p>
        </p:txBody>
      </p:sp>
      <p:sp>
        <p:nvSpPr>
          <p:cNvPr id="10" name="右大括号 9"/>
          <p:cNvSpPr/>
          <p:nvPr/>
        </p:nvSpPr>
        <p:spPr>
          <a:xfrm>
            <a:off x="7210697" y="4789714"/>
            <a:ext cx="280852" cy="927463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791993" y="5068779"/>
            <a:ext cx="195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能不能</a:t>
            </a:r>
            <a:r>
              <a:rPr lang="en-US" altLang="zh-CN" dirty="0"/>
              <a:t>assert</a:t>
            </a:r>
            <a:r>
              <a:rPr lang="zh-CN" altLang="en-US" dirty="0"/>
              <a:t>？</a:t>
            </a:r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09800" y="2653317"/>
            <a:ext cx="7772400" cy="856646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zh-CN" sz="2400" dirty="0"/>
            </a:br>
            <a:br>
              <a:rPr lang="en-US" altLang="zh-CN" sz="3600" dirty="0"/>
            </a:br>
            <a:r>
              <a:rPr lang="zh-CN" altLang="en-US" sz="3600" dirty="0"/>
              <a:t>祝大家学习快乐，身心健康！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6F99-EA09-439A-8611-6A8D1D1506C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F2E1-98E8-4467-B334-6EFF1346DF0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e8bb3e2b-b6bd-4ca4-80e7-4e2bf1cfea53"/>
  <p:tag name="COMMONDATA" val="eyJoZGlkIjoiZmZhMzRiYTQ0NmJhYmExYTgxMjExYjE0ZWVjZDI5OWUifQ=="/>
</p:tagLst>
</file>

<file path=ppt/theme/theme1.xml><?xml version="1.0" encoding="utf-8"?>
<a:theme xmlns:a="http://schemas.openxmlformats.org/drawingml/2006/main" name="2020_spring_pa_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2020_spring_pa_0</Template>
  <TotalTime>0</TotalTime>
  <Words>11330</Words>
  <Application>WPS 演示</Application>
  <PresentationFormat>宽屏</PresentationFormat>
  <Paragraphs>1953</Paragraphs>
  <Slides>53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2" baseType="lpstr">
      <vt:lpstr>Arial</vt:lpstr>
      <vt:lpstr>宋体</vt:lpstr>
      <vt:lpstr>Wingdings</vt:lpstr>
      <vt:lpstr>微软雅黑</vt:lpstr>
      <vt:lpstr>幼圆</vt:lpstr>
      <vt:lpstr>等线</vt:lpstr>
      <vt:lpstr>Arial Unicode MS</vt:lpstr>
      <vt:lpstr>Times New Roman</vt:lpstr>
      <vt:lpstr>2020_spring_pa_0</vt:lpstr>
      <vt:lpstr>PowerPoint 演示文稿</vt:lpstr>
      <vt:lpstr>前情提要（以餐厅为类比）</vt:lpstr>
      <vt:lpstr>PA 3的总体任务（以餐厅为类比）</vt:lpstr>
      <vt:lpstr>PA 3-1 Cache的模拟</vt:lpstr>
      <vt:lpstr>PA 3-1 Cache的模拟</vt:lpstr>
      <vt:lpstr>PA 3-1 Cache的模拟</vt:lpstr>
      <vt:lpstr>PA 3-1 Cache的模拟</vt:lpstr>
      <vt:lpstr>PA 3-1 Cache的模拟</vt:lpstr>
      <vt:lpstr>PA 3-1 Cache的模拟</vt:lpstr>
      <vt:lpstr>主存和Cache的划分</vt:lpstr>
      <vt:lpstr>PA 3-1 Cache的模拟</vt:lpstr>
      <vt:lpstr>PA 3-1 Cache的模拟</vt:lpstr>
      <vt:lpstr>PA 3-1 Cache的模拟</vt:lpstr>
      <vt:lpstr>PA 3-1 Cache的模拟</vt:lpstr>
      <vt:lpstr>PA 3-1 Cache的模拟</vt:lpstr>
      <vt:lpstr>PA 3-1 Cache的模拟</vt:lpstr>
      <vt:lpstr>PA 3-1 Cache的模拟</vt:lpstr>
      <vt:lpstr>PA 3-1 Cache的模拟</vt:lpstr>
      <vt:lpstr>PA 3-1 Cache的模拟</vt:lpstr>
      <vt:lpstr>PA 3-1 Cache的模拟</vt:lpstr>
      <vt:lpstr>PA 3-1 Cache的模拟</vt:lpstr>
      <vt:lpstr>PA 3-1 Cache的模拟</vt:lpstr>
      <vt:lpstr>PA 3-1 Cache的模拟</vt:lpstr>
      <vt:lpstr>PA 3-1 Cache的模拟</vt:lpstr>
      <vt:lpstr>举例</vt:lpstr>
      <vt:lpstr>举例</vt:lpstr>
      <vt:lpstr>举例</vt:lpstr>
      <vt:lpstr>举例</vt:lpstr>
      <vt:lpstr>举例</vt:lpstr>
      <vt:lpstr>举例</vt:lpstr>
      <vt:lpstr>举例</vt:lpstr>
      <vt:lpstr>举例</vt:lpstr>
      <vt:lpstr>举例</vt:lpstr>
      <vt:lpstr>PA 3-1 Cache的模拟</vt:lpstr>
      <vt:lpstr>PA 3-1 Cache的模拟</vt:lpstr>
      <vt:lpstr>PA 3-1 Cache的模拟</vt:lpstr>
      <vt:lpstr>Cache的另外两种映射方法</vt:lpstr>
      <vt:lpstr>访问cache的流程</vt:lpstr>
      <vt:lpstr>PA 3-1 Cache的模拟</vt:lpstr>
      <vt:lpstr>PA 3-1 Cache的模拟</vt:lpstr>
      <vt:lpstr>数据跨块的处理</vt:lpstr>
      <vt:lpstr>PA 3-1 Cache的模拟</vt:lpstr>
      <vt:lpstr>PA 3-1 Cache的模拟</vt:lpstr>
      <vt:lpstr>CPU访问Cache的过程</vt:lpstr>
      <vt:lpstr>PA 3-1 Cache的模拟（要求）</vt:lpstr>
      <vt:lpstr>PA 3-1 Cache的模拟（NEMU代码）</vt:lpstr>
      <vt:lpstr>PA 3-1 Cache的模拟（NEMU代码）</vt:lpstr>
      <vt:lpstr>PA 3-1 Cache的模拟（NEMU代码）</vt:lpstr>
      <vt:lpstr>PA 3-1 Cache的模拟（NEMU代码）</vt:lpstr>
      <vt:lpstr>PA 3-1 Cache的模拟（NEMU代码）</vt:lpstr>
      <vt:lpstr>PA 3-1 Cache的模拟（NEMU代码）</vt:lpstr>
      <vt:lpstr>PA 3-1 Cache的模拟（NEMU代码）</vt:lpstr>
      <vt:lpstr>  祝大家学习快乐，身心健康！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汪亮</cp:lastModifiedBy>
  <cp:revision>774</cp:revision>
  <dcterms:created xsi:type="dcterms:W3CDTF">2017-11-13T13:34:00Z</dcterms:created>
  <dcterms:modified xsi:type="dcterms:W3CDTF">2025-10-28T03:59:17Z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49912DCB279A4A84AABF041132236112</vt:lpwstr>
  </property>
  <property fmtid="{D5CDD505-2E9C-101B-9397-08002B2CF9AE}" pid="3" name="KSOProductBuildVer">
    <vt:lpwstr>2052-12.1.0.20305</vt:lpwstr>
  </property>
</Properties>
</file>