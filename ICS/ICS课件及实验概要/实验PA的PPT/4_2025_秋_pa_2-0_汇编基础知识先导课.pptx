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dp" ContentType="image/vnd.ms-photo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3" r:id="rId11"/>
    <p:sldId id="265" r:id="rId12"/>
    <p:sldId id="266" r:id="rId13"/>
    <p:sldId id="268" r:id="rId14"/>
    <p:sldId id="267" r:id="rId15"/>
    <p:sldId id="269" r:id="rId16"/>
    <p:sldId id="270" r:id="rId17"/>
    <p:sldId id="271" r:id="rId18"/>
    <p:sldId id="309" r:id="rId19"/>
    <p:sldId id="272" r:id="rId20"/>
    <p:sldId id="273" r:id="rId21"/>
    <p:sldId id="275" r:id="rId22"/>
    <p:sldId id="316" r:id="rId23"/>
    <p:sldId id="317" r:id="rId24"/>
    <p:sldId id="300" r:id="rId25"/>
    <p:sldId id="278" r:id="rId26"/>
    <p:sldId id="276" r:id="rId27"/>
    <p:sldId id="285" r:id="rId28"/>
    <p:sldId id="305" r:id="rId29"/>
    <p:sldId id="284" r:id="rId30"/>
    <p:sldId id="286" r:id="rId31"/>
    <p:sldId id="287" r:id="rId32"/>
    <p:sldId id="288" r:id="rId33"/>
    <p:sldId id="289" r:id="rId34"/>
    <p:sldId id="304" r:id="rId35"/>
    <p:sldId id="308" r:id="rId36"/>
    <p:sldId id="310" r:id="rId37"/>
    <p:sldId id="311" r:id="rId38"/>
    <p:sldId id="312" r:id="rId39"/>
    <p:sldId id="313" r:id="rId40"/>
    <p:sldId id="314" r:id="rId41"/>
    <p:sldId id="315" r:id="rId42"/>
    <p:sldId id="306" r:id="rId43"/>
    <p:sldId id="290" r:id="rId44"/>
    <p:sldId id="291" r:id="rId45"/>
    <p:sldId id="318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1" r:id="rId55"/>
    <p:sldId id="303" r:id="rId56"/>
  </p:sldIdLst>
  <p:sldSz cx="12192000" cy="6858000"/>
  <p:notesSz cx="6858000" cy="9144000"/>
  <p:custDataLst>
    <p:tags r:id="rId6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7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1" Type="http://schemas.openxmlformats.org/officeDocument/2006/relationships/tags" Target="tags/tag1.xml"/><Relationship Id="rId60" Type="http://schemas.openxmlformats.org/officeDocument/2006/relationships/tableStyles" Target="tableStyles.xml"/><Relationship Id="rId6" Type="http://schemas.openxmlformats.org/officeDocument/2006/relationships/slide" Target="slides/slide4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notesMaster" Target="notesMasters/notesMaster1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BAB4B-959A-4700-A1F1-3B02BAA6B9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0AC51-7B3F-48DC-8F0B-823121F5D8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01B24-5E2C-45B9-BE6B-03F008665A6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  <a14:imgEffect>
                      <a14:colorTemperature colorTemp="6494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365126"/>
            <a:ext cx="5105400" cy="63987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429C0-6054-4E27-BA04-50D02BB7644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B0F71-0B98-4774-877C-1570A51CC24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F3E12-19C6-46AF-9862-FC2A51BE1D5C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25537-C0EF-4FD6-A606-D785E177DE3C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7036-5CC7-43A8-943B-3C5D6A9B1649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DEB83-D24C-483C-8106-87CBC3DE9AB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5441-DD53-4816-9378-791F75944F4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09DD-EE54-43A2-B754-3E063513E4C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162B-ED38-4A6F-B53D-1A4B313090F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48509"/>
            <a:ext cx="10515600" cy="4828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0">
                <a:solidFill>
                  <a:schemeClr val="tx1"/>
                </a:solidFill>
              </a:defRPr>
            </a:lvl1pPr>
          </a:lstStyle>
          <a:p>
            <a:fld id="{99C9E755-F461-4D3A-97E5-398F194FE2A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8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chemeClr val="tx1"/>
                </a:solidFill>
              </a:defRPr>
            </a:lvl1pPr>
          </a:lstStyle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524000" y="2692400"/>
            <a:ext cx="9144000" cy="1203642"/>
          </a:xfrm>
        </p:spPr>
        <p:txBody>
          <a:bodyPr>
            <a:normAutofit/>
          </a:bodyPr>
          <a:lstStyle/>
          <a:p>
            <a:pPr algn="l"/>
            <a:r>
              <a:rPr lang="en-US" altLang="zh-CN" sz="4800" dirty="0"/>
              <a:t>PA 2-0 – </a:t>
            </a:r>
            <a:r>
              <a:rPr lang="zh-CN" altLang="en-US" sz="4800" dirty="0"/>
              <a:t>汇编基础知识先导课</a:t>
            </a:r>
            <a:endParaRPr lang="zh-CN" altLang="en-US" sz="4800" dirty="0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4298315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/>
              <a:t>16</a:t>
            </a:r>
            <a:r>
              <a:rPr lang="zh-CN" altLang="en-US"/>
              <a:t>日</a:t>
            </a:r>
            <a:endParaRPr lang="en-US" altLang="zh-CN" dirty="0"/>
          </a:p>
          <a:p>
            <a:pPr algn="r"/>
            <a:r>
              <a:rPr lang="en-US" altLang="zh-CN" dirty="0">
                <a:sym typeface="+mn-ea"/>
              </a:rPr>
              <a:t>2025</a:t>
            </a:r>
            <a:r>
              <a:rPr lang="zh-CN" altLang="en-US" dirty="0">
                <a:sym typeface="+mn-ea"/>
              </a:rPr>
              <a:t>年</a:t>
            </a:r>
            <a:r>
              <a:rPr lang="en-US" altLang="zh-CN" dirty="0">
                <a:sym typeface="+mn-ea"/>
              </a:rPr>
              <a:t>9</a:t>
            </a:r>
            <a:r>
              <a:rPr lang="zh-CN" altLang="en-US" dirty="0">
                <a:sym typeface="+mn-ea"/>
              </a:rPr>
              <a:t>月</a:t>
            </a:r>
            <a:r>
              <a:rPr lang="en-US" altLang="zh-CN">
                <a:sym typeface="+mn-ea"/>
              </a:rPr>
              <a:t>17</a:t>
            </a:r>
            <a:r>
              <a:rPr lang="zh-CN" altLang="en-US">
                <a:sym typeface="+mn-ea"/>
              </a:rPr>
              <a:t>日</a:t>
            </a:r>
            <a:endParaRPr lang="zh-CN" altLang="en-US" dirty="0"/>
          </a:p>
          <a:p>
            <a:pPr algn="r"/>
            <a:r>
              <a:rPr lang="zh-CN" altLang="en-US" dirty="0"/>
              <a:t>南京大学</a:t>
            </a:r>
            <a:r>
              <a:rPr lang="en-US" altLang="zh-CN" dirty="0"/>
              <a:t>《</a:t>
            </a:r>
            <a:r>
              <a:rPr lang="zh-CN" altLang="en-US" dirty="0"/>
              <a:t>计算机系统基础</a:t>
            </a:r>
            <a:r>
              <a:rPr lang="en-US" altLang="zh-CN" dirty="0"/>
              <a:t>》</a:t>
            </a:r>
            <a:r>
              <a:rPr lang="zh-CN" altLang="en-US" dirty="0"/>
              <a:t>课程组</a:t>
            </a:r>
            <a:endParaRPr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1524000" y="1359434"/>
            <a:ext cx="6858000" cy="13329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计算机系统基础</a:t>
            </a:r>
            <a:b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Programming Assignment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A748A-9C81-4241-9FDD-A8E1BDBBC8B1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前情提要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EA543-8736-4657-BE3F-4CCF410311C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02"/>
          <a:stretch>
            <a:fillRect/>
          </a:stretch>
        </p:blipFill>
        <p:spPr>
          <a:xfrm>
            <a:off x="1577905" y="1669669"/>
            <a:ext cx="8818019" cy="4331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/>
              <a:t>从高级语言到机器指令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汇编语句与机器指令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尝试用</a:t>
            </a:r>
            <a:r>
              <a:rPr lang="en-US" altLang="zh-CN" b="1" dirty="0" err="1"/>
              <a:t>gdb</a:t>
            </a:r>
            <a:r>
              <a:rPr lang="zh-CN" altLang="en-US" b="1" dirty="0"/>
              <a:t>调试程序</a:t>
            </a:r>
            <a:endParaRPr lang="en-US" altLang="zh-CN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DAA0-425D-447F-9CFA-038EAD2E0C1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从高级语言到机器指令 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C</a:t>
            </a:r>
            <a:r>
              <a:rPr lang="zh-CN" altLang="en-US" b="1" dirty="0">
                <a:solidFill>
                  <a:srgbClr val="C00000"/>
                </a:solidFill>
              </a:rPr>
              <a:t>语言程序编译的过程（了解相应的</a:t>
            </a:r>
            <a:r>
              <a:rPr lang="en-US" altLang="zh-CN" b="1" dirty="0">
                <a:solidFill>
                  <a:srgbClr val="C00000"/>
                </a:solidFill>
              </a:rPr>
              <a:t>Linux</a:t>
            </a:r>
            <a:r>
              <a:rPr lang="zh-CN" altLang="en-US" b="1" dirty="0">
                <a:solidFill>
                  <a:srgbClr val="C00000"/>
                </a:solidFill>
              </a:rPr>
              <a:t>命令）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C00000"/>
                </a:solidFill>
              </a:rPr>
              <a:t>查看目标文件中的机器指令（了解相应的</a:t>
            </a:r>
            <a:r>
              <a:rPr lang="en-US" altLang="zh-CN" b="1" dirty="0">
                <a:solidFill>
                  <a:srgbClr val="C00000"/>
                </a:solidFill>
              </a:rPr>
              <a:t>Linux</a:t>
            </a:r>
            <a:r>
              <a:rPr lang="zh-CN" altLang="en-US" b="1" dirty="0">
                <a:solidFill>
                  <a:srgbClr val="C00000"/>
                </a:solidFill>
              </a:rPr>
              <a:t>命令）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NEMU</a:t>
            </a:r>
            <a:r>
              <a:rPr lang="zh-CN" altLang="en-US" b="1" dirty="0">
                <a:solidFill>
                  <a:srgbClr val="C00000"/>
                </a:solidFill>
              </a:rPr>
              <a:t>模拟实现计算机执行指令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b="1" dirty="0"/>
              <a:t>汇编语句与机器指令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尝试用</a:t>
            </a:r>
            <a:r>
              <a:rPr lang="en-US" altLang="zh-CN" b="1" dirty="0" err="1"/>
              <a:t>gdb</a:t>
            </a:r>
            <a:r>
              <a:rPr lang="zh-CN" altLang="en-US" b="1" dirty="0"/>
              <a:t>调试程序</a:t>
            </a:r>
            <a:endParaRPr lang="en-US" altLang="zh-CN" b="1" dirty="0"/>
          </a:p>
          <a:p>
            <a:pPr>
              <a:lnSpc>
                <a:spcPct val="200000"/>
              </a:lnSpc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AF1E-CA5A-403D-B521-ABDDD4D2B93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828283" cy="73400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从高级语言到机器指令 </a:t>
            </a:r>
            <a:r>
              <a:rPr lang="en-US" altLang="zh-CN" dirty="0"/>
              <a:t>– C</a:t>
            </a:r>
            <a:r>
              <a:rPr lang="zh-CN" altLang="en-US" dirty="0"/>
              <a:t>语言程序编译的过程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8615" y="2494920"/>
            <a:ext cx="5817141" cy="3108543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#include&lt;stdio.h&gt;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int main() {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</a:t>
            </a:r>
            <a:r>
              <a:rPr lang="zh-CN" altLang="en-US" sz="2800" dirty="0">
                <a:latin typeface="Consolas" panose="020B0609020204030204" pitchFamily="49" charset="0"/>
              </a:rPr>
              <a:t>printf("Hello World!\n");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</a:t>
            </a:r>
            <a:r>
              <a:rPr lang="zh-CN" altLang="en-US" sz="2800" dirty="0">
                <a:latin typeface="Consolas" panose="020B0609020204030204" pitchFamily="49" charset="0"/>
              </a:rPr>
              <a:t>return 0;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}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83875" y="1910145"/>
            <a:ext cx="3861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hello_world.c</a:t>
            </a:r>
            <a:endParaRPr lang="zh-CN" altLang="en-US" sz="32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77470" y="2556476"/>
            <a:ext cx="5817141" cy="16980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–o </a:t>
            </a:r>
            <a:r>
              <a:rPr lang="en-US" altLang="zh-CN" sz="2400" dirty="0" err="1"/>
              <a:t>hello_world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hello_world.c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$ ./</a:t>
            </a:r>
            <a:r>
              <a:rPr lang="en-US" altLang="zh-CN" sz="2400" dirty="0" err="1"/>
              <a:t>hello_world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Hello World!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11089208" y="4254505"/>
            <a:ext cx="10054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编译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zh-CN" altLang="en-US" sz="3200" dirty="0">
                <a:solidFill>
                  <a:srgbClr val="C00000"/>
                </a:solidFill>
              </a:rPr>
              <a:t>运行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3887-7456-4C17-B7B1-3435360524A9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828283" cy="73400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从高级语言到机器指令 </a:t>
            </a:r>
            <a:r>
              <a:rPr lang="en-US" altLang="zh-CN" dirty="0"/>
              <a:t>– C</a:t>
            </a:r>
            <a:r>
              <a:rPr lang="zh-CN" altLang="en-US" dirty="0"/>
              <a:t>语言程序编译的过程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688219" y="1567023"/>
            <a:ext cx="470192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–o </a:t>
            </a:r>
            <a:r>
              <a:rPr lang="en-US" altLang="zh-CN" sz="2400" dirty="0" err="1"/>
              <a:t>hello_world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hello_world.c</a:t>
            </a:r>
            <a:endParaRPr lang="en-US" altLang="zh-CN" sz="2400" dirty="0"/>
          </a:p>
        </p:txBody>
      </p:sp>
      <p:sp>
        <p:nvSpPr>
          <p:cNvPr id="10" name="矩形 9"/>
          <p:cNvSpPr/>
          <p:nvPr/>
        </p:nvSpPr>
        <p:spPr>
          <a:xfrm>
            <a:off x="6740122" y="1642070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一条命令执行了四个步骤</a:t>
            </a:r>
            <a:endParaRPr lang="en-US" altLang="zh-CN" sz="2400" dirty="0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88219" y="2409840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hello_world.c</a:t>
            </a:r>
            <a:endParaRPr lang="zh-CN" altLang="en-US" sz="3200" dirty="0"/>
          </a:p>
        </p:txBody>
      </p:sp>
      <p:sp>
        <p:nvSpPr>
          <p:cNvPr id="27" name="文本框 26"/>
          <p:cNvSpPr txBox="1"/>
          <p:nvPr/>
        </p:nvSpPr>
        <p:spPr>
          <a:xfrm>
            <a:off x="3190643" y="3200882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hello_world.i</a:t>
            </a:r>
            <a:endParaRPr lang="zh-CN" altLang="en-US" sz="3200" dirty="0"/>
          </a:p>
        </p:txBody>
      </p:sp>
      <p:sp>
        <p:nvSpPr>
          <p:cNvPr id="28" name="文本框 27"/>
          <p:cNvSpPr txBox="1"/>
          <p:nvPr/>
        </p:nvSpPr>
        <p:spPr>
          <a:xfrm>
            <a:off x="4644427" y="3991924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hello_world.S</a:t>
            </a:r>
            <a:endParaRPr lang="zh-CN" altLang="en-US" sz="3200" dirty="0"/>
          </a:p>
        </p:txBody>
      </p:sp>
      <p:sp>
        <p:nvSpPr>
          <p:cNvPr id="29" name="文本框 28"/>
          <p:cNvSpPr txBox="1"/>
          <p:nvPr/>
        </p:nvSpPr>
        <p:spPr>
          <a:xfrm>
            <a:off x="6195491" y="4782966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hello_world.o</a:t>
            </a:r>
            <a:endParaRPr lang="zh-CN" altLang="en-US" sz="3200" dirty="0"/>
          </a:p>
        </p:txBody>
      </p:sp>
      <p:sp>
        <p:nvSpPr>
          <p:cNvPr id="30" name="文本框 29"/>
          <p:cNvSpPr txBox="1"/>
          <p:nvPr/>
        </p:nvSpPr>
        <p:spPr>
          <a:xfrm>
            <a:off x="7697917" y="5585473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</a:t>
            </a:r>
            <a:endParaRPr lang="zh-CN" altLang="en-US" sz="3200" dirty="0"/>
          </a:p>
        </p:txBody>
      </p:sp>
      <p:cxnSp>
        <p:nvCxnSpPr>
          <p:cNvPr id="31" name="肘形连接符 30"/>
          <p:cNvCxnSpPr>
            <a:stCxn id="26" idx="2"/>
            <a:endCxn id="27" idx="1"/>
          </p:cNvCxnSpPr>
          <p:nvPr/>
        </p:nvCxnSpPr>
        <p:spPr>
          <a:xfrm rot="16200000" flipH="1">
            <a:off x="2843207" y="3145833"/>
            <a:ext cx="498655" cy="196217"/>
          </a:xfrm>
          <a:prstGeom prst="bentConnector2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27" idx="3"/>
            <a:endCxn id="28" idx="0"/>
          </p:cNvCxnSpPr>
          <p:nvPr/>
        </p:nvCxnSpPr>
        <p:spPr>
          <a:xfrm>
            <a:off x="5803056" y="3493270"/>
            <a:ext cx="147578" cy="498654"/>
          </a:xfrm>
          <a:prstGeom prst="bentConnector2">
            <a:avLst/>
          </a:prstGeom>
          <a:ln w="25400">
            <a:solidFill>
              <a:srgbClr val="7030A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28" idx="2"/>
            <a:endCxn id="29" idx="1"/>
          </p:cNvCxnSpPr>
          <p:nvPr/>
        </p:nvCxnSpPr>
        <p:spPr>
          <a:xfrm rot="16200000" flipH="1">
            <a:off x="5823735" y="4703597"/>
            <a:ext cx="498655" cy="244857"/>
          </a:xfrm>
          <a:prstGeom prst="bentConnector2">
            <a:avLst/>
          </a:prstGeom>
          <a:ln w="25400">
            <a:solidFill>
              <a:srgbClr val="0070C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29" idx="3"/>
            <a:endCxn id="30" idx="0"/>
          </p:cNvCxnSpPr>
          <p:nvPr/>
        </p:nvCxnSpPr>
        <p:spPr>
          <a:xfrm>
            <a:off x="8807904" y="5075354"/>
            <a:ext cx="196220" cy="510119"/>
          </a:xfrm>
          <a:prstGeom prst="bentConnector2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830061" y="3451803"/>
            <a:ext cx="10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C00000"/>
                </a:solidFill>
              </a:rPr>
              <a:t>gcc</a:t>
            </a:r>
            <a:r>
              <a:rPr lang="en-US" altLang="zh-CN" sz="2800" dirty="0">
                <a:solidFill>
                  <a:srgbClr val="C00000"/>
                </a:solidFill>
              </a:rPr>
              <a:t> -E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830061" y="3930368"/>
            <a:ext cx="27077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Preprocess: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zh-CN" altLang="en-US" sz="2000" dirty="0">
                <a:solidFill>
                  <a:srgbClr val="C00000"/>
                </a:solidFill>
              </a:rPr>
              <a:t>    展开</a:t>
            </a:r>
            <a:r>
              <a:rPr lang="en-US" altLang="zh-CN" sz="2000" dirty="0">
                <a:solidFill>
                  <a:srgbClr val="C00000"/>
                </a:solidFill>
              </a:rPr>
              <a:t>#include, </a:t>
            </a:r>
            <a:r>
              <a:rPr lang="zh-CN" altLang="en-US" sz="2000" dirty="0">
                <a:solidFill>
                  <a:srgbClr val="C00000"/>
                </a:solidFill>
              </a:rPr>
              <a:t>宏定义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148874" y="2326833"/>
            <a:ext cx="10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7030A0"/>
                </a:solidFill>
              </a:rPr>
              <a:t>gcc</a:t>
            </a:r>
            <a:r>
              <a:rPr lang="en-US" altLang="zh-CN" sz="2800" dirty="0">
                <a:solidFill>
                  <a:srgbClr val="7030A0"/>
                </a:solidFill>
              </a:rPr>
              <a:t> -S</a:t>
            </a:r>
            <a:endParaRPr lang="zh-CN" altLang="en-US" sz="2800" dirty="0">
              <a:solidFill>
                <a:srgbClr val="7030A0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200163" y="2837590"/>
            <a:ext cx="27624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7030A0"/>
                </a:solidFill>
              </a:rPr>
              <a:t>Compile:</a:t>
            </a:r>
            <a:endParaRPr lang="en-US" altLang="zh-CN" sz="2000" dirty="0">
              <a:solidFill>
                <a:srgbClr val="7030A0"/>
              </a:solidFill>
            </a:endParaRPr>
          </a:p>
          <a:p>
            <a:r>
              <a:rPr lang="zh-CN" altLang="en-US" sz="2000" dirty="0">
                <a:solidFill>
                  <a:srgbClr val="7030A0"/>
                </a:solidFill>
              </a:rPr>
              <a:t>    将高级语言程序转变</a:t>
            </a:r>
            <a:endParaRPr lang="en-US" altLang="zh-CN" sz="2000" dirty="0">
              <a:solidFill>
                <a:srgbClr val="7030A0"/>
              </a:solidFill>
            </a:endParaRPr>
          </a:p>
          <a:p>
            <a:r>
              <a:rPr lang="en-US" altLang="zh-CN" sz="2000" dirty="0">
                <a:solidFill>
                  <a:srgbClr val="7030A0"/>
                </a:solidFill>
              </a:rPr>
              <a:t>    </a:t>
            </a:r>
            <a:r>
              <a:rPr lang="zh-CN" altLang="en-US" sz="2000" dirty="0">
                <a:solidFill>
                  <a:srgbClr val="7030A0"/>
                </a:solidFill>
              </a:rPr>
              <a:t>成汇编语言程序</a:t>
            </a:r>
            <a:endParaRPr lang="zh-CN" altLang="en-US" sz="2000" dirty="0">
              <a:solidFill>
                <a:srgbClr val="7030A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300632" y="4872185"/>
            <a:ext cx="1000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0070C0"/>
                </a:solidFill>
              </a:rPr>
              <a:t>gcc</a:t>
            </a:r>
            <a:r>
              <a:rPr lang="en-US" altLang="zh-CN" sz="2800" dirty="0">
                <a:solidFill>
                  <a:srgbClr val="0070C0"/>
                </a:solidFill>
              </a:rPr>
              <a:t> -c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351920" y="5382942"/>
            <a:ext cx="28654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Assemble: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zh-CN" altLang="en-US" sz="2000" dirty="0">
                <a:solidFill>
                  <a:srgbClr val="0070C0"/>
                </a:solidFill>
              </a:rPr>
              <a:t>    将汇编语言程序转变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    </a:t>
            </a:r>
            <a:r>
              <a:rPr lang="zh-CN" altLang="en-US" sz="2000" dirty="0">
                <a:solidFill>
                  <a:srgbClr val="0070C0"/>
                </a:solidFill>
              </a:rPr>
              <a:t>成机器语言程序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898457" y="3311889"/>
            <a:ext cx="655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00B050"/>
                </a:solidFill>
              </a:rPr>
              <a:t>gcc</a:t>
            </a:r>
            <a:endParaRPr lang="zh-CN" altLang="en-US" sz="2800" dirty="0">
              <a:solidFill>
                <a:srgbClr val="00B050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949745" y="3822646"/>
            <a:ext cx="28654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B050"/>
                </a:solidFill>
              </a:rPr>
              <a:t>link: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zh-CN" altLang="en-US" sz="2000" dirty="0">
                <a:solidFill>
                  <a:srgbClr val="00B050"/>
                </a:solidFill>
              </a:rPr>
              <a:t>    通过</a:t>
            </a:r>
            <a:r>
              <a:rPr lang="en-US" altLang="zh-CN" sz="2000" dirty="0" err="1">
                <a:solidFill>
                  <a:srgbClr val="00B050"/>
                </a:solidFill>
              </a:rPr>
              <a:t>ld</a:t>
            </a:r>
            <a:r>
              <a:rPr lang="zh-CN" altLang="en-US" sz="2000" dirty="0">
                <a:solidFill>
                  <a:srgbClr val="00B050"/>
                </a:solidFill>
              </a:rPr>
              <a:t>程序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>
                <a:solidFill>
                  <a:srgbClr val="00B050"/>
                </a:solidFill>
              </a:rPr>
              <a:t>    </a:t>
            </a:r>
            <a:r>
              <a:rPr lang="zh-CN" altLang="en-US" sz="2000" dirty="0">
                <a:solidFill>
                  <a:srgbClr val="00B050"/>
                </a:solidFill>
              </a:rPr>
              <a:t>进行链接，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>
                <a:solidFill>
                  <a:srgbClr val="00B050"/>
                </a:solidFill>
              </a:rPr>
              <a:t>    </a:t>
            </a:r>
            <a:r>
              <a:rPr lang="zh-CN" altLang="en-US" sz="2000" dirty="0">
                <a:solidFill>
                  <a:srgbClr val="00B050"/>
                </a:solidFill>
              </a:rPr>
              <a:t>变成可执行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>
                <a:solidFill>
                  <a:srgbClr val="00B050"/>
                </a:solidFill>
              </a:rPr>
              <a:t>    </a:t>
            </a:r>
            <a:r>
              <a:rPr lang="zh-CN" altLang="en-US" sz="2000" dirty="0">
                <a:solidFill>
                  <a:srgbClr val="00B050"/>
                </a:solidFill>
              </a:rPr>
              <a:t>文件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EE20-4D78-4EC3-888B-715D8E5E2911}" type="datetime1">
              <a:rPr lang="zh-CN" altLang="en-US" smtClean="0"/>
            </a:fld>
            <a:endParaRPr lang="zh-CN" altLang="en-US"/>
          </a:p>
        </p:txBody>
      </p:sp>
      <p:sp>
        <p:nvSpPr>
          <p:cNvPr id="43" name="页脚占位符 4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44" name="灯片编号占位符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828283" cy="73400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从高级语言到机器指令 </a:t>
            </a:r>
            <a:r>
              <a:rPr lang="en-US" altLang="zh-CN" dirty="0"/>
              <a:t>– C</a:t>
            </a:r>
            <a:r>
              <a:rPr lang="zh-CN" altLang="en-US" dirty="0"/>
              <a:t>语言程序编译的过程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688219" y="1567023"/>
            <a:ext cx="470192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–o </a:t>
            </a:r>
            <a:r>
              <a:rPr lang="en-US" altLang="zh-CN" sz="2400" dirty="0" err="1"/>
              <a:t>hello_world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hello_world.c</a:t>
            </a:r>
            <a:endParaRPr lang="en-US" altLang="zh-CN" sz="2400" dirty="0"/>
          </a:p>
        </p:txBody>
      </p:sp>
      <p:sp>
        <p:nvSpPr>
          <p:cNvPr id="10" name="矩形 9"/>
          <p:cNvSpPr/>
          <p:nvPr/>
        </p:nvSpPr>
        <p:spPr>
          <a:xfrm>
            <a:off x="6740122" y="1642070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一条命令执行了四个步骤</a:t>
            </a:r>
            <a:endParaRPr lang="en-US" altLang="zh-CN" sz="2400" dirty="0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88219" y="2409840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hello_world.c</a:t>
            </a:r>
            <a:endParaRPr lang="zh-CN" altLang="en-US" sz="3200" dirty="0"/>
          </a:p>
        </p:txBody>
      </p:sp>
      <p:sp>
        <p:nvSpPr>
          <p:cNvPr id="27" name="文本框 26"/>
          <p:cNvSpPr txBox="1"/>
          <p:nvPr/>
        </p:nvSpPr>
        <p:spPr>
          <a:xfrm>
            <a:off x="3190643" y="3200882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hello_world.i</a:t>
            </a:r>
            <a:endParaRPr lang="zh-CN" altLang="en-US" sz="3200" dirty="0"/>
          </a:p>
        </p:txBody>
      </p:sp>
      <p:sp>
        <p:nvSpPr>
          <p:cNvPr id="28" name="文本框 27"/>
          <p:cNvSpPr txBox="1"/>
          <p:nvPr/>
        </p:nvSpPr>
        <p:spPr>
          <a:xfrm>
            <a:off x="4644427" y="3991924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hello_world.S</a:t>
            </a:r>
            <a:endParaRPr lang="zh-CN" altLang="en-US" sz="3200" dirty="0"/>
          </a:p>
        </p:txBody>
      </p:sp>
      <p:sp>
        <p:nvSpPr>
          <p:cNvPr id="29" name="文本框 28"/>
          <p:cNvSpPr txBox="1"/>
          <p:nvPr/>
        </p:nvSpPr>
        <p:spPr>
          <a:xfrm>
            <a:off x="6195491" y="4782966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hello_world.o</a:t>
            </a:r>
            <a:endParaRPr lang="zh-CN" altLang="en-US" sz="3200" dirty="0"/>
          </a:p>
        </p:txBody>
      </p:sp>
      <p:sp>
        <p:nvSpPr>
          <p:cNvPr id="30" name="文本框 29"/>
          <p:cNvSpPr txBox="1"/>
          <p:nvPr/>
        </p:nvSpPr>
        <p:spPr>
          <a:xfrm>
            <a:off x="7697917" y="5585473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</a:t>
            </a:r>
            <a:endParaRPr lang="zh-CN" altLang="en-US" sz="3200" dirty="0"/>
          </a:p>
        </p:txBody>
      </p:sp>
      <p:cxnSp>
        <p:nvCxnSpPr>
          <p:cNvPr id="31" name="肘形连接符 30"/>
          <p:cNvCxnSpPr>
            <a:stCxn id="26" idx="2"/>
            <a:endCxn id="27" idx="1"/>
          </p:cNvCxnSpPr>
          <p:nvPr/>
        </p:nvCxnSpPr>
        <p:spPr>
          <a:xfrm rot="16200000" flipH="1">
            <a:off x="2843207" y="3145833"/>
            <a:ext cx="498655" cy="196217"/>
          </a:xfrm>
          <a:prstGeom prst="bentConnector2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27" idx="3"/>
            <a:endCxn id="28" idx="0"/>
          </p:cNvCxnSpPr>
          <p:nvPr/>
        </p:nvCxnSpPr>
        <p:spPr>
          <a:xfrm>
            <a:off x="5803056" y="3493270"/>
            <a:ext cx="147578" cy="498654"/>
          </a:xfrm>
          <a:prstGeom prst="bentConnector2">
            <a:avLst/>
          </a:prstGeom>
          <a:ln w="25400">
            <a:solidFill>
              <a:srgbClr val="7030A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28" idx="2"/>
            <a:endCxn id="29" idx="1"/>
          </p:cNvCxnSpPr>
          <p:nvPr/>
        </p:nvCxnSpPr>
        <p:spPr>
          <a:xfrm rot="16200000" flipH="1">
            <a:off x="5823735" y="4703597"/>
            <a:ext cx="498655" cy="244857"/>
          </a:xfrm>
          <a:prstGeom prst="bentConnector2">
            <a:avLst/>
          </a:prstGeom>
          <a:ln w="25400">
            <a:solidFill>
              <a:srgbClr val="0070C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29" idx="3"/>
            <a:endCxn id="30" idx="0"/>
          </p:cNvCxnSpPr>
          <p:nvPr/>
        </p:nvCxnSpPr>
        <p:spPr>
          <a:xfrm>
            <a:off x="8807904" y="5075354"/>
            <a:ext cx="196220" cy="510119"/>
          </a:xfrm>
          <a:prstGeom prst="bentConnector2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830061" y="3451803"/>
            <a:ext cx="10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C00000"/>
                </a:solidFill>
              </a:rPr>
              <a:t>gcc</a:t>
            </a:r>
            <a:r>
              <a:rPr lang="en-US" altLang="zh-CN" sz="2800" dirty="0">
                <a:solidFill>
                  <a:srgbClr val="C00000"/>
                </a:solidFill>
              </a:rPr>
              <a:t> -E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830061" y="3930368"/>
            <a:ext cx="27077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Preprocess: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zh-CN" altLang="en-US" sz="2000" dirty="0">
                <a:solidFill>
                  <a:srgbClr val="C00000"/>
                </a:solidFill>
              </a:rPr>
              <a:t>    展开</a:t>
            </a:r>
            <a:r>
              <a:rPr lang="en-US" altLang="zh-CN" sz="2000" dirty="0">
                <a:solidFill>
                  <a:srgbClr val="C00000"/>
                </a:solidFill>
              </a:rPr>
              <a:t>#include, </a:t>
            </a:r>
            <a:r>
              <a:rPr lang="zh-CN" altLang="en-US" sz="2000" dirty="0">
                <a:solidFill>
                  <a:srgbClr val="C00000"/>
                </a:solidFill>
              </a:rPr>
              <a:t>宏定义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148874" y="2326833"/>
            <a:ext cx="10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7030A0"/>
                </a:solidFill>
              </a:rPr>
              <a:t>gcc</a:t>
            </a:r>
            <a:r>
              <a:rPr lang="en-US" altLang="zh-CN" sz="2800" dirty="0">
                <a:solidFill>
                  <a:srgbClr val="7030A0"/>
                </a:solidFill>
              </a:rPr>
              <a:t> -S</a:t>
            </a:r>
            <a:endParaRPr lang="zh-CN" altLang="en-US" sz="2800" dirty="0">
              <a:solidFill>
                <a:srgbClr val="7030A0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200163" y="2837590"/>
            <a:ext cx="27624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7030A0"/>
                </a:solidFill>
              </a:rPr>
              <a:t>Compile:</a:t>
            </a:r>
            <a:endParaRPr lang="en-US" altLang="zh-CN" sz="2000" dirty="0">
              <a:solidFill>
                <a:srgbClr val="7030A0"/>
              </a:solidFill>
            </a:endParaRPr>
          </a:p>
          <a:p>
            <a:r>
              <a:rPr lang="zh-CN" altLang="en-US" sz="2000" dirty="0">
                <a:solidFill>
                  <a:srgbClr val="7030A0"/>
                </a:solidFill>
              </a:rPr>
              <a:t>    将高级语言程序转变</a:t>
            </a:r>
            <a:endParaRPr lang="en-US" altLang="zh-CN" sz="2000" dirty="0">
              <a:solidFill>
                <a:srgbClr val="7030A0"/>
              </a:solidFill>
            </a:endParaRPr>
          </a:p>
          <a:p>
            <a:r>
              <a:rPr lang="en-US" altLang="zh-CN" sz="2000" dirty="0">
                <a:solidFill>
                  <a:srgbClr val="7030A0"/>
                </a:solidFill>
              </a:rPr>
              <a:t>    </a:t>
            </a:r>
            <a:r>
              <a:rPr lang="zh-CN" altLang="en-US" sz="2000" dirty="0">
                <a:solidFill>
                  <a:srgbClr val="7030A0"/>
                </a:solidFill>
              </a:rPr>
              <a:t>成汇编语言程序</a:t>
            </a:r>
            <a:endParaRPr lang="zh-CN" altLang="en-US" sz="2000" dirty="0">
              <a:solidFill>
                <a:srgbClr val="7030A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300632" y="4872185"/>
            <a:ext cx="1000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0070C0"/>
                </a:solidFill>
              </a:rPr>
              <a:t>gcc</a:t>
            </a:r>
            <a:r>
              <a:rPr lang="en-US" altLang="zh-CN" sz="2800" dirty="0">
                <a:solidFill>
                  <a:srgbClr val="0070C0"/>
                </a:solidFill>
              </a:rPr>
              <a:t> -c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351920" y="5382942"/>
            <a:ext cx="28654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Assemble: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zh-CN" altLang="en-US" sz="2000" dirty="0">
                <a:solidFill>
                  <a:srgbClr val="0070C0"/>
                </a:solidFill>
              </a:rPr>
              <a:t>    将汇编语言程序转变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    </a:t>
            </a:r>
            <a:r>
              <a:rPr lang="zh-CN" altLang="en-US" sz="2000" dirty="0">
                <a:solidFill>
                  <a:srgbClr val="0070C0"/>
                </a:solidFill>
              </a:rPr>
              <a:t>成机器语言程序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898457" y="3311889"/>
            <a:ext cx="655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00B050"/>
                </a:solidFill>
              </a:rPr>
              <a:t>gcc</a:t>
            </a:r>
            <a:endParaRPr lang="zh-CN" altLang="en-US" sz="2800" dirty="0">
              <a:solidFill>
                <a:srgbClr val="00B050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949745" y="3822646"/>
            <a:ext cx="28654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B050"/>
                </a:solidFill>
              </a:rPr>
              <a:t>link: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zh-CN" altLang="en-US" sz="2000" dirty="0">
                <a:solidFill>
                  <a:srgbClr val="00B050"/>
                </a:solidFill>
              </a:rPr>
              <a:t>    通过</a:t>
            </a:r>
            <a:r>
              <a:rPr lang="en-US" altLang="zh-CN" sz="2000" dirty="0" err="1">
                <a:solidFill>
                  <a:srgbClr val="00B050"/>
                </a:solidFill>
              </a:rPr>
              <a:t>ld</a:t>
            </a:r>
            <a:r>
              <a:rPr lang="zh-CN" altLang="en-US" sz="2000" dirty="0">
                <a:solidFill>
                  <a:srgbClr val="00B050"/>
                </a:solidFill>
              </a:rPr>
              <a:t>程序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>
                <a:solidFill>
                  <a:srgbClr val="00B050"/>
                </a:solidFill>
              </a:rPr>
              <a:t>    </a:t>
            </a:r>
            <a:r>
              <a:rPr lang="zh-CN" altLang="en-US" sz="2000" dirty="0">
                <a:solidFill>
                  <a:srgbClr val="00B050"/>
                </a:solidFill>
              </a:rPr>
              <a:t>进行链接，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>
                <a:solidFill>
                  <a:srgbClr val="00B050"/>
                </a:solidFill>
              </a:rPr>
              <a:t>    </a:t>
            </a:r>
            <a:r>
              <a:rPr lang="zh-CN" altLang="en-US" sz="2000" dirty="0">
                <a:solidFill>
                  <a:srgbClr val="00B050"/>
                </a:solidFill>
              </a:rPr>
              <a:t>变成可执行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>
                <a:solidFill>
                  <a:srgbClr val="00B050"/>
                </a:solidFill>
              </a:rPr>
              <a:t>    </a:t>
            </a:r>
            <a:r>
              <a:rPr lang="zh-CN" altLang="en-US" sz="2000" dirty="0">
                <a:solidFill>
                  <a:srgbClr val="00B050"/>
                </a:solidFill>
              </a:rPr>
              <a:t>文件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 flipH="1">
            <a:off x="929555" y="3709126"/>
            <a:ext cx="1006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/>
              <a:t>√</a:t>
            </a:r>
            <a:endParaRPr lang="zh-CN" altLang="en-US" sz="6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86112-0BAA-4046-89E5-7FCC2EBA925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828283" cy="73400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从高级语言到机器指令 </a:t>
            </a:r>
            <a:r>
              <a:rPr lang="en-US" altLang="zh-CN" dirty="0"/>
              <a:t>– C</a:t>
            </a:r>
            <a:r>
              <a:rPr lang="zh-CN" altLang="en-US" dirty="0"/>
              <a:t>语言程序编译的过程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662151" y="1099128"/>
            <a:ext cx="5349766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–E –o </a:t>
            </a:r>
            <a:r>
              <a:rPr lang="en-US" altLang="zh-CN" sz="2400" dirty="0" err="1"/>
              <a:t>hello_world.i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hello_world.c</a:t>
            </a:r>
            <a:endParaRPr lang="en-US" altLang="zh-CN" sz="2400" dirty="0"/>
          </a:p>
          <a:p>
            <a:r>
              <a:rPr lang="en-US" altLang="zh-CN" sz="2400" dirty="0"/>
              <a:t>$ cat </a:t>
            </a:r>
            <a:r>
              <a:rPr lang="en-US" altLang="zh-CN" sz="2400" dirty="0" err="1"/>
              <a:t>hello_world.i</a:t>
            </a:r>
            <a:r>
              <a:rPr lang="en-US" altLang="zh-CN" sz="2400" dirty="0"/>
              <a:t> | less</a:t>
            </a:r>
            <a:endParaRPr lang="en-US" altLang="zh-CN" sz="2400" dirty="0"/>
          </a:p>
        </p:txBody>
      </p:sp>
      <p:sp>
        <p:nvSpPr>
          <p:cNvPr id="23" name="矩形 22"/>
          <p:cNvSpPr/>
          <p:nvPr/>
        </p:nvSpPr>
        <p:spPr>
          <a:xfrm>
            <a:off x="662151" y="2084312"/>
            <a:ext cx="10752083" cy="4708981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…    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  // 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一大堆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c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语言的代码，是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stdio.h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展开的结果</a:t>
            </a:r>
            <a:endParaRPr lang="en-US" altLang="zh-CN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extern int fprintf (FILE *__restrict __stream,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const char *__restrict __format, ...);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extern int printf (const char *__restrict __format, ...);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//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printf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的声明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extern int sprintf (char *__restrict __s,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const char *__restrict __format, ...) __attribute__ ((__nothrow__));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# 3 "</a:t>
            </a:r>
            <a:r>
              <a:rPr lang="en-US" altLang="zh-CN" sz="2000" dirty="0" err="1">
                <a:latin typeface="Consolas" panose="020B0609020204030204" pitchFamily="49" charset="0"/>
              </a:rPr>
              <a:t>hello_world.c</a:t>
            </a:r>
            <a:r>
              <a:rPr lang="en-US" altLang="zh-CN" sz="2000" dirty="0">
                <a:latin typeface="Consolas" panose="020B0609020204030204" pitchFamily="49" charset="0"/>
              </a:rPr>
              <a:t>” 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最后，是我们的程序代码</a:t>
            </a:r>
            <a:endParaRPr lang="en-US" altLang="zh-CN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main() 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("Hello World!\n");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return 0;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580993" y="1422443"/>
            <a:ext cx="6463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hello_world.i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zh-CN" alt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预处理的结果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9AD5-8157-4F7B-B6B7-715FC05EDD4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828283" cy="73400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从高级语言到机器指令 </a:t>
            </a:r>
            <a:r>
              <a:rPr lang="en-US" altLang="zh-CN" dirty="0"/>
              <a:t>– C</a:t>
            </a:r>
            <a:r>
              <a:rPr lang="zh-CN" altLang="en-US" dirty="0"/>
              <a:t>语言程序编译的过程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662151" y="1099128"/>
            <a:ext cx="5349766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–E –o </a:t>
            </a:r>
            <a:r>
              <a:rPr lang="en-US" altLang="zh-CN" sz="2400" dirty="0" err="1"/>
              <a:t>hello_world.i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hello_world.c</a:t>
            </a:r>
            <a:endParaRPr lang="en-US" altLang="zh-CN" sz="2400" dirty="0"/>
          </a:p>
          <a:p>
            <a:r>
              <a:rPr lang="en-US" altLang="zh-CN" sz="2400" dirty="0"/>
              <a:t>$ cat </a:t>
            </a:r>
            <a:r>
              <a:rPr lang="en-US" altLang="zh-CN" sz="2400" dirty="0" err="1"/>
              <a:t>hello_world.i</a:t>
            </a:r>
            <a:r>
              <a:rPr lang="en-US" altLang="zh-CN" sz="2400" dirty="0"/>
              <a:t> | less</a:t>
            </a:r>
            <a:endParaRPr lang="en-US" altLang="zh-CN" sz="2400" dirty="0"/>
          </a:p>
        </p:txBody>
      </p:sp>
      <p:sp>
        <p:nvSpPr>
          <p:cNvPr id="23" name="矩形 22"/>
          <p:cNvSpPr/>
          <p:nvPr/>
        </p:nvSpPr>
        <p:spPr>
          <a:xfrm>
            <a:off x="662151" y="2084312"/>
            <a:ext cx="10752083" cy="4708981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…    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  // 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一大堆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c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语言的代码，是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stdio.h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展开的结果</a:t>
            </a:r>
            <a:endParaRPr lang="en-US" altLang="zh-CN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extern int fprintf (FILE *__restrict __stream,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const char *__restrict __format, ...);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extern int printf (const char *__restrict __format, ...);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//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printf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的声明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extern int sprintf (char *__restrict __s,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const char *__restrict __format, ...) __attribute__ ((__nothrow__));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# 3 "</a:t>
            </a:r>
            <a:r>
              <a:rPr lang="en-US" altLang="zh-CN" sz="2000" dirty="0" err="1">
                <a:latin typeface="Consolas" panose="020B0609020204030204" pitchFamily="49" charset="0"/>
              </a:rPr>
              <a:t>hello_world.c</a:t>
            </a:r>
            <a:r>
              <a:rPr lang="en-US" altLang="zh-CN" sz="2000" dirty="0">
                <a:latin typeface="Consolas" panose="020B0609020204030204" pitchFamily="49" charset="0"/>
              </a:rPr>
              <a:t>” 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最后，是我们的程序代码</a:t>
            </a:r>
            <a:endParaRPr lang="en-US" altLang="zh-CN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main() 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("Hello World!\n");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return 0;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580993" y="1422443"/>
            <a:ext cx="6463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hello_world.i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zh-CN" alt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预处理的结果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10152" y="2330533"/>
            <a:ext cx="8092965" cy="42014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73050" indent="357505"/>
            <a:r>
              <a:rPr lang="zh-CN" altLang="en-US" sz="2800" b="1" dirty="0">
                <a:latin typeface="Consolas" panose="020B0609020204030204" pitchFamily="49" charset="0"/>
              </a:rPr>
              <a:t>宏的预处理</a:t>
            </a:r>
            <a:endParaRPr lang="en-US" altLang="zh-CN" sz="2800" b="1" dirty="0">
              <a:latin typeface="Consolas" panose="020B0609020204030204" pitchFamily="49" charset="0"/>
            </a:endParaRPr>
          </a:p>
          <a:p>
            <a:pPr marL="273050" indent="357505"/>
            <a:endParaRPr lang="en-US" altLang="zh-CN" dirty="0">
              <a:latin typeface="Consolas" panose="020B0609020204030204" pitchFamily="49" charset="0"/>
            </a:endParaRPr>
          </a:p>
          <a:p>
            <a:pPr marL="273050" indent="357505"/>
            <a:r>
              <a:rPr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</a:rPr>
              <a:t>// </a:t>
            </a:r>
            <a:r>
              <a:rPr lang="en-US" altLang="zh-CN" sz="2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</a:rPr>
              <a:t>/include/memory/</a:t>
            </a:r>
            <a:r>
              <a:rPr lang="en-US" altLang="zh-CN" sz="2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memory.h</a:t>
            </a:r>
            <a:endParaRPr lang="en-US" altLang="zh-CN" sz="24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pPr marL="273050" indent="357505"/>
            <a:r>
              <a:rPr lang="en-US" altLang="zh-CN" sz="2400" dirty="0">
                <a:latin typeface="Consolas" panose="020B0609020204030204" pitchFamily="49" charset="0"/>
              </a:rPr>
              <a:t>#define 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MEM_SIZE_B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128 * 1024 * 1024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273050" indent="357505"/>
            <a:endParaRPr lang="en-US" altLang="zh-CN" sz="2400" dirty="0">
              <a:latin typeface="Consolas" panose="020B0609020204030204" pitchFamily="49" charset="0"/>
            </a:endParaRPr>
          </a:p>
          <a:p>
            <a:pPr marL="273050" indent="357505"/>
            <a:r>
              <a:rPr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</a:rPr>
              <a:t>// </a:t>
            </a:r>
            <a:r>
              <a:rPr lang="en-US" altLang="zh-CN" sz="2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</a:rPr>
              <a:t>/memory/</a:t>
            </a:r>
            <a:r>
              <a:rPr lang="en-US" altLang="zh-CN" sz="2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memory.c</a:t>
            </a:r>
            <a:endParaRPr lang="en-US" altLang="zh-CN" sz="24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pPr marL="273050" indent="357505"/>
            <a:r>
              <a:rPr lang="en-US" altLang="zh-CN" sz="2400" dirty="0">
                <a:latin typeface="Consolas" panose="020B0609020204030204" pitchFamily="49" charset="0"/>
              </a:rPr>
              <a:t>uint8_t </a:t>
            </a:r>
            <a:r>
              <a:rPr lang="en-US" altLang="zh-CN" sz="2400" dirty="0" err="1">
                <a:latin typeface="Consolas" panose="020B0609020204030204" pitchFamily="49" charset="0"/>
              </a:rPr>
              <a:t>hw_mem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MEM_SIZE_B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273050" indent="357505"/>
            <a:endParaRPr lang="en-US" altLang="zh-CN" sz="2400" dirty="0">
              <a:latin typeface="Consolas" panose="020B0609020204030204" pitchFamily="49" charset="0"/>
            </a:endParaRPr>
          </a:p>
          <a:p>
            <a:pPr marL="273050" indent="357505"/>
            <a:r>
              <a:rPr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</a:rPr>
              <a:t>// </a:t>
            </a:r>
            <a:r>
              <a:rPr lang="en-US" altLang="zh-CN" sz="2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</a:rPr>
              <a:t>/memory/</a:t>
            </a:r>
            <a:r>
              <a:rPr lang="en-US" altLang="zh-CN" sz="2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memory.i</a:t>
            </a:r>
            <a:endParaRPr lang="en-US" altLang="zh-CN" sz="24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pPr marL="273050" indent="357505"/>
            <a:r>
              <a:rPr lang="en-US" altLang="zh-CN" sz="2400" dirty="0">
                <a:latin typeface="Consolas" panose="020B0609020204030204" pitchFamily="49" charset="0"/>
              </a:rPr>
              <a:t>uint8_t </a:t>
            </a:r>
            <a:r>
              <a:rPr lang="en-US" altLang="zh-CN" sz="2400" dirty="0" err="1">
                <a:latin typeface="Consolas" panose="020B0609020204030204" pitchFamily="49" charset="0"/>
              </a:rPr>
              <a:t>hw_mem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128 * 1024 * 1024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1CCDD-A452-4F6D-BDE2-265A2CA74C9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828283" cy="73400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从高级语言到机器指令 </a:t>
            </a:r>
            <a:r>
              <a:rPr lang="en-US" altLang="zh-CN" dirty="0"/>
              <a:t>– C</a:t>
            </a:r>
            <a:r>
              <a:rPr lang="zh-CN" altLang="en-US" dirty="0"/>
              <a:t>语言程序编译的过程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688219" y="1567023"/>
            <a:ext cx="470192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–o </a:t>
            </a:r>
            <a:r>
              <a:rPr lang="en-US" altLang="zh-CN" sz="2400" dirty="0" err="1"/>
              <a:t>hello_world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hello_world.c</a:t>
            </a:r>
            <a:endParaRPr lang="en-US" altLang="zh-CN" sz="2400" dirty="0"/>
          </a:p>
        </p:txBody>
      </p:sp>
      <p:sp>
        <p:nvSpPr>
          <p:cNvPr id="10" name="矩形 9"/>
          <p:cNvSpPr/>
          <p:nvPr/>
        </p:nvSpPr>
        <p:spPr>
          <a:xfrm>
            <a:off x="6740122" y="1642070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一条命令执行了四个步骤</a:t>
            </a:r>
            <a:endParaRPr lang="en-US" altLang="zh-CN" sz="2400" dirty="0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88219" y="2409840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hello_world.c</a:t>
            </a:r>
            <a:endParaRPr lang="zh-CN" altLang="en-US" sz="3200" dirty="0"/>
          </a:p>
        </p:txBody>
      </p:sp>
      <p:sp>
        <p:nvSpPr>
          <p:cNvPr id="27" name="文本框 26"/>
          <p:cNvSpPr txBox="1"/>
          <p:nvPr/>
        </p:nvSpPr>
        <p:spPr>
          <a:xfrm>
            <a:off x="3190643" y="3200882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hello_world.i</a:t>
            </a:r>
            <a:endParaRPr lang="zh-CN" altLang="en-US" sz="3200" dirty="0"/>
          </a:p>
        </p:txBody>
      </p:sp>
      <p:sp>
        <p:nvSpPr>
          <p:cNvPr id="28" name="文本框 27"/>
          <p:cNvSpPr txBox="1"/>
          <p:nvPr/>
        </p:nvSpPr>
        <p:spPr>
          <a:xfrm>
            <a:off x="4644427" y="3991924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hello_world.S</a:t>
            </a:r>
            <a:endParaRPr lang="zh-CN" altLang="en-US" sz="3200" dirty="0"/>
          </a:p>
        </p:txBody>
      </p:sp>
      <p:sp>
        <p:nvSpPr>
          <p:cNvPr id="29" name="文本框 28"/>
          <p:cNvSpPr txBox="1"/>
          <p:nvPr/>
        </p:nvSpPr>
        <p:spPr>
          <a:xfrm>
            <a:off x="6195491" y="4782966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hello_world.o</a:t>
            </a:r>
            <a:endParaRPr lang="zh-CN" altLang="en-US" sz="3200" dirty="0"/>
          </a:p>
        </p:txBody>
      </p:sp>
      <p:sp>
        <p:nvSpPr>
          <p:cNvPr id="30" name="文本框 29"/>
          <p:cNvSpPr txBox="1"/>
          <p:nvPr/>
        </p:nvSpPr>
        <p:spPr>
          <a:xfrm>
            <a:off x="7697917" y="5585473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</a:t>
            </a:r>
            <a:endParaRPr lang="zh-CN" altLang="en-US" sz="3200" dirty="0"/>
          </a:p>
        </p:txBody>
      </p:sp>
      <p:cxnSp>
        <p:nvCxnSpPr>
          <p:cNvPr id="31" name="肘形连接符 30"/>
          <p:cNvCxnSpPr>
            <a:stCxn id="26" idx="2"/>
            <a:endCxn id="27" idx="1"/>
          </p:cNvCxnSpPr>
          <p:nvPr/>
        </p:nvCxnSpPr>
        <p:spPr>
          <a:xfrm rot="16200000" flipH="1">
            <a:off x="2843207" y="3145833"/>
            <a:ext cx="498655" cy="196217"/>
          </a:xfrm>
          <a:prstGeom prst="bentConnector2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27" idx="3"/>
            <a:endCxn id="28" idx="0"/>
          </p:cNvCxnSpPr>
          <p:nvPr/>
        </p:nvCxnSpPr>
        <p:spPr>
          <a:xfrm>
            <a:off x="5803056" y="3493270"/>
            <a:ext cx="147578" cy="498654"/>
          </a:xfrm>
          <a:prstGeom prst="bentConnector2">
            <a:avLst/>
          </a:prstGeom>
          <a:ln w="25400">
            <a:solidFill>
              <a:srgbClr val="7030A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28" idx="2"/>
            <a:endCxn id="29" idx="1"/>
          </p:cNvCxnSpPr>
          <p:nvPr/>
        </p:nvCxnSpPr>
        <p:spPr>
          <a:xfrm rot="16200000" flipH="1">
            <a:off x="5823735" y="4703597"/>
            <a:ext cx="498655" cy="244857"/>
          </a:xfrm>
          <a:prstGeom prst="bentConnector2">
            <a:avLst/>
          </a:prstGeom>
          <a:ln w="25400">
            <a:solidFill>
              <a:srgbClr val="0070C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29" idx="3"/>
            <a:endCxn id="30" idx="0"/>
          </p:cNvCxnSpPr>
          <p:nvPr/>
        </p:nvCxnSpPr>
        <p:spPr>
          <a:xfrm>
            <a:off x="8807904" y="5075354"/>
            <a:ext cx="196220" cy="510119"/>
          </a:xfrm>
          <a:prstGeom prst="bentConnector2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830061" y="3451803"/>
            <a:ext cx="10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C00000"/>
                </a:solidFill>
              </a:rPr>
              <a:t>gcc</a:t>
            </a:r>
            <a:r>
              <a:rPr lang="en-US" altLang="zh-CN" sz="2800" dirty="0">
                <a:solidFill>
                  <a:srgbClr val="C00000"/>
                </a:solidFill>
              </a:rPr>
              <a:t> -E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830061" y="3930368"/>
            <a:ext cx="27077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Preprocess: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zh-CN" altLang="en-US" sz="2000" dirty="0">
                <a:solidFill>
                  <a:srgbClr val="C00000"/>
                </a:solidFill>
              </a:rPr>
              <a:t>    展开</a:t>
            </a:r>
            <a:r>
              <a:rPr lang="en-US" altLang="zh-CN" sz="2000" dirty="0">
                <a:solidFill>
                  <a:srgbClr val="C00000"/>
                </a:solidFill>
              </a:rPr>
              <a:t>#include, </a:t>
            </a:r>
            <a:r>
              <a:rPr lang="zh-CN" altLang="en-US" sz="2000" dirty="0">
                <a:solidFill>
                  <a:srgbClr val="C00000"/>
                </a:solidFill>
              </a:rPr>
              <a:t>宏定义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148874" y="2326833"/>
            <a:ext cx="10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7030A0"/>
                </a:solidFill>
              </a:rPr>
              <a:t>gcc</a:t>
            </a:r>
            <a:r>
              <a:rPr lang="en-US" altLang="zh-CN" sz="2800" dirty="0">
                <a:solidFill>
                  <a:srgbClr val="7030A0"/>
                </a:solidFill>
              </a:rPr>
              <a:t> -S</a:t>
            </a:r>
            <a:endParaRPr lang="zh-CN" altLang="en-US" sz="2800" dirty="0">
              <a:solidFill>
                <a:srgbClr val="7030A0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200163" y="2837590"/>
            <a:ext cx="27624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7030A0"/>
                </a:solidFill>
              </a:rPr>
              <a:t>Compile:</a:t>
            </a:r>
            <a:endParaRPr lang="en-US" altLang="zh-CN" sz="2000" dirty="0">
              <a:solidFill>
                <a:srgbClr val="7030A0"/>
              </a:solidFill>
            </a:endParaRPr>
          </a:p>
          <a:p>
            <a:r>
              <a:rPr lang="zh-CN" altLang="en-US" sz="2000" dirty="0">
                <a:solidFill>
                  <a:srgbClr val="7030A0"/>
                </a:solidFill>
              </a:rPr>
              <a:t>    将高级语言程序转变</a:t>
            </a:r>
            <a:endParaRPr lang="en-US" altLang="zh-CN" sz="2000" dirty="0">
              <a:solidFill>
                <a:srgbClr val="7030A0"/>
              </a:solidFill>
            </a:endParaRPr>
          </a:p>
          <a:p>
            <a:r>
              <a:rPr lang="en-US" altLang="zh-CN" sz="2000" dirty="0">
                <a:solidFill>
                  <a:srgbClr val="7030A0"/>
                </a:solidFill>
              </a:rPr>
              <a:t>    </a:t>
            </a:r>
            <a:r>
              <a:rPr lang="zh-CN" altLang="en-US" sz="2000" dirty="0">
                <a:solidFill>
                  <a:srgbClr val="7030A0"/>
                </a:solidFill>
              </a:rPr>
              <a:t>成汇编语言程序</a:t>
            </a:r>
            <a:endParaRPr lang="zh-CN" altLang="en-US" sz="2000" dirty="0">
              <a:solidFill>
                <a:srgbClr val="7030A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300632" y="4872185"/>
            <a:ext cx="1000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0070C0"/>
                </a:solidFill>
              </a:rPr>
              <a:t>gcc</a:t>
            </a:r>
            <a:r>
              <a:rPr lang="en-US" altLang="zh-CN" sz="2800" dirty="0">
                <a:solidFill>
                  <a:srgbClr val="0070C0"/>
                </a:solidFill>
              </a:rPr>
              <a:t> -c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351920" y="5382942"/>
            <a:ext cx="28654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Assemble: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zh-CN" altLang="en-US" sz="2000" dirty="0">
                <a:solidFill>
                  <a:srgbClr val="0070C0"/>
                </a:solidFill>
              </a:rPr>
              <a:t>    将汇编语言程序转变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    </a:t>
            </a:r>
            <a:r>
              <a:rPr lang="zh-CN" altLang="en-US" sz="2000" dirty="0">
                <a:solidFill>
                  <a:srgbClr val="0070C0"/>
                </a:solidFill>
              </a:rPr>
              <a:t>成机器语言程序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898457" y="3311889"/>
            <a:ext cx="655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00B050"/>
                </a:solidFill>
              </a:rPr>
              <a:t>gcc</a:t>
            </a:r>
            <a:endParaRPr lang="zh-CN" altLang="en-US" sz="2800" dirty="0">
              <a:solidFill>
                <a:srgbClr val="00B050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949745" y="3822646"/>
            <a:ext cx="28654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B050"/>
                </a:solidFill>
              </a:rPr>
              <a:t>link: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zh-CN" altLang="en-US" sz="2000" dirty="0">
                <a:solidFill>
                  <a:srgbClr val="00B050"/>
                </a:solidFill>
              </a:rPr>
              <a:t>    通过</a:t>
            </a:r>
            <a:r>
              <a:rPr lang="en-US" altLang="zh-CN" sz="2000" dirty="0" err="1">
                <a:solidFill>
                  <a:srgbClr val="00B050"/>
                </a:solidFill>
              </a:rPr>
              <a:t>ld</a:t>
            </a:r>
            <a:r>
              <a:rPr lang="zh-CN" altLang="en-US" sz="2000" dirty="0">
                <a:solidFill>
                  <a:srgbClr val="00B050"/>
                </a:solidFill>
              </a:rPr>
              <a:t>程序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>
                <a:solidFill>
                  <a:srgbClr val="00B050"/>
                </a:solidFill>
              </a:rPr>
              <a:t>    </a:t>
            </a:r>
            <a:r>
              <a:rPr lang="zh-CN" altLang="en-US" sz="2000" dirty="0">
                <a:solidFill>
                  <a:srgbClr val="00B050"/>
                </a:solidFill>
              </a:rPr>
              <a:t>进行链接，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>
                <a:solidFill>
                  <a:srgbClr val="00B050"/>
                </a:solidFill>
              </a:rPr>
              <a:t>    </a:t>
            </a:r>
            <a:r>
              <a:rPr lang="zh-CN" altLang="en-US" sz="2000" dirty="0">
                <a:solidFill>
                  <a:srgbClr val="00B050"/>
                </a:solidFill>
              </a:rPr>
              <a:t>变成可执行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>
                <a:solidFill>
                  <a:srgbClr val="00B050"/>
                </a:solidFill>
              </a:rPr>
              <a:t>    </a:t>
            </a:r>
            <a:r>
              <a:rPr lang="zh-CN" altLang="en-US" sz="2000" dirty="0">
                <a:solidFill>
                  <a:srgbClr val="00B050"/>
                </a:solidFill>
              </a:rPr>
              <a:t>文件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 flipH="1">
            <a:off x="929555" y="3709126"/>
            <a:ext cx="1006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/>
              <a:t>√</a:t>
            </a:r>
            <a:endParaRPr lang="zh-CN" altLang="en-US" sz="6000" dirty="0"/>
          </a:p>
        </p:txBody>
      </p:sp>
      <p:sp>
        <p:nvSpPr>
          <p:cNvPr id="23" name="文本框 22"/>
          <p:cNvSpPr txBox="1"/>
          <p:nvPr/>
        </p:nvSpPr>
        <p:spPr>
          <a:xfrm flipH="1">
            <a:off x="7252058" y="2296226"/>
            <a:ext cx="1006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/>
              <a:t>√</a:t>
            </a:r>
            <a:endParaRPr lang="zh-CN" altLang="en-US" sz="6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F21A-903F-4AD2-B3F4-D515E05679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828283" cy="73400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从高级语言到机器指令 </a:t>
            </a:r>
            <a:r>
              <a:rPr lang="en-US" altLang="zh-CN" dirty="0"/>
              <a:t>– C</a:t>
            </a:r>
            <a:r>
              <a:rPr lang="zh-CN" altLang="en-US" dirty="0"/>
              <a:t>语言程序编译的过程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1335811" y="2139708"/>
            <a:ext cx="9540737" cy="4401205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.file   "hello_world.c"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.section        .rodata    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只读数据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.LC0: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.string "Hello World!"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.text                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代码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.globl  main         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全局符号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main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.type   main, @function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main:                        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// main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函数的汇编代码从这里开始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.LFB0: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.cfi_startproc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</a:t>
            </a:r>
            <a:r>
              <a:rPr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</a:rPr>
              <a:t>leal    4(%esp), %ecx</a:t>
            </a:r>
            <a:endParaRPr lang="zh-CN" altLang="en-US" sz="20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.cfi_def_cfa 1, 0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</a:t>
            </a:r>
            <a:r>
              <a:rPr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</a:rPr>
              <a:t>andl    $-16, %esp</a:t>
            </a:r>
            <a:endParaRPr lang="zh-CN" altLang="en-US" sz="20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</a:rPr>
              <a:t>        pushl   -4(%ecx)</a:t>
            </a:r>
            <a:endParaRPr lang="zh-CN" altLang="en-US" sz="20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678905" y="1433841"/>
            <a:ext cx="5727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hello_world.S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zh-CN" alt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编译的结果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D4678-A778-4C47-AB9F-BBDDB6AF61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7945" y="5686419"/>
            <a:ext cx="2501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5"/>
                </a:solidFill>
              </a:rPr>
              <a:t>汇编指令</a:t>
            </a:r>
            <a:endParaRPr lang="zh-CN" altLang="en-US" sz="3200" dirty="0">
              <a:solidFill>
                <a:schemeClr val="accent5"/>
              </a:solidFill>
            </a:endParaRPr>
          </a:p>
        </p:txBody>
      </p:sp>
      <p:cxnSp>
        <p:nvCxnSpPr>
          <p:cNvPr id="11" name="直接箭头连接符 10"/>
          <p:cNvCxnSpPr>
            <a:endCxn id="7" idx="1"/>
          </p:cNvCxnSpPr>
          <p:nvPr/>
        </p:nvCxnSpPr>
        <p:spPr>
          <a:xfrm>
            <a:off x="5559972" y="5447850"/>
            <a:ext cx="987973" cy="530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endCxn id="7" idx="1"/>
          </p:cNvCxnSpPr>
          <p:nvPr/>
        </p:nvCxnSpPr>
        <p:spPr>
          <a:xfrm flipV="1">
            <a:off x="5202621" y="5978807"/>
            <a:ext cx="1345324" cy="75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7" idx="1"/>
          </p:cNvCxnSpPr>
          <p:nvPr/>
        </p:nvCxnSpPr>
        <p:spPr>
          <a:xfrm flipV="1">
            <a:off x="5065986" y="5978807"/>
            <a:ext cx="1481959" cy="388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192504" y="1099128"/>
            <a:ext cx="5367467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–S –o </a:t>
            </a:r>
            <a:r>
              <a:rPr lang="en-US" altLang="zh-CN" sz="2400" dirty="0" err="1"/>
              <a:t>hello_world.S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hello_world.i</a:t>
            </a:r>
            <a:endParaRPr lang="en-US" altLang="zh-CN" sz="2400" dirty="0"/>
          </a:p>
          <a:p>
            <a:r>
              <a:rPr lang="en-US" altLang="zh-CN" sz="2400" dirty="0"/>
              <a:t>$ cat </a:t>
            </a:r>
            <a:r>
              <a:rPr lang="en-US" altLang="zh-CN" sz="2400" dirty="0" err="1"/>
              <a:t>hello_world.S</a:t>
            </a:r>
            <a:r>
              <a:rPr lang="en-US" altLang="zh-CN" sz="2400" dirty="0"/>
              <a:t> | less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828283" cy="73400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从高级语言到机器指令 </a:t>
            </a:r>
            <a:r>
              <a:rPr lang="en-US" altLang="zh-CN" dirty="0"/>
              <a:t>– C</a:t>
            </a:r>
            <a:r>
              <a:rPr lang="zh-CN" altLang="en-US" dirty="0"/>
              <a:t>语言程序编译的过程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192504" y="1099128"/>
            <a:ext cx="5367467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–S –o </a:t>
            </a:r>
            <a:r>
              <a:rPr lang="en-US" altLang="zh-CN" sz="2400" dirty="0" err="1"/>
              <a:t>hello_world.S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hello_world.i</a:t>
            </a:r>
            <a:endParaRPr lang="en-US" altLang="zh-CN" sz="2400" dirty="0"/>
          </a:p>
          <a:p>
            <a:r>
              <a:rPr lang="en-US" altLang="zh-CN" sz="2400" dirty="0"/>
              <a:t>$ cat </a:t>
            </a:r>
            <a:r>
              <a:rPr lang="en-US" altLang="zh-CN" sz="2400" dirty="0" err="1"/>
              <a:t>hello_world.S</a:t>
            </a:r>
            <a:r>
              <a:rPr lang="en-US" altLang="zh-CN" sz="2400" dirty="0"/>
              <a:t> | less</a:t>
            </a:r>
            <a:endParaRPr lang="en-US" altLang="zh-CN" sz="2400" dirty="0"/>
          </a:p>
        </p:txBody>
      </p:sp>
      <p:sp>
        <p:nvSpPr>
          <p:cNvPr id="25" name="矩形 24"/>
          <p:cNvSpPr/>
          <p:nvPr/>
        </p:nvSpPr>
        <p:spPr>
          <a:xfrm>
            <a:off x="1335811" y="2139708"/>
            <a:ext cx="9540737" cy="4401205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.file   "hello_world.c"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.section        .rodata    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只读数据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.LC0: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.string "Hello World!"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.text                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代码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.globl  main         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全局符号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main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.type   main, @function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main:                        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// main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函数的汇编代码从这里开始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.LFB0: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.cfi_startproc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</a:t>
            </a:r>
            <a:r>
              <a:rPr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</a:rPr>
              <a:t>leal    4(%esp), %ecx</a:t>
            </a:r>
            <a:endParaRPr lang="zh-CN" altLang="en-US" sz="20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.cfi_def_cfa 1, 0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   </a:t>
            </a:r>
            <a:r>
              <a:rPr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</a:rPr>
              <a:t>andl    $-16, %esp</a:t>
            </a:r>
            <a:endParaRPr lang="zh-CN" altLang="en-US" sz="20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</a:rPr>
              <a:t>        pushl   -4(%ecx)</a:t>
            </a:r>
            <a:endParaRPr lang="zh-CN" altLang="en-US" sz="20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678905" y="1433841"/>
            <a:ext cx="5727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hello_world.S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zh-CN" alt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编译的结果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D4678-A778-4C47-AB9F-BBDDB6AF61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7945" y="5686419"/>
            <a:ext cx="2501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5"/>
                </a:solidFill>
              </a:rPr>
              <a:t>汇编指令</a:t>
            </a:r>
            <a:endParaRPr lang="zh-CN" altLang="en-US" sz="3200" dirty="0">
              <a:solidFill>
                <a:schemeClr val="accent5"/>
              </a:solidFill>
            </a:endParaRPr>
          </a:p>
        </p:txBody>
      </p:sp>
      <p:cxnSp>
        <p:nvCxnSpPr>
          <p:cNvPr id="11" name="直接箭头连接符 10"/>
          <p:cNvCxnSpPr>
            <a:endCxn id="7" idx="1"/>
          </p:cNvCxnSpPr>
          <p:nvPr/>
        </p:nvCxnSpPr>
        <p:spPr>
          <a:xfrm>
            <a:off x="5559972" y="5447850"/>
            <a:ext cx="987973" cy="530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endCxn id="7" idx="1"/>
          </p:cNvCxnSpPr>
          <p:nvPr/>
        </p:nvCxnSpPr>
        <p:spPr>
          <a:xfrm flipV="1">
            <a:off x="5202621" y="5978807"/>
            <a:ext cx="1345324" cy="75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7" idx="1"/>
          </p:cNvCxnSpPr>
          <p:nvPr/>
        </p:nvCxnSpPr>
        <p:spPr>
          <a:xfrm flipV="1">
            <a:off x="5065986" y="5978807"/>
            <a:ext cx="1481959" cy="388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7663354" y="3015879"/>
            <a:ext cx="4003128" cy="29522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800" dirty="0">
                <a:latin typeface="Consolas" panose="020B0609020204030204" pitchFamily="49" charset="0"/>
              </a:rPr>
              <a:t>如何从</a:t>
            </a:r>
            <a:r>
              <a:rPr lang="en-US" altLang="zh-CN" sz="2800" dirty="0">
                <a:latin typeface="Consolas" panose="020B0609020204030204" pitchFamily="49" charset="0"/>
              </a:rPr>
              <a:t>C</a:t>
            </a:r>
            <a:r>
              <a:rPr lang="zh-CN" altLang="en-US" sz="2800" dirty="0">
                <a:latin typeface="Consolas" panose="020B0609020204030204" pitchFamily="49" charset="0"/>
              </a:rPr>
              <a:t>语言程序转化为汇编语言程序</a:t>
            </a:r>
            <a:r>
              <a:rPr lang="en-US" altLang="zh-CN" sz="2800" dirty="0">
                <a:latin typeface="Consolas" panose="020B0609020204030204" pitchFamily="49" charset="0"/>
              </a:rPr>
              <a:t>?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进一步学习：编译原理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828283" cy="73400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从高级语言到机器指令 </a:t>
            </a:r>
            <a:r>
              <a:rPr lang="en-US" altLang="zh-CN" dirty="0"/>
              <a:t>– C</a:t>
            </a:r>
            <a:r>
              <a:rPr lang="zh-CN" altLang="en-US" dirty="0"/>
              <a:t>语言程序编译的过程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688219" y="1567023"/>
            <a:ext cx="470192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–o </a:t>
            </a:r>
            <a:r>
              <a:rPr lang="en-US" altLang="zh-CN" sz="2400" dirty="0" err="1"/>
              <a:t>hello_world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hello_world.c</a:t>
            </a:r>
            <a:endParaRPr lang="en-US" altLang="zh-CN" sz="2400" dirty="0"/>
          </a:p>
        </p:txBody>
      </p:sp>
      <p:sp>
        <p:nvSpPr>
          <p:cNvPr id="10" name="矩形 9"/>
          <p:cNvSpPr/>
          <p:nvPr/>
        </p:nvSpPr>
        <p:spPr>
          <a:xfrm>
            <a:off x="6740122" y="1642070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一条命令执行了四个步骤</a:t>
            </a:r>
            <a:endParaRPr lang="en-US" altLang="zh-CN" sz="2400" dirty="0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88219" y="2409840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hello_world.c</a:t>
            </a:r>
            <a:endParaRPr lang="zh-CN" altLang="en-US" sz="3200" dirty="0"/>
          </a:p>
        </p:txBody>
      </p:sp>
      <p:sp>
        <p:nvSpPr>
          <p:cNvPr id="27" name="文本框 26"/>
          <p:cNvSpPr txBox="1"/>
          <p:nvPr/>
        </p:nvSpPr>
        <p:spPr>
          <a:xfrm>
            <a:off x="3190643" y="3200882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hello_world.i</a:t>
            </a:r>
            <a:endParaRPr lang="zh-CN" altLang="en-US" sz="3200" dirty="0"/>
          </a:p>
        </p:txBody>
      </p:sp>
      <p:sp>
        <p:nvSpPr>
          <p:cNvPr id="28" name="文本框 27"/>
          <p:cNvSpPr txBox="1"/>
          <p:nvPr/>
        </p:nvSpPr>
        <p:spPr>
          <a:xfrm>
            <a:off x="4644427" y="3991924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hello_world.S</a:t>
            </a:r>
            <a:endParaRPr lang="zh-CN" altLang="en-US" sz="3200" dirty="0"/>
          </a:p>
        </p:txBody>
      </p:sp>
      <p:sp>
        <p:nvSpPr>
          <p:cNvPr id="29" name="文本框 28"/>
          <p:cNvSpPr txBox="1"/>
          <p:nvPr/>
        </p:nvSpPr>
        <p:spPr>
          <a:xfrm>
            <a:off x="6195491" y="4782966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hello_world.o</a:t>
            </a:r>
            <a:endParaRPr lang="zh-CN" altLang="en-US" sz="3200" dirty="0"/>
          </a:p>
        </p:txBody>
      </p:sp>
      <p:sp>
        <p:nvSpPr>
          <p:cNvPr id="30" name="文本框 29"/>
          <p:cNvSpPr txBox="1"/>
          <p:nvPr/>
        </p:nvSpPr>
        <p:spPr>
          <a:xfrm>
            <a:off x="7697917" y="5585473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</a:t>
            </a:r>
            <a:endParaRPr lang="zh-CN" altLang="en-US" sz="3200" dirty="0"/>
          </a:p>
        </p:txBody>
      </p:sp>
      <p:cxnSp>
        <p:nvCxnSpPr>
          <p:cNvPr id="31" name="肘形连接符 30"/>
          <p:cNvCxnSpPr>
            <a:stCxn id="26" idx="2"/>
            <a:endCxn id="27" idx="1"/>
          </p:cNvCxnSpPr>
          <p:nvPr/>
        </p:nvCxnSpPr>
        <p:spPr>
          <a:xfrm rot="16200000" flipH="1">
            <a:off x="2843207" y="3145833"/>
            <a:ext cx="498655" cy="196217"/>
          </a:xfrm>
          <a:prstGeom prst="bentConnector2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27" idx="3"/>
            <a:endCxn id="28" idx="0"/>
          </p:cNvCxnSpPr>
          <p:nvPr/>
        </p:nvCxnSpPr>
        <p:spPr>
          <a:xfrm>
            <a:off x="5803056" y="3493270"/>
            <a:ext cx="147578" cy="498654"/>
          </a:xfrm>
          <a:prstGeom prst="bentConnector2">
            <a:avLst/>
          </a:prstGeom>
          <a:ln w="25400">
            <a:solidFill>
              <a:srgbClr val="7030A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28" idx="2"/>
            <a:endCxn id="29" idx="1"/>
          </p:cNvCxnSpPr>
          <p:nvPr/>
        </p:nvCxnSpPr>
        <p:spPr>
          <a:xfrm rot="16200000" flipH="1">
            <a:off x="5823735" y="4703597"/>
            <a:ext cx="498655" cy="244857"/>
          </a:xfrm>
          <a:prstGeom prst="bentConnector2">
            <a:avLst/>
          </a:prstGeom>
          <a:ln w="25400">
            <a:solidFill>
              <a:srgbClr val="0070C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29" idx="3"/>
            <a:endCxn id="30" idx="0"/>
          </p:cNvCxnSpPr>
          <p:nvPr/>
        </p:nvCxnSpPr>
        <p:spPr>
          <a:xfrm>
            <a:off x="8807904" y="5075354"/>
            <a:ext cx="196220" cy="510119"/>
          </a:xfrm>
          <a:prstGeom prst="bentConnector2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830061" y="3451803"/>
            <a:ext cx="10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C00000"/>
                </a:solidFill>
              </a:rPr>
              <a:t>gcc</a:t>
            </a:r>
            <a:r>
              <a:rPr lang="en-US" altLang="zh-CN" sz="2800" dirty="0">
                <a:solidFill>
                  <a:srgbClr val="C00000"/>
                </a:solidFill>
              </a:rPr>
              <a:t> -E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830061" y="3930368"/>
            <a:ext cx="27077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Preprocess: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zh-CN" altLang="en-US" sz="2000" dirty="0">
                <a:solidFill>
                  <a:srgbClr val="C00000"/>
                </a:solidFill>
              </a:rPr>
              <a:t>    展开</a:t>
            </a:r>
            <a:r>
              <a:rPr lang="en-US" altLang="zh-CN" sz="2000" dirty="0">
                <a:solidFill>
                  <a:srgbClr val="C00000"/>
                </a:solidFill>
              </a:rPr>
              <a:t>#include, </a:t>
            </a:r>
            <a:r>
              <a:rPr lang="zh-CN" altLang="en-US" sz="2000" dirty="0">
                <a:solidFill>
                  <a:srgbClr val="C00000"/>
                </a:solidFill>
              </a:rPr>
              <a:t>宏定义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148874" y="2326833"/>
            <a:ext cx="10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7030A0"/>
                </a:solidFill>
              </a:rPr>
              <a:t>gcc</a:t>
            </a:r>
            <a:r>
              <a:rPr lang="en-US" altLang="zh-CN" sz="2800" dirty="0">
                <a:solidFill>
                  <a:srgbClr val="7030A0"/>
                </a:solidFill>
              </a:rPr>
              <a:t> -S</a:t>
            </a:r>
            <a:endParaRPr lang="zh-CN" altLang="en-US" sz="2800" dirty="0">
              <a:solidFill>
                <a:srgbClr val="7030A0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200163" y="2837590"/>
            <a:ext cx="27624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7030A0"/>
                </a:solidFill>
              </a:rPr>
              <a:t>Compile:</a:t>
            </a:r>
            <a:endParaRPr lang="en-US" altLang="zh-CN" sz="2000" dirty="0">
              <a:solidFill>
                <a:srgbClr val="7030A0"/>
              </a:solidFill>
            </a:endParaRPr>
          </a:p>
          <a:p>
            <a:r>
              <a:rPr lang="zh-CN" altLang="en-US" sz="2000" dirty="0">
                <a:solidFill>
                  <a:srgbClr val="7030A0"/>
                </a:solidFill>
              </a:rPr>
              <a:t>    将高级语言程序转变</a:t>
            </a:r>
            <a:endParaRPr lang="en-US" altLang="zh-CN" sz="2000" dirty="0">
              <a:solidFill>
                <a:srgbClr val="7030A0"/>
              </a:solidFill>
            </a:endParaRPr>
          </a:p>
          <a:p>
            <a:r>
              <a:rPr lang="en-US" altLang="zh-CN" sz="2000" dirty="0">
                <a:solidFill>
                  <a:srgbClr val="7030A0"/>
                </a:solidFill>
              </a:rPr>
              <a:t>    </a:t>
            </a:r>
            <a:r>
              <a:rPr lang="zh-CN" altLang="en-US" sz="2000" dirty="0">
                <a:solidFill>
                  <a:srgbClr val="7030A0"/>
                </a:solidFill>
              </a:rPr>
              <a:t>成汇编语言程序</a:t>
            </a:r>
            <a:endParaRPr lang="zh-CN" altLang="en-US" sz="2000" dirty="0">
              <a:solidFill>
                <a:srgbClr val="7030A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300632" y="4872185"/>
            <a:ext cx="1000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0070C0"/>
                </a:solidFill>
              </a:rPr>
              <a:t>gcc</a:t>
            </a:r>
            <a:r>
              <a:rPr lang="en-US" altLang="zh-CN" sz="2800" dirty="0">
                <a:solidFill>
                  <a:srgbClr val="0070C0"/>
                </a:solidFill>
              </a:rPr>
              <a:t> -c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351920" y="5382942"/>
            <a:ext cx="28654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Assemble: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zh-CN" altLang="en-US" sz="2000" dirty="0">
                <a:solidFill>
                  <a:srgbClr val="0070C0"/>
                </a:solidFill>
              </a:rPr>
              <a:t>    将汇编语言程序转变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    </a:t>
            </a:r>
            <a:r>
              <a:rPr lang="zh-CN" altLang="en-US" sz="2000" dirty="0">
                <a:solidFill>
                  <a:srgbClr val="0070C0"/>
                </a:solidFill>
              </a:rPr>
              <a:t>成机器语言程序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898457" y="3311889"/>
            <a:ext cx="655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00B050"/>
                </a:solidFill>
              </a:rPr>
              <a:t>gcc</a:t>
            </a:r>
            <a:endParaRPr lang="zh-CN" altLang="en-US" sz="2800" dirty="0">
              <a:solidFill>
                <a:srgbClr val="00B050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949745" y="3822646"/>
            <a:ext cx="28654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B050"/>
                </a:solidFill>
              </a:rPr>
              <a:t>link: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zh-CN" altLang="en-US" sz="2000" dirty="0">
                <a:solidFill>
                  <a:srgbClr val="00B050"/>
                </a:solidFill>
              </a:rPr>
              <a:t>    通过</a:t>
            </a:r>
            <a:r>
              <a:rPr lang="en-US" altLang="zh-CN" sz="2000" dirty="0" err="1">
                <a:solidFill>
                  <a:srgbClr val="00B050"/>
                </a:solidFill>
              </a:rPr>
              <a:t>ld</a:t>
            </a:r>
            <a:r>
              <a:rPr lang="zh-CN" altLang="en-US" sz="2000" dirty="0">
                <a:solidFill>
                  <a:srgbClr val="00B050"/>
                </a:solidFill>
              </a:rPr>
              <a:t>程序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>
                <a:solidFill>
                  <a:srgbClr val="00B050"/>
                </a:solidFill>
              </a:rPr>
              <a:t>    </a:t>
            </a:r>
            <a:r>
              <a:rPr lang="zh-CN" altLang="en-US" sz="2000" dirty="0">
                <a:solidFill>
                  <a:srgbClr val="00B050"/>
                </a:solidFill>
              </a:rPr>
              <a:t>进行链接，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>
                <a:solidFill>
                  <a:srgbClr val="00B050"/>
                </a:solidFill>
              </a:rPr>
              <a:t>    </a:t>
            </a:r>
            <a:r>
              <a:rPr lang="zh-CN" altLang="en-US" sz="2000" dirty="0">
                <a:solidFill>
                  <a:srgbClr val="00B050"/>
                </a:solidFill>
              </a:rPr>
              <a:t>变成可执行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>
                <a:solidFill>
                  <a:srgbClr val="00B050"/>
                </a:solidFill>
              </a:rPr>
              <a:t>    </a:t>
            </a:r>
            <a:r>
              <a:rPr lang="zh-CN" altLang="en-US" sz="2000" dirty="0">
                <a:solidFill>
                  <a:srgbClr val="00B050"/>
                </a:solidFill>
              </a:rPr>
              <a:t>文件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 flipH="1">
            <a:off x="929555" y="3709126"/>
            <a:ext cx="1006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/>
              <a:t>√</a:t>
            </a:r>
            <a:endParaRPr lang="zh-CN" altLang="en-US" sz="6000" dirty="0"/>
          </a:p>
        </p:txBody>
      </p:sp>
      <p:sp>
        <p:nvSpPr>
          <p:cNvPr id="23" name="文本框 22"/>
          <p:cNvSpPr txBox="1"/>
          <p:nvPr/>
        </p:nvSpPr>
        <p:spPr>
          <a:xfrm flipH="1">
            <a:off x="7252058" y="2296226"/>
            <a:ext cx="1006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/>
              <a:t>√</a:t>
            </a:r>
            <a:endParaRPr lang="zh-CN" altLang="en-US" sz="6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F21A-903F-4AD2-B3F4-D515E05679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 flipH="1">
            <a:off x="3384374" y="5382941"/>
            <a:ext cx="1006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/>
              <a:t>√</a:t>
            </a:r>
            <a:endParaRPr lang="zh-CN" altLang="en-US" sz="6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828283" cy="73400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从高级语言到机器指令 </a:t>
            </a:r>
            <a:r>
              <a:rPr lang="en-US" altLang="zh-CN" dirty="0"/>
              <a:t>– C</a:t>
            </a:r>
            <a:r>
              <a:rPr lang="zh-CN" altLang="en-US" dirty="0"/>
              <a:t>语言程序编译的过程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F21A-903F-4AD2-B3F4-D515E05679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228600" y="1302325"/>
            <a:ext cx="5486400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–c –o </a:t>
            </a:r>
            <a:r>
              <a:rPr lang="en-US" altLang="zh-CN" sz="2400" dirty="0" err="1"/>
              <a:t>hello_world.o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hello_world.S</a:t>
            </a:r>
            <a:endParaRPr lang="en-US" altLang="zh-CN" sz="2400" dirty="0"/>
          </a:p>
          <a:p>
            <a:r>
              <a:rPr lang="en-US" altLang="zh-CN" sz="2400" dirty="0"/>
              <a:t>$ </a:t>
            </a:r>
            <a:r>
              <a:rPr lang="en-US" altLang="zh-CN" sz="2400" dirty="0" err="1"/>
              <a:t>hexdump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hello_world.o</a:t>
            </a:r>
            <a:r>
              <a:rPr lang="en-US" altLang="zh-CN" sz="2400" dirty="0"/>
              <a:t> | less</a:t>
            </a:r>
            <a:endParaRPr lang="en-US" altLang="zh-CN" sz="2400" dirty="0"/>
          </a:p>
        </p:txBody>
      </p:sp>
      <p:sp>
        <p:nvSpPr>
          <p:cNvPr id="45" name="矩形 44"/>
          <p:cNvSpPr/>
          <p:nvPr/>
        </p:nvSpPr>
        <p:spPr>
          <a:xfrm>
            <a:off x="1436605" y="2472617"/>
            <a:ext cx="7332225" cy="3170099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0000000 457f 464c 0101 0001 0000 0000 0000 0000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0000010 0001 0003 0001 0000 0000 0000 0000 0000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0000020 02fc 0000 0000 0000 0034 0000 0000 0028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0000030 000f 000e 0001 0000 0007 0000 4c8d 0424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0000040 e483 fff0 fc71 8955 53e5 e851 </a:t>
            </a:r>
            <a:r>
              <a:rPr lang="en-US" altLang="zh-CN" sz="2000" dirty="0" err="1">
                <a:latin typeface="Consolas" panose="020B0609020204030204" pitchFamily="49" charset="0"/>
              </a:rPr>
              <a:t>fffc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ffff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0000050 0105 0000 8300 0cec 908d 0000 0000 8952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0000060 e8c3 </a:t>
            </a:r>
            <a:r>
              <a:rPr lang="en-US" altLang="zh-CN" sz="2000" dirty="0" err="1">
                <a:latin typeface="Consolas" panose="020B0609020204030204" pitchFamily="49" charset="0"/>
              </a:rPr>
              <a:t>fffc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ffff</a:t>
            </a:r>
            <a:r>
              <a:rPr lang="en-US" altLang="zh-CN" sz="2000" dirty="0">
                <a:latin typeface="Consolas" panose="020B0609020204030204" pitchFamily="49" charset="0"/>
              </a:rPr>
              <a:t> c483 b810 0000 0000 658d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0000070 59f8 5d5b 618d c3fc 6548 6c6c 206f 6f57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0000080 6c72 2164 8b00 2404 00c3 4347 3a43 2820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0000090 6544 6962 6e61 3620 332e 302e 312d 2938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871936" y="1652454"/>
            <a:ext cx="57937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hello_world.o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zh-CN" alt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查看其内容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073630" y="5057941"/>
            <a:ext cx="28939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机器语言程序！</a:t>
            </a:r>
            <a:endParaRPr lang="zh-CN" altLang="en-US" sz="3200" dirty="0"/>
          </a:p>
        </p:txBody>
      </p:sp>
      <p:sp>
        <p:nvSpPr>
          <p:cNvPr id="48" name="文本框 47"/>
          <p:cNvSpPr txBox="1"/>
          <p:nvPr/>
        </p:nvSpPr>
        <p:spPr>
          <a:xfrm>
            <a:off x="1436605" y="6061246"/>
            <a:ext cx="6405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偏移量                                            数据，两字节一组，小端</a:t>
            </a:r>
            <a:endParaRPr lang="zh-CN" altLang="en-US" dirty="0"/>
          </a:p>
        </p:txBody>
      </p:sp>
      <p:sp>
        <p:nvSpPr>
          <p:cNvPr id="49" name="右大括号 48"/>
          <p:cNvSpPr/>
          <p:nvPr/>
        </p:nvSpPr>
        <p:spPr>
          <a:xfrm rot="5400000">
            <a:off x="5161557" y="3360858"/>
            <a:ext cx="267531" cy="4831248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828283" cy="73400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从高级语言到机器指令 </a:t>
            </a:r>
            <a:r>
              <a:rPr lang="en-US" altLang="zh-CN" dirty="0"/>
              <a:t>– C</a:t>
            </a:r>
            <a:r>
              <a:rPr lang="zh-CN" altLang="en-US" dirty="0"/>
              <a:t>语言程序编译的过程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F21A-903F-4AD2-B3F4-D515E05679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03200" y="1191931"/>
            <a:ext cx="5537200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–c –o </a:t>
            </a:r>
            <a:r>
              <a:rPr lang="en-US" altLang="zh-CN" sz="2400" dirty="0" err="1"/>
              <a:t>hello_world.o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hello_world.S</a:t>
            </a:r>
            <a:endParaRPr lang="en-US" altLang="zh-CN" sz="2400" dirty="0"/>
          </a:p>
          <a:p>
            <a:r>
              <a:rPr lang="en-US" altLang="zh-CN" sz="2400" dirty="0"/>
              <a:t>$ </a:t>
            </a:r>
            <a:r>
              <a:rPr lang="en-US" altLang="zh-CN" sz="2400" dirty="0" err="1"/>
              <a:t>objdump</a:t>
            </a:r>
            <a:r>
              <a:rPr lang="en-US" altLang="zh-CN" sz="2400" dirty="0"/>
              <a:t> -d </a:t>
            </a:r>
            <a:r>
              <a:rPr lang="en-US" altLang="zh-CN" sz="2400" dirty="0" err="1"/>
              <a:t>hello_world.o</a:t>
            </a:r>
            <a:r>
              <a:rPr lang="en-US" altLang="zh-CN" sz="2400" dirty="0"/>
              <a:t> | less</a:t>
            </a:r>
            <a:endParaRPr lang="en-US" altLang="zh-CN" sz="2400" dirty="0"/>
          </a:p>
        </p:txBody>
      </p:sp>
      <p:sp>
        <p:nvSpPr>
          <p:cNvPr id="13" name="矩形 12"/>
          <p:cNvSpPr/>
          <p:nvPr/>
        </p:nvSpPr>
        <p:spPr>
          <a:xfrm>
            <a:off x="2032128" y="2115731"/>
            <a:ext cx="9474072" cy="4401205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000" dirty="0" err="1">
                <a:latin typeface="Consolas" panose="020B0609020204030204" pitchFamily="49" charset="0"/>
              </a:rPr>
              <a:t>hello_world.o</a:t>
            </a:r>
            <a:r>
              <a:rPr lang="en-US" altLang="zh-CN" sz="2000" dirty="0">
                <a:latin typeface="Consolas" panose="020B0609020204030204" pitchFamily="49" charset="0"/>
              </a:rPr>
              <a:t>:     file format elf32-i386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Disassembly of section .text: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00000000 &lt;main&gt;: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0:   8d 4c 24 04             lea    0x4(%</a:t>
            </a:r>
            <a:r>
              <a:rPr lang="en-US" altLang="zh-CN" sz="2000" dirty="0" err="1">
                <a:latin typeface="Consolas" panose="020B0609020204030204" pitchFamily="49" charset="0"/>
              </a:rPr>
              <a:t>esp</a:t>
            </a:r>
            <a:r>
              <a:rPr lang="en-US" altLang="zh-CN" sz="2000" dirty="0">
                <a:latin typeface="Consolas" panose="020B0609020204030204" pitchFamily="49" charset="0"/>
              </a:rPr>
              <a:t>),%</a:t>
            </a:r>
            <a:r>
              <a:rPr lang="en-US" altLang="zh-CN" sz="2000" dirty="0" err="1">
                <a:latin typeface="Consolas" panose="020B0609020204030204" pitchFamily="49" charset="0"/>
              </a:rPr>
              <a:t>ecx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4:   83 e4 f0                and    $0xfffffff0,%esp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7:   </a:t>
            </a:r>
            <a:r>
              <a:rPr lang="en-US" altLang="zh-CN" sz="2000" dirty="0" err="1"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latin typeface="Consolas" panose="020B0609020204030204" pitchFamily="49" charset="0"/>
              </a:rPr>
              <a:t> 71 fc     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pushl</a:t>
            </a:r>
            <a:r>
              <a:rPr lang="en-US" altLang="zh-CN" sz="2000" dirty="0">
                <a:latin typeface="Consolas" panose="020B0609020204030204" pitchFamily="49" charset="0"/>
              </a:rPr>
              <a:t>  -0x4(%</a:t>
            </a:r>
            <a:r>
              <a:rPr lang="en-US" altLang="zh-CN" sz="2000" dirty="0" err="1">
                <a:latin typeface="Consolas" panose="020B0609020204030204" pitchFamily="49" charset="0"/>
              </a:rPr>
              <a:t>ecx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a:   55                      push   %</a:t>
            </a:r>
            <a:r>
              <a:rPr lang="en-US" altLang="zh-CN" sz="2000" dirty="0" err="1">
                <a:latin typeface="Consolas" panose="020B0609020204030204" pitchFamily="49" charset="0"/>
              </a:rPr>
              <a:t>ebp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b:   89 e5        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mov</a:t>
            </a:r>
            <a:r>
              <a:rPr lang="en-US" altLang="zh-CN" sz="2000" dirty="0">
                <a:latin typeface="Consolas" panose="020B0609020204030204" pitchFamily="49" charset="0"/>
              </a:rPr>
              <a:t>    %</a:t>
            </a:r>
            <a:r>
              <a:rPr lang="en-US" altLang="zh-CN" sz="2000" dirty="0" err="1">
                <a:latin typeface="Consolas" panose="020B0609020204030204" pitchFamily="49" charset="0"/>
              </a:rPr>
              <a:t>esp</a:t>
            </a:r>
            <a:r>
              <a:rPr lang="en-US" altLang="zh-CN" sz="2000" dirty="0">
                <a:latin typeface="Consolas" panose="020B0609020204030204" pitchFamily="49" charset="0"/>
              </a:rPr>
              <a:t>,%</a:t>
            </a:r>
            <a:r>
              <a:rPr lang="en-US" altLang="zh-CN" sz="2000" dirty="0" err="1">
                <a:latin typeface="Consolas" panose="020B0609020204030204" pitchFamily="49" charset="0"/>
              </a:rPr>
              <a:t>ebp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d:   53                      push   %</a:t>
            </a:r>
            <a:r>
              <a:rPr lang="en-US" altLang="zh-CN" sz="2000" dirty="0" err="1">
                <a:latin typeface="Consolas" panose="020B0609020204030204" pitchFamily="49" charset="0"/>
              </a:rPr>
              <a:t>ebx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e:   51                      push   %</a:t>
            </a:r>
            <a:r>
              <a:rPr lang="en-US" altLang="zh-CN" sz="2000" dirty="0" err="1">
                <a:latin typeface="Consolas" panose="020B0609020204030204" pitchFamily="49" charset="0"/>
              </a:rPr>
              <a:t>ecx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f:   e8 fc </a:t>
            </a:r>
            <a:r>
              <a:rPr lang="en-US" altLang="zh-CN" sz="2000" dirty="0" err="1"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latin typeface="Consolas" panose="020B0609020204030204" pitchFamily="49" charset="0"/>
              </a:rPr>
              <a:t>          call   10 &lt;main+0x10&gt;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86301" y="1530956"/>
            <a:ext cx="66485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hello_world.o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zh-CN" alt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反汇编其内容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76" y="4316333"/>
            <a:ext cx="18289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机器读取并执行的机器指令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cxnSp>
        <p:nvCxnSpPr>
          <p:cNvPr id="8" name="直接箭头连接符 7"/>
          <p:cNvCxnSpPr>
            <a:stCxn id="3" idx="3"/>
          </p:cNvCxnSpPr>
          <p:nvPr/>
        </p:nvCxnSpPr>
        <p:spPr>
          <a:xfrm flipV="1">
            <a:off x="1906004" y="4204138"/>
            <a:ext cx="1194548" cy="897025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0105971" y="4555777"/>
            <a:ext cx="18289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对应的汇编助记符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cxnSp>
        <p:nvCxnSpPr>
          <p:cNvPr id="19" name="直接箭头连接符 18"/>
          <p:cNvCxnSpPr>
            <a:stCxn id="18" idx="0"/>
          </p:cNvCxnSpPr>
          <p:nvPr/>
        </p:nvCxnSpPr>
        <p:spPr>
          <a:xfrm flipH="1" flipV="1">
            <a:off x="9690538" y="4202461"/>
            <a:ext cx="1329897" cy="353316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828283" cy="73400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从高级语言到机器指令 </a:t>
            </a:r>
            <a:r>
              <a:rPr lang="en-US" altLang="zh-CN" dirty="0"/>
              <a:t>– C</a:t>
            </a:r>
            <a:r>
              <a:rPr lang="zh-CN" altLang="en-US" dirty="0"/>
              <a:t>语言程序编译的过程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F21A-903F-4AD2-B3F4-D515E05679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03200" y="1191931"/>
            <a:ext cx="5537200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–c –o </a:t>
            </a:r>
            <a:r>
              <a:rPr lang="en-US" altLang="zh-CN" sz="2400" dirty="0" err="1"/>
              <a:t>hello_world.o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hello_world.S</a:t>
            </a:r>
            <a:endParaRPr lang="en-US" altLang="zh-CN" sz="2400" dirty="0"/>
          </a:p>
          <a:p>
            <a:r>
              <a:rPr lang="en-US" altLang="zh-CN" sz="2400" dirty="0"/>
              <a:t>$ </a:t>
            </a:r>
            <a:r>
              <a:rPr lang="en-US" altLang="zh-CN" sz="2400" dirty="0" err="1"/>
              <a:t>objdump</a:t>
            </a:r>
            <a:r>
              <a:rPr lang="en-US" altLang="zh-CN" sz="2400" dirty="0"/>
              <a:t> -d </a:t>
            </a:r>
            <a:r>
              <a:rPr lang="en-US" altLang="zh-CN" sz="2400" dirty="0" err="1"/>
              <a:t>hello_world.o</a:t>
            </a:r>
            <a:r>
              <a:rPr lang="en-US" altLang="zh-CN" sz="2400" dirty="0"/>
              <a:t> | less</a:t>
            </a:r>
            <a:endParaRPr lang="en-US" altLang="zh-CN" sz="2400" dirty="0"/>
          </a:p>
        </p:txBody>
      </p:sp>
      <p:sp>
        <p:nvSpPr>
          <p:cNvPr id="13" name="矩形 12"/>
          <p:cNvSpPr/>
          <p:nvPr/>
        </p:nvSpPr>
        <p:spPr>
          <a:xfrm>
            <a:off x="2032128" y="2115731"/>
            <a:ext cx="9474072" cy="4401205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000" dirty="0" err="1">
                <a:latin typeface="Consolas" panose="020B0609020204030204" pitchFamily="49" charset="0"/>
              </a:rPr>
              <a:t>hello_world.o</a:t>
            </a:r>
            <a:r>
              <a:rPr lang="en-US" altLang="zh-CN" sz="2000" dirty="0">
                <a:latin typeface="Consolas" panose="020B0609020204030204" pitchFamily="49" charset="0"/>
              </a:rPr>
              <a:t>:     file format elf32-i386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Disassembly of section .text: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00000000 &lt;main&gt;: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0:   </a:t>
            </a:r>
            <a:r>
              <a:rPr lang="en-US" altLang="zh-CN" sz="2000" u="sng" dirty="0">
                <a:latin typeface="Consolas" panose="020B0609020204030204" pitchFamily="49" charset="0"/>
              </a:rPr>
              <a:t>8d 4c 24 04</a:t>
            </a:r>
            <a:r>
              <a:rPr lang="en-US" altLang="zh-CN" sz="2000" dirty="0">
                <a:latin typeface="Consolas" panose="020B0609020204030204" pitchFamily="49" charset="0"/>
              </a:rPr>
              <a:t>             </a:t>
            </a:r>
            <a:r>
              <a:rPr lang="en-US" altLang="zh-CN" sz="2000" u="sng" dirty="0">
                <a:latin typeface="Consolas" panose="020B0609020204030204" pitchFamily="49" charset="0"/>
              </a:rPr>
              <a:t>lea    0x4(%</a:t>
            </a:r>
            <a:r>
              <a:rPr lang="en-US" altLang="zh-CN" sz="2000" u="sng" dirty="0" err="1">
                <a:latin typeface="Consolas" panose="020B0609020204030204" pitchFamily="49" charset="0"/>
              </a:rPr>
              <a:t>esp</a:t>
            </a:r>
            <a:r>
              <a:rPr lang="en-US" altLang="zh-CN" sz="2000" u="sng" dirty="0">
                <a:latin typeface="Consolas" panose="020B0609020204030204" pitchFamily="49" charset="0"/>
              </a:rPr>
              <a:t>),%</a:t>
            </a:r>
            <a:r>
              <a:rPr lang="en-US" altLang="zh-CN" sz="2000" u="sng" dirty="0" err="1">
                <a:latin typeface="Consolas" panose="020B0609020204030204" pitchFamily="49" charset="0"/>
              </a:rPr>
              <a:t>ecx</a:t>
            </a:r>
            <a:endParaRPr lang="en-US" altLang="zh-CN" sz="2000" u="sng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4:   83 e4 f0                and    $0xfffffff0,%esp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7:   </a:t>
            </a:r>
            <a:r>
              <a:rPr lang="en-US" altLang="zh-CN" sz="2000" dirty="0" err="1"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latin typeface="Consolas" panose="020B0609020204030204" pitchFamily="49" charset="0"/>
              </a:rPr>
              <a:t> 71 fc     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pushl</a:t>
            </a:r>
            <a:r>
              <a:rPr lang="en-US" altLang="zh-CN" sz="2000" dirty="0">
                <a:latin typeface="Consolas" panose="020B0609020204030204" pitchFamily="49" charset="0"/>
              </a:rPr>
              <a:t>  -0x4(%</a:t>
            </a:r>
            <a:r>
              <a:rPr lang="en-US" altLang="zh-CN" sz="2000" dirty="0" err="1">
                <a:latin typeface="Consolas" panose="020B0609020204030204" pitchFamily="49" charset="0"/>
              </a:rPr>
              <a:t>ecx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a:   55                      push   %</a:t>
            </a:r>
            <a:r>
              <a:rPr lang="en-US" altLang="zh-CN" sz="2000" dirty="0" err="1">
                <a:latin typeface="Consolas" panose="020B0609020204030204" pitchFamily="49" charset="0"/>
              </a:rPr>
              <a:t>ebp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b:   89 e5        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mov</a:t>
            </a:r>
            <a:r>
              <a:rPr lang="en-US" altLang="zh-CN" sz="2000" dirty="0">
                <a:latin typeface="Consolas" panose="020B0609020204030204" pitchFamily="49" charset="0"/>
              </a:rPr>
              <a:t>    %</a:t>
            </a:r>
            <a:r>
              <a:rPr lang="en-US" altLang="zh-CN" sz="2000" dirty="0" err="1">
                <a:latin typeface="Consolas" panose="020B0609020204030204" pitchFamily="49" charset="0"/>
              </a:rPr>
              <a:t>esp</a:t>
            </a:r>
            <a:r>
              <a:rPr lang="en-US" altLang="zh-CN" sz="2000" dirty="0">
                <a:latin typeface="Consolas" panose="020B0609020204030204" pitchFamily="49" charset="0"/>
              </a:rPr>
              <a:t>,%</a:t>
            </a:r>
            <a:r>
              <a:rPr lang="en-US" altLang="zh-CN" sz="2000" dirty="0" err="1">
                <a:latin typeface="Consolas" panose="020B0609020204030204" pitchFamily="49" charset="0"/>
              </a:rPr>
              <a:t>ebp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d:   53                      push   %</a:t>
            </a:r>
            <a:r>
              <a:rPr lang="en-US" altLang="zh-CN" sz="2000" dirty="0" err="1">
                <a:latin typeface="Consolas" panose="020B0609020204030204" pitchFamily="49" charset="0"/>
              </a:rPr>
              <a:t>ebx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e:   51                      push   %</a:t>
            </a:r>
            <a:r>
              <a:rPr lang="en-US" altLang="zh-CN" sz="2000" dirty="0" err="1">
                <a:latin typeface="Consolas" panose="020B0609020204030204" pitchFamily="49" charset="0"/>
              </a:rPr>
              <a:t>ecx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f:   e8 fc </a:t>
            </a:r>
            <a:r>
              <a:rPr lang="en-US" altLang="zh-CN" sz="2000" dirty="0" err="1"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latin typeface="Consolas" panose="020B0609020204030204" pitchFamily="49" charset="0"/>
              </a:rPr>
              <a:t>          call   10 &lt;main+0x10&gt;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86301" y="1530956"/>
            <a:ext cx="66485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hello_world.o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zh-CN" alt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反汇编其内容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76" y="4316333"/>
            <a:ext cx="18289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机器读取并执行的机器指令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cxnSp>
        <p:nvCxnSpPr>
          <p:cNvPr id="8" name="直接箭头连接符 7"/>
          <p:cNvCxnSpPr>
            <a:stCxn id="3" idx="3"/>
          </p:cNvCxnSpPr>
          <p:nvPr/>
        </p:nvCxnSpPr>
        <p:spPr>
          <a:xfrm flipV="1">
            <a:off x="1906004" y="4204138"/>
            <a:ext cx="1194548" cy="897025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0105971" y="4555777"/>
            <a:ext cx="18289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对应的汇编助记符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cxnSp>
        <p:nvCxnSpPr>
          <p:cNvPr id="19" name="直接箭头连接符 18"/>
          <p:cNvCxnSpPr>
            <a:stCxn id="18" idx="0"/>
          </p:cNvCxnSpPr>
          <p:nvPr/>
        </p:nvCxnSpPr>
        <p:spPr>
          <a:xfrm flipH="1" flipV="1">
            <a:off x="9690538" y="4202461"/>
            <a:ext cx="1329897" cy="353316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肘形连接符 16"/>
          <p:cNvCxnSpPr/>
          <p:nvPr/>
        </p:nvCxnSpPr>
        <p:spPr>
          <a:xfrm rot="16200000" flipV="1">
            <a:off x="5712711" y="2875466"/>
            <a:ext cx="5080" cy="2107826"/>
          </a:xfrm>
          <a:prstGeom prst="bentConnector3">
            <a:avLst>
              <a:gd name="adj1" fmla="val 8200000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肘形连接符 28"/>
          <p:cNvCxnSpPr/>
          <p:nvPr/>
        </p:nvCxnSpPr>
        <p:spPr>
          <a:xfrm rot="16200000" flipH="1">
            <a:off x="5712711" y="3317427"/>
            <a:ext cx="5080" cy="2107826"/>
          </a:xfrm>
          <a:prstGeom prst="bentConnector3">
            <a:avLst>
              <a:gd name="adj1" fmla="val 8389469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543648" y="2921290"/>
            <a:ext cx="1828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编码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12982" y="4887052"/>
            <a:ext cx="1828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真值（误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27378" y="3926838"/>
            <a:ext cx="1716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一一对应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重要提示！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68860" y="1633752"/>
            <a:ext cx="9296400" cy="10156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endParaRPr lang="en-US" altLang="zh-CN" sz="1000" dirty="0"/>
          </a:p>
          <a:p>
            <a:r>
              <a:rPr lang="en-US" altLang="zh-CN" sz="4000" dirty="0"/>
              <a:t>$ </a:t>
            </a:r>
            <a:r>
              <a:rPr lang="en-US" altLang="zh-CN" sz="4000" dirty="0" err="1"/>
              <a:t>objdump</a:t>
            </a:r>
            <a:r>
              <a:rPr lang="en-US" altLang="zh-CN" sz="4000" dirty="0"/>
              <a:t> -d </a:t>
            </a:r>
            <a:r>
              <a:rPr lang="en-US" altLang="zh-CN" sz="4000" dirty="0" err="1"/>
              <a:t>hello_world.o</a:t>
            </a:r>
            <a:r>
              <a:rPr lang="en-US" altLang="zh-CN" sz="4000" dirty="0"/>
              <a:t> | less</a:t>
            </a:r>
            <a:endParaRPr lang="en-US" altLang="zh-CN" sz="4000" dirty="0"/>
          </a:p>
          <a:p>
            <a:endParaRPr lang="en-US" altLang="zh-CN" sz="1000" dirty="0"/>
          </a:p>
        </p:txBody>
      </p:sp>
      <p:sp>
        <p:nvSpPr>
          <p:cNvPr id="10" name="文本框 9"/>
          <p:cNvSpPr txBox="1"/>
          <p:nvPr/>
        </p:nvSpPr>
        <p:spPr>
          <a:xfrm>
            <a:off x="1016000" y="3492549"/>
            <a:ext cx="48279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标准的</a:t>
            </a:r>
            <a:r>
              <a:rPr lang="en-US" altLang="zh-CN" sz="2800" dirty="0" err="1"/>
              <a:t>objdump</a:t>
            </a:r>
            <a:r>
              <a:rPr lang="zh-CN" altLang="en-US" sz="2800" dirty="0"/>
              <a:t>无法识别我们为</a:t>
            </a:r>
            <a:r>
              <a:rPr lang="en-US" altLang="zh-CN" sz="2800" dirty="0"/>
              <a:t>PA</a:t>
            </a:r>
            <a:r>
              <a:rPr lang="zh-CN" altLang="en-US" sz="2800" dirty="0"/>
              <a:t>定制的</a:t>
            </a:r>
            <a:r>
              <a:rPr lang="en-US" altLang="zh-CN" sz="2800" dirty="0"/>
              <a:t>0x82</a:t>
            </a:r>
            <a:r>
              <a:rPr lang="zh-CN" altLang="en-US" sz="2800" dirty="0"/>
              <a:t>指令，因此我们提供了自己的改造版本，用于反汇编</a:t>
            </a:r>
            <a:r>
              <a:rPr lang="en-US" altLang="zh-CN" sz="2800" dirty="0"/>
              <a:t>PA</a:t>
            </a:r>
            <a:r>
              <a:rPr lang="zh-CN" altLang="en-US" sz="2800" dirty="0"/>
              <a:t>的测试用例</a:t>
            </a:r>
            <a:endParaRPr lang="zh-CN" altLang="en-US" sz="2800" dirty="0"/>
          </a:p>
        </p:txBody>
      </p:sp>
      <p:cxnSp>
        <p:nvCxnSpPr>
          <p:cNvPr id="12" name="直接箭头连接符 11"/>
          <p:cNvCxnSpPr>
            <a:stCxn id="10" idx="0"/>
          </p:cNvCxnSpPr>
          <p:nvPr/>
        </p:nvCxnSpPr>
        <p:spPr>
          <a:xfrm flipV="1">
            <a:off x="3429980" y="2755900"/>
            <a:ext cx="11720" cy="736649"/>
          </a:xfrm>
          <a:prstGeom prst="straightConnector1">
            <a:avLst/>
          </a:prstGeom>
          <a:ln w="635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5843960" y="3829414"/>
            <a:ext cx="1991940" cy="628176"/>
          </a:xfrm>
          <a:prstGeom prst="straightConnector1">
            <a:avLst/>
          </a:prstGeom>
          <a:ln w="635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786132" y="6041084"/>
            <a:ext cx="864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源码：</a:t>
            </a:r>
            <a:r>
              <a:rPr lang="en-US" altLang="zh-CN" sz="2000" dirty="0">
                <a:solidFill>
                  <a:schemeClr val="accent5"/>
                </a:solidFill>
                <a:latin typeface="Consolas" panose="020B0609020204030204" pitchFamily="49" charset="0"/>
              </a:rPr>
              <a:t>https://gitee.com/wlicsnju/binutils4nemu</a:t>
            </a:r>
            <a:endParaRPr lang="zh-CN" altLang="en-US" sz="20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694860" y="1053653"/>
            <a:ext cx="4658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用</a:t>
            </a:r>
            <a:r>
              <a:rPr lang="en-US" altLang="zh-CN" sz="2400" dirty="0" err="1"/>
              <a:t>objdump</a:t>
            </a:r>
            <a:r>
              <a:rPr lang="zh-CN" altLang="en-US" sz="2400" dirty="0"/>
              <a:t>命令反汇编目标文件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6839930" y="4621400"/>
            <a:ext cx="4055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objdump4nemu-i386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828283" cy="73400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从高级语言到机器指令 </a:t>
            </a:r>
            <a:r>
              <a:rPr lang="en-US" altLang="zh-CN" dirty="0"/>
              <a:t>– C</a:t>
            </a:r>
            <a:r>
              <a:rPr lang="zh-CN" altLang="en-US" dirty="0"/>
              <a:t>语言程序编译的过程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688219" y="1567023"/>
            <a:ext cx="470192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–o </a:t>
            </a:r>
            <a:r>
              <a:rPr lang="en-US" altLang="zh-CN" sz="2400" dirty="0" err="1"/>
              <a:t>hello_world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hello_world.c</a:t>
            </a:r>
            <a:endParaRPr lang="en-US" altLang="zh-CN" sz="2400" dirty="0"/>
          </a:p>
        </p:txBody>
      </p:sp>
      <p:sp>
        <p:nvSpPr>
          <p:cNvPr id="10" name="矩形 9"/>
          <p:cNvSpPr/>
          <p:nvPr/>
        </p:nvSpPr>
        <p:spPr>
          <a:xfrm>
            <a:off x="6740122" y="1642070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一条命令执行了四个步骤</a:t>
            </a:r>
            <a:endParaRPr lang="en-US" altLang="zh-CN" sz="2400" dirty="0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88219" y="2409840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hello_world.c</a:t>
            </a:r>
            <a:endParaRPr lang="zh-CN" altLang="en-US" sz="3200" dirty="0"/>
          </a:p>
        </p:txBody>
      </p:sp>
      <p:sp>
        <p:nvSpPr>
          <p:cNvPr id="27" name="文本框 26"/>
          <p:cNvSpPr txBox="1"/>
          <p:nvPr/>
        </p:nvSpPr>
        <p:spPr>
          <a:xfrm>
            <a:off x="3190643" y="3200882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hello_world.i</a:t>
            </a:r>
            <a:endParaRPr lang="zh-CN" altLang="en-US" sz="3200" dirty="0"/>
          </a:p>
        </p:txBody>
      </p:sp>
      <p:sp>
        <p:nvSpPr>
          <p:cNvPr id="28" name="文本框 27"/>
          <p:cNvSpPr txBox="1"/>
          <p:nvPr/>
        </p:nvSpPr>
        <p:spPr>
          <a:xfrm>
            <a:off x="4644427" y="3991924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hello_world.S</a:t>
            </a:r>
            <a:endParaRPr lang="zh-CN" altLang="en-US" sz="3200" dirty="0"/>
          </a:p>
        </p:txBody>
      </p:sp>
      <p:sp>
        <p:nvSpPr>
          <p:cNvPr id="29" name="文本框 28"/>
          <p:cNvSpPr txBox="1"/>
          <p:nvPr/>
        </p:nvSpPr>
        <p:spPr>
          <a:xfrm>
            <a:off x="6195491" y="4782966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hello_world.o</a:t>
            </a:r>
            <a:endParaRPr lang="zh-CN" altLang="en-US" sz="3200" dirty="0"/>
          </a:p>
        </p:txBody>
      </p:sp>
      <p:sp>
        <p:nvSpPr>
          <p:cNvPr id="30" name="文本框 29"/>
          <p:cNvSpPr txBox="1"/>
          <p:nvPr/>
        </p:nvSpPr>
        <p:spPr>
          <a:xfrm>
            <a:off x="7697917" y="5585473"/>
            <a:ext cx="26124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hello_world</a:t>
            </a:r>
            <a:endParaRPr lang="zh-CN" altLang="en-US" sz="3200" dirty="0"/>
          </a:p>
        </p:txBody>
      </p:sp>
      <p:cxnSp>
        <p:nvCxnSpPr>
          <p:cNvPr id="31" name="肘形连接符 30"/>
          <p:cNvCxnSpPr>
            <a:stCxn id="26" idx="2"/>
            <a:endCxn id="27" idx="1"/>
          </p:cNvCxnSpPr>
          <p:nvPr/>
        </p:nvCxnSpPr>
        <p:spPr>
          <a:xfrm rot="16200000" flipH="1">
            <a:off x="2843207" y="3145833"/>
            <a:ext cx="498655" cy="196217"/>
          </a:xfrm>
          <a:prstGeom prst="bentConnector2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27" idx="3"/>
            <a:endCxn id="28" idx="0"/>
          </p:cNvCxnSpPr>
          <p:nvPr/>
        </p:nvCxnSpPr>
        <p:spPr>
          <a:xfrm>
            <a:off x="5803056" y="3493270"/>
            <a:ext cx="147578" cy="498654"/>
          </a:xfrm>
          <a:prstGeom prst="bentConnector2">
            <a:avLst/>
          </a:prstGeom>
          <a:ln w="25400">
            <a:solidFill>
              <a:srgbClr val="7030A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28" idx="2"/>
            <a:endCxn id="29" idx="1"/>
          </p:cNvCxnSpPr>
          <p:nvPr/>
        </p:nvCxnSpPr>
        <p:spPr>
          <a:xfrm rot="16200000" flipH="1">
            <a:off x="5823735" y="4703597"/>
            <a:ext cx="498655" cy="244857"/>
          </a:xfrm>
          <a:prstGeom prst="bentConnector2">
            <a:avLst/>
          </a:prstGeom>
          <a:ln w="25400">
            <a:solidFill>
              <a:srgbClr val="0070C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29" idx="3"/>
            <a:endCxn id="30" idx="0"/>
          </p:cNvCxnSpPr>
          <p:nvPr/>
        </p:nvCxnSpPr>
        <p:spPr>
          <a:xfrm>
            <a:off x="8807904" y="5075354"/>
            <a:ext cx="196220" cy="510119"/>
          </a:xfrm>
          <a:prstGeom prst="bentConnector2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830061" y="3451803"/>
            <a:ext cx="10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C00000"/>
                </a:solidFill>
              </a:rPr>
              <a:t>gcc</a:t>
            </a:r>
            <a:r>
              <a:rPr lang="en-US" altLang="zh-CN" sz="2800" dirty="0">
                <a:solidFill>
                  <a:srgbClr val="C00000"/>
                </a:solidFill>
              </a:rPr>
              <a:t> -E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830061" y="3930368"/>
            <a:ext cx="27077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Preprocess: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zh-CN" altLang="en-US" sz="2000" dirty="0">
                <a:solidFill>
                  <a:srgbClr val="C00000"/>
                </a:solidFill>
              </a:rPr>
              <a:t>    展开</a:t>
            </a:r>
            <a:r>
              <a:rPr lang="en-US" altLang="zh-CN" sz="2000" dirty="0">
                <a:solidFill>
                  <a:srgbClr val="C00000"/>
                </a:solidFill>
              </a:rPr>
              <a:t>#include, </a:t>
            </a:r>
            <a:r>
              <a:rPr lang="zh-CN" altLang="en-US" sz="2000" dirty="0">
                <a:solidFill>
                  <a:srgbClr val="C00000"/>
                </a:solidFill>
              </a:rPr>
              <a:t>宏定义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148874" y="2326833"/>
            <a:ext cx="10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7030A0"/>
                </a:solidFill>
              </a:rPr>
              <a:t>gcc</a:t>
            </a:r>
            <a:r>
              <a:rPr lang="en-US" altLang="zh-CN" sz="2800" dirty="0">
                <a:solidFill>
                  <a:srgbClr val="7030A0"/>
                </a:solidFill>
              </a:rPr>
              <a:t> -S</a:t>
            </a:r>
            <a:endParaRPr lang="zh-CN" altLang="en-US" sz="2800" dirty="0">
              <a:solidFill>
                <a:srgbClr val="7030A0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200163" y="2837590"/>
            <a:ext cx="27624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7030A0"/>
                </a:solidFill>
              </a:rPr>
              <a:t>Compile:</a:t>
            </a:r>
            <a:endParaRPr lang="en-US" altLang="zh-CN" sz="2000" dirty="0">
              <a:solidFill>
                <a:srgbClr val="7030A0"/>
              </a:solidFill>
            </a:endParaRPr>
          </a:p>
          <a:p>
            <a:r>
              <a:rPr lang="zh-CN" altLang="en-US" sz="2000" dirty="0">
                <a:solidFill>
                  <a:srgbClr val="7030A0"/>
                </a:solidFill>
              </a:rPr>
              <a:t>    将高级语言程序转变</a:t>
            </a:r>
            <a:endParaRPr lang="en-US" altLang="zh-CN" sz="2000" dirty="0">
              <a:solidFill>
                <a:srgbClr val="7030A0"/>
              </a:solidFill>
            </a:endParaRPr>
          </a:p>
          <a:p>
            <a:r>
              <a:rPr lang="en-US" altLang="zh-CN" sz="2000" dirty="0">
                <a:solidFill>
                  <a:srgbClr val="7030A0"/>
                </a:solidFill>
              </a:rPr>
              <a:t>    </a:t>
            </a:r>
            <a:r>
              <a:rPr lang="zh-CN" altLang="en-US" sz="2000" dirty="0">
                <a:solidFill>
                  <a:srgbClr val="7030A0"/>
                </a:solidFill>
              </a:rPr>
              <a:t>成汇编语言程序</a:t>
            </a:r>
            <a:endParaRPr lang="zh-CN" altLang="en-US" sz="2000" dirty="0">
              <a:solidFill>
                <a:srgbClr val="7030A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300632" y="4872185"/>
            <a:ext cx="1000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0070C0"/>
                </a:solidFill>
              </a:rPr>
              <a:t>gcc</a:t>
            </a:r>
            <a:r>
              <a:rPr lang="en-US" altLang="zh-CN" sz="2800" dirty="0">
                <a:solidFill>
                  <a:srgbClr val="0070C0"/>
                </a:solidFill>
              </a:rPr>
              <a:t> -c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351920" y="5382942"/>
            <a:ext cx="28654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Assemble: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zh-CN" altLang="en-US" sz="2000" dirty="0">
                <a:solidFill>
                  <a:srgbClr val="0070C0"/>
                </a:solidFill>
              </a:rPr>
              <a:t>    将汇编语言程序转变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    </a:t>
            </a:r>
            <a:r>
              <a:rPr lang="zh-CN" altLang="en-US" sz="2000" dirty="0">
                <a:solidFill>
                  <a:srgbClr val="0070C0"/>
                </a:solidFill>
              </a:rPr>
              <a:t>成机器语言程序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898457" y="3311889"/>
            <a:ext cx="655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00B050"/>
                </a:solidFill>
              </a:rPr>
              <a:t>gcc</a:t>
            </a:r>
            <a:endParaRPr lang="zh-CN" altLang="en-US" sz="2800" dirty="0">
              <a:solidFill>
                <a:srgbClr val="00B050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949745" y="3822646"/>
            <a:ext cx="28654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B050"/>
                </a:solidFill>
              </a:rPr>
              <a:t>link: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zh-CN" altLang="en-US" sz="2000" dirty="0">
                <a:solidFill>
                  <a:srgbClr val="00B050"/>
                </a:solidFill>
              </a:rPr>
              <a:t>    通过</a:t>
            </a:r>
            <a:r>
              <a:rPr lang="en-US" altLang="zh-CN" sz="2000" dirty="0" err="1">
                <a:solidFill>
                  <a:srgbClr val="00B050"/>
                </a:solidFill>
              </a:rPr>
              <a:t>ld</a:t>
            </a:r>
            <a:r>
              <a:rPr lang="zh-CN" altLang="en-US" sz="2000" dirty="0">
                <a:solidFill>
                  <a:srgbClr val="00B050"/>
                </a:solidFill>
              </a:rPr>
              <a:t>程序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>
                <a:solidFill>
                  <a:srgbClr val="00B050"/>
                </a:solidFill>
              </a:rPr>
              <a:t>    </a:t>
            </a:r>
            <a:r>
              <a:rPr lang="zh-CN" altLang="en-US" sz="2000" dirty="0">
                <a:solidFill>
                  <a:srgbClr val="00B050"/>
                </a:solidFill>
              </a:rPr>
              <a:t>进行链接，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>
                <a:solidFill>
                  <a:srgbClr val="00B050"/>
                </a:solidFill>
              </a:rPr>
              <a:t>    </a:t>
            </a:r>
            <a:r>
              <a:rPr lang="zh-CN" altLang="en-US" sz="2000" dirty="0">
                <a:solidFill>
                  <a:srgbClr val="00B050"/>
                </a:solidFill>
              </a:rPr>
              <a:t>变成可执行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>
                <a:solidFill>
                  <a:srgbClr val="00B050"/>
                </a:solidFill>
              </a:rPr>
              <a:t>    </a:t>
            </a:r>
            <a:r>
              <a:rPr lang="zh-CN" altLang="en-US" sz="2000" dirty="0">
                <a:solidFill>
                  <a:srgbClr val="00B050"/>
                </a:solidFill>
              </a:rPr>
              <a:t>文件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 flipH="1">
            <a:off x="929555" y="3709126"/>
            <a:ext cx="1006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/>
              <a:t>√</a:t>
            </a:r>
            <a:endParaRPr lang="zh-CN" altLang="en-US" sz="6000" dirty="0"/>
          </a:p>
        </p:txBody>
      </p:sp>
      <p:sp>
        <p:nvSpPr>
          <p:cNvPr id="23" name="文本框 22"/>
          <p:cNvSpPr txBox="1"/>
          <p:nvPr/>
        </p:nvSpPr>
        <p:spPr>
          <a:xfrm flipH="1">
            <a:off x="7252058" y="2296226"/>
            <a:ext cx="1006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/>
              <a:t>√</a:t>
            </a:r>
            <a:endParaRPr lang="zh-CN" altLang="en-US" sz="6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F21A-903F-4AD2-B3F4-D515E05679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 flipH="1">
            <a:off x="3384374" y="5382941"/>
            <a:ext cx="1006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/>
              <a:t>√</a:t>
            </a:r>
            <a:endParaRPr lang="zh-CN" altLang="en-US" sz="6000" dirty="0"/>
          </a:p>
        </p:txBody>
      </p:sp>
      <p:sp>
        <p:nvSpPr>
          <p:cNvPr id="44" name="文本框 43"/>
          <p:cNvSpPr txBox="1"/>
          <p:nvPr/>
        </p:nvSpPr>
        <p:spPr>
          <a:xfrm flipH="1">
            <a:off x="10550689" y="4379742"/>
            <a:ext cx="1006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/>
              <a:t>√</a:t>
            </a:r>
            <a:endParaRPr lang="zh-CN" altLang="en-US" sz="6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2339163" y="4155539"/>
            <a:ext cx="9014637" cy="1957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最后将</a:t>
            </a:r>
            <a:r>
              <a:rPr lang="en-US" altLang="zh-CN" dirty="0" err="1">
                <a:latin typeface="Consolas" panose="020B0609020204030204" pitchFamily="49" charset="0"/>
              </a:rPr>
              <a:t>hello_world.o</a:t>
            </a:r>
            <a:r>
              <a:rPr lang="zh-CN" altLang="en-US" dirty="0">
                <a:latin typeface="Consolas" panose="020B0609020204030204" pitchFamily="49" charset="0"/>
              </a:rPr>
              <a:t>通过</a:t>
            </a:r>
            <a:r>
              <a:rPr lang="en-US" altLang="zh-CN" dirty="0" err="1">
                <a:latin typeface="Consolas" panose="020B0609020204030204" pitchFamily="49" charset="0"/>
              </a:rPr>
              <a:t>ld</a:t>
            </a:r>
            <a:r>
              <a:rPr lang="zh-CN" altLang="en-US" dirty="0">
                <a:latin typeface="Consolas" panose="020B0609020204030204" pitchFamily="49" charset="0"/>
              </a:rPr>
              <a:t>程序链接其它模块和库文件，得到最终的可执行文件</a:t>
            </a:r>
            <a:r>
              <a:rPr lang="en-US" altLang="zh-CN" dirty="0" err="1">
                <a:latin typeface="Consolas" panose="020B0609020204030204" pitchFamily="49" charset="0"/>
              </a:rPr>
              <a:t>hello_world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此系后话（</a:t>
            </a:r>
            <a:r>
              <a:rPr lang="en-US" altLang="zh-CN" dirty="0">
                <a:latin typeface="Consolas" panose="020B0609020204030204" pitchFamily="49" charset="0"/>
              </a:rPr>
              <a:t>PA 2-2</a:t>
            </a:r>
            <a:r>
              <a:rPr lang="zh-CN" altLang="en-US" dirty="0">
                <a:latin typeface="Consolas" panose="020B0609020204030204" pitchFamily="49" charset="0"/>
              </a:rPr>
              <a:t>，</a:t>
            </a:r>
            <a:r>
              <a:rPr lang="en-US" altLang="zh-CN" dirty="0">
                <a:latin typeface="Consolas" panose="020B0609020204030204" pitchFamily="49" charset="0"/>
              </a:rPr>
              <a:t>2-3</a:t>
            </a:r>
            <a:r>
              <a:rPr lang="zh-CN" altLang="en-US" dirty="0">
                <a:latin typeface="Consolas" panose="020B0609020204030204" pitchFamily="49" charset="0"/>
              </a:rPr>
              <a:t>简要认识），此时先略去不表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38200" y="1964469"/>
            <a:ext cx="5817141" cy="18158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–o </a:t>
            </a:r>
            <a:r>
              <a:rPr lang="en-US" altLang="zh-CN" sz="2400" dirty="0" err="1"/>
              <a:t>hello_world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hello_world.o</a:t>
            </a:r>
            <a:endParaRPr lang="en-US" altLang="zh-CN" sz="240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dirty="0"/>
              <a:t>$ ./</a:t>
            </a:r>
            <a:r>
              <a:rPr lang="en-US" altLang="zh-CN" sz="2400" dirty="0" err="1"/>
              <a:t>hello_world</a:t>
            </a:r>
            <a:endParaRPr lang="en-US" altLang="zh-CN" sz="240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dirty="0"/>
              <a:t>Hello World!</a:t>
            </a:r>
            <a:endParaRPr lang="zh-CN" altLang="en-US" sz="2400" dirty="0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828283" cy="73400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从高级语言到机器指令 </a:t>
            </a:r>
            <a:r>
              <a:rPr lang="en-US" altLang="zh-CN" dirty="0"/>
              <a:t>– C</a:t>
            </a:r>
            <a:r>
              <a:rPr lang="zh-CN" altLang="en-US" dirty="0"/>
              <a:t>语言程序编译的过程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和</a:t>
            </a:r>
            <a:r>
              <a:rPr lang="en-US" altLang="zh-CN" dirty="0"/>
              <a:t>PA</a:t>
            </a:r>
            <a:r>
              <a:rPr lang="zh-CN" altLang="en-US" dirty="0"/>
              <a:t>的关系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4000" y="1389707"/>
            <a:ext cx="3829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add.c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73625" y="1389707"/>
            <a:ext cx="3829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/bin/add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4000" y="2346091"/>
            <a:ext cx="3743325" cy="1938992"/>
          </a:xfrm>
          <a:prstGeom prst="rect">
            <a:avLst/>
          </a:prstGeom>
          <a:noFill/>
          <a:ln w="12700"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main()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return 0;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406900" y="2346091"/>
            <a:ext cx="4762500" cy="3693319"/>
          </a:xfrm>
          <a:prstGeom prst="rect">
            <a:avLst/>
          </a:prstGeom>
          <a:ln w="12700"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bin/add:     file format elf32-i386</a:t>
            </a:r>
            <a:endParaRPr lang="zh-CN" altLang="en-US" dirty="0"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Disassembly of section .text:</a:t>
            </a:r>
            <a:endParaRPr lang="zh-CN" altLang="en-US" dirty="0"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00030000 &lt;start&gt;: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30000:       e9 00 00 00 00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00030005 &lt;main&gt;: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30005:       55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30006:       89 e5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30008:       53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30009:       83 ec 10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3000c:       e8 8f 00 00 00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3581400" y="2933700"/>
            <a:ext cx="1130300" cy="125905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200" dirty="0" err="1"/>
              <a:t>gcc</a:t>
            </a:r>
            <a:endParaRPr lang="zh-CN" altLang="en-US" sz="32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944" y="2346091"/>
            <a:ext cx="2359087" cy="1603609"/>
          </a:xfrm>
          <a:prstGeom prst="rect">
            <a:avLst/>
          </a:prstGeom>
        </p:spPr>
      </p:pic>
      <p:sp>
        <p:nvSpPr>
          <p:cNvPr id="14" name="右箭头 13"/>
          <p:cNvSpPr/>
          <p:nvPr/>
        </p:nvSpPr>
        <p:spPr>
          <a:xfrm>
            <a:off x="8153400" y="2933700"/>
            <a:ext cx="1425575" cy="125905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装载</a:t>
            </a:r>
            <a:endParaRPr lang="zh-CN" altLang="en-US" sz="3200" dirty="0"/>
          </a:p>
        </p:txBody>
      </p:sp>
      <p:sp>
        <p:nvSpPr>
          <p:cNvPr id="15" name="文本框 14"/>
          <p:cNvSpPr txBox="1"/>
          <p:nvPr/>
        </p:nvSpPr>
        <p:spPr>
          <a:xfrm>
            <a:off x="9679006" y="4192750"/>
            <a:ext cx="21050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/>
              <a:t>nemu</a:t>
            </a:r>
            <a:r>
              <a:rPr lang="zh-CN" altLang="en-US" sz="2800" dirty="0"/>
              <a:t>本身也被编译成二进制的可执行文件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34002"/>
          </a:xfrm>
        </p:spPr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装载</a:t>
            </a:r>
            <a:r>
              <a:rPr lang="en-US" altLang="zh-CN" dirty="0" err="1"/>
              <a:t>testcase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655" y="4587072"/>
            <a:ext cx="4395089" cy="182515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矩形 9"/>
          <p:cNvSpPr/>
          <p:nvPr/>
        </p:nvSpPr>
        <p:spPr>
          <a:xfrm>
            <a:off x="216549" y="702728"/>
            <a:ext cx="7429500" cy="5940088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Consolas" panose="020B0609020204030204" pitchFamily="49" charset="0"/>
              </a:rPr>
              <a:t>// load executable files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static void load_exec(const char *image_file, const uint32_t load_off)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{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// NEMU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装载测试用例</a:t>
            </a:r>
            <a:endParaRPr lang="zh-CN" altLang="en-US" sz="20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int ret;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FILE *fp = fopen(image_file, "rb");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assert(fp != 0);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fseek(fp, 0, SEEK_END);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size_t file_size = ftell(fp);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fseek(fp, 0, SEEK_SET);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ret = fread(</a:t>
            </a:r>
            <a:r>
              <a:rPr lang="zh-CN" altLang="en-US" sz="2000" dirty="0">
                <a:solidFill>
                  <a:schemeClr val="accent6"/>
                </a:solidFill>
                <a:latin typeface="Consolas" panose="020B0609020204030204" pitchFamily="49" charset="0"/>
              </a:rPr>
              <a:t>get_mem_addr() + load_off</a:t>
            </a:r>
            <a:r>
              <a:rPr lang="zh-CN" altLang="en-US" sz="1200" dirty="0">
                <a:latin typeface="Consolas" panose="020B0609020204030204" pitchFamily="49" charset="0"/>
              </a:rPr>
              <a:t>, file_size, 1, fp);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assert(ret == 1);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fclose(fp);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}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static void single_run(const char *img_file_path, const char *elf_file_path)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{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单次执行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NEMU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，每次运行一个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testcase</a:t>
            </a:r>
            <a:endParaRPr lang="zh-CN" altLang="en-US" sz="20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restart(INIT_EIP); 	...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load_exec(img_file_path, LOAD_OFF); // Load the memory image of executable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...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}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int main(int argc, char *argv[])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{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// main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函数</a:t>
            </a:r>
            <a:endParaRPr lang="zh-CN" altLang="en-US" sz="20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...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single_run(image_path_score, elf_path_score);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...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}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9505950" y="4495800"/>
            <a:ext cx="1511300" cy="4635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991021" y="5948752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可执行文件及其镜像路径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527722" y="105391"/>
            <a:ext cx="382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main.c</a:t>
            </a:r>
            <a:endParaRPr lang="zh-CN" altLang="en-US" sz="24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5059235" y="4845653"/>
            <a:ext cx="4438511" cy="1074586"/>
          </a:xfrm>
          <a:custGeom>
            <a:avLst/>
            <a:gdLst>
              <a:gd name="connsiteX0" fmla="*/ 4438511 w 4438511"/>
              <a:gd name="connsiteY0" fmla="*/ 0 h 1074586"/>
              <a:gd name="connsiteX1" fmla="*/ 0 w 4438511"/>
              <a:gd name="connsiteY1" fmla="*/ 1074586 h 1074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38511" h="1074586">
                <a:moveTo>
                  <a:pt x="4438511" y="0"/>
                </a:moveTo>
                <a:lnTo>
                  <a:pt x="0" y="1074586"/>
                </a:lnTo>
              </a:path>
            </a:pathLst>
          </a:custGeom>
          <a:noFill/>
          <a:ln w="25400"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851683" y="2764030"/>
            <a:ext cx="3010177" cy="120032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Consolas" panose="020B0609020204030204" pitchFamily="49" charset="0"/>
              </a:rPr>
              <a:t>uint8_t hw_mem[MEM_SIZE_B];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uint8_t *get_mem_addr()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{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return hw_mem;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}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784655" y="2256729"/>
            <a:ext cx="4285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/memory/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memory.c</a:t>
            </a:r>
            <a:endParaRPr lang="zh-CN" altLang="en-US" sz="24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708170" y="2491929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装载</a:t>
            </a:r>
            <a:r>
              <a:rPr lang="en-US" altLang="zh-CN" dirty="0" err="1"/>
              <a:t>testcase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359260"/>
            <a:ext cx="1269574" cy="126957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47701" y="38241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0x7FFFFFF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                 ~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7011" y="59257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11656" y="1987328"/>
            <a:ext cx="69686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@ 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/memory/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memory.c</a:t>
            </a:r>
            <a:endParaRPr lang="en-US" altLang="zh-CN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uint8_t </a:t>
            </a:r>
            <a:r>
              <a:rPr lang="en-US" altLang="zh-CN" sz="3600" dirty="0" err="1">
                <a:latin typeface="Consolas" panose="020B0609020204030204" pitchFamily="49" charset="0"/>
              </a:rPr>
              <a:t>hw_mem</a:t>
            </a:r>
            <a:r>
              <a:rPr lang="en-US" altLang="zh-CN" sz="3600" dirty="0">
                <a:latin typeface="Consolas" panose="020B0609020204030204" pitchFamily="49" charset="0"/>
              </a:rPr>
              <a:t>[MEM_SIZE_B]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  <p:sp>
        <p:nvSpPr>
          <p:cNvPr id="11" name="左大括号 10"/>
          <p:cNvSpPr/>
          <p:nvPr/>
        </p:nvSpPr>
        <p:spPr>
          <a:xfrm rot="5400000">
            <a:off x="5916984" y="-1322575"/>
            <a:ext cx="392623" cy="9738257"/>
          </a:xfrm>
          <a:prstGeom prst="leftBrace">
            <a:avLst>
              <a:gd name="adj1" fmla="val 42810"/>
              <a:gd name="adj2" fmla="val 55337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38199" y="1366367"/>
            <a:ext cx="10313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1.1 NEMU</a:t>
            </a:r>
            <a:r>
              <a:rPr lang="zh-CN" altLang="en-US" sz="3600" dirty="0"/>
              <a:t>初始化模拟内存（</a:t>
            </a:r>
            <a:r>
              <a:rPr lang="en-US" altLang="zh-CN" sz="3600" dirty="0"/>
              <a:t>PA 2-1</a:t>
            </a:r>
            <a:r>
              <a:rPr lang="zh-CN" altLang="en-US" sz="3600" dirty="0"/>
              <a:t>的装载）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304925" y="822960"/>
            <a:ext cx="9776460" cy="533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64945" y="1005840"/>
            <a:ext cx="5928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</a:rPr>
              <a:t>真机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129914" y="2137409"/>
            <a:ext cx="7747635" cy="38728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408045" y="2273796"/>
            <a:ext cx="5928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</a:rPr>
              <a:t>NEMU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334000" y="3405366"/>
            <a:ext cx="5210174" cy="23717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 err="1"/>
              <a:t>Testcase</a:t>
            </a:r>
            <a:endParaRPr lang="zh-CN" altLang="en-US" sz="4000" dirty="0"/>
          </a:p>
        </p:txBody>
      </p:sp>
      <p:sp>
        <p:nvSpPr>
          <p:cNvPr id="24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34002"/>
          </a:xfrm>
        </p:spPr>
        <p:txBody>
          <a:bodyPr/>
          <a:lstStyle/>
          <a:p>
            <a:r>
              <a:rPr lang="zh-CN" altLang="en-US" dirty="0"/>
              <a:t>层次关系：装载到内存并执行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734554" y="2765390"/>
            <a:ext cx="1269574" cy="126957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879659" y="3650734"/>
            <a:ext cx="138614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Consolas" panose="020B0609020204030204" pitchFamily="49" charset="0"/>
              </a:rPr>
              <a:t>e9 00 00 00 00 55 89 e5 53 83 ec 10 e8 8f 00 00 00 </a:t>
            </a:r>
            <a:r>
              <a:rPr lang="en-US" altLang="zh-CN" sz="3600" dirty="0">
                <a:latin typeface="Consolas" panose="020B0609020204030204" pitchFamily="49" charset="0"/>
              </a:rPr>
              <a:t>...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1087100" cy="1664601"/>
          </a:xfrm>
        </p:spPr>
        <p:txBody>
          <a:bodyPr/>
          <a:lstStyle/>
          <a:p>
            <a:r>
              <a:rPr lang="zh-CN" altLang="en-US" dirty="0"/>
              <a:t>不管什么语言写的程序，最后交给</a:t>
            </a:r>
            <a:r>
              <a:rPr lang="en-US" altLang="zh-CN" dirty="0"/>
              <a:t>CPU</a:t>
            </a:r>
            <a:r>
              <a:rPr lang="zh-CN" altLang="en-US" dirty="0"/>
              <a:t>执行的，都是机器指令的序列</a:t>
            </a:r>
            <a:endParaRPr lang="en-US" altLang="zh-CN" dirty="0"/>
          </a:p>
          <a:p>
            <a:r>
              <a:rPr lang="zh-CN" altLang="en-US" dirty="0"/>
              <a:t>这些指令与对应的汇编助记符一一对应</a:t>
            </a:r>
            <a:endParaRPr lang="en-US" altLang="zh-CN" dirty="0"/>
          </a:p>
          <a:p>
            <a:r>
              <a:rPr lang="zh-CN" altLang="en-US" dirty="0"/>
              <a:t>包含机器指令的可执行程序被装载到计算机的内存并执行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62" y="3352358"/>
            <a:ext cx="1739383" cy="1295841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879658" y="4636313"/>
            <a:ext cx="137351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jmp 30005; push %ebp; mov %esp,%ebp; push %ebx; sub $0x10,%esp; call 300a0; ...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8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从高级语言到机器指令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汇编语句与机器指令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C00000"/>
                </a:solidFill>
              </a:rPr>
              <a:t>认识</a:t>
            </a:r>
            <a:r>
              <a:rPr lang="en-US" altLang="zh-CN" b="1" dirty="0">
                <a:solidFill>
                  <a:srgbClr val="C00000"/>
                </a:solidFill>
              </a:rPr>
              <a:t>Intel</a:t>
            </a:r>
            <a:r>
              <a:rPr lang="zh-CN" altLang="en-US" b="1" dirty="0">
                <a:solidFill>
                  <a:srgbClr val="C00000"/>
                </a:solidFill>
              </a:rPr>
              <a:t>和</a:t>
            </a:r>
            <a:r>
              <a:rPr lang="en-US" altLang="zh-CN" b="1" dirty="0">
                <a:solidFill>
                  <a:srgbClr val="C00000"/>
                </a:solidFill>
              </a:rPr>
              <a:t>AT&amp;T</a:t>
            </a:r>
            <a:r>
              <a:rPr lang="zh-CN" altLang="en-US" b="1" dirty="0">
                <a:solidFill>
                  <a:srgbClr val="C00000"/>
                </a:solidFill>
              </a:rPr>
              <a:t>汇编助记符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C00000"/>
                </a:solidFill>
              </a:rPr>
              <a:t>学会查阅</a:t>
            </a:r>
            <a:r>
              <a:rPr lang="en-US" altLang="zh-CN" b="1" dirty="0">
                <a:solidFill>
                  <a:srgbClr val="C00000"/>
                </a:solidFill>
              </a:rPr>
              <a:t>i386</a:t>
            </a:r>
            <a:r>
              <a:rPr lang="zh-CN" altLang="en-US" b="1" dirty="0">
                <a:solidFill>
                  <a:srgbClr val="C00000"/>
                </a:solidFill>
              </a:rPr>
              <a:t>手册指令描述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C00000"/>
                </a:solidFill>
              </a:rPr>
              <a:t>尝试使用汇编写程序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b="1" dirty="0"/>
              <a:t>尝试用</a:t>
            </a:r>
            <a:r>
              <a:rPr lang="en-US" altLang="zh-CN" b="1" dirty="0" err="1"/>
              <a:t>gdb</a:t>
            </a:r>
            <a:r>
              <a:rPr lang="zh-CN" altLang="en-US" b="1" dirty="0"/>
              <a:t>调试程序</a:t>
            </a:r>
            <a:endParaRPr lang="en-US" altLang="zh-CN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DAA0-425D-447F-9CFA-038EAD2E0C1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汇编语言编程（指令的格式）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70051" y="1257635"/>
            <a:ext cx="93282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(</a:t>
            </a:r>
            <a:r>
              <a:rPr lang="en-US" altLang="zh-CN" sz="3200" dirty="0" err="1"/>
              <a:t>gcc</a:t>
            </a:r>
            <a:r>
              <a:rPr lang="zh-CN" altLang="en-US" sz="3200" dirty="0"/>
              <a:t>接受的格式，也是我们写程序采用的格式）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en-US" altLang="zh-CN" sz="3200" b="1" dirty="0"/>
              <a:t>AT&amp;T</a:t>
            </a:r>
            <a:r>
              <a:rPr lang="zh-CN" altLang="en-US" sz="3200" b="1" dirty="0"/>
              <a:t>格式</a:t>
            </a:r>
            <a:r>
              <a:rPr lang="zh-CN" altLang="en-US" sz="3200" dirty="0"/>
              <a:t>：</a:t>
            </a:r>
            <a:r>
              <a:rPr lang="zh-CN" altLang="en-US" sz="3200" dirty="0">
                <a:solidFill>
                  <a:srgbClr val="C00000"/>
                </a:solidFill>
              </a:rPr>
              <a:t>指令</a:t>
            </a:r>
            <a:r>
              <a:rPr lang="zh-CN" altLang="en-US" sz="3200" dirty="0">
                <a:solidFill>
                  <a:srgbClr val="0070C0"/>
                </a:solidFill>
              </a:rPr>
              <a:t>长度后缀</a:t>
            </a:r>
            <a:r>
              <a:rPr lang="zh-CN" altLang="en-US" sz="3200" dirty="0"/>
              <a:t> </a:t>
            </a:r>
            <a:r>
              <a:rPr lang="zh-CN" altLang="en-US" sz="3200" dirty="0">
                <a:solidFill>
                  <a:schemeClr val="accent4">
                    <a:lumMod val="75000"/>
                  </a:schemeClr>
                </a:solidFill>
              </a:rPr>
              <a:t>源操作数</a:t>
            </a:r>
            <a:r>
              <a:rPr lang="en-US" altLang="zh-CN" sz="3200" dirty="0"/>
              <a:t>, </a:t>
            </a:r>
            <a:r>
              <a:rPr lang="zh-CN" altLang="en-US" sz="3200" dirty="0">
                <a:solidFill>
                  <a:srgbClr val="00B050"/>
                </a:solidFill>
              </a:rPr>
              <a:t>目的操作数</a:t>
            </a:r>
            <a:endParaRPr lang="zh-CN" altLang="en-US" sz="3200" dirty="0">
              <a:solidFill>
                <a:srgbClr val="00B05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72084" y="2737495"/>
            <a:ext cx="40064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C00000"/>
                </a:solidFill>
              </a:rPr>
              <a:t>mov</a:t>
            </a:r>
            <a:r>
              <a:rPr lang="zh-CN" altLang="en-US" sz="4400" dirty="0">
                <a:solidFill>
                  <a:srgbClr val="0070C0"/>
                </a:solidFill>
              </a:rPr>
              <a:t>l</a:t>
            </a:r>
            <a:r>
              <a:rPr lang="zh-CN" altLang="en-US" sz="4400" dirty="0"/>
              <a:t> </a:t>
            </a:r>
            <a:r>
              <a:rPr lang="zh-CN" altLang="en-US" sz="4400" dirty="0">
                <a:solidFill>
                  <a:schemeClr val="accent4">
                    <a:lumMod val="75000"/>
                  </a:schemeClr>
                </a:solidFill>
              </a:rPr>
              <a:t>$0x7</a:t>
            </a:r>
            <a:r>
              <a:rPr lang="zh-CN" altLang="en-US" sz="4400" dirty="0"/>
              <a:t>, </a:t>
            </a:r>
            <a:r>
              <a:rPr lang="zh-CN" altLang="en-US" sz="4400" dirty="0">
                <a:solidFill>
                  <a:srgbClr val="00B050"/>
                </a:solidFill>
              </a:rPr>
              <a:t>%eax</a:t>
            </a:r>
            <a:endParaRPr lang="zh-CN" altLang="en-US" sz="4400" dirty="0">
              <a:solidFill>
                <a:srgbClr val="00B05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70051" y="4483980"/>
            <a:ext cx="8813259" cy="14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INTEL</a:t>
            </a:r>
            <a:r>
              <a:rPr lang="zh-CN" altLang="en-US" sz="3200" b="1" dirty="0"/>
              <a:t>格式</a:t>
            </a:r>
            <a:r>
              <a:rPr lang="zh-CN" altLang="en-US" sz="3200" dirty="0"/>
              <a:t>：</a:t>
            </a:r>
            <a:r>
              <a:rPr lang="zh-CN" altLang="en-US" sz="3200" dirty="0">
                <a:solidFill>
                  <a:srgbClr val="C00000"/>
                </a:solidFill>
              </a:rPr>
              <a:t>指令</a:t>
            </a:r>
            <a:r>
              <a:rPr lang="zh-CN" altLang="en-US" sz="3200" dirty="0">
                <a:solidFill>
                  <a:srgbClr val="00B050"/>
                </a:solidFill>
              </a:rPr>
              <a:t>目的操作数</a:t>
            </a:r>
            <a:r>
              <a:rPr lang="en-US" altLang="zh-CN" sz="3200" dirty="0">
                <a:solidFill>
                  <a:srgbClr val="00B050"/>
                </a:solidFill>
              </a:rPr>
              <a:t>, </a:t>
            </a:r>
            <a:r>
              <a:rPr lang="zh-CN" altLang="en-US" sz="3200" dirty="0">
                <a:solidFill>
                  <a:schemeClr val="accent4">
                    <a:lumMod val="75000"/>
                  </a:schemeClr>
                </a:solidFill>
              </a:rPr>
              <a:t>源操作数</a:t>
            </a:r>
            <a:endParaRPr lang="en-US" altLang="zh-CN" sz="3200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/>
              <a:t>(i386</a:t>
            </a:r>
            <a:r>
              <a:rPr lang="zh-CN" altLang="en-US" sz="3200" dirty="0"/>
              <a:t>手册上采用的格式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4272084" y="3870155"/>
            <a:ext cx="46303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rgbClr val="C00000"/>
                </a:solidFill>
              </a:rPr>
              <a:t>MOV</a:t>
            </a:r>
            <a:r>
              <a:rPr lang="en-US" altLang="zh-CN" sz="4400" dirty="0"/>
              <a:t> </a:t>
            </a:r>
            <a:r>
              <a:rPr lang="en-US" altLang="zh-CN" sz="4400" dirty="0">
                <a:solidFill>
                  <a:srgbClr val="00B050"/>
                </a:solidFill>
              </a:rPr>
              <a:t>EAX</a:t>
            </a:r>
            <a:r>
              <a:rPr lang="en-US" altLang="zh-CN" sz="4400" dirty="0"/>
              <a:t>, </a:t>
            </a:r>
            <a:r>
              <a:rPr lang="en-US" altLang="zh-CN" sz="4400" dirty="0">
                <a:solidFill>
                  <a:schemeClr val="accent4">
                    <a:lumMod val="75000"/>
                  </a:schemeClr>
                </a:solidFill>
              </a:rPr>
              <a:t>0x7</a:t>
            </a:r>
            <a:endParaRPr lang="zh-CN" altLang="en-US" sz="4400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644757" y="3724240"/>
            <a:ext cx="9426102" cy="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汇编语言编程（指令的格式）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70051" y="1257635"/>
            <a:ext cx="93282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(</a:t>
            </a:r>
            <a:r>
              <a:rPr lang="en-US" altLang="zh-CN" sz="3200" dirty="0" err="1"/>
              <a:t>gcc</a:t>
            </a:r>
            <a:r>
              <a:rPr lang="zh-CN" altLang="en-US" sz="3200" dirty="0"/>
              <a:t>接受的格式，也是我们写程序采用的格式）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en-US" altLang="zh-CN" sz="3200" b="1" dirty="0"/>
              <a:t>AT&amp;T</a:t>
            </a:r>
            <a:r>
              <a:rPr lang="zh-CN" altLang="en-US" sz="3200" b="1" dirty="0"/>
              <a:t>格式</a:t>
            </a:r>
            <a:r>
              <a:rPr lang="zh-CN" altLang="en-US" sz="3200" dirty="0"/>
              <a:t>：</a:t>
            </a:r>
            <a:r>
              <a:rPr lang="zh-CN" altLang="en-US" sz="3200" dirty="0">
                <a:solidFill>
                  <a:srgbClr val="C00000"/>
                </a:solidFill>
              </a:rPr>
              <a:t>指令</a:t>
            </a:r>
            <a:r>
              <a:rPr lang="zh-CN" altLang="en-US" sz="3200" dirty="0">
                <a:solidFill>
                  <a:srgbClr val="0070C0"/>
                </a:solidFill>
              </a:rPr>
              <a:t>长度后缀</a:t>
            </a:r>
            <a:r>
              <a:rPr lang="zh-CN" altLang="en-US" sz="3200" dirty="0"/>
              <a:t> </a:t>
            </a:r>
            <a:r>
              <a:rPr lang="zh-CN" altLang="en-US" sz="3200" dirty="0">
                <a:solidFill>
                  <a:schemeClr val="accent4">
                    <a:lumMod val="75000"/>
                  </a:schemeClr>
                </a:solidFill>
              </a:rPr>
              <a:t>源操作数</a:t>
            </a:r>
            <a:r>
              <a:rPr lang="en-US" altLang="zh-CN" sz="3200" dirty="0"/>
              <a:t>, </a:t>
            </a:r>
            <a:r>
              <a:rPr lang="zh-CN" altLang="en-US" sz="3200" dirty="0">
                <a:solidFill>
                  <a:srgbClr val="00B050"/>
                </a:solidFill>
              </a:rPr>
              <a:t>目的操作数</a:t>
            </a:r>
            <a:endParaRPr lang="zh-CN" altLang="en-US" sz="3200" dirty="0">
              <a:solidFill>
                <a:srgbClr val="00B05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72084" y="2737495"/>
            <a:ext cx="40064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C00000"/>
                </a:solidFill>
              </a:rPr>
              <a:t>mov</a:t>
            </a:r>
            <a:r>
              <a:rPr lang="zh-CN" altLang="en-US" sz="4400" dirty="0">
                <a:solidFill>
                  <a:srgbClr val="0070C0"/>
                </a:solidFill>
              </a:rPr>
              <a:t>l</a:t>
            </a:r>
            <a:r>
              <a:rPr lang="zh-CN" altLang="en-US" sz="4400" dirty="0"/>
              <a:t> </a:t>
            </a:r>
            <a:r>
              <a:rPr lang="zh-CN" altLang="en-US" sz="4400" dirty="0">
                <a:solidFill>
                  <a:schemeClr val="accent4">
                    <a:lumMod val="75000"/>
                  </a:schemeClr>
                </a:solidFill>
              </a:rPr>
              <a:t>$0x7</a:t>
            </a:r>
            <a:r>
              <a:rPr lang="zh-CN" altLang="en-US" sz="4400" dirty="0"/>
              <a:t>, </a:t>
            </a:r>
            <a:r>
              <a:rPr lang="zh-CN" altLang="en-US" sz="4400" dirty="0">
                <a:solidFill>
                  <a:srgbClr val="00B050"/>
                </a:solidFill>
              </a:rPr>
              <a:t>%eax</a:t>
            </a:r>
            <a:endParaRPr lang="zh-CN" altLang="en-US" sz="4400" dirty="0">
              <a:solidFill>
                <a:srgbClr val="00B05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70051" y="4483980"/>
            <a:ext cx="8813259" cy="14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INTEL</a:t>
            </a:r>
            <a:r>
              <a:rPr lang="zh-CN" altLang="en-US" sz="3200" b="1" dirty="0"/>
              <a:t>格式</a:t>
            </a:r>
            <a:r>
              <a:rPr lang="zh-CN" altLang="en-US" sz="3200" dirty="0"/>
              <a:t>：</a:t>
            </a:r>
            <a:r>
              <a:rPr lang="zh-CN" altLang="en-US" sz="3200" dirty="0">
                <a:solidFill>
                  <a:srgbClr val="C00000"/>
                </a:solidFill>
              </a:rPr>
              <a:t>指令</a:t>
            </a:r>
            <a:r>
              <a:rPr lang="zh-CN" altLang="en-US" sz="3200" dirty="0">
                <a:solidFill>
                  <a:srgbClr val="00B050"/>
                </a:solidFill>
              </a:rPr>
              <a:t>目的操作数</a:t>
            </a:r>
            <a:r>
              <a:rPr lang="en-US" altLang="zh-CN" sz="3200" dirty="0">
                <a:solidFill>
                  <a:srgbClr val="00B050"/>
                </a:solidFill>
              </a:rPr>
              <a:t>, </a:t>
            </a:r>
            <a:r>
              <a:rPr lang="zh-CN" altLang="en-US" sz="3200" dirty="0">
                <a:solidFill>
                  <a:schemeClr val="accent4">
                    <a:lumMod val="75000"/>
                  </a:schemeClr>
                </a:solidFill>
              </a:rPr>
              <a:t>源操作数</a:t>
            </a:r>
            <a:endParaRPr lang="en-US" altLang="zh-CN" sz="3200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/>
              <a:t>(i386</a:t>
            </a:r>
            <a:r>
              <a:rPr lang="zh-CN" altLang="en-US" sz="3200" dirty="0"/>
              <a:t>手册上采用的格式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4272084" y="3870155"/>
            <a:ext cx="46303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rgbClr val="C00000"/>
                </a:solidFill>
              </a:rPr>
              <a:t>MOV</a:t>
            </a:r>
            <a:r>
              <a:rPr lang="en-US" altLang="zh-CN" sz="4400" dirty="0"/>
              <a:t> </a:t>
            </a:r>
            <a:r>
              <a:rPr lang="en-US" altLang="zh-CN" sz="4400" dirty="0">
                <a:solidFill>
                  <a:srgbClr val="00B050"/>
                </a:solidFill>
              </a:rPr>
              <a:t>EAX</a:t>
            </a:r>
            <a:r>
              <a:rPr lang="en-US" altLang="zh-CN" sz="4400" dirty="0"/>
              <a:t>, </a:t>
            </a:r>
            <a:r>
              <a:rPr lang="en-US" altLang="zh-CN" sz="4400" dirty="0">
                <a:solidFill>
                  <a:schemeClr val="accent4">
                    <a:lumMod val="75000"/>
                  </a:schemeClr>
                </a:solidFill>
              </a:rPr>
              <a:t>0x7</a:t>
            </a:r>
            <a:endParaRPr lang="zh-CN" altLang="en-US" sz="4400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644757" y="3724240"/>
            <a:ext cx="9426102" cy="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4346128" y="1977768"/>
            <a:ext cx="1119251" cy="952902"/>
          </a:xfrm>
          <a:prstGeom prst="ellipse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595794"/>
          </a:xfrm>
        </p:spPr>
        <p:txBody>
          <a:bodyPr/>
          <a:lstStyle/>
          <a:p>
            <a:r>
              <a:rPr lang="en-US" altLang="zh-CN" dirty="0"/>
              <a:t>i386</a:t>
            </a:r>
            <a:r>
              <a:rPr lang="zh-CN" altLang="en-US" dirty="0"/>
              <a:t>指令集：有哪些指令我们可以用？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742173" y="2193684"/>
          <a:ext cx="9496123" cy="29788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3340"/>
                <a:gridCol w="6452783"/>
              </a:tblGrid>
              <a:tr h="595765">
                <a:tc>
                  <a:txBody>
                    <a:bodyPr/>
                    <a:lstStyle/>
                    <a:p>
                      <a:r>
                        <a:rPr lang="zh-CN" altLang="en-US" sz="2800" dirty="0">
                          <a:solidFill>
                            <a:schemeClr val="bg1"/>
                          </a:solidFill>
                        </a:rPr>
                        <a:t>类型</a:t>
                      </a:r>
                      <a:endParaRPr lang="zh-CN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dirty="0">
                          <a:solidFill>
                            <a:schemeClr val="bg1"/>
                          </a:solidFill>
                        </a:rPr>
                        <a:t>举例 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</a:rPr>
                        <a:t>长度后缀省略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zh-CN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95765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传送指令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800" dirty="0" err="1"/>
                        <a:t>mov</a:t>
                      </a:r>
                      <a:r>
                        <a:rPr lang="en-US" altLang="zh-CN" sz="2800" dirty="0"/>
                        <a:t>,</a:t>
                      </a:r>
                      <a:r>
                        <a:rPr lang="en-US" altLang="zh-CN" sz="2800" baseline="0" dirty="0"/>
                        <a:t> </a:t>
                      </a:r>
                      <a:r>
                        <a:rPr lang="en-US" altLang="zh-CN" sz="2800" baseline="0" dirty="0" err="1"/>
                        <a:t>xchg</a:t>
                      </a:r>
                      <a:r>
                        <a:rPr lang="en-US" altLang="zh-CN" sz="2800" baseline="0" dirty="0"/>
                        <a:t>, push, lea, …, in, out, …</a:t>
                      </a:r>
                      <a:endParaRPr lang="zh-CN" altLang="en-US" sz="2800" dirty="0"/>
                    </a:p>
                  </a:txBody>
                  <a:tcPr anchor="ctr"/>
                </a:tc>
              </a:tr>
              <a:tr h="595765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定点算术运算指令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add, sub, </a:t>
                      </a:r>
                      <a:r>
                        <a:rPr lang="en-US" altLang="zh-CN" sz="2800" dirty="0" err="1"/>
                        <a:t>mul</a:t>
                      </a:r>
                      <a:r>
                        <a:rPr lang="en-US" altLang="zh-CN" sz="2800" dirty="0"/>
                        <a:t>, div, </a:t>
                      </a:r>
                      <a:r>
                        <a:rPr lang="en-US" altLang="zh-CN" sz="2800" dirty="0" err="1"/>
                        <a:t>inc</a:t>
                      </a:r>
                      <a:r>
                        <a:rPr lang="en-US" altLang="zh-CN" sz="2800" dirty="0"/>
                        <a:t>, </a:t>
                      </a:r>
                      <a:r>
                        <a:rPr lang="en-US" altLang="zh-CN" sz="2800" dirty="0" err="1"/>
                        <a:t>dec</a:t>
                      </a:r>
                      <a:r>
                        <a:rPr lang="en-US" altLang="zh-CN" sz="2800" dirty="0"/>
                        <a:t>, </a:t>
                      </a:r>
                      <a:r>
                        <a:rPr lang="en-US" altLang="zh-CN" sz="2800" dirty="0" err="1"/>
                        <a:t>cmp</a:t>
                      </a:r>
                      <a:r>
                        <a:rPr lang="en-US" altLang="zh-CN" sz="2800" dirty="0"/>
                        <a:t>, …</a:t>
                      </a:r>
                      <a:endParaRPr lang="zh-CN" altLang="en-US" sz="2800" dirty="0"/>
                    </a:p>
                  </a:txBody>
                  <a:tcPr anchor="ctr"/>
                </a:tc>
              </a:tr>
              <a:tr h="595765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按位运算指令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and, not, or, </a:t>
                      </a:r>
                      <a:r>
                        <a:rPr lang="en-US" altLang="zh-CN" sz="2800" dirty="0" err="1"/>
                        <a:t>xor</a:t>
                      </a:r>
                      <a:r>
                        <a:rPr lang="en-US" altLang="zh-CN" sz="2800" dirty="0"/>
                        <a:t>, test, </a:t>
                      </a:r>
                      <a:r>
                        <a:rPr lang="en-US" altLang="zh-CN" sz="2800" dirty="0" err="1"/>
                        <a:t>shr</a:t>
                      </a:r>
                      <a:r>
                        <a:rPr lang="en-US" altLang="zh-CN" sz="2800" dirty="0"/>
                        <a:t>, </a:t>
                      </a:r>
                      <a:r>
                        <a:rPr lang="en-US" altLang="zh-CN" sz="2800" dirty="0" err="1"/>
                        <a:t>shl</a:t>
                      </a:r>
                      <a:r>
                        <a:rPr lang="en-US" altLang="zh-CN" sz="2800" dirty="0"/>
                        <a:t>, …</a:t>
                      </a:r>
                      <a:endParaRPr lang="zh-CN" altLang="en-US" sz="2800" dirty="0"/>
                    </a:p>
                  </a:txBody>
                  <a:tcPr anchor="ctr"/>
                </a:tc>
              </a:tr>
              <a:tr h="595765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控制转移指令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call, ret, </a:t>
                      </a:r>
                      <a:r>
                        <a:rPr lang="en-US" altLang="zh-CN" sz="2800" dirty="0" err="1"/>
                        <a:t>jmp</a:t>
                      </a:r>
                      <a:r>
                        <a:rPr lang="en-US" altLang="zh-CN" sz="2800" dirty="0"/>
                        <a:t>,</a:t>
                      </a:r>
                      <a:r>
                        <a:rPr lang="en-US" altLang="zh-CN" sz="2800" baseline="0" dirty="0"/>
                        <a:t> </a:t>
                      </a:r>
                      <a:r>
                        <a:rPr lang="en-US" altLang="zh-CN" sz="2800" baseline="0" dirty="0" err="1"/>
                        <a:t>jne</a:t>
                      </a:r>
                      <a:r>
                        <a:rPr lang="en-US" altLang="zh-CN" sz="2800" baseline="0" dirty="0"/>
                        <a:t>, </a:t>
                      </a:r>
                      <a:r>
                        <a:rPr lang="en-US" altLang="zh-CN" sz="2800" baseline="0" dirty="0" err="1"/>
                        <a:t>jb</a:t>
                      </a:r>
                      <a:r>
                        <a:rPr lang="en-US" altLang="zh-CN" sz="2800" baseline="0" dirty="0"/>
                        <a:t>, …, </a:t>
                      </a:r>
                      <a:r>
                        <a:rPr lang="en-US" altLang="zh-CN" sz="2800" baseline="0" dirty="0" err="1"/>
                        <a:t>int</a:t>
                      </a:r>
                      <a:r>
                        <a:rPr lang="en-US" altLang="zh-CN" sz="2800" baseline="0" dirty="0"/>
                        <a:t>, </a:t>
                      </a:r>
                      <a:r>
                        <a:rPr lang="en-US" altLang="zh-CN" sz="2800" baseline="0" dirty="0" err="1"/>
                        <a:t>iret</a:t>
                      </a:r>
                      <a:r>
                        <a:rPr lang="en-US" altLang="zh-CN" sz="2800" baseline="0" dirty="0"/>
                        <a:t>, …</a:t>
                      </a:r>
                      <a:endParaRPr lang="zh-CN" altLang="en-US" sz="28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619250" y="5359384"/>
            <a:ext cx="6991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详见</a:t>
            </a:r>
            <a:r>
              <a:rPr lang="en-US" altLang="zh-CN" dirty="0"/>
              <a:t>i386</a:t>
            </a:r>
            <a:r>
              <a:rPr lang="zh-CN" altLang="en-US" dirty="0"/>
              <a:t>手册，以及</a:t>
            </a:r>
            <a:r>
              <a:rPr lang="en-US" altLang="zh-CN" dirty="0"/>
              <a:t>《</a:t>
            </a:r>
            <a:r>
              <a:rPr lang="zh-CN" altLang="en-US" dirty="0"/>
              <a:t>实验指导 </a:t>
            </a:r>
            <a:r>
              <a:rPr lang="en-US" altLang="zh-CN" dirty="0"/>
              <a:t>(Guide)》</a:t>
            </a:r>
            <a:r>
              <a:rPr lang="zh-CN" altLang="en-US" dirty="0"/>
              <a:t>第一页上列举的参考资料和网站，注意</a:t>
            </a:r>
            <a:r>
              <a:rPr lang="en-US" altLang="zh-CN" dirty="0"/>
              <a:t>Intel</a:t>
            </a:r>
            <a:r>
              <a:rPr lang="zh-CN" altLang="en-US" dirty="0"/>
              <a:t>和</a:t>
            </a:r>
            <a:r>
              <a:rPr lang="en-US" altLang="zh-CN" dirty="0" err="1"/>
              <a:t>At&amp;t</a:t>
            </a:r>
            <a:r>
              <a:rPr lang="zh-CN" altLang="en-US" dirty="0"/>
              <a:t>格式的区别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汇编语言编程（指令的格式）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70051" y="1257635"/>
            <a:ext cx="93282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(</a:t>
            </a:r>
            <a:r>
              <a:rPr lang="en-US" altLang="zh-CN" sz="3200" dirty="0" err="1"/>
              <a:t>gcc</a:t>
            </a:r>
            <a:r>
              <a:rPr lang="zh-CN" altLang="en-US" sz="3200" dirty="0"/>
              <a:t>接受的格式，也是我们写程序采用的格式）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en-US" altLang="zh-CN" sz="3200" b="1" dirty="0"/>
              <a:t>AT&amp;T</a:t>
            </a:r>
            <a:r>
              <a:rPr lang="zh-CN" altLang="en-US" sz="3200" b="1" dirty="0"/>
              <a:t>格式</a:t>
            </a:r>
            <a:r>
              <a:rPr lang="zh-CN" altLang="en-US" sz="3200" dirty="0"/>
              <a:t>：</a:t>
            </a:r>
            <a:r>
              <a:rPr lang="zh-CN" altLang="en-US" sz="3200" dirty="0">
                <a:solidFill>
                  <a:srgbClr val="C00000"/>
                </a:solidFill>
              </a:rPr>
              <a:t>指令</a:t>
            </a:r>
            <a:r>
              <a:rPr lang="zh-CN" altLang="en-US" sz="3200" dirty="0">
                <a:solidFill>
                  <a:srgbClr val="0070C0"/>
                </a:solidFill>
              </a:rPr>
              <a:t>长度后缀</a:t>
            </a:r>
            <a:r>
              <a:rPr lang="zh-CN" altLang="en-US" sz="3200" dirty="0"/>
              <a:t> </a:t>
            </a:r>
            <a:r>
              <a:rPr lang="zh-CN" altLang="en-US" sz="3200" dirty="0">
                <a:solidFill>
                  <a:schemeClr val="accent4">
                    <a:lumMod val="75000"/>
                  </a:schemeClr>
                </a:solidFill>
              </a:rPr>
              <a:t>源操作数</a:t>
            </a:r>
            <a:r>
              <a:rPr lang="en-US" altLang="zh-CN" sz="3200" dirty="0"/>
              <a:t>, </a:t>
            </a:r>
            <a:r>
              <a:rPr lang="zh-CN" altLang="en-US" sz="3200" dirty="0">
                <a:solidFill>
                  <a:srgbClr val="00B050"/>
                </a:solidFill>
              </a:rPr>
              <a:t>目的操作数</a:t>
            </a:r>
            <a:endParaRPr lang="zh-CN" altLang="en-US" sz="3200" dirty="0">
              <a:solidFill>
                <a:srgbClr val="00B05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72084" y="2737495"/>
            <a:ext cx="40064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C00000"/>
                </a:solidFill>
              </a:rPr>
              <a:t>mov</a:t>
            </a:r>
            <a:r>
              <a:rPr lang="zh-CN" altLang="en-US" sz="4400" dirty="0">
                <a:solidFill>
                  <a:srgbClr val="0070C0"/>
                </a:solidFill>
              </a:rPr>
              <a:t>l</a:t>
            </a:r>
            <a:r>
              <a:rPr lang="zh-CN" altLang="en-US" sz="4400" dirty="0"/>
              <a:t> </a:t>
            </a:r>
            <a:r>
              <a:rPr lang="zh-CN" altLang="en-US" sz="4400" dirty="0">
                <a:solidFill>
                  <a:schemeClr val="accent4">
                    <a:lumMod val="75000"/>
                  </a:schemeClr>
                </a:solidFill>
              </a:rPr>
              <a:t>$0x7</a:t>
            </a:r>
            <a:r>
              <a:rPr lang="zh-CN" altLang="en-US" sz="4400" dirty="0"/>
              <a:t>, </a:t>
            </a:r>
            <a:r>
              <a:rPr lang="zh-CN" altLang="en-US" sz="4400" dirty="0">
                <a:solidFill>
                  <a:srgbClr val="00B050"/>
                </a:solidFill>
              </a:rPr>
              <a:t>%eax</a:t>
            </a:r>
            <a:endParaRPr lang="zh-CN" altLang="en-US" sz="4400" dirty="0">
              <a:solidFill>
                <a:srgbClr val="00B05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70051" y="4483980"/>
            <a:ext cx="8813259" cy="14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INTEL</a:t>
            </a:r>
            <a:r>
              <a:rPr lang="zh-CN" altLang="en-US" sz="3200" b="1" dirty="0"/>
              <a:t>格式</a:t>
            </a:r>
            <a:r>
              <a:rPr lang="zh-CN" altLang="en-US" sz="3200" dirty="0"/>
              <a:t>：</a:t>
            </a:r>
            <a:r>
              <a:rPr lang="zh-CN" altLang="en-US" sz="3200" dirty="0">
                <a:solidFill>
                  <a:srgbClr val="C00000"/>
                </a:solidFill>
              </a:rPr>
              <a:t>指令</a:t>
            </a:r>
            <a:r>
              <a:rPr lang="zh-CN" altLang="en-US" sz="3200" dirty="0">
                <a:solidFill>
                  <a:srgbClr val="00B050"/>
                </a:solidFill>
              </a:rPr>
              <a:t>目的操作数</a:t>
            </a:r>
            <a:r>
              <a:rPr lang="en-US" altLang="zh-CN" sz="3200" dirty="0">
                <a:solidFill>
                  <a:srgbClr val="00B050"/>
                </a:solidFill>
              </a:rPr>
              <a:t>, </a:t>
            </a:r>
            <a:r>
              <a:rPr lang="zh-CN" altLang="en-US" sz="3200" dirty="0">
                <a:solidFill>
                  <a:schemeClr val="accent4">
                    <a:lumMod val="75000"/>
                  </a:schemeClr>
                </a:solidFill>
              </a:rPr>
              <a:t>源操作数</a:t>
            </a:r>
            <a:endParaRPr lang="en-US" altLang="zh-CN" sz="3200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/>
              <a:t>(i386</a:t>
            </a:r>
            <a:r>
              <a:rPr lang="zh-CN" altLang="en-US" sz="3200" dirty="0"/>
              <a:t>手册上采用的格式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4272084" y="3870155"/>
            <a:ext cx="46303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rgbClr val="C00000"/>
                </a:solidFill>
              </a:rPr>
              <a:t>MOV</a:t>
            </a:r>
            <a:r>
              <a:rPr lang="en-US" altLang="zh-CN" sz="4400" dirty="0"/>
              <a:t> </a:t>
            </a:r>
            <a:r>
              <a:rPr lang="en-US" altLang="zh-CN" sz="4400" dirty="0">
                <a:solidFill>
                  <a:srgbClr val="00B050"/>
                </a:solidFill>
              </a:rPr>
              <a:t>EAX</a:t>
            </a:r>
            <a:r>
              <a:rPr lang="en-US" altLang="zh-CN" sz="4400" dirty="0"/>
              <a:t>, </a:t>
            </a:r>
            <a:r>
              <a:rPr lang="en-US" altLang="zh-CN" sz="4400" dirty="0">
                <a:solidFill>
                  <a:schemeClr val="accent4">
                    <a:lumMod val="75000"/>
                  </a:schemeClr>
                </a:solidFill>
              </a:rPr>
              <a:t>0x7</a:t>
            </a:r>
            <a:endParaRPr lang="zh-CN" altLang="en-US" sz="4400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644757" y="3724240"/>
            <a:ext cx="9426102" cy="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5159141" y="1992429"/>
            <a:ext cx="2011680" cy="952902"/>
          </a:xfrm>
          <a:prstGeom prst="ellipse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汇编语言编程（长度后缀）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962078" y="1934580"/>
          <a:ext cx="6991350" cy="34304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8327"/>
                <a:gridCol w="1864386"/>
                <a:gridCol w="2828637"/>
              </a:tblGrid>
              <a:tr h="5957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名称</a:t>
                      </a:r>
                      <a:endParaRPr lang="zh-CN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长度（比特）</a:t>
                      </a:r>
                      <a:endParaRPr lang="zh-CN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长度后缀</a:t>
                      </a:r>
                      <a:endParaRPr lang="zh-CN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957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字节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en-US" altLang="zh-CN" sz="2800" dirty="0"/>
                        <a:t>Byte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dirty="0"/>
                        <a:t>8</a:t>
                      </a:r>
                      <a:endParaRPr lang="zh-CN" altLang="en-US" sz="4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dirty="0">
                          <a:latin typeface="Consolas" panose="020B0609020204030204" pitchFamily="49" charset="0"/>
                        </a:rPr>
                        <a:t>b</a:t>
                      </a:r>
                      <a:endParaRPr lang="zh-CN" altLang="en-US" sz="40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5957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字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en-US" altLang="zh-CN" sz="2800" dirty="0"/>
                        <a:t>Word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dirty="0"/>
                        <a:t>16</a:t>
                      </a:r>
                      <a:endParaRPr lang="zh-CN" altLang="en-US" sz="4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dirty="0">
                          <a:latin typeface="Consolas" panose="020B0609020204030204" pitchFamily="49" charset="0"/>
                        </a:rPr>
                        <a:t>w</a:t>
                      </a:r>
                      <a:endParaRPr lang="zh-CN" altLang="en-US" sz="40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5957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双字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en-US" altLang="zh-CN" sz="2800" dirty="0"/>
                        <a:t>Double Word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dirty="0"/>
                        <a:t>32</a:t>
                      </a:r>
                      <a:endParaRPr lang="zh-CN" altLang="en-US" sz="4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dirty="0"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40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8216278" y="2666818"/>
            <a:ext cx="37305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Consolas" panose="020B0609020204030204" pitchFamily="49" charset="0"/>
              </a:rPr>
              <a:t>mov</a:t>
            </a:r>
            <a:r>
              <a:rPr lang="en-US" altLang="zh-CN" sz="3600" dirty="0">
                <a:latin typeface="Consolas" panose="020B0609020204030204" pitchFamily="49" charset="0"/>
              </a:rPr>
              <a:t>b</a:t>
            </a:r>
            <a:r>
              <a:rPr lang="zh-CN" altLang="en-US" sz="3600" dirty="0">
                <a:latin typeface="Consolas" panose="020B0609020204030204" pitchFamily="49" charset="0"/>
              </a:rPr>
              <a:t> $0x7, %</a:t>
            </a:r>
            <a:r>
              <a:rPr lang="en-US" altLang="zh-CN" sz="3600" dirty="0">
                <a:latin typeface="Consolas" panose="020B0609020204030204" pitchFamily="49" charset="0"/>
              </a:rPr>
              <a:t>al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216277" y="3628078"/>
            <a:ext cx="37305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Consolas" panose="020B0609020204030204" pitchFamily="49" charset="0"/>
              </a:rPr>
              <a:t>mov</a:t>
            </a:r>
            <a:r>
              <a:rPr lang="en-US" altLang="zh-CN" sz="3600" dirty="0">
                <a:latin typeface="Consolas" panose="020B0609020204030204" pitchFamily="49" charset="0"/>
              </a:rPr>
              <a:t>w</a:t>
            </a:r>
            <a:r>
              <a:rPr lang="zh-CN" altLang="en-US" sz="3600" dirty="0">
                <a:latin typeface="Consolas" panose="020B0609020204030204" pitchFamily="49" charset="0"/>
              </a:rPr>
              <a:t> $0x7, %</a:t>
            </a:r>
            <a:r>
              <a:rPr lang="en-US" altLang="zh-CN" sz="3600" dirty="0">
                <a:latin typeface="Consolas" panose="020B0609020204030204" pitchFamily="49" charset="0"/>
              </a:rPr>
              <a:t>ax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216277" y="4557673"/>
            <a:ext cx="39837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Consolas" panose="020B0609020204030204" pitchFamily="49" charset="0"/>
              </a:rPr>
              <a:t>mov</a:t>
            </a:r>
            <a:r>
              <a:rPr lang="en-US" altLang="zh-CN" sz="3600" dirty="0">
                <a:latin typeface="Consolas" panose="020B0609020204030204" pitchFamily="49" charset="0"/>
              </a:rPr>
              <a:t>l</a:t>
            </a:r>
            <a:r>
              <a:rPr lang="zh-CN" altLang="en-US" sz="3600" dirty="0">
                <a:latin typeface="Consolas" panose="020B0609020204030204" pitchFamily="49" charset="0"/>
              </a:rPr>
              <a:t> $0x7, %</a:t>
            </a:r>
            <a:r>
              <a:rPr lang="en-US" altLang="zh-CN" sz="3600" dirty="0" err="1">
                <a:latin typeface="Consolas" panose="020B0609020204030204" pitchFamily="49" charset="0"/>
              </a:rPr>
              <a:t>eax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62078" y="5538952"/>
            <a:ext cx="4492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和</a:t>
            </a:r>
            <a:r>
              <a:rPr lang="en-US" altLang="zh-CN" sz="2400" dirty="0" err="1"/>
              <a:t>alu</a:t>
            </a:r>
            <a:r>
              <a:rPr lang="zh-CN" altLang="en-US" sz="2400" dirty="0"/>
              <a:t>实现中的</a:t>
            </a:r>
            <a:r>
              <a:rPr lang="en-US" altLang="zh-CN" sz="2400" dirty="0" err="1"/>
              <a:t>data_size</a:t>
            </a:r>
            <a:r>
              <a:rPr lang="zh-CN" altLang="en-US" sz="2400" dirty="0"/>
              <a:t>相关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汇编语言编程（指令的格式）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70051" y="1257635"/>
            <a:ext cx="93282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(</a:t>
            </a:r>
            <a:r>
              <a:rPr lang="en-US" altLang="zh-CN" sz="3200" dirty="0" err="1"/>
              <a:t>gcc</a:t>
            </a:r>
            <a:r>
              <a:rPr lang="zh-CN" altLang="en-US" sz="3200" dirty="0"/>
              <a:t>接受的格式，也是我们写程序采用的格式）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en-US" altLang="zh-CN" sz="3200" b="1" dirty="0"/>
              <a:t>AT&amp;T</a:t>
            </a:r>
            <a:r>
              <a:rPr lang="zh-CN" altLang="en-US" sz="3200" b="1" dirty="0"/>
              <a:t>格式</a:t>
            </a:r>
            <a:r>
              <a:rPr lang="zh-CN" altLang="en-US" sz="3200" dirty="0"/>
              <a:t>：</a:t>
            </a:r>
            <a:r>
              <a:rPr lang="zh-CN" altLang="en-US" sz="3200" dirty="0">
                <a:solidFill>
                  <a:srgbClr val="C00000"/>
                </a:solidFill>
              </a:rPr>
              <a:t>指令</a:t>
            </a:r>
            <a:r>
              <a:rPr lang="zh-CN" altLang="en-US" sz="3200" dirty="0">
                <a:solidFill>
                  <a:srgbClr val="0070C0"/>
                </a:solidFill>
              </a:rPr>
              <a:t>长度后缀</a:t>
            </a:r>
            <a:r>
              <a:rPr lang="zh-CN" altLang="en-US" sz="3200" dirty="0"/>
              <a:t> </a:t>
            </a:r>
            <a:r>
              <a:rPr lang="zh-CN" altLang="en-US" sz="3200" dirty="0">
                <a:solidFill>
                  <a:schemeClr val="accent4">
                    <a:lumMod val="75000"/>
                  </a:schemeClr>
                </a:solidFill>
              </a:rPr>
              <a:t>源操作数</a:t>
            </a:r>
            <a:r>
              <a:rPr lang="en-US" altLang="zh-CN" sz="3200" dirty="0"/>
              <a:t>, </a:t>
            </a:r>
            <a:r>
              <a:rPr lang="zh-CN" altLang="en-US" sz="3200" dirty="0">
                <a:solidFill>
                  <a:srgbClr val="00B050"/>
                </a:solidFill>
              </a:rPr>
              <a:t>目的操作数</a:t>
            </a:r>
            <a:endParaRPr lang="zh-CN" altLang="en-US" sz="3200" dirty="0">
              <a:solidFill>
                <a:srgbClr val="00B05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72084" y="2737495"/>
            <a:ext cx="40064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C00000"/>
                </a:solidFill>
              </a:rPr>
              <a:t>mov</a:t>
            </a:r>
            <a:r>
              <a:rPr lang="zh-CN" altLang="en-US" sz="4400" dirty="0">
                <a:solidFill>
                  <a:srgbClr val="0070C0"/>
                </a:solidFill>
              </a:rPr>
              <a:t>l</a:t>
            </a:r>
            <a:r>
              <a:rPr lang="zh-CN" altLang="en-US" sz="4400" dirty="0"/>
              <a:t> </a:t>
            </a:r>
            <a:r>
              <a:rPr lang="zh-CN" altLang="en-US" sz="4400" dirty="0">
                <a:solidFill>
                  <a:schemeClr val="accent4">
                    <a:lumMod val="75000"/>
                  </a:schemeClr>
                </a:solidFill>
              </a:rPr>
              <a:t>$0x7</a:t>
            </a:r>
            <a:r>
              <a:rPr lang="zh-CN" altLang="en-US" sz="4400" dirty="0"/>
              <a:t>, </a:t>
            </a:r>
            <a:r>
              <a:rPr lang="zh-CN" altLang="en-US" sz="4400" dirty="0">
                <a:solidFill>
                  <a:srgbClr val="00B050"/>
                </a:solidFill>
              </a:rPr>
              <a:t>%eax</a:t>
            </a:r>
            <a:endParaRPr lang="zh-CN" altLang="en-US" sz="4400" dirty="0">
              <a:solidFill>
                <a:srgbClr val="00B05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70051" y="4483980"/>
            <a:ext cx="8813259" cy="14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INTEL</a:t>
            </a:r>
            <a:r>
              <a:rPr lang="zh-CN" altLang="en-US" sz="3200" b="1" dirty="0"/>
              <a:t>格式</a:t>
            </a:r>
            <a:r>
              <a:rPr lang="zh-CN" altLang="en-US" sz="3200" dirty="0"/>
              <a:t>：</a:t>
            </a:r>
            <a:r>
              <a:rPr lang="zh-CN" altLang="en-US" sz="3200" dirty="0">
                <a:solidFill>
                  <a:srgbClr val="C00000"/>
                </a:solidFill>
              </a:rPr>
              <a:t>指令</a:t>
            </a:r>
            <a:r>
              <a:rPr lang="zh-CN" altLang="en-US" sz="3200" dirty="0">
                <a:solidFill>
                  <a:srgbClr val="00B050"/>
                </a:solidFill>
              </a:rPr>
              <a:t>目的操作数</a:t>
            </a:r>
            <a:r>
              <a:rPr lang="en-US" altLang="zh-CN" sz="3200" dirty="0">
                <a:solidFill>
                  <a:srgbClr val="00B050"/>
                </a:solidFill>
              </a:rPr>
              <a:t>, </a:t>
            </a:r>
            <a:r>
              <a:rPr lang="zh-CN" altLang="en-US" sz="3200" dirty="0">
                <a:solidFill>
                  <a:schemeClr val="accent4">
                    <a:lumMod val="75000"/>
                  </a:schemeClr>
                </a:solidFill>
              </a:rPr>
              <a:t>源操作数</a:t>
            </a:r>
            <a:endParaRPr lang="en-US" altLang="zh-CN" sz="3200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/>
              <a:t>(i386</a:t>
            </a:r>
            <a:r>
              <a:rPr lang="zh-CN" altLang="en-US" sz="3200" dirty="0"/>
              <a:t>手册上采用的格式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4272084" y="3870155"/>
            <a:ext cx="46303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rgbClr val="C00000"/>
                </a:solidFill>
              </a:rPr>
              <a:t>MOV</a:t>
            </a:r>
            <a:r>
              <a:rPr lang="en-US" altLang="zh-CN" sz="4400" dirty="0"/>
              <a:t> </a:t>
            </a:r>
            <a:r>
              <a:rPr lang="en-US" altLang="zh-CN" sz="4400" dirty="0">
                <a:solidFill>
                  <a:srgbClr val="00B050"/>
                </a:solidFill>
              </a:rPr>
              <a:t>EAX</a:t>
            </a:r>
            <a:r>
              <a:rPr lang="en-US" altLang="zh-CN" sz="4400" dirty="0"/>
              <a:t>, </a:t>
            </a:r>
            <a:r>
              <a:rPr lang="en-US" altLang="zh-CN" sz="4400" dirty="0">
                <a:solidFill>
                  <a:schemeClr val="accent4">
                    <a:lumMod val="75000"/>
                  </a:schemeClr>
                </a:solidFill>
              </a:rPr>
              <a:t>0x7</a:t>
            </a:r>
            <a:endParaRPr lang="zh-CN" altLang="en-US" sz="4400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644757" y="3724240"/>
            <a:ext cx="9426102" cy="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7019471" y="1977756"/>
            <a:ext cx="4051387" cy="952902"/>
          </a:xfrm>
          <a:prstGeom prst="ellipse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汇编语言编程（操作数寻址）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062367" y="2426437"/>
            <a:ext cx="484940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latin typeface="Consolas" panose="020B0609020204030204" pitchFamily="49" charset="0"/>
              </a:rPr>
              <a:t>movl </a:t>
            </a:r>
            <a:r>
              <a:rPr lang="zh-CN" altLang="en-US" sz="44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$0x7</a:t>
            </a:r>
            <a:r>
              <a:rPr lang="zh-CN" altLang="en-US" sz="4400" dirty="0">
                <a:latin typeface="Consolas" panose="020B0609020204030204" pitchFamily="49" charset="0"/>
              </a:rPr>
              <a:t>, </a:t>
            </a:r>
            <a:r>
              <a:rPr lang="zh-CN" altLang="en-US" sz="4400" dirty="0">
                <a:solidFill>
                  <a:srgbClr val="00B050"/>
                </a:solidFill>
                <a:latin typeface="Consolas" panose="020B0609020204030204" pitchFamily="49" charset="0"/>
              </a:rPr>
              <a:t>%eax</a:t>
            </a:r>
            <a:endParaRPr lang="zh-CN" altLang="en-US" sz="44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57747" y="1758082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accent4">
                    <a:lumMod val="75000"/>
                  </a:schemeClr>
                </a:solidFill>
              </a:rPr>
              <a:t>立即数寻址</a:t>
            </a:r>
            <a:endParaRPr lang="zh-CN" altLang="en-US" sz="3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32007" y="1768602"/>
            <a:ext cx="2806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B050"/>
                </a:solidFill>
              </a:rPr>
              <a:t>寄存器寻址</a:t>
            </a:r>
            <a:endParaRPr lang="zh-CN" altLang="en-US" sz="3600" dirty="0">
              <a:solidFill>
                <a:srgbClr val="00B05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462487" y="511498"/>
            <a:ext cx="35076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dirty="0"/>
              <a:t>课本</a:t>
            </a:r>
            <a:r>
              <a:rPr lang="en-US" altLang="zh-CN" sz="2800" dirty="0"/>
              <a:t>pg. 93</a:t>
            </a:r>
            <a:r>
              <a:rPr lang="zh-CN" altLang="en-US" sz="2800" dirty="0"/>
              <a:t>，图</a:t>
            </a:r>
            <a:r>
              <a:rPr lang="en-US" altLang="zh-CN" sz="2800" dirty="0"/>
              <a:t>3.4</a:t>
            </a:r>
            <a:endParaRPr lang="zh-CN" altLang="en-US" sz="2800" dirty="0"/>
          </a:p>
        </p:txBody>
      </p:sp>
      <p:sp>
        <p:nvSpPr>
          <p:cNvPr id="16" name="文本框 15"/>
          <p:cNvSpPr txBox="1"/>
          <p:nvPr/>
        </p:nvSpPr>
        <p:spPr>
          <a:xfrm>
            <a:off x="1213636" y="1270017"/>
            <a:ext cx="2144110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操作数硬编码在指令</a:t>
            </a:r>
            <a:endParaRPr lang="en-US" altLang="zh-CN" sz="2800" dirty="0"/>
          </a:p>
        </p:txBody>
      </p:sp>
      <p:sp>
        <p:nvSpPr>
          <p:cNvPr id="18" name="矩形 17"/>
          <p:cNvSpPr/>
          <p:nvPr/>
        </p:nvSpPr>
        <p:spPr>
          <a:xfrm>
            <a:off x="8751044" y="1268282"/>
            <a:ext cx="1804930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操作数在寄存器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汇编语言编程（操作数寻址）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062367" y="2426437"/>
            <a:ext cx="484940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latin typeface="Consolas" panose="020B0609020204030204" pitchFamily="49" charset="0"/>
              </a:rPr>
              <a:t>movl </a:t>
            </a:r>
            <a:r>
              <a:rPr lang="zh-CN" altLang="en-US" sz="44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$0x7</a:t>
            </a:r>
            <a:r>
              <a:rPr lang="zh-CN" altLang="en-US" sz="4400" dirty="0">
                <a:latin typeface="Consolas" panose="020B0609020204030204" pitchFamily="49" charset="0"/>
              </a:rPr>
              <a:t>, </a:t>
            </a:r>
            <a:r>
              <a:rPr lang="zh-CN" altLang="en-US" sz="4400" dirty="0">
                <a:solidFill>
                  <a:srgbClr val="00B050"/>
                </a:solidFill>
                <a:latin typeface="Consolas" panose="020B0609020204030204" pitchFamily="49" charset="0"/>
              </a:rPr>
              <a:t>%eax</a:t>
            </a:r>
            <a:endParaRPr lang="zh-CN" altLang="en-US" sz="44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57747" y="1758082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accent4">
                    <a:lumMod val="75000"/>
                  </a:schemeClr>
                </a:solidFill>
              </a:rPr>
              <a:t>立即数寻址</a:t>
            </a:r>
            <a:endParaRPr lang="zh-CN" altLang="en-US" sz="3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32007" y="1768602"/>
            <a:ext cx="2806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B050"/>
                </a:solidFill>
              </a:rPr>
              <a:t>寄存器寻址</a:t>
            </a:r>
            <a:endParaRPr lang="zh-CN" altLang="en-US" sz="3600" dirty="0">
              <a:solidFill>
                <a:srgbClr val="00B05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062367" y="4036915"/>
            <a:ext cx="101361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dirty="0" err="1">
                <a:latin typeface="Consolas" panose="020B0609020204030204" pitchFamily="49" charset="0"/>
              </a:rPr>
              <a:t>movl</a:t>
            </a:r>
            <a:r>
              <a:rPr lang="en-US" altLang="zh-CN" sz="4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4400" dirty="0">
                <a:solidFill>
                  <a:srgbClr val="00B050"/>
                </a:solidFill>
                <a:latin typeface="Consolas" panose="020B0609020204030204" pitchFamily="49" charset="0"/>
              </a:rPr>
              <a:t>0x1100</a:t>
            </a:r>
            <a:r>
              <a:rPr lang="en-US" altLang="zh-CN" sz="4400" dirty="0">
                <a:latin typeface="Consolas" panose="020B0609020204030204" pitchFamily="49" charset="0"/>
              </a:rPr>
              <a:t>(</a:t>
            </a:r>
            <a:r>
              <a:rPr lang="en-US" altLang="zh-CN" sz="4400" dirty="0">
                <a:solidFill>
                  <a:srgbClr val="C00000"/>
                </a:solidFill>
                <a:latin typeface="Consolas" panose="020B0609020204030204" pitchFamily="49" charset="0"/>
              </a:rPr>
              <a:t>%</a:t>
            </a:r>
            <a:r>
              <a:rPr lang="en-US" altLang="zh-CN" sz="4400" dirty="0" err="1">
                <a:solidFill>
                  <a:srgbClr val="C00000"/>
                </a:solidFill>
                <a:latin typeface="Consolas" panose="020B0609020204030204" pitchFamily="49" charset="0"/>
              </a:rPr>
              <a:t>ebx</a:t>
            </a:r>
            <a:r>
              <a:rPr lang="en-US" altLang="zh-CN" sz="4400" dirty="0">
                <a:latin typeface="Consolas" panose="020B0609020204030204" pitchFamily="49" charset="0"/>
              </a:rPr>
              <a:t>,</a:t>
            </a:r>
            <a:r>
              <a:rPr lang="en-US" altLang="zh-CN" sz="4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4400" dirty="0">
                <a:solidFill>
                  <a:srgbClr val="0070C0"/>
                </a:solidFill>
                <a:latin typeface="Consolas" panose="020B0609020204030204" pitchFamily="49" charset="0"/>
              </a:rPr>
              <a:t>%</a:t>
            </a:r>
            <a:r>
              <a:rPr lang="en-US" altLang="zh-CN" sz="4400" dirty="0" err="1">
                <a:solidFill>
                  <a:srgbClr val="0070C0"/>
                </a:solidFill>
                <a:latin typeface="Consolas" panose="020B0609020204030204" pitchFamily="49" charset="0"/>
              </a:rPr>
              <a:t>eax</a:t>
            </a:r>
            <a:r>
              <a:rPr lang="en-US" altLang="zh-CN" sz="4400" dirty="0">
                <a:latin typeface="Consolas" panose="020B0609020204030204" pitchFamily="49" charset="0"/>
              </a:rPr>
              <a:t>,</a:t>
            </a:r>
            <a:r>
              <a:rPr lang="en-US" altLang="zh-CN" sz="4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44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4</a:t>
            </a:r>
            <a:r>
              <a:rPr lang="en-US" altLang="zh-CN" sz="4400" dirty="0">
                <a:latin typeface="Consolas" panose="020B0609020204030204" pitchFamily="49" charset="0"/>
              </a:rPr>
              <a:t>), %</a:t>
            </a:r>
            <a:r>
              <a:rPr lang="en-US" altLang="zh-CN" sz="4400" dirty="0" err="1">
                <a:latin typeface="Consolas" panose="020B0609020204030204" pitchFamily="49" charset="0"/>
              </a:rPr>
              <a:t>edx</a:t>
            </a:r>
            <a:endParaRPr lang="zh-CN" altLang="en-US" sz="4400" dirty="0">
              <a:latin typeface="Consolas" panose="020B06090202040302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591861" y="4951981"/>
            <a:ext cx="68499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</a:rPr>
              <a:t>基址</a:t>
            </a:r>
            <a:r>
              <a:rPr lang="zh-CN" altLang="en-US" sz="3600" dirty="0"/>
              <a:t>加</a:t>
            </a:r>
            <a:r>
              <a:rPr lang="zh-CN" altLang="en-US" sz="3600" dirty="0">
                <a:solidFill>
                  <a:schemeClr val="accent4">
                    <a:lumMod val="75000"/>
                  </a:schemeClr>
                </a:solidFill>
              </a:rPr>
              <a:t>比例</a:t>
            </a:r>
            <a:r>
              <a:rPr lang="zh-CN" altLang="en-US" sz="3600" dirty="0">
                <a:solidFill>
                  <a:srgbClr val="0070C0"/>
                </a:solidFill>
              </a:rPr>
              <a:t>变址</a:t>
            </a:r>
            <a:r>
              <a:rPr lang="zh-CN" altLang="en-US" sz="3600" dirty="0"/>
              <a:t>加</a:t>
            </a:r>
            <a:r>
              <a:rPr lang="zh-CN" altLang="en-US" sz="3600" dirty="0">
                <a:solidFill>
                  <a:srgbClr val="00B050"/>
                </a:solidFill>
              </a:rPr>
              <a:t>位移</a:t>
            </a:r>
            <a:endParaRPr lang="en-US" altLang="zh-CN" sz="3600" dirty="0">
              <a:solidFill>
                <a:srgbClr val="00B050"/>
              </a:solidFill>
            </a:endParaRPr>
          </a:p>
          <a:p>
            <a:r>
              <a:rPr lang="zh-CN" altLang="en-US" sz="3600" i="1" dirty="0"/>
              <a:t>内存地址 </a:t>
            </a:r>
            <a:r>
              <a:rPr lang="en-US" altLang="zh-CN" sz="3600" dirty="0"/>
              <a:t>= </a:t>
            </a:r>
            <a:r>
              <a:rPr lang="zh-CN" altLang="en-US" sz="3600" dirty="0">
                <a:solidFill>
                  <a:srgbClr val="C00000"/>
                </a:solidFill>
              </a:rPr>
              <a:t>基址</a:t>
            </a:r>
            <a:r>
              <a:rPr lang="en-US" altLang="zh-CN" sz="3600" dirty="0"/>
              <a:t>+</a:t>
            </a:r>
            <a:r>
              <a:rPr lang="zh-CN" altLang="en-US" sz="3600" dirty="0">
                <a:solidFill>
                  <a:srgbClr val="0070C0"/>
                </a:solidFill>
              </a:rPr>
              <a:t>变址</a:t>
            </a:r>
            <a:r>
              <a:rPr lang="en-US" altLang="zh-CN" sz="3600" dirty="0"/>
              <a:t>*</a:t>
            </a:r>
            <a:r>
              <a:rPr lang="zh-CN" altLang="en-US" sz="3600" dirty="0">
                <a:solidFill>
                  <a:schemeClr val="accent4">
                    <a:lumMod val="75000"/>
                  </a:schemeClr>
                </a:solidFill>
              </a:rPr>
              <a:t>比例</a:t>
            </a:r>
            <a:r>
              <a:rPr lang="en-US" altLang="zh-CN" sz="3600" dirty="0"/>
              <a:t>+</a:t>
            </a:r>
            <a:r>
              <a:rPr lang="zh-CN" altLang="en-US" sz="3600" dirty="0">
                <a:solidFill>
                  <a:srgbClr val="00B050"/>
                </a:solidFill>
              </a:rPr>
              <a:t>位移</a:t>
            </a:r>
            <a:endParaRPr lang="zh-CN" altLang="en-US" sz="3600" dirty="0">
              <a:solidFill>
                <a:srgbClr val="00B05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62367" y="3613606"/>
            <a:ext cx="8802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可概括除了立即数和寄存器寻址以外的各种寻址方式：</a:t>
            </a:r>
            <a:endParaRPr lang="zh-CN" altLang="en-US" sz="2800" dirty="0"/>
          </a:p>
        </p:txBody>
      </p:sp>
      <p:sp>
        <p:nvSpPr>
          <p:cNvPr id="15" name="矩形 14"/>
          <p:cNvSpPr/>
          <p:nvPr/>
        </p:nvSpPr>
        <p:spPr>
          <a:xfrm>
            <a:off x="7462487" y="511498"/>
            <a:ext cx="35076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dirty="0"/>
              <a:t>课本</a:t>
            </a:r>
            <a:r>
              <a:rPr lang="en-US" altLang="zh-CN" sz="2800" dirty="0"/>
              <a:t>pg. 93</a:t>
            </a:r>
            <a:r>
              <a:rPr lang="zh-CN" altLang="en-US" sz="2800" dirty="0"/>
              <a:t>，图</a:t>
            </a:r>
            <a:r>
              <a:rPr lang="en-US" altLang="zh-CN" sz="2800" dirty="0"/>
              <a:t>3.4</a:t>
            </a:r>
            <a:endParaRPr lang="zh-CN" altLang="en-US" sz="2800" dirty="0"/>
          </a:p>
        </p:txBody>
      </p:sp>
      <p:sp>
        <p:nvSpPr>
          <p:cNvPr id="16" name="文本框 15"/>
          <p:cNvSpPr txBox="1"/>
          <p:nvPr/>
        </p:nvSpPr>
        <p:spPr>
          <a:xfrm>
            <a:off x="1213636" y="1270017"/>
            <a:ext cx="2144110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操作数硬编码在指令</a:t>
            </a:r>
            <a:endParaRPr lang="en-US" altLang="zh-CN" sz="2800" dirty="0"/>
          </a:p>
        </p:txBody>
      </p:sp>
      <p:sp>
        <p:nvSpPr>
          <p:cNvPr id="17" name="矩形 16"/>
          <p:cNvSpPr/>
          <p:nvPr/>
        </p:nvSpPr>
        <p:spPr>
          <a:xfrm>
            <a:off x="1452057" y="5000733"/>
            <a:ext cx="1905689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操作数在内存</a:t>
            </a:r>
            <a:endParaRPr lang="zh-CN" altLang="en-US" sz="2800" dirty="0"/>
          </a:p>
        </p:txBody>
      </p:sp>
      <p:sp>
        <p:nvSpPr>
          <p:cNvPr id="18" name="矩形 17"/>
          <p:cNvSpPr/>
          <p:nvPr/>
        </p:nvSpPr>
        <p:spPr>
          <a:xfrm>
            <a:off x="8751044" y="1268282"/>
            <a:ext cx="1804930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操作数在寄存器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读懂</a:t>
            </a:r>
            <a:r>
              <a:rPr lang="en-US" altLang="zh-CN" dirty="0"/>
              <a:t>i386</a:t>
            </a:r>
            <a:r>
              <a:rPr lang="zh-CN" altLang="en-US" dirty="0"/>
              <a:t>手册对指令的描述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981" y="1275447"/>
            <a:ext cx="9954038" cy="437308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3500" y="5595732"/>
            <a:ext cx="2686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指令编码</a:t>
            </a:r>
            <a:endParaRPr lang="en-US" altLang="zh-CN" b="1" dirty="0">
              <a:solidFill>
                <a:srgbClr val="C00000"/>
              </a:solidFill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（</a:t>
            </a:r>
            <a:r>
              <a:rPr lang="en-US" altLang="zh-CN" b="1" dirty="0">
                <a:solidFill>
                  <a:srgbClr val="C00000"/>
                </a:solidFill>
              </a:rPr>
              <a:t>PA 2-1</a:t>
            </a:r>
            <a:r>
              <a:rPr lang="zh-CN" altLang="en-US" b="1" dirty="0">
                <a:solidFill>
                  <a:srgbClr val="C00000"/>
                </a:solidFill>
              </a:rPr>
              <a:t>关注）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22450" y="5595731"/>
            <a:ext cx="2686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对应汇编</a:t>
            </a:r>
            <a:endParaRPr lang="en-US" altLang="zh-CN" b="1" dirty="0">
              <a:solidFill>
                <a:srgbClr val="C00000"/>
              </a:solidFill>
            </a:endParaRPr>
          </a:p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INTEL</a:t>
            </a:r>
            <a:r>
              <a:rPr lang="zh-CN" altLang="en-US" b="1" dirty="0">
                <a:solidFill>
                  <a:srgbClr val="C00000"/>
                </a:solidFill>
              </a:rPr>
              <a:t>格式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04709" y="5595731"/>
            <a:ext cx="268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指令描述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374" y="1345496"/>
            <a:ext cx="6502849" cy="325947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如何用汇编语言写一个</a:t>
            </a:r>
            <a:r>
              <a:rPr lang="en-US" altLang="zh-CN" dirty="0"/>
              <a:t>Hello World</a:t>
            </a:r>
            <a:r>
              <a:rPr lang="zh-CN" altLang="en-US" dirty="0"/>
              <a:t>程序？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第一步：创建一个文本文件，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hello.S</a:t>
            </a:r>
            <a:endParaRPr lang="en-US" altLang="zh-CN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/>
              <a:t>第二步：写入汇编代码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第三步：编译运行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086523" y="2483644"/>
            <a:ext cx="4513635" cy="3139321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.data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hello_str: .ascii </a:t>
            </a:r>
            <a:r>
              <a:rPr lang="en-US" altLang="zh-CN" dirty="0">
                <a:latin typeface="Consolas" panose="020B0609020204030204" pitchFamily="49" charset="0"/>
              </a:rPr>
              <a:t>“</a:t>
            </a:r>
            <a:r>
              <a:rPr lang="zh-CN" altLang="en-US" dirty="0">
                <a:latin typeface="Consolas" panose="020B0609020204030204" pitchFamily="49" charset="0"/>
              </a:rPr>
              <a:t>Hello World!\n</a:t>
            </a:r>
            <a:r>
              <a:rPr lang="en-US" altLang="zh-CN" dirty="0">
                <a:latin typeface="Consolas" panose="020B0609020204030204" pitchFamily="49" charset="0"/>
              </a:rPr>
              <a:t>”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.text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.globl main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main: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    movl $4, %eax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    movl $1, %ebx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    movl $hello_str, %ecx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    movl $13, %edx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    int $0x80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28721" y="4071404"/>
            <a:ext cx="4011444" cy="138499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/>
              <a:t>$ </a:t>
            </a:r>
            <a:r>
              <a:rPr lang="en-US" altLang="zh-CN" sz="2800" dirty="0" err="1"/>
              <a:t>gcc</a:t>
            </a:r>
            <a:r>
              <a:rPr lang="en-US" altLang="zh-CN" sz="2800" dirty="0"/>
              <a:t> –o hello </a:t>
            </a:r>
            <a:r>
              <a:rPr lang="en-US" altLang="zh-CN" sz="2800" dirty="0" err="1"/>
              <a:t>hello.S</a:t>
            </a:r>
            <a:endParaRPr lang="en-US" altLang="zh-CN" sz="2800" dirty="0"/>
          </a:p>
          <a:p>
            <a:r>
              <a:rPr lang="en-US" altLang="zh-CN" sz="2800" dirty="0"/>
              <a:t>$ ./hello</a:t>
            </a:r>
            <a:endParaRPr lang="en-US" altLang="zh-CN" sz="2800" dirty="0"/>
          </a:p>
          <a:p>
            <a:r>
              <a:rPr lang="en-US" altLang="zh-CN" sz="2800" dirty="0"/>
              <a:t>$ Hello World!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汇编语言编程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81400" y="1346955"/>
            <a:ext cx="5969000" cy="4154984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.data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hello_str: .ascii </a:t>
            </a:r>
            <a:r>
              <a:rPr lang="en-US" altLang="zh-CN" sz="2400" dirty="0">
                <a:latin typeface="Consolas" panose="020B0609020204030204" pitchFamily="49" charset="0"/>
              </a:rPr>
              <a:t>“</a:t>
            </a:r>
            <a:r>
              <a:rPr lang="zh-CN" altLang="en-US" sz="2400" dirty="0">
                <a:latin typeface="Consolas" panose="020B0609020204030204" pitchFamily="49" charset="0"/>
              </a:rPr>
              <a:t>Hello World!\n</a:t>
            </a:r>
            <a:r>
              <a:rPr lang="en-US" altLang="zh-CN" sz="2400" dirty="0">
                <a:latin typeface="Consolas" panose="020B0609020204030204" pitchFamily="49" charset="0"/>
              </a:rPr>
              <a:t>”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.text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.globl main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main: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$4, %eax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$1, %ebx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$hello_str, %ecx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$13, %edx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int $0x80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汇编语言编程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81400" y="1346955"/>
            <a:ext cx="5969000" cy="4154984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.data</a:t>
            </a:r>
            <a:endParaRPr lang="zh-CN" altLang="en-US" sz="2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hello_str: .ascii </a:t>
            </a:r>
            <a:r>
              <a:rPr lang="en-US" altLang="zh-CN" sz="2400" dirty="0">
                <a:latin typeface="Consolas" panose="020B0609020204030204" pitchFamily="49" charset="0"/>
              </a:rPr>
              <a:t>“</a:t>
            </a:r>
            <a:r>
              <a:rPr lang="zh-CN" altLang="en-US" sz="2400" dirty="0">
                <a:latin typeface="Consolas" panose="020B0609020204030204" pitchFamily="49" charset="0"/>
              </a:rPr>
              <a:t>Hello World!\n</a:t>
            </a:r>
            <a:r>
              <a:rPr lang="en-US" altLang="zh-CN" sz="2400" dirty="0">
                <a:latin typeface="Consolas" panose="020B0609020204030204" pitchFamily="49" charset="0"/>
              </a:rPr>
              <a:t>”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.text</a:t>
            </a:r>
            <a:endParaRPr lang="zh-CN" altLang="en-US" sz="2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.globl main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main: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$4, %eax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$1, %ebx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$hello_str, %ecx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$13, %edx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int $0x80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1722922" y="1099128"/>
            <a:ext cx="1674796" cy="93180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数据</a:t>
            </a:r>
            <a:endParaRPr lang="zh-CN" altLang="en-US" sz="2400" dirty="0"/>
          </a:p>
        </p:txBody>
      </p:sp>
      <p:sp>
        <p:nvSpPr>
          <p:cNvPr id="11" name="右箭头 10"/>
          <p:cNvSpPr/>
          <p:nvPr/>
        </p:nvSpPr>
        <p:spPr>
          <a:xfrm>
            <a:off x="1722922" y="2264990"/>
            <a:ext cx="1674796" cy="93180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代码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汇编语言编程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81400" y="1346955"/>
            <a:ext cx="5969000" cy="4154984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.data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hello_str</a:t>
            </a:r>
            <a:r>
              <a:rPr lang="zh-CN" altLang="en-US" sz="2400" dirty="0">
                <a:latin typeface="Consolas" panose="020B0609020204030204" pitchFamily="49" charset="0"/>
              </a:rPr>
              <a:t>: .ascii </a:t>
            </a:r>
            <a:r>
              <a:rPr lang="en-US" altLang="zh-CN" sz="2400" dirty="0">
                <a:latin typeface="Consolas" panose="020B0609020204030204" pitchFamily="49" charset="0"/>
              </a:rPr>
              <a:t>“</a:t>
            </a:r>
            <a:r>
              <a:rPr lang="zh-CN" altLang="en-US" sz="2400" dirty="0">
                <a:latin typeface="Consolas" panose="020B0609020204030204" pitchFamily="49" charset="0"/>
              </a:rPr>
              <a:t>Hello World!\n</a:t>
            </a:r>
            <a:r>
              <a:rPr lang="en-US" altLang="zh-CN" sz="2400" dirty="0">
                <a:latin typeface="Consolas" panose="020B0609020204030204" pitchFamily="49" charset="0"/>
              </a:rPr>
              <a:t>”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.text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.globl main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main: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$4, %eax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$1, %ebx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</a:t>
            </a:r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$hello_str</a:t>
            </a:r>
            <a:r>
              <a:rPr lang="zh-CN" altLang="en-US" sz="2400" dirty="0">
                <a:latin typeface="Consolas" panose="020B0609020204030204" pitchFamily="49" charset="0"/>
              </a:rPr>
              <a:t>, %ecx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$13, %edx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int $0x80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1935479" y="4034588"/>
            <a:ext cx="1674796" cy="93180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符号的值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1708483" y="2219944"/>
            <a:ext cx="128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相当于全局变量名</a:t>
            </a:r>
            <a:endParaRPr lang="zh-CN" altLang="en-US" sz="2000" dirty="0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6096000" y="1099128"/>
            <a:ext cx="304800" cy="64304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096001" y="567891"/>
            <a:ext cx="901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类型</a:t>
            </a:r>
            <a:endParaRPr lang="zh-CN" altLang="en-US" sz="2400" dirty="0"/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8286549" y="1099128"/>
            <a:ext cx="304800" cy="64304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286548" y="567890"/>
            <a:ext cx="1263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初始值</a:t>
            </a:r>
            <a:endParaRPr lang="zh-CN" altLang="en-US" sz="2400" dirty="0"/>
          </a:p>
        </p:txBody>
      </p:sp>
      <p:sp>
        <p:nvSpPr>
          <p:cNvPr id="17" name="右箭头 16"/>
          <p:cNvSpPr/>
          <p:nvPr/>
        </p:nvSpPr>
        <p:spPr>
          <a:xfrm>
            <a:off x="1923448" y="1512617"/>
            <a:ext cx="1674796" cy="93180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符号</a:t>
            </a:r>
            <a:endParaRPr lang="zh-CN" altLang="en-US" sz="2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569719" y="4860276"/>
            <a:ext cx="15584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符号的值等于其指向区域的地址</a:t>
            </a:r>
            <a:endParaRPr lang="zh-CN" altLang="en-US" sz="2000" dirty="0"/>
          </a:p>
        </p:txBody>
      </p:sp>
      <p:sp>
        <p:nvSpPr>
          <p:cNvPr id="19" name="文本框 18"/>
          <p:cNvSpPr txBox="1"/>
          <p:nvPr/>
        </p:nvSpPr>
        <p:spPr>
          <a:xfrm>
            <a:off x="9856003" y="1726264"/>
            <a:ext cx="23359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</a:rPr>
              <a:t>.byte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.short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.long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.string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.zero #</a:t>
            </a:r>
            <a:r>
              <a:rPr lang="zh-CN" altLang="en-US" sz="2400" dirty="0">
                <a:latin typeface="Consolas" panose="020B0609020204030204" pitchFamily="49" charset="0"/>
              </a:rPr>
              <a:t>字节数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856004" y="1280508"/>
            <a:ext cx="2016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其它一些类型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汇编语言编程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81400" y="1346955"/>
            <a:ext cx="5969000" cy="4154984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.data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hello_str: .ascii </a:t>
            </a:r>
            <a:r>
              <a:rPr lang="en-US" altLang="zh-CN" sz="2400" dirty="0">
                <a:latin typeface="Consolas" panose="020B0609020204030204" pitchFamily="49" charset="0"/>
              </a:rPr>
              <a:t>“</a:t>
            </a:r>
            <a:r>
              <a:rPr lang="zh-CN" altLang="en-US" sz="2400" dirty="0">
                <a:latin typeface="Consolas" panose="020B0609020204030204" pitchFamily="49" charset="0"/>
              </a:rPr>
              <a:t>Hello World!\n</a:t>
            </a:r>
            <a:r>
              <a:rPr lang="en-US" altLang="zh-CN" sz="2400" dirty="0">
                <a:latin typeface="Consolas" panose="020B0609020204030204" pitchFamily="49" charset="0"/>
              </a:rPr>
              <a:t>”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.text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.globl main</a:t>
            </a:r>
            <a:endParaRPr lang="zh-CN" altLang="en-US" sz="2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main:</a:t>
            </a:r>
            <a:endParaRPr lang="zh-CN" altLang="en-US" sz="2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$4, %eax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$1, %ebx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$hello_str, %ecx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$13, %edx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int $0x80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1645920" y="2398293"/>
            <a:ext cx="1935480" cy="164431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全局符号</a:t>
            </a:r>
            <a:r>
              <a:rPr lang="en-US" altLang="zh-CN" sz="2400" dirty="0"/>
              <a:t>main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1001027" y="3719445"/>
            <a:ext cx="1703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程序的入口，链接器需要它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汇编语言编程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81400" y="1346955"/>
            <a:ext cx="5969000" cy="4154984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.data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hello_str: .ascii </a:t>
            </a:r>
            <a:r>
              <a:rPr lang="en-US" altLang="zh-CN" sz="2400" dirty="0">
                <a:latin typeface="Consolas" panose="020B0609020204030204" pitchFamily="49" charset="0"/>
              </a:rPr>
              <a:t>“</a:t>
            </a:r>
            <a:r>
              <a:rPr lang="zh-CN" altLang="en-US" sz="2400" dirty="0">
                <a:latin typeface="Consolas" panose="020B0609020204030204" pitchFamily="49" charset="0"/>
              </a:rPr>
              <a:t>Hello World!\n</a:t>
            </a:r>
            <a:r>
              <a:rPr lang="en-US" altLang="zh-CN" sz="2400" dirty="0">
                <a:latin typeface="Consolas" panose="020B0609020204030204" pitchFamily="49" charset="0"/>
              </a:rPr>
              <a:t>”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.text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.globl main</a:t>
            </a:r>
            <a:endParaRPr lang="zh-CN" altLang="en-US" sz="2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main:</a:t>
            </a:r>
            <a:endParaRPr lang="zh-CN" altLang="en-US" sz="2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$4, %eax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$1, %ebx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$hello_str, %ecx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movl $13, %edx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    int $0x80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4649002" y="3724977"/>
            <a:ext cx="0" cy="1597794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366788" y="3955983"/>
            <a:ext cx="3157086" cy="120032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/>
              <a:t>从第一条指令开始顺序往下执行，遇到</a:t>
            </a:r>
            <a:r>
              <a:rPr lang="en-US" altLang="zh-CN" sz="2400" dirty="0" err="1"/>
              <a:t>jmp</a:t>
            </a:r>
            <a:r>
              <a:rPr lang="zh-CN" altLang="en-US" sz="2400" dirty="0"/>
              <a:t>、</a:t>
            </a:r>
            <a:r>
              <a:rPr lang="en-US" altLang="zh-CN" sz="2400" dirty="0"/>
              <a:t>call</a:t>
            </a:r>
            <a:r>
              <a:rPr lang="zh-CN" altLang="en-US" sz="2400" dirty="0"/>
              <a:t>等指令则跳转</a:t>
            </a:r>
            <a:endParaRPr lang="zh-CN" alt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7669806" y="4952432"/>
            <a:ext cx="4011444" cy="138499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/>
              <a:t>$ </a:t>
            </a:r>
            <a:r>
              <a:rPr lang="en-US" altLang="zh-CN" sz="2800" dirty="0" err="1"/>
              <a:t>gcc</a:t>
            </a:r>
            <a:r>
              <a:rPr lang="en-US" altLang="zh-CN" sz="2800" dirty="0"/>
              <a:t> –o hello </a:t>
            </a:r>
            <a:r>
              <a:rPr lang="en-US" altLang="zh-CN" sz="2800" dirty="0" err="1"/>
              <a:t>hello.S</a:t>
            </a:r>
            <a:endParaRPr lang="en-US" altLang="zh-CN" sz="2800" dirty="0"/>
          </a:p>
          <a:p>
            <a:r>
              <a:rPr lang="en-US" altLang="zh-CN" sz="2800" dirty="0"/>
              <a:t>$ ./hello</a:t>
            </a:r>
            <a:endParaRPr lang="en-US" altLang="zh-CN" sz="2800" dirty="0"/>
          </a:p>
          <a:p>
            <a:r>
              <a:rPr lang="en-US" altLang="zh-CN" sz="2800" dirty="0"/>
              <a:t>$ Hello World!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熟练掌握汇编语言的重要性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能够看懂并修改底层代码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Linux kernel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BIOS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逆向工程，掌握程序行为的细节信息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对程序的高度优化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显得特别专业特别厉害 ✧</a:t>
            </a:r>
            <a:r>
              <a:rPr lang="en-US" altLang="zh-CN" dirty="0"/>
              <a:t>(≖ ◡ ≖   )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372303" y="718044"/>
            <a:ext cx="4572000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  <a:prstDash val="dash"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.globl main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main: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movl $1, %eax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movl $1, %ebx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loop: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movl %ebx, %ecx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addl %eax, %ecx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movl %ebx, %eax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movl %ecx, %ebx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    jmp loop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49214" y="4735330"/>
            <a:ext cx="88181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每一步中，</a:t>
            </a:r>
            <a:r>
              <a:rPr lang="en-US" altLang="zh-CN" sz="4000" dirty="0" err="1"/>
              <a:t>eax</a:t>
            </a:r>
            <a:r>
              <a:rPr lang="en-US" altLang="zh-CN" sz="4000" dirty="0"/>
              <a:t>, </a:t>
            </a:r>
            <a:r>
              <a:rPr lang="en-US" altLang="zh-CN" sz="4000" dirty="0" err="1"/>
              <a:t>ecx</a:t>
            </a:r>
            <a:r>
              <a:rPr lang="en-US" altLang="zh-CN" sz="4000" dirty="0"/>
              <a:t>, </a:t>
            </a:r>
            <a:r>
              <a:rPr lang="en-US" altLang="zh-CN" sz="4000" dirty="0" err="1"/>
              <a:t>ebx</a:t>
            </a:r>
            <a:r>
              <a:rPr lang="zh-CN" altLang="en-US" sz="4000" dirty="0"/>
              <a:t>中保存的是几？这是一个求解什么的程序？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小练习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487961" y="290308"/>
            <a:ext cx="4572000" cy="5909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.data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array: 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.fill 12</a:t>
            </a:r>
            <a:endParaRPr lang="zh-CN" alt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.text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.globl main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main: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$0, %ebx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$1, %eax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$1, array(%ebx, %eax, 4)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incl %eax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$1, array(%ebx, %eax, 4)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$array, %ebx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loop: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$1, %eax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(%ebx, %eax, 4), %ecx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%ecx, array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incl %eax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(%ebx, %eax, 4), %edx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%edx, 0x4(%ebx)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addl %ecx, %edx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%edx, (%ebx, %eax, 4)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jmp loop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7907" y="5245511"/>
            <a:ext cx="39558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array</a:t>
            </a:r>
            <a:r>
              <a:rPr lang="zh-CN" altLang="en-US" sz="2800" dirty="0"/>
              <a:t>是什么数据结构？</a:t>
            </a:r>
            <a:endParaRPr lang="en-US" altLang="zh-CN" sz="2800" dirty="0"/>
          </a:p>
          <a:p>
            <a:r>
              <a:rPr lang="en-US" altLang="zh-CN" sz="2800" dirty="0"/>
              <a:t>array</a:t>
            </a:r>
            <a:r>
              <a:rPr lang="zh-CN" altLang="en-US" sz="2800" dirty="0"/>
              <a:t>中的数据如何变化？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507124" y="1387940"/>
            <a:ext cx="3980837" cy="275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.fill</a:t>
            </a:r>
            <a:r>
              <a:rPr lang="zh-CN" altLang="en-US" sz="2400" dirty="0">
                <a:solidFill>
                  <a:srgbClr val="0070C0"/>
                </a:solidFill>
              </a:rPr>
              <a:t>的含义：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.fill repeat , size , value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    </a:t>
            </a:r>
            <a:r>
              <a:rPr lang="zh-CN" altLang="en-US" sz="2400" dirty="0">
                <a:solidFill>
                  <a:srgbClr val="0070C0"/>
                </a:solidFill>
              </a:rPr>
              <a:t>含义是反复拷贝</a:t>
            </a:r>
            <a:r>
              <a:rPr lang="en-US" altLang="zh-CN" sz="2400" dirty="0">
                <a:solidFill>
                  <a:srgbClr val="0070C0"/>
                </a:solidFill>
              </a:rPr>
              <a:t>size</a:t>
            </a:r>
            <a:r>
              <a:rPr lang="zh-CN" altLang="en-US" sz="2400" dirty="0">
                <a:solidFill>
                  <a:srgbClr val="0070C0"/>
                </a:solidFill>
              </a:rPr>
              <a:t>个字节，重复</a:t>
            </a:r>
            <a:r>
              <a:rPr lang="en-US" altLang="zh-CN" sz="2400" dirty="0">
                <a:solidFill>
                  <a:srgbClr val="0070C0"/>
                </a:solidFill>
              </a:rPr>
              <a:t>repeat</a:t>
            </a:r>
            <a:r>
              <a:rPr lang="zh-CN" altLang="en-US" sz="2400" dirty="0">
                <a:solidFill>
                  <a:srgbClr val="0070C0"/>
                </a:solidFill>
              </a:rPr>
              <a:t>次 ，其中</a:t>
            </a:r>
            <a:r>
              <a:rPr lang="en-US" altLang="zh-CN" sz="2400" dirty="0">
                <a:solidFill>
                  <a:srgbClr val="0070C0"/>
                </a:solidFill>
              </a:rPr>
              <a:t>size</a:t>
            </a:r>
            <a:r>
              <a:rPr lang="zh-CN" altLang="en-US" sz="2400" dirty="0">
                <a:solidFill>
                  <a:srgbClr val="0070C0"/>
                </a:solidFill>
              </a:rPr>
              <a:t>和</a:t>
            </a:r>
            <a:r>
              <a:rPr lang="en-US" altLang="zh-CN" sz="2400" dirty="0">
                <a:solidFill>
                  <a:srgbClr val="0070C0"/>
                </a:solidFill>
              </a:rPr>
              <a:t>value</a:t>
            </a:r>
            <a:r>
              <a:rPr lang="zh-CN" altLang="en-US" sz="2400" dirty="0">
                <a:solidFill>
                  <a:srgbClr val="0070C0"/>
                </a:solidFill>
              </a:rPr>
              <a:t>是可选的，默认值分别为</a:t>
            </a:r>
            <a:r>
              <a:rPr lang="en-US" altLang="zh-CN" sz="2400" dirty="0">
                <a:solidFill>
                  <a:srgbClr val="0070C0"/>
                </a:solidFill>
              </a:rPr>
              <a:t>1</a:t>
            </a:r>
            <a:r>
              <a:rPr lang="zh-CN" altLang="en-US" sz="2400" dirty="0">
                <a:solidFill>
                  <a:srgbClr val="0070C0"/>
                </a:solidFill>
              </a:rPr>
              <a:t>和</a:t>
            </a:r>
            <a:r>
              <a:rPr lang="en-US" altLang="zh-CN" sz="2400" dirty="0">
                <a:solidFill>
                  <a:srgbClr val="0070C0"/>
                </a:solidFill>
              </a:rPr>
              <a:t>0</a:t>
            </a:r>
            <a:endParaRPr lang="en-US" altLang="zh-CN" sz="2400" dirty="0">
              <a:solidFill>
                <a:srgbClr val="0070C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44144" y="2422969"/>
            <a:ext cx="3111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movl array, %ebx</a:t>
            </a:r>
            <a:endParaRPr lang="zh-CN" altLang="en-US" sz="24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517898" y="3142816"/>
            <a:ext cx="2537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把</a:t>
            </a:r>
            <a:r>
              <a:rPr lang="zh-CN" altLang="en-US" sz="2400" dirty="0">
                <a:solidFill>
                  <a:srgbClr val="C00000"/>
                </a:solidFill>
              </a:rPr>
              <a:t>这句</a:t>
            </a:r>
            <a:r>
              <a:rPr lang="zh-CN" altLang="en-US" sz="2400" dirty="0"/>
              <a:t>换成 会在</a:t>
            </a:r>
            <a:r>
              <a:rPr lang="zh-CN" altLang="en-US" sz="2400" dirty="0">
                <a:solidFill>
                  <a:srgbClr val="0070C0"/>
                </a:solidFill>
              </a:rPr>
              <a:t>这句</a:t>
            </a:r>
            <a:r>
              <a:rPr lang="zh-CN" altLang="en-US" sz="2400" dirty="0"/>
              <a:t>出段错误，为什么？</a:t>
            </a:r>
            <a:endParaRPr lang="zh-CN" altLang="en-US" sz="2400" dirty="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10967943" y="2840460"/>
            <a:ext cx="204281" cy="439472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 flipV="1">
            <a:off x="7409794" y="3279933"/>
            <a:ext cx="2108104" cy="167460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1" idx="1"/>
          </p:cNvCxnSpPr>
          <p:nvPr/>
        </p:nvCxnSpPr>
        <p:spPr>
          <a:xfrm flipH="1">
            <a:off x="8468798" y="3742981"/>
            <a:ext cx="1049100" cy="271971"/>
          </a:xfrm>
          <a:prstGeom prst="straightConnector1">
            <a:avLst/>
          </a:prstGeom>
          <a:ln w="635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7188218" y="655794"/>
          <a:ext cx="46593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280"/>
                <a:gridCol w="388280"/>
                <a:gridCol w="388280"/>
                <a:gridCol w="388280"/>
                <a:gridCol w="388280"/>
                <a:gridCol w="388280"/>
                <a:gridCol w="388280"/>
                <a:gridCol w="388280"/>
                <a:gridCol w="388280"/>
                <a:gridCol w="388280"/>
                <a:gridCol w="388280"/>
                <a:gridCol w="388280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7081350" y="88813"/>
            <a:ext cx="1955068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array</a:t>
            </a:r>
            <a:endParaRPr lang="zh-CN" altLang="en-US" dirty="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7409794" y="402570"/>
            <a:ext cx="0" cy="1807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7188218" y="1170803"/>
            <a:ext cx="358984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内存中连续</a:t>
            </a:r>
            <a:r>
              <a:rPr lang="en-US" altLang="zh-CN" dirty="0"/>
              <a:t>12</a:t>
            </a:r>
            <a:r>
              <a:rPr lang="zh-CN" altLang="en-US" dirty="0"/>
              <a:t>个字节的</a:t>
            </a:r>
            <a:r>
              <a:rPr lang="en-US" altLang="zh-CN" dirty="0"/>
              <a:t>0</a:t>
            </a:r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931903" y="315253"/>
            <a:ext cx="4572000" cy="5909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.data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array: 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.fill 12</a:t>
            </a:r>
            <a:endParaRPr lang="zh-CN" alt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.text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.globl main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main: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$0, %ebx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$1, %eax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$1, array(%ebx, %eax, 4)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incl %eax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$1, array(%ebx, %eax, 4)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$array, %ebx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loop: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$1, %eax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(%ebx, %eax, 4), %ecx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%ecx, array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incl %eax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(%ebx, %eax, 4), %edx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%edx, 0x4(%ebx)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addl %ecx, %edx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movl %edx, (%ebx, %eax, 4)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jmp loop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99738" y="568477"/>
          <a:ext cx="46593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280"/>
                <a:gridCol w="388280"/>
                <a:gridCol w="388280"/>
                <a:gridCol w="388280"/>
                <a:gridCol w="388280"/>
                <a:gridCol w="388280"/>
                <a:gridCol w="388280"/>
                <a:gridCol w="388280"/>
                <a:gridCol w="388280"/>
                <a:gridCol w="388280"/>
                <a:gridCol w="388280"/>
                <a:gridCol w="388280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92870" y="1496"/>
            <a:ext cx="1955068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array</a:t>
            </a:r>
            <a:endParaRPr lang="zh-CN" altLang="en-US" dirty="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21314" y="315253"/>
            <a:ext cx="0" cy="1807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219680" y="100321"/>
            <a:ext cx="358984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内存中连续</a:t>
            </a:r>
            <a:r>
              <a:rPr lang="en-US" altLang="zh-CN" dirty="0"/>
              <a:t>12</a:t>
            </a:r>
            <a:r>
              <a:rPr lang="zh-CN" altLang="en-US" dirty="0"/>
              <a:t>个字节的</a:t>
            </a:r>
            <a:r>
              <a:rPr lang="en-US" altLang="zh-CN" dirty="0"/>
              <a:t>0</a:t>
            </a: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/>
              <a:t>从高级语言到机器指令 </a:t>
            </a:r>
            <a:r>
              <a:rPr lang="en-US" altLang="zh-CN" b="1" dirty="0"/>
              <a:t>–</a:t>
            </a:r>
            <a:r>
              <a:rPr lang="zh-CN" altLang="en-US" b="1" dirty="0"/>
              <a:t> </a:t>
            </a:r>
            <a:r>
              <a:rPr lang="en-US" altLang="zh-CN" b="1" dirty="0"/>
              <a:t>C</a:t>
            </a:r>
            <a:r>
              <a:rPr lang="zh-CN" altLang="en-US" b="1" dirty="0"/>
              <a:t>语言程序编译的过程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汇编语句与机器指令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尝试用</a:t>
            </a:r>
            <a:r>
              <a:rPr lang="en-US" altLang="zh-CN" b="1" dirty="0" err="1">
                <a:solidFill>
                  <a:srgbClr val="C00000"/>
                </a:solidFill>
              </a:rPr>
              <a:t>gdb</a:t>
            </a:r>
            <a:r>
              <a:rPr lang="zh-CN" altLang="en-US" b="1" dirty="0">
                <a:solidFill>
                  <a:srgbClr val="C00000"/>
                </a:solidFill>
              </a:rPr>
              <a:t>调试程序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DAA0-425D-447F-9CFA-038EAD2E0C1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gdb</a:t>
            </a:r>
            <a:r>
              <a:rPr lang="zh-CN" altLang="en-US" dirty="0"/>
              <a:t>调试程序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安装</a:t>
            </a:r>
            <a:r>
              <a:rPr lang="en-US" altLang="zh-CN" dirty="0" err="1"/>
              <a:t>gdb</a:t>
            </a:r>
            <a:r>
              <a:rPr lang="zh-CN" altLang="en-US" dirty="0"/>
              <a:t>调试器：</a:t>
            </a:r>
            <a:r>
              <a:rPr lang="en-US" altLang="zh-CN" dirty="0" err="1">
                <a:latin typeface="Consolas" panose="020B0609020204030204" pitchFamily="49" charset="0"/>
              </a:rPr>
              <a:t>sudo</a:t>
            </a:r>
            <a:r>
              <a:rPr lang="en-US" altLang="zh-CN" dirty="0">
                <a:latin typeface="Consolas" panose="020B0609020204030204" pitchFamily="49" charset="0"/>
              </a:rPr>
              <a:t> apt-get install </a:t>
            </a:r>
            <a:r>
              <a:rPr lang="en-US" altLang="zh-CN" dirty="0" err="1">
                <a:latin typeface="Consolas" panose="020B0609020204030204" pitchFamily="49" charset="0"/>
              </a:rPr>
              <a:t>gdb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调试某程序：</a:t>
            </a:r>
            <a:r>
              <a:rPr lang="en-US" altLang="zh-CN" dirty="0" err="1">
                <a:latin typeface="Consolas" panose="020B0609020204030204" pitchFamily="49" charset="0"/>
              </a:rPr>
              <a:t>gdb</a:t>
            </a:r>
            <a:r>
              <a:rPr lang="en-US" altLang="zh-CN" dirty="0">
                <a:latin typeface="Consolas" panose="020B0609020204030204" pitchFamily="49" charset="0"/>
              </a:rPr>
              <a:t> &lt;</a:t>
            </a:r>
            <a:r>
              <a:rPr lang="zh-CN" altLang="en-US" dirty="0">
                <a:latin typeface="Consolas" panose="020B0609020204030204" pitchFamily="49" charset="0"/>
              </a:rPr>
              <a:t>程序名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常用命令：见后页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200000"/>
              </a:lnSpc>
            </a:pP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gdb</a:t>
            </a:r>
            <a:r>
              <a:rPr lang="zh-CN" altLang="en-US" dirty="0"/>
              <a:t>常用命令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124607" y="1200845"/>
          <a:ext cx="9942786" cy="484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5096"/>
                <a:gridCol w="693769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命令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说明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r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运行程序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c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（触发断点后）继续运行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err="1"/>
                        <a:t>si</a:t>
                      </a:r>
                      <a:r>
                        <a:rPr lang="en-US" altLang="zh-CN" sz="2400" dirty="0"/>
                        <a:t> [N]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单步执行</a:t>
                      </a:r>
                      <a:r>
                        <a:rPr lang="en-US" altLang="zh-CN" sz="2400" dirty="0"/>
                        <a:t>N</a:t>
                      </a:r>
                      <a:r>
                        <a:rPr lang="zh-CN" altLang="en-US" sz="2400" dirty="0"/>
                        <a:t>条指令，默认为</a:t>
                      </a:r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/</a:t>
                      </a:r>
                      <a:r>
                        <a:rPr lang="en-US" altLang="zh-CN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nfu</a:t>
                      </a: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&lt;</a:t>
                      </a: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地址</a:t>
                      </a: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查看</a:t>
                      </a:r>
                      <a:r>
                        <a:rPr lang="en-US" altLang="zh-CN" sz="2400" dirty="0"/>
                        <a:t>&lt;</a:t>
                      </a:r>
                      <a:r>
                        <a:rPr lang="zh-CN" altLang="en-US" sz="2400" dirty="0"/>
                        <a:t>地址</a:t>
                      </a:r>
                      <a:r>
                        <a:rPr lang="en-US" altLang="zh-CN" sz="2400" dirty="0"/>
                        <a:t>&gt;</a:t>
                      </a:r>
                      <a:r>
                        <a:rPr lang="zh-CN" altLang="en-US" sz="2400" dirty="0"/>
                        <a:t>处内存，打印</a:t>
                      </a:r>
                      <a:r>
                        <a:rPr lang="en-US" altLang="zh-CN" sz="2400" dirty="0"/>
                        <a:t>n</a:t>
                      </a:r>
                      <a:r>
                        <a:rPr lang="zh-CN" altLang="en-US" sz="2400" dirty="0"/>
                        <a:t>个单位，每个单位长度为</a:t>
                      </a:r>
                      <a:r>
                        <a:rPr lang="en-US" altLang="zh-CN" sz="2400" dirty="0"/>
                        <a:t>u</a:t>
                      </a:r>
                      <a:r>
                        <a:rPr lang="zh-CN" altLang="en-US" sz="2400" dirty="0"/>
                        <a:t>，打印值的类型为</a:t>
                      </a:r>
                      <a:r>
                        <a:rPr lang="en-US" altLang="zh-CN" sz="2400" dirty="0"/>
                        <a:t>f</a:t>
                      </a:r>
                      <a:r>
                        <a:rPr lang="zh-CN" altLang="en-US" sz="2400" dirty="0"/>
                        <a:t>，如，</a:t>
                      </a:r>
                      <a:r>
                        <a:rPr lang="en-US" altLang="zh-CN" sz="2400" dirty="0"/>
                        <a:t>x /12ub &lt;</a:t>
                      </a:r>
                      <a:r>
                        <a:rPr lang="zh-CN" altLang="en-US" sz="2400" dirty="0"/>
                        <a:t>地址</a:t>
                      </a:r>
                      <a:r>
                        <a:rPr lang="en-US" altLang="zh-CN" sz="2400" dirty="0"/>
                        <a:t>&gt;</a:t>
                      </a:r>
                      <a:endParaRPr lang="en-US" altLang="zh-CN" sz="2400" dirty="0"/>
                    </a:p>
                    <a:p>
                      <a:r>
                        <a:rPr lang="en-US" altLang="zh-CN" sz="1200" dirty="0"/>
                        <a:t>f</a:t>
                      </a:r>
                      <a:r>
                        <a:rPr lang="zh-CN" altLang="en-US" sz="1200" dirty="0"/>
                        <a:t>的取值：</a:t>
                      </a:r>
                      <a:r>
                        <a:rPr lang="en-US" altLang="zh-CN" sz="1200" dirty="0"/>
                        <a:t>c</a:t>
                      </a:r>
                      <a:r>
                        <a:rPr lang="zh-CN" altLang="en-US" sz="1200" baseline="0" dirty="0"/>
                        <a:t>  </a:t>
                      </a:r>
                      <a:r>
                        <a:rPr lang="en-US" altLang="zh-CN" sz="1200" baseline="0" dirty="0"/>
                        <a:t>d  f  o  s  u  x …</a:t>
                      </a:r>
                      <a:endParaRPr lang="en-US" altLang="zh-CN" sz="1200" baseline="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的取值：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b: Byte  h: Half-word (two bytes)  w: Word (four bytes)  g: Giant word (eight bytes))</a:t>
                      </a:r>
                      <a:endParaRPr lang="en-US" altLang="zh-CN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info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打印信息，如，</a:t>
                      </a:r>
                      <a:r>
                        <a:rPr lang="en-US" altLang="zh-CN" sz="2400" dirty="0"/>
                        <a:t>info r</a:t>
                      </a:r>
                      <a:r>
                        <a:rPr lang="zh-CN" altLang="en-US" sz="2400" dirty="0"/>
                        <a:t>打印寄存器信息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b &lt;</a:t>
                      </a:r>
                      <a:r>
                        <a:rPr lang="zh-CN" altLang="en-US" sz="2400" dirty="0"/>
                        <a:t>地址</a:t>
                      </a:r>
                      <a:r>
                        <a:rPr lang="en-US" altLang="zh-CN" sz="2400" dirty="0"/>
                        <a:t>&gt;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设置断点 </a:t>
                      </a:r>
                      <a:r>
                        <a:rPr lang="en-US" altLang="zh-CN" sz="2400" dirty="0"/>
                        <a:t>breakpoint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w &lt;</a:t>
                      </a:r>
                      <a:r>
                        <a:rPr lang="zh-CN" altLang="en-US" sz="2400" dirty="0"/>
                        <a:t>地址</a:t>
                      </a:r>
                      <a:r>
                        <a:rPr lang="en-US" altLang="zh-CN" sz="2400" dirty="0"/>
                        <a:t>&gt;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设置监视点 </a:t>
                      </a:r>
                      <a:r>
                        <a:rPr lang="en-US" altLang="zh-CN" sz="2400" dirty="0" err="1"/>
                        <a:t>watchpoint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err="1"/>
                        <a:t>bt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打印栈帧链</a:t>
                      </a:r>
                      <a:endParaRPr lang="zh-CN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5687394" y="610881"/>
            <a:ext cx="5379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5"/>
                </a:solidFill>
              </a:rPr>
              <a:t>https://darkdust.net/files/GDB%20Cheat%20Sheet.pdf</a:t>
            </a:r>
            <a:endParaRPr lang="zh-CN" altLang="en-US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gdb</a:t>
            </a:r>
            <a:r>
              <a:rPr lang="zh-CN" altLang="en-US" dirty="0"/>
              <a:t>来调试小练习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54421" y="1622348"/>
            <a:ext cx="3670738" cy="4616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Consolas" panose="020B0609020204030204" pitchFamily="49" charset="0"/>
              </a:rPr>
              <a:t>.data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array: .fill 12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.text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.globl main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main: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movl $0, %ebx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movl $1, %eax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movl $1, array(%ebx, %eax, 4)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incl %eax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movl $1, array(%ebx, %eax, 4)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movl $array, %ebx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loop: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movl $1, %eax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movl (%ebx, %eax, 4), %ecx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movl %ecx, array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incl %eax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movl (%ebx, %eax, 4), %edx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movl %edx, 0x4(%ebx)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addl %ecx, %edx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movl %edx, (%ebx, %eax, 4)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jmp loop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9790" y="1099128"/>
            <a:ext cx="20284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</a:rPr>
              <a:t>保存为</a:t>
            </a:r>
            <a:r>
              <a:rPr lang="en-US" altLang="zh-CN" sz="2800" dirty="0" err="1">
                <a:solidFill>
                  <a:schemeClr val="accent5"/>
                </a:solidFill>
              </a:rPr>
              <a:t>fib.S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25159" y="946547"/>
            <a:ext cx="804041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$ </a:t>
            </a:r>
            <a:r>
              <a:rPr lang="en-US" altLang="zh-CN" sz="2400" dirty="0" err="1">
                <a:latin typeface="Consolas" panose="020B0609020204030204" pitchFamily="49" charset="0"/>
              </a:rPr>
              <a:t>gcc</a:t>
            </a:r>
            <a:r>
              <a:rPr lang="en-US" altLang="zh-CN" sz="2400" dirty="0">
                <a:latin typeface="Consolas" panose="020B0609020204030204" pitchFamily="49" charset="0"/>
              </a:rPr>
              <a:t> –o fib </a:t>
            </a:r>
            <a:r>
              <a:rPr lang="en-US" altLang="zh-CN" sz="2400" dirty="0" err="1">
                <a:latin typeface="Consolas" panose="020B0609020204030204" pitchFamily="49" charset="0"/>
              </a:rPr>
              <a:t>fib.S</a:t>
            </a:r>
            <a:r>
              <a:rPr lang="en-US" altLang="zh-CN" sz="2400" dirty="0">
                <a:latin typeface="Consolas" panose="020B0609020204030204" pitchFamily="49" charset="0"/>
              </a:rPr>
              <a:t>  </a:t>
            </a:r>
            <a:r>
              <a:rPr lang="zh-CN" altLang="en-US" sz="2400" dirty="0">
                <a:latin typeface="Consolas" panose="020B0609020204030204" pitchFamily="49" charset="0"/>
              </a:rPr>
              <a:t>或  </a:t>
            </a:r>
            <a:r>
              <a:rPr lang="en-US" altLang="zh-CN" sz="2400" dirty="0" err="1">
                <a:latin typeface="Consolas" panose="020B0609020204030204" pitchFamily="49" charset="0"/>
              </a:rPr>
              <a:t>gcc</a:t>
            </a:r>
            <a:r>
              <a:rPr lang="en-US" altLang="zh-CN" sz="2400" dirty="0">
                <a:latin typeface="Consolas" panose="020B0609020204030204" pitchFamily="49" charset="0"/>
              </a:rPr>
              <a:t> –g –o fib </a:t>
            </a:r>
            <a:r>
              <a:rPr lang="en-US" altLang="zh-CN" sz="2400" dirty="0" err="1">
                <a:latin typeface="Consolas" panose="020B0609020204030204" pitchFamily="49" charset="0"/>
              </a:rPr>
              <a:t>fib.S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$ </a:t>
            </a:r>
            <a:r>
              <a:rPr lang="en-US" altLang="zh-CN" sz="2400" dirty="0" err="1">
                <a:latin typeface="Consolas" panose="020B0609020204030204" pitchFamily="49" charset="0"/>
              </a:rPr>
              <a:t>gdb</a:t>
            </a:r>
            <a:r>
              <a:rPr lang="en-US" altLang="zh-CN" sz="2400" dirty="0">
                <a:latin typeface="Consolas" panose="020B0609020204030204" pitchFamily="49" charset="0"/>
              </a:rPr>
              <a:t> fib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gdb</a:t>
            </a:r>
            <a:r>
              <a:rPr lang="en-US" altLang="zh-CN" sz="2400" dirty="0">
                <a:latin typeface="Consolas" panose="020B0609020204030204" pitchFamily="49" charset="0"/>
              </a:rPr>
              <a:t>) b main # </a:t>
            </a:r>
            <a:r>
              <a:rPr lang="zh-CN" altLang="en-US" sz="2400" dirty="0">
                <a:latin typeface="Consolas" panose="020B0609020204030204" pitchFamily="49" charset="0"/>
              </a:rPr>
              <a:t>在</a:t>
            </a:r>
            <a:r>
              <a:rPr lang="en-US" altLang="zh-CN" sz="2400" dirty="0">
                <a:latin typeface="Consolas" panose="020B0609020204030204" pitchFamily="49" charset="0"/>
              </a:rPr>
              <a:t>main</a:t>
            </a:r>
            <a:r>
              <a:rPr lang="zh-CN" altLang="en-US" sz="2400" dirty="0">
                <a:latin typeface="Consolas" panose="020B0609020204030204" pitchFamily="49" charset="0"/>
              </a:rPr>
              <a:t>处设置断点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gdb</a:t>
            </a:r>
            <a:r>
              <a:rPr lang="en-US" altLang="zh-CN" sz="2400" dirty="0">
                <a:latin typeface="Consolas" panose="020B0609020204030204" pitchFamily="49" charset="0"/>
              </a:rPr>
              <a:t>) b loop # </a:t>
            </a:r>
            <a:r>
              <a:rPr lang="zh-CN" altLang="en-US" sz="2400" dirty="0">
                <a:latin typeface="Consolas" panose="020B0609020204030204" pitchFamily="49" charset="0"/>
              </a:rPr>
              <a:t>在</a:t>
            </a:r>
            <a:r>
              <a:rPr lang="en-US" altLang="zh-CN" sz="2400" dirty="0">
                <a:latin typeface="Consolas" panose="020B0609020204030204" pitchFamily="49" charset="0"/>
              </a:rPr>
              <a:t>loop</a:t>
            </a:r>
            <a:r>
              <a:rPr lang="zh-CN" altLang="en-US" sz="2400" dirty="0">
                <a:latin typeface="Consolas" panose="020B0609020204030204" pitchFamily="49" charset="0"/>
              </a:rPr>
              <a:t>处设置断点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gdb</a:t>
            </a:r>
            <a:r>
              <a:rPr lang="en-US" altLang="zh-CN" sz="2400" dirty="0">
                <a:latin typeface="Consolas" panose="020B0609020204030204" pitchFamily="49" charset="0"/>
              </a:rPr>
              <a:t>) r      # run </a:t>
            </a:r>
            <a:r>
              <a:rPr lang="zh-CN" altLang="en-US" sz="2400" dirty="0">
                <a:latin typeface="Consolas" panose="020B0609020204030204" pitchFamily="49" charset="0"/>
              </a:rPr>
              <a:t>并触发断点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gdb</a:t>
            </a:r>
            <a:r>
              <a:rPr lang="en-US" altLang="zh-CN" sz="2400" dirty="0">
                <a:latin typeface="Consolas" panose="020B0609020204030204" pitchFamily="49" charset="0"/>
              </a:rPr>
              <a:t>) x /3uw &amp;array # </a:t>
            </a:r>
            <a:r>
              <a:rPr lang="zh-CN" altLang="en-US" sz="2400" dirty="0">
                <a:latin typeface="Consolas" panose="020B0609020204030204" pitchFamily="49" charset="0"/>
              </a:rPr>
              <a:t>打印内存首地址</a:t>
            </a:r>
            <a:r>
              <a:rPr lang="en-US" altLang="zh-CN" sz="2400" dirty="0">
                <a:latin typeface="Consolas" panose="020B0609020204030204" pitchFamily="49" charset="0"/>
              </a:rPr>
              <a:t>&amp;array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                    # 3</a:t>
            </a:r>
            <a:r>
              <a:rPr lang="zh-CN" altLang="en-US" sz="2400" dirty="0">
                <a:latin typeface="Consolas" panose="020B0609020204030204" pitchFamily="49" charset="0"/>
              </a:rPr>
              <a:t>个无符号整型（</a:t>
            </a:r>
            <a:r>
              <a:rPr lang="en-US" altLang="zh-CN" sz="2400" dirty="0">
                <a:latin typeface="Consolas" panose="020B0609020204030204" pitchFamily="49" charset="0"/>
              </a:rPr>
              <a:t>u</a:t>
            </a:r>
            <a:r>
              <a:rPr lang="zh-CN" altLang="en-US" sz="2400" dirty="0">
                <a:latin typeface="Consolas" panose="020B0609020204030204" pitchFamily="49" charset="0"/>
              </a:rPr>
              <a:t>）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                    #  </a:t>
            </a:r>
            <a:r>
              <a:rPr lang="zh-CN" altLang="en-US" sz="2400" dirty="0">
                <a:latin typeface="Consolas" panose="020B0609020204030204" pitchFamily="49" charset="0"/>
              </a:rPr>
              <a:t>每个单元长度为</a:t>
            </a:r>
            <a:r>
              <a:rPr lang="en-US" altLang="zh-CN" sz="2400" dirty="0">
                <a:latin typeface="Consolas" panose="020B0609020204030204" pitchFamily="49" charset="0"/>
              </a:rPr>
              <a:t>32</a:t>
            </a:r>
            <a:r>
              <a:rPr lang="zh-CN" altLang="en-US" sz="2400" dirty="0">
                <a:latin typeface="Consolas" panose="020B0609020204030204" pitchFamily="49" charset="0"/>
              </a:rPr>
              <a:t>位（</a:t>
            </a:r>
            <a:r>
              <a:rPr lang="en-US" altLang="zh-CN" sz="2400" dirty="0">
                <a:latin typeface="Consolas" panose="020B0609020204030204" pitchFamily="49" charset="0"/>
              </a:rPr>
              <a:t>w</a:t>
            </a:r>
            <a:r>
              <a:rPr lang="zh-CN" altLang="en-US" sz="2400" dirty="0">
                <a:latin typeface="Consolas" panose="020B0609020204030204" pitchFamily="49" charset="0"/>
              </a:rPr>
              <a:t>）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gdb</a:t>
            </a:r>
            <a:r>
              <a:rPr lang="en-US" altLang="zh-CN" sz="2400" dirty="0">
                <a:latin typeface="Consolas" panose="020B0609020204030204" pitchFamily="49" charset="0"/>
              </a:rPr>
              <a:t>) c # continue </a:t>
            </a:r>
            <a:r>
              <a:rPr lang="zh-CN" altLang="en-US" sz="2400" dirty="0">
                <a:latin typeface="Consolas" panose="020B0609020204030204" pitchFamily="49" charset="0"/>
              </a:rPr>
              <a:t>并触发下一个断点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gdb</a:t>
            </a:r>
            <a:r>
              <a:rPr lang="en-US" altLang="zh-CN" sz="2400" dirty="0">
                <a:latin typeface="Consolas" panose="020B0609020204030204" pitchFamily="49" charset="0"/>
              </a:rPr>
              <a:t>) x /3uw &amp;array</a:t>
            </a:r>
            <a:endParaRPr lang="en-US" altLang="zh-CN" sz="2400" dirty="0">
              <a:latin typeface="Consolas" panose="020B0609020204030204" pitchFamily="49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10237076" y="3302965"/>
            <a:ext cx="220717" cy="536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9816662" y="2038499"/>
            <a:ext cx="2375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需要加取地址符是因为汇编代码中没有声明</a:t>
            </a:r>
            <a:r>
              <a:rPr lang="en-US" altLang="zh-CN" dirty="0">
                <a:solidFill>
                  <a:schemeClr val="accent5"/>
                </a:solidFill>
              </a:rPr>
              <a:t>array</a:t>
            </a:r>
            <a:r>
              <a:rPr lang="zh-CN" altLang="en-US" dirty="0">
                <a:solidFill>
                  <a:schemeClr val="accent5"/>
                </a:solidFill>
              </a:rPr>
              <a:t>的类型，</a:t>
            </a:r>
            <a:r>
              <a:rPr lang="en-US" altLang="zh-CN" dirty="0">
                <a:solidFill>
                  <a:schemeClr val="accent5"/>
                </a:solidFill>
              </a:rPr>
              <a:t>C</a:t>
            </a:r>
            <a:r>
              <a:rPr lang="zh-CN" altLang="en-US" dirty="0">
                <a:solidFill>
                  <a:schemeClr val="accent5"/>
                </a:solidFill>
              </a:rPr>
              <a:t>语言数组类型无需</a:t>
            </a:r>
            <a:r>
              <a:rPr lang="en-US" altLang="zh-CN" dirty="0">
                <a:solidFill>
                  <a:schemeClr val="accent5"/>
                </a:solidFill>
              </a:rPr>
              <a:t>&amp;</a:t>
            </a:r>
            <a:endParaRPr lang="zh-CN" altLang="en-US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熟练掌握</a:t>
            </a:r>
            <a:r>
              <a:rPr lang="en-US" altLang="zh-CN" dirty="0" err="1"/>
              <a:t>gdb</a:t>
            </a:r>
            <a:r>
              <a:rPr lang="zh-CN" altLang="en-US" dirty="0"/>
              <a:t>对做</a:t>
            </a:r>
            <a:r>
              <a:rPr lang="en-US" altLang="zh-CN" dirty="0"/>
              <a:t>PA</a:t>
            </a:r>
            <a:r>
              <a:rPr lang="zh-CN" altLang="en-US" dirty="0"/>
              <a:t>的好处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1289588"/>
          </a:xfrm>
        </p:spPr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gdb</a:t>
            </a:r>
            <a:r>
              <a:rPr lang="zh-CN" altLang="en-US" dirty="0"/>
              <a:t>调试</a:t>
            </a:r>
            <a:r>
              <a:rPr lang="en-US" altLang="zh-CN" dirty="0" err="1"/>
              <a:t>nemu</a:t>
            </a:r>
            <a:endParaRPr lang="en-US" altLang="zh-CN" dirty="0"/>
          </a:p>
          <a:p>
            <a:pPr lvl="1"/>
            <a:r>
              <a:rPr lang="zh-CN" altLang="en-US" dirty="0"/>
              <a:t>当遇到</a:t>
            </a:r>
            <a:r>
              <a:rPr lang="en-US" altLang="zh-CN" dirty="0"/>
              <a:t>assertion fail</a:t>
            </a:r>
            <a:r>
              <a:rPr lang="zh-CN" altLang="en-US" dirty="0"/>
              <a:t>或者</a:t>
            </a:r>
            <a:r>
              <a:rPr lang="en-US" altLang="zh-CN" dirty="0"/>
              <a:t>segmentation fault</a:t>
            </a:r>
            <a:r>
              <a:rPr lang="zh-CN" altLang="en-US" dirty="0"/>
              <a:t>的时候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54574" y="2753711"/>
            <a:ext cx="5136929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</a:rPr>
              <a:t>$ cd pa2020_spring/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$ </a:t>
            </a:r>
            <a:r>
              <a:rPr lang="en-US" altLang="zh-CN" sz="2800" dirty="0" err="1">
                <a:latin typeface="Consolas" panose="020B0609020204030204" pitchFamily="49" charset="0"/>
              </a:rPr>
              <a:t>gdb</a:t>
            </a:r>
            <a:r>
              <a:rPr lang="en-US" altLang="zh-CN" sz="2800" dirty="0">
                <a:latin typeface="Consolas" panose="020B0609020204030204" pitchFamily="49" charset="0"/>
              </a:rPr>
              <a:t> ./</a:t>
            </a:r>
            <a:r>
              <a:rPr lang="en-US" altLang="zh-CN" sz="2800" dirty="0" err="1"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latin typeface="Consolas" panose="020B0609020204030204" pitchFamily="49" charset="0"/>
              </a:rPr>
              <a:t>nemu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(</a:t>
            </a:r>
            <a:r>
              <a:rPr lang="en-US" altLang="zh-CN" sz="2800" dirty="0" err="1">
                <a:latin typeface="Consolas" panose="020B0609020204030204" pitchFamily="49" charset="0"/>
              </a:rPr>
              <a:t>gdb</a:t>
            </a:r>
            <a:r>
              <a:rPr lang="en-US" altLang="zh-CN" sz="2800" dirty="0">
                <a:latin typeface="Consolas" panose="020B0609020204030204" pitchFamily="49" charset="0"/>
              </a:rPr>
              <a:t>) run 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--test-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alu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adc</a:t>
            </a:r>
            <a:endParaRPr lang="en-US" altLang="zh-CN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zh-CN" altLang="en-US" sz="2800" i="1" dirty="0">
                <a:latin typeface="Consolas" panose="020B0609020204030204" pitchFamily="49" charset="0"/>
              </a:rPr>
              <a:t>执行和出错信息</a:t>
            </a:r>
            <a:endParaRPr lang="en-US" altLang="zh-CN" sz="2800" i="1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(</a:t>
            </a:r>
            <a:r>
              <a:rPr lang="en-US" altLang="zh-CN" sz="2800" dirty="0" err="1">
                <a:latin typeface="Consolas" panose="020B0609020204030204" pitchFamily="49" charset="0"/>
              </a:rPr>
              <a:t>gdb</a:t>
            </a:r>
            <a:r>
              <a:rPr lang="en-US" altLang="zh-CN" sz="2800" dirty="0">
                <a:latin typeface="Consolas" panose="020B0609020204030204" pitchFamily="49" charset="0"/>
              </a:rPr>
              <a:t>) </a:t>
            </a:r>
            <a:r>
              <a:rPr lang="en-US" altLang="zh-CN" sz="2800" dirty="0" err="1">
                <a:latin typeface="Consolas" panose="020B0609020204030204" pitchFamily="49" charset="0"/>
              </a:rPr>
              <a:t>bt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zh-CN" altLang="en-US" sz="2800" i="1" dirty="0">
                <a:latin typeface="Consolas" panose="020B0609020204030204" pitchFamily="49" charset="0"/>
              </a:rPr>
              <a:t>打印栈帧链帮助定位</a:t>
            </a:r>
            <a:r>
              <a:rPr lang="en-US" altLang="zh-CN" sz="2800" i="1" dirty="0">
                <a:latin typeface="Consolas" panose="020B0609020204030204" pitchFamily="49" charset="0"/>
              </a:rPr>
              <a:t>bug</a:t>
            </a:r>
            <a:r>
              <a:rPr lang="zh-CN" altLang="en-US" sz="2800" i="1" dirty="0">
                <a:latin typeface="Consolas" panose="020B0609020204030204" pitchFamily="49" charset="0"/>
              </a:rPr>
              <a:t>和相应的函数调用参数</a:t>
            </a:r>
            <a:endParaRPr lang="en-US" altLang="zh-CN" sz="2800" i="1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(</a:t>
            </a:r>
            <a:r>
              <a:rPr lang="en-US" altLang="zh-CN" sz="2800" dirty="0" err="1">
                <a:latin typeface="Consolas" panose="020B0609020204030204" pitchFamily="49" charset="0"/>
              </a:rPr>
              <a:t>gdb</a:t>
            </a:r>
            <a:r>
              <a:rPr lang="en-US" altLang="zh-CN" sz="2800" dirty="0">
                <a:latin typeface="Consolas" panose="020B0609020204030204" pitchFamily="49" charset="0"/>
              </a:rPr>
              <a:t>) q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62116" y="2558422"/>
            <a:ext cx="3067767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zh-CN" alt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执行参数，参见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Makefile</a:t>
            </a:r>
            <a:endParaRPr lang="zh-CN" altLang="en-US" sz="2800" dirty="0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4351283" y="3268717"/>
            <a:ext cx="210833" cy="399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870032" y="4271211"/>
            <a:ext cx="39222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在</a:t>
            </a:r>
            <a:r>
              <a:rPr lang="en-US" altLang="zh-CN" sz="2800" dirty="0"/>
              <a:t>run</a:t>
            </a:r>
            <a:r>
              <a:rPr lang="zh-CN" altLang="en-US" sz="2800" dirty="0"/>
              <a:t>前使用命令可以在执行前打断点：</a:t>
            </a:r>
            <a:endParaRPr lang="en-US" altLang="zh-CN" sz="2800" dirty="0"/>
          </a:p>
          <a:p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en-US" altLang="zh-CN" sz="2800" b="1" dirty="0" err="1">
                <a:solidFill>
                  <a:srgbClr val="FF0000"/>
                </a:solidFill>
              </a:rPr>
              <a:t>gdb</a:t>
            </a:r>
            <a:r>
              <a:rPr lang="en-US" altLang="zh-CN" sz="2800" b="1" dirty="0">
                <a:solidFill>
                  <a:srgbClr val="FF0000"/>
                </a:solidFill>
              </a:rPr>
              <a:t>) b main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2827421" y="3662580"/>
            <a:ext cx="3958390" cy="1775694"/>
          </a:xfrm>
          <a:custGeom>
            <a:avLst/>
            <a:gdLst>
              <a:gd name="connsiteX0" fmla="*/ 3958390 w 3958390"/>
              <a:gd name="connsiteY0" fmla="*/ 1775694 h 1775694"/>
              <a:gd name="connsiteX1" fmla="*/ 3212432 w 3958390"/>
              <a:gd name="connsiteY1" fmla="*/ 1366620 h 1775694"/>
              <a:gd name="connsiteX2" fmla="*/ 3068053 w 3958390"/>
              <a:gd name="connsiteY2" fmla="*/ 163462 h 1775694"/>
              <a:gd name="connsiteX3" fmla="*/ 0 w 3958390"/>
              <a:gd name="connsiteY3" fmla="*/ 43146 h 177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8390" h="1775694">
                <a:moveTo>
                  <a:pt x="3958390" y="1775694"/>
                </a:moveTo>
                <a:cubicBezTo>
                  <a:pt x="3659605" y="1705509"/>
                  <a:pt x="3360821" y="1635325"/>
                  <a:pt x="3212432" y="1366620"/>
                </a:cubicBezTo>
                <a:cubicBezTo>
                  <a:pt x="3064043" y="1097915"/>
                  <a:pt x="3603458" y="384041"/>
                  <a:pt x="3068053" y="163462"/>
                </a:cubicBezTo>
                <a:cubicBezTo>
                  <a:pt x="2532648" y="-57117"/>
                  <a:pt x="1266324" y="-6986"/>
                  <a:pt x="0" y="43146"/>
                </a:cubicBezTo>
              </a:path>
            </a:pathLst>
          </a:custGeom>
          <a:noFill/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熟练掌握</a:t>
            </a:r>
            <a:r>
              <a:rPr lang="en-US" altLang="zh-CN" dirty="0" err="1"/>
              <a:t>gdb</a:t>
            </a:r>
            <a:r>
              <a:rPr lang="zh-CN" altLang="en-US" dirty="0"/>
              <a:t>对做</a:t>
            </a:r>
            <a:r>
              <a:rPr lang="en-US" altLang="zh-CN" dirty="0"/>
              <a:t>PA</a:t>
            </a:r>
            <a:r>
              <a:rPr lang="zh-CN" altLang="en-US" dirty="0"/>
              <a:t>的好处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1289588"/>
          </a:xfrm>
        </p:spPr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gdb</a:t>
            </a:r>
            <a:r>
              <a:rPr lang="zh-CN" altLang="en-US" dirty="0"/>
              <a:t>调试</a:t>
            </a:r>
            <a:r>
              <a:rPr lang="en-US" altLang="zh-CN" dirty="0" err="1"/>
              <a:t>nemu</a:t>
            </a:r>
            <a:endParaRPr lang="en-US" altLang="zh-CN" dirty="0"/>
          </a:p>
          <a:p>
            <a:pPr lvl="1"/>
            <a:r>
              <a:rPr lang="zh-CN" altLang="en-US" dirty="0"/>
              <a:t>当遇到</a:t>
            </a:r>
            <a:r>
              <a:rPr lang="en-US" altLang="zh-CN" dirty="0"/>
              <a:t>assertion fail</a:t>
            </a:r>
            <a:r>
              <a:rPr lang="zh-CN" altLang="en-US" dirty="0"/>
              <a:t>或者</a:t>
            </a:r>
            <a:r>
              <a:rPr lang="en-US" altLang="zh-CN" dirty="0"/>
              <a:t>segmentation fault</a:t>
            </a:r>
            <a:r>
              <a:rPr lang="zh-CN" altLang="en-US" dirty="0"/>
              <a:t>的时候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54574" y="2753711"/>
            <a:ext cx="5136929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</a:rPr>
              <a:t>$ cd pa2020_spring/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$ </a:t>
            </a:r>
            <a:r>
              <a:rPr lang="en-US" altLang="zh-CN" sz="2800" dirty="0" err="1">
                <a:latin typeface="Consolas" panose="020B0609020204030204" pitchFamily="49" charset="0"/>
              </a:rPr>
              <a:t>gdb</a:t>
            </a:r>
            <a:r>
              <a:rPr lang="en-US" altLang="zh-CN" sz="2800" dirty="0">
                <a:latin typeface="Consolas" panose="020B0609020204030204" pitchFamily="49" charset="0"/>
              </a:rPr>
              <a:t> ./</a:t>
            </a:r>
            <a:r>
              <a:rPr lang="en-US" altLang="zh-CN" sz="2800" dirty="0" err="1"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latin typeface="Consolas" panose="020B0609020204030204" pitchFamily="49" charset="0"/>
              </a:rPr>
              <a:t>nemu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(</a:t>
            </a:r>
            <a:r>
              <a:rPr lang="en-US" altLang="zh-CN" sz="2800" dirty="0" err="1">
                <a:latin typeface="Consolas" panose="020B0609020204030204" pitchFamily="49" charset="0"/>
              </a:rPr>
              <a:t>gdb</a:t>
            </a:r>
            <a:r>
              <a:rPr lang="en-US" altLang="zh-CN" sz="2800" dirty="0">
                <a:latin typeface="Consolas" panose="020B0609020204030204" pitchFamily="49" charset="0"/>
              </a:rPr>
              <a:t>) run 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--test-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alu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adc</a:t>
            </a:r>
            <a:endParaRPr lang="en-US" altLang="zh-CN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zh-CN" altLang="en-US" sz="2800" i="1" dirty="0">
                <a:latin typeface="Consolas" panose="020B0609020204030204" pitchFamily="49" charset="0"/>
              </a:rPr>
              <a:t>执行和出错信息</a:t>
            </a:r>
            <a:endParaRPr lang="en-US" altLang="zh-CN" sz="2800" i="1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(</a:t>
            </a:r>
            <a:r>
              <a:rPr lang="en-US" altLang="zh-CN" sz="2800" dirty="0" err="1">
                <a:latin typeface="Consolas" panose="020B0609020204030204" pitchFamily="49" charset="0"/>
              </a:rPr>
              <a:t>gdb</a:t>
            </a:r>
            <a:r>
              <a:rPr lang="en-US" altLang="zh-CN" sz="2800" dirty="0">
                <a:latin typeface="Consolas" panose="020B0609020204030204" pitchFamily="49" charset="0"/>
              </a:rPr>
              <a:t>) </a:t>
            </a:r>
            <a:r>
              <a:rPr lang="en-US" altLang="zh-CN" sz="2800" dirty="0" err="1">
                <a:latin typeface="Consolas" panose="020B0609020204030204" pitchFamily="49" charset="0"/>
              </a:rPr>
              <a:t>bt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zh-CN" altLang="en-US" sz="2800" i="1" dirty="0">
                <a:latin typeface="Consolas" panose="020B0609020204030204" pitchFamily="49" charset="0"/>
              </a:rPr>
              <a:t>打印栈帧链帮助定位</a:t>
            </a:r>
            <a:r>
              <a:rPr lang="en-US" altLang="zh-CN" sz="2800" i="1" dirty="0">
                <a:latin typeface="Consolas" panose="020B0609020204030204" pitchFamily="49" charset="0"/>
              </a:rPr>
              <a:t>bug</a:t>
            </a:r>
            <a:r>
              <a:rPr lang="zh-CN" altLang="en-US" sz="2800" i="1" dirty="0">
                <a:latin typeface="Consolas" panose="020B0609020204030204" pitchFamily="49" charset="0"/>
              </a:rPr>
              <a:t>和相应的函数调用参数</a:t>
            </a:r>
            <a:endParaRPr lang="en-US" altLang="zh-CN" sz="2800" i="1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(</a:t>
            </a:r>
            <a:r>
              <a:rPr lang="en-US" altLang="zh-CN" sz="2800" dirty="0" err="1">
                <a:latin typeface="Consolas" panose="020B0609020204030204" pitchFamily="49" charset="0"/>
              </a:rPr>
              <a:t>gdb</a:t>
            </a:r>
            <a:r>
              <a:rPr lang="en-US" altLang="zh-CN" sz="2800" dirty="0">
                <a:latin typeface="Consolas" panose="020B0609020204030204" pitchFamily="49" charset="0"/>
              </a:rPr>
              <a:t>) q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15310" y="3268717"/>
            <a:ext cx="5118538" cy="851338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581400" y="4292680"/>
            <a:ext cx="8170827" cy="461665"/>
          </a:xfrm>
          <a:prstGeom prst="rect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</a:rPr>
              <a:t>$ </a:t>
            </a:r>
            <a:r>
              <a:rPr lang="zh-CN" altLang="en-US" sz="2400" dirty="0">
                <a:latin typeface="Consolas" panose="020B0609020204030204" pitchFamily="49" charset="0"/>
              </a:rPr>
              <a:t>gdb -ex=run --args ./nemu/nemu </a:t>
            </a:r>
            <a:r>
              <a:rPr lang="zh-CN" alt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--test-alu adc</a:t>
            </a:r>
            <a:endParaRPr lang="zh-CN" altLang="en-US" sz="24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左右箭头 12"/>
          <p:cNvSpPr/>
          <p:nvPr/>
        </p:nvSpPr>
        <p:spPr>
          <a:xfrm rot="2934989">
            <a:off x="5412655" y="3751616"/>
            <a:ext cx="779646" cy="29838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986793" y="3391849"/>
            <a:ext cx="5949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等同，参见</a:t>
            </a:r>
            <a:r>
              <a:rPr lang="en-US" altLang="zh-CN" sz="2800" dirty="0" err="1"/>
              <a:t>Makefile</a:t>
            </a:r>
            <a:r>
              <a:rPr lang="zh-CN" altLang="en-US" sz="2800" dirty="0"/>
              <a:t>中的</a:t>
            </a:r>
            <a:r>
              <a:rPr lang="en-US" altLang="zh-CN" sz="2800" dirty="0"/>
              <a:t>debug</a:t>
            </a:r>
            <a:r>
              <a:rPr lang="zh-CN" altLang="en-US" sz="2800" dirty="0"/>
              <a:t>目标</a:t>
            </a:r>
            <a:endParaRPr lang="en-US" altLang="zh-CN" sz="2800" dirty="0"/>
          </a:p>
        </p:txBody>
      </p:sp>
      <p:sp>
        <p:nvSpPr>
          <p:cNvPr id="15" name="文本框 14"/>
          <p:cNvSpPr txBox="1"/>
          <p:nvPr/>
        </p:nvSpPr>
        <p:spPr>
          <a:xfrm>
            <a:off x="8287351" y="5339034"/>
            <a:ext cx="40133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修改参数后，使用</a:t>
            </a:r>
            <a:r>
              <a:rPr lang="en-US" altLang="zh-CN" sz="2800" dirty="0"/>
              <a:t>make debug</a:t>
            </a:r>
            <a:r>
              <a:rPr lang="zh-CN" altLang="en-US" sz="2800" dirty="0"/>
              <a:t>进入</a:t>
            </a:r>
            <a:r>
              <a:rPr lang="en-US" altLang="zh-CN" sz="2800" dirty="0" err="1"/>
              <a:t>gdb</a:t>
            </a:r>
            <a:r>
              <a:rPr lang="zh-CN" altLang="en-US" sz="2800" dirty="0"/>
              <a:t>调试</a:t>
            </a:r>
            <a:endParaRPr lang="en-US" altLang="zh-CN" sz="2800" dirty="0"/>
          </a:p>
        </p:txBody>
      </p:sp>
      <p:cxnSp>
        <p:nvCxnSpPr>
          <p:cNvPr id="17" name="直接箭头连接符 16"/>
          <p:cNvCxnSpPr>
            <a:stCxn id="15" idx="0"/>
          </p:cNvCxnSpPr>
          <p:nvPr/>
        </p:nvCxnSpPr>
        <p:spPr>
          <a:xfrm flipV="1">
            <a:off x="10294024" y="4639377"/>
            <a:ext cx="72384" cy="699657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nemu</a:t>
            </a:r>
            <a:r>
              <a:rPr lang="zh-CN" altLang="en-US" dirty="0"/>
              <a:t>内建的调试器（</a:t>
            </a:r>
            <a:r>
              <a:rPr lang="en-US" altLang="zh-CN" dirty="0"/>
              <a:t>PA 2-3</a:t>
            </a:r>
            <a:r>
              <a:rPr lang="zh-CN" altLang="en-US" dirty="0"/>
              <a:t>完善）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1000874" cy="482845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命令和</a:t>
            </a:r>
            <a:r>
              <a:rPr lang="en-US" altLang="zh-CN" dirty="0" err="1">
                <a:latin typeface="Consolas" panose="020B0609020204030204" pitchFamily="49" charset="0"/>
              </a:rPr>
              <a:t>gdb</a:t>
            </a:r>
            <a:r>
              <a:rPr lang="zh-CN" altLang="en-US" dirty="0">
                <a:latin typeface="Consolas" panose="020B0609020204030204" pitchFamily="49" charset="0"/>
              </a:rPr>
              <a:t>类似，由</a:t>
            </a:r>
            <a:r>
              <a:rPr lang="en-US" altLang="zh-CN" dirty="0" err="1">
                <a:latin typeface="Consolas" panose="020B0609020204030204" pitchFamily="49" charset="0"/>
              </a:rPr>
              <a:t>nemu</a:t>
            </a:r>
            <a:r>
              <a:rPr lang="zh-CN" altLang="en-US" dirty="0">
                <a:latin typeface="Consolas" panose="020B0609020204030204" pitchFamily="49" charset="0"/>
              </a:rPr>
              <a:t>内部的</a:t>
            </a:r>
            <a:r>
              <a:rPr lang="en-US" altLang="zh-CN" dirty="0">
                <a:latin typeface="Consolas" panose="020B0609020204030204" pitchFamily="49" charset="0"/>
              </a:rPr>
              <a:t>monitor</a:t>
            </a:r>
            <a:r>
              <a:rPr lang="zh-CN" altLang="en-US" dirty="0">
                <a:latin typeface="Consolas" panose="020B0609020204030204" pitchFamily="49" charset="0"/>
              </a:rPr>
              <a:t>实现，可以实现对测试用例（</a:t>
            </a:r>
            <a:r>
              <a:rPr lang="en-US" altLang="zh-CN" dirty="0" err="1">
                <a:latin typeface="Consolas" panose="020B0609020204030204" pitchFamily="49" charset="0"/>
              </a:rPr>
              <a:t>testcase</a:t>
            </a:r>
            <a:r>
              <a:rPr lang="zh-CN" altLang="en-US" dirty="0">
                <a:latin typeface="Consolas" panose="020B0609020204030204" pitchFamily="49" charset="0"/>
              </a:rPr>
              <a:t>）的单步执行、打印机器状态等功能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到了</a:t>
            </a:r>
            <a:r>
              <a:rPr lang="en-US" altLang="zh-CN" dirty="0">
                <a:latin typeface="Consolas" panose="020B0609020204030204" pitchFamily="49" charset="0"/>
              </a:rPr>
              <a:t>PA 2-1</a:t>
            </a:r>
            <a:r>
              <a:rPr lang="zh-CN" altLang="en-US" dirty="0">
                <a:latin typeface="Consolas" panose="020B0609020204030204" pitchFamily="49" charset="0"/>
              </a:rPr>
              <a:t>阶段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修改根目录</a:t>
            </a:r>
            <a:r>
              <a:rPr lang="en-US" altLang="zh-CN" dirty="0" err="1">
                <a:latin typeface="Consolas" panose="020B0609020204030204" pitchFamily="49" charset="0"/>
              </a:rPr>
              <a:t>Makefile</a:t>
            </a:r>
            <a:r>
              <a:rPr lang="zh-CN" altLang="en-US" dirty="0">
                <a:latin typeface="Consolas" panose="020B0609020204030204" pitchFamily="49" charset="0"/>
              </a:rPr>
              <a:t>中</a:t>
            </a:r>
            <a:r>
              <a:rPr lang="en-US" altLang="zh-CN" dirty="0">
                <a:latin typeface="Consolas" panose="020B0609020204030204" pitchFamily="49" charset="0"/>
              </a:rPr>
              <a:t>run</a:t>
            </a:r>
            <a:r>
              <a:rPr lang="zh-CN" altLang="en-US" dirty="0">
                <a:latin typeface="Consolas" panose="020B0609020204030204" pitchFamily="49" charset="0"/>
              </a:rPr>
              <a:t>目标的对应规则后使用 </a:t>
            </a:r>
            <a:r>
              <a:rPr lang="en-US" altLang="zh-CN" dirty="0">
                <a:latin typeface="Consolas" panose="020B0609020204030204" pitchFamily="49" charset="0"/>
              </a:rPr>
              <a:t>make run </a:t>
            </a:r>
            <a:r>
              <a:rPr lang="zh-CN" altLang="en-US" dirty="0">
                <a:latin typeface="Consolas" panose="020B0609020204030204" pitchFamily="49" charset="0"/>
              </a:rPr>
              <a:t>命令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或根目录执行 </a:t>
            </a:r>
            <a:r>
              <a:rPr lang="en-US" altLang="zh-CN" dirty="0">
                <a:latin typeface="Consolas" panose="020B0609020204030204" pitchFamily="49" charset="0"/>
              </a:rPr>
              <a:t>./</a:t>
            </a:r>
            <a:r>
              <a:rPr lang="en-US" altLang="zh-CN" dirty="0" err="1">
                <a:latin typeface="Consolas" panose="020B0609020204030204" pitchFamily="49" charset="0"/>
              </a:rPr>
              <a:t>nemu</a:t>
            </a:r>
            <a:r>
              <a:rPr lang="en-US" altLang="zh-CN" dirty="0"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latin typeface="Consolas" panose="020B0609020204030204" pitchFamily="49" charset="0"/>
              </a:rPr>
              <a:t>nemu</a:t>
            </a:r>
            <a:r>
              <a:rPr lang="en-US" altLang="zh-CN" dirty="0">
                <a:latin typeface="Consolas" panose="020B0609020204030204" pitchFamily="49" charset="0"/>
              </a:rPr>
              <a:t> --</a:t>
            </a:r>
            <a:r>
              <a:rPr lang="en-US" altLang="zh-CN" dirty="0" err="1">
                <a:latin typeface="Consolas" panose="020B0609020204030204" pitchFamily="49" charset="0"/>
              </a:rPr>
              <a:t>testcase</a:t>
            </a:r>
            <a:r>
              <a:rPr lang="en-US" altLang="zh-CN" dirty="0">
                <a:latin typeface="Consolas" panose="020B0609020204030204" pitchFamily="49" charset="0"/>
              </a:rPr>
              <a:t> &lt;</a:t>
            </a:r>
            <a:r>
              <a:rPr lang="zh-CN" altLang="en-US" dirty="0">
                <a:latin typeface="Consolas" panose="020B0609020204030204" pitchFamily="49" charset="0"/>
              </a:rPr>
              <a:t>测试用例名</a:t>
            </a:r>
            <a:r>
              <a:rPr lang="en-US" altLang="zh-CN" dirty="0">
                <a:latin typeface="Consolas" panose="020B0609020204030204" pitchFamily="49" charset="0"/>
              </a:rPr>
              <a:t>&gt; </a:t>
            </a:r>
            <a:r>
              <a:rPr lang="zh-CN" altLang="en-US" dirty="0">
                <a:latin typeface="Consolas" panose="020B0609020204030204" pitchFamily="49" charset="0"/>
              </a:rPr>
              <a:t>来进入调试界面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88978"/>
            <a:ext cx="10515600" cy="734002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gdb</a:t>
            </a:r>
            <a:r>
              <a:rPr lang="zh-CN" altLang="en-US" dirty="0"/>
              <a:t>与</a:t>
            </a:r>
            <a:r>
              <a:rPr lang="en-US" altLang="zh-CN" dirty="0" err="1"/>
              <a:t>nemu</a:t>
            </a:r>
            <a:r>
              <a:rPr lang="zh-CN" altLang="en-US" dirty="0"/>
              <a:t>内建调试器</a:t>
            </a:r>
            <a:r>
              <a:rPr lang="en-US" altLang="zh-CN" dirty="0"/>
              <a:t>monitor</a:t>
            </a:r>
            <a:r>
              <a:rPr lang="zh-CN" altLang="en-US" dirty="0"/>
              <a:t>区别和联系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623278"/>
            <a:ext cx="3891102" cy="2645009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03200" y="5669359"/>
            <a:ext cx="37465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/>
              <a:t>虚拟机 </a:t>
            </a:r>
            <a:r>
              <a:rPr lang="en-US" altLang="zh-CN" sz="4000" dirty="0"/>
              <a:t>+ Linux</a:t>
            </a:r>
            <a:endParaRPr lang="zh-CN" altLang="en-US" sz="4000" dirty="0"/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2197100" y="4620587"/>
            <a:ext cx="1028700" cy="76200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574800" y="4355256"/>
            <a:ext cx="1155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执行</a:t>
            </a:r>
            <a:endParaRPr lang="zh-CN" altLang="en-US" sz="3600" dirty="0"/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7731773" y="2176026"/>
            <a:ext cx="1207579" cy="89450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218098" y="1314565"/>
            <a:ext cx="19353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模拟</a:t>
            </a:r>
            <a:r>
              <a:rPr lang="en-US" altLang="zh-CN" sz="3200" dirty="0"/>
              <a:t>CPU</a:t>
            </a:r>
            <a:r>
              <a:rPr lang="zh-CN" altLang="en-US" sz="3200" dirty="0"/>
              <a:t>解释执行</a:t>
            </a:r>
            <a:endParaRPr lang="zh-CN" altLang="en-US" sz="3200" dirty="0"/>
          </a:p>
        </p:txBody>
      </p:sp>
      <p:sp>
        <p:nvSpPr>
          <p:cNvPr id="18" name="文本框 17"/>
          <p:cNvSpPr txBox="1"/>
          <p:nvPr/>
        </p:nvSpPr>
        <p:spPr>
          <a:xfrm>
            <a:off x="8425002" y="1541928"/>
            <a:ext cx="3398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/bin/add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034602" y="4978169"/>
            <a:ext cx="25858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都是</a:t>
            </a:r>
            <a:r>
              <a:rPr lang="en-US" altLang="zh-CN" sz="3600" dirty="0"/>
              <a:t>x86</a:t>
            </a:r>
            <a:r>
              <a:rPr lang="zh-CN" altLang="en-US" sz="3600" dirty="0"/>
              <a:t>指令的序列</a:t>
            </a:r>
            <a:endParaRPr lang="zh-CN" altLang="en-US" sz="3600" dirty="0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7682052" y="4788991"/>
            <a:ext cx="1257300" cy="425191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9982200" y="2391783"/>
            <a:ext cx="76200" cy="2609803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88978"/>
            <a:ext cx="10515600" cy="734002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gdb</a:t>
            </a:r>
            <a:r>
              <a:rPr lang="zh-CN" altLang="en-US" dirty="0"/>
              <a:t>与</a:t>
            </a:r>
            <a:r>
              <a:rPr lang="en-US" altLang="zh-CN" dirty="0" err="1"/>
              <a:t>nemu</a:t>
            </a:r>
            <a:r>
              <a:rPr lang="zh-CN" altLang="en-US" dirty="0"/>
              <a:t>内建调试器</a:t>
            </a:r>
            <a:r>
              <a:rPr lang="en-US" altLang="zh-CN" dirty="0"/>
              <a:t>monitor</a:t>
            </a:r>
            <a:r>
              <a:rPr lang="zh-CN" altLang="en-US" dirty="0"/>
              <a:t>区别和联系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2FDB4-F0CE-4CB5-8A51-D7CD3AFC70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F64-ADB9-46C6-ABA3-86F0361C032B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623278"/>
            <a:ext cx="3891102" cy="2645009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03200" y="5669359"/>
            <a:ext cx="37465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/>
              <a:t>虚拟机 </a:t>
            </a:r>
            <a:r>
              <a:rPr lang="en-US" altLang="zh-CN" sz="4000" dirty="0"/>
              <a:t>+ Linux</a:t>
            </a:r>
            <a:endParaRPr lang="zh-CN" altLang="en-US" sz="4000" dirty="0"/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2197100" y="4620587"/>
            <a:ext cx="1028700" cy="76200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574800" y="4355256"/>
            <a:ext cx="1155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执行</a:t>
            </a:r>
            <a:endParaRPr lang="zh-CN" altLang="en-US" sz="3600" dirty="0"/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7731773" y="2176026"/>
            <a:ext cx="1207579" cy="89450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218098" y="1314565"/>
            <a:ext cx="19353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模拟</a:t>
            </a:r>
            <a:r>
              <a:rPr lang="en-US" altLang="zh-CN" sz="3200" dirty="0"/>
              <a:t>CPU</a:t>
            </a:r>
            <a:r>
              <a:rPr lang="zh-CN" altLang="en-US" sz="3200" dirty="0"/>
              <a:t>解释执行</a:t>
            </a:r>
            <a:endParaRPr lang="zh-CN" altLang="en-US" sz="3200" dirty="0"/>
          </a:p>
        </p:txBody>
      </p:sp>
      <p:sp>
        <p:nvSpPr>
          <p:cNvPr id="18" name="文本框 17"/>
          <p:cNvSpPr txBox="1"/>
          <p:nvPr/>
        </p:nvSpPr>
        <p:spPr>
          <a:xfrm>
            <a:off x="8425002" y="1541928"/>
            <a:ext cx="3398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/bin/add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034602" y="4978169"/>
            <a:ext cx="25858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都是</a:t>
            </a:r>
            <a:r>
              <a:rPr lang="en-US" altLang="zh-CN" sz="3600" dirty="0"/>
              <a:t>x86</a:t>
            </a:r>
            <a:r>
              <a:rPr lang="zh-CN" altLang="en-US" sz="3600" dirty="0"/>
              <a:t>指令的序列</a:t>
            </a:r>
            <a:endParaRPr lang="zh-CN" altLang="en-US" sz="3600" dirty="0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7682052" y="4788991"/>
            <a:ext cx="1257300" cy="425191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9982200" y="2391783"/>
            <a:ext cx="76200" cy="2609803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右箭头 21"/>
          <p:cNvSpPr/>
          <p:nvPr/>
        </p:nvSpPr>
        <p:spPr>
          <a:xfrm>
            <a:off x="1422400" y="2623278"/>
            <a:ext cx="2336800" cy="151692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err="1"/>
              <a:t>gdb</a:t>
            </a:r>
            <a:endParaRPr lang="zh-CN" altLang="en-US" sz="3600" dirty="0"/>
          </a:p>
        </p:txBody>
      </p:sp>
      <p:sp>
        <p:nvSpPr>
          <p:cNvPr id="23" name="右箭头 22"/>
          <p:cNvSpPr/>
          <p:nvPr/>
        </p:nvSpPr>
        <p:spPr>
          <a:xfrm rot="19509642">
            <a:off x="6239361" y="1924259"/>
            <a:ext cx="2523128" cy="151692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monitor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774578"/>
            <a:ext cx="9144000" cy="2387600"/>
          </a:xfrm>
        </p:spPr>
        <p:txBody>
          <a:bodyPr/>
          <a:lstStyle/>
          <a:p>
            <a:r>
              <a:rPr lang="en-US" altLang="zh-CN" dirty="0"/>
              <a:t>PA 2-0 </a:t>
            </a:r>
            <a:r>
              <a:rPr lang="zh-CN" altLang="en-US" dirty="0"/>
              <a:t>结束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FA84-EAF4-4339-BDEC-060012F97AB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6f418c5e-51d0-4031-a795-899f88f9cda3"/>
  <p:tag name="COMMONDATA" val="eyJoZGlkIjoiZDhkMjVmNWE3MzdmZDhlMjliYzQwNmU0MDlhMTI5OTEifQ=="/>
</p:tagLst>
</file>

<file path=ppt/theme/theme1.xml><?xml version="1.0" encoding="utf-8"?>
<a:theme xmlns:a="http://schemas.openxmlformats.org/drawingml/2006/main" name="2020_spring_pa_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2020_spring_pa_0</Template>
  <TotalTime>0</TotalTime>
  <Words>14801</Words>
  <Application>WPS 演示</Application>
  <PresentationFormat>宽屏</PresentationFormat>
  <Paragraphs>1473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6" baseType="lpstr">
      <vt:lpstr>Arial</vt:lpstr>
      <vt:lpstr>宋体</vt:lpstr>
      <vt:lpstr>Wingdings</vt:lpstr>
      <vt:lpstr>微软雅黑</vt:lpstr>
      <vt:lpstr>幼圆</vt:lpstr>
      <vt:lpstr>Consolas</vt:lpstr>
      <vt:lpstr>等线</vt:lpstr>
      <vt:lpstr>Arial Unicode MS</vt:lpstr>
      <vt:lpstr>MS Gothic</vt:lpstr>
      <vt:lpstr>Times New Roman</vt:lpstr>
      <vt:lpstr>Calibri</vt:lpstr>
      <vt:lpstr>2020_spring_pa_0</vt:lpstr>
      <vt:lpstr>PA 2-0 – 汇编基础知识先导课</vt:lpstr>
      <vt:lpstr>前情提要</vt:lpstr>
      <vt:lpstr>目录</vt:lpstr>
      <vt:lpstr>目录</vt:lpstr>
      <vt:lpstr>从高级语言到机器指令 – C语言程序编译的过程</vt:lpstr>
      <vt:lpstr>从高级语言到机器指令 – C语言程序编译的过程</vt:lpstr>
      <vt:lpstr>从高级语言到机器指令 – C语言程序编译的过程</vt:lpstr>
      <vt:lpstr>从高级语言到机器指令 – C语言程序编译的过程</vt:lpstr>
      <vt:lpstr>从高级语言到机器指令 – C语言程序编译的过程</vt:lpstr>
      <vt:lpstr>从高级语言到机器指令 – C语言程序编译的过程</vt:lpstr>
      <vt:lpstr>从高级语言到机器指令 – C语言程序编译的过程</vt:lpstr>
      <vt:lpstr>从高级语言到机器指令 – C语言程序编译的过程</vt:lpstr>
      <vt:lpstr>从高级语言到机器指令 – C语言程序编译的过程</vt:lpstr>
      <vt:lpstr>从高级语言到机器指令 – C语言程序编译的过程</vt:lpstr>
      <vt:lpstr>从高级语言到机器指令 – C语言程序编译的过程</vt:lpstr>
      <vt:lpstr>从高级语言到机器指令 – C语言程序编译的过程</vt:lpstr>
      <vt:lpstr>重要提示！</vt:lpstr>
      <vt:lpstr>从高级语言到机器指令 – C语言程序编译的过程</vt:lpstr>
      <vt:lpstr>从高级语言到机器指令 – C语言程序编译的过程</vt:lpstr>
      <vt:lpstr>和PA的关系</vt:lpstr>
      <vt:lpstr>NEMU装载testcase</vt:lpstr>
      <vt:lpstr>NEMU装载testcase</vt:lpstr>
      <vt:lpstr>层次关系：装载到内存并执行</vt:lpstr>
      <vt:lpstr>小结</vt:lpstr>
      <vt:lpstr>目录</vt:lpstr>
      <vt:lpstr>汇编语言编程（指令的格式）</vt:lpstr>
      <vt:lpstr>汇编语言编程（指令的格式）</vt:lpstr>
      <vt:lpstr>汇编语言编程</vt:lpstr>
      <vt:lpstr>汇编语言编程（指令的格式）</vt:lpstr>
      <vt:lpstr>汇编语言编程（长度后缀）</vt:lpstr>
      <vt:lpstr>汇编语言编程（指令的格式）</vt:lpstr>
      <vt:lpstr>汇编语言编程（操作数寻址）</vt:lpstr>
      <vt:lpstr>汇编语言编程（操作数寻址）</vt:lpstr>
      <vt:lpstr>读懂i386手册对指令的描述</vt:lpstr>
      <vt:lpstr>汇编语言编程</vt:lpstr>
      <vt:lpstr>汇编语言编程</vt:lpstr>
      <vt:lpstr>汇编语言编程</vt:lpstr>
      <vt:lpstr>汇编语言编程</vt:lpstr>
      <vt:lpstr>汇编语言编程</vt:lpstr>
      <vt:lpstr>汇编语言编程</vt:lpstr>
      <vt:lpstr>熟练掌握汇编语言的重要性</vt:lpstr>
      <vt:lpstr>小练习1</vt:lpstr>
      <vt:lpstr>小练习2</vt:lpstr>
      <vt:lpstr>PowerPoint 演示文稿</vt:lpstr>
      <vt:lpstr>目录</vt:lpstr>
      <vt:lpstr>使用gdb调试程序</vt:lpstr>
      <vt:lpstr>gdb常用命令</vt:lpstr>
      <vt:lpstr>用gdb来调试小练习2</vt:lpstr>
      <vt:lpstr>熟练掌握gdb对做PA的好处</vt:lpstr>
      <vt:lpstr>熟练掌握gdb对做PA的好处</vt:lpstr>
      <vt:lpstr>nemu内建的调试器（PA 2-3完善）</vt:lpstr>
      <vt:lpstr>gdb与nemu内建调试器monitor区别和联系</vt:lpstr>
      <vt:lpstr>gdb与nemu内建调试器monitor区别和联系</vt:lpstr>
      <vt:lpstr>PA 2-0 结束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wangliang</dc:creator>
  <cp:lastModifiedBy>汪亮</cp:lastModifiedBy>
  <cp:revision>491</cp:revision>
  <dcterms:created xsi:type="dcterms:W3CDTF">2020-03-12T07:26:00Z</dcterms:created>
  <dcterms:modified xsi:type="dcterms:W3CDTF">2025-09-16T05:48:37Z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0C62D718DAA64BF3BB06570EB24AD6E2</vt:lpwstr>
  </property>
  <property fmtid="{D5CDD505-2E9C-101B-9397-08002B2CF9AE}" pid="3" name="KSOProductBuildVer">
    <vt:lpwstr>2052-12.1.0.22529</vt:lpwstr>
  </property>
</Properties>
</file>