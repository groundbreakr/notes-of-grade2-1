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mf" ContentType="image/x-w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sldIdLst>
    <p:sldId id="256" r:id="rId3"/>
    <p:sldId id="258" r:id="rId4"/>
    <p:sldId id="257" r:id="rId5"/>
    <p:sldId id="278" r:id="rId6"/>
    <p:sldId id="319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2" r:id="rId19"/>
    <p:sldId id="270" r:id="rId20"/>
    <p:sldId id="271" r:id="rId21"/>
    <p:sldId id="276" r:id="rId22"/>
    <p:sldId id="277" r:id="rId23"/>
    <p:sldId id="274" r:id="rId24"/>
    <p:sldId id="275" r:id="rId25"/>
    <p:sldId id="279" r:id="rId26"/>
    <p:sldId id="280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7" r:id="rId42"/>
    <p:sldId id="298" r:id="rId43"/>
    <p:sldId id="299" r:id="rId44"/>
    <p:sldId id="300" r:id="rId45"/>
    <p:sldId id="295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3" r:id="rId58"/>
    <p:sldId id="314" r:id="rId59"/>
    <p:sldId id="315" r:id="rId60"/>
    <p:sldId id="317" r:id="rId61"/>
    <p:sldId id="318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notesMaster" Target="notesMasters/notesMaster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258B2-E5D2-43D8-9A2A-F63FDDE59A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C161B-A9C2-46A6-8C32-014108CF87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FA84-EAF4-4339-BDEC-060012F97A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colorTemperature colorTemp="6494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365126"/>
            <a:ext cx="5105400" cy="63987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8B1D-C9F0-4514-8B71-7951DD053CC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98944-B7EF-4BAE-B0C0-70BA6238E51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2DFD-344B-4A2B-AE0F-34C3E9F6948B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9F0E-3F8E-4915-A2AA-25336EC96CA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E293-5419-4384-99A4-84F946C36A7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CF72-818D-4492-83E2-4CA228F09CF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C76D0-244B-4ABF-93B7-A2CBBED08F7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B5D54-3D40-4602-8A43-B70FDB145F8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7C7FA-4661-44B6-A47E-407A17E7E16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48509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/>
                </a:solidFill>
              </a:defRPr>
            </a:lvl1pPr>
          </a:lstStyle>
          <a:p>
            <a:fld id="{6CC3E04F-1FA0-408C-8423-7418D0649E9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8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/>
                </a:solidFill>
              </a:defRPr>
            </a:lvl1pPr>
          </a:lstStyle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bellard.org/softfp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emf"/><Relationship Id="rId1" Type="http://schemas.openxmlformats.org/officeDocument/2006/relationships/image" Target="../media/image10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90BD5-1745-49DB-938D-35C1CC18110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2692400"/>
            <a:ext cx="9144000" cy="1203642"/>
          </a:xfrm>
        </p:spPr>
        <p:txBody>
          <a:bodyPr>
            <a:normAutofit/>
          </a:bodyPr>
          <a:lstStyle/>
          <a:p>
            <a:pPr algn="l"/>
            <a:r>
              <a:rPr lang="en-US" altLang="zh-CN" sz="4800" dirty="0"/>
              <a:t>PA 1-3 – </a:t>
            </a:r>
            <a:r>
              <a:rPr lang="zh-CN" altLang="en-US" sz="4800" dirty="0"/>
              <a:t>浮点数的表示和运算</a:t>
            </a:r>
            <a:endParaRPr lang="zh-CN" altLang="en-US" sz="4800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1524000" y="4298315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9</a:t>
            </a:r>
            <a:r>
              <a:rPr lang="zh-CN" altLang="en-US" dirty="0"/>
              <a:t>日</a:t>
            </a:r>
            <a:endParaRPr lang="zh-CN" altLang="en-US" dirty="0"/>
          </a:p>
          <a:p>
            <a:pPr algn="r"/>
            <a:r>
              <a:rPr lang="en-US" altLang="zh-CN" dirty="0">
                <a:sym typeface="+mn-ea"/>
              </a:rPr>
              <a:t>2025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9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日</a:t>
            </a:r>
            <a:endParaRPr lang="en-US" altLang="zh-CN" dirty="0"/>
          </a:p>
          <a:p>
            <a:pPr algn="r"/>
            <a:r>
              <a:rPr lang="zh-CN" altLang="en-US" dirty="0"/>
              <a:t>南京大学</a:t>
            </a:r>
            <a:r>
              <a:rPr lang="en-US" altLang="zh-CN" dirty="0"/>
              <a:t>《</a:t>
            </a:r>
            <a:r>
              <a:rPr lang="zh-CN" altLang="en-US" dirty="0"/>
              <a:t>计算机系统基础</a:t>
            </a:r>
            <a:r>
              <a:rPr lang="en-US" altLang="zh-CN" dirty="0"/>
              <a:t>》</a:t>
            </a:r>
            <a:r>
              <a:rPr lang="zh-CN" altLang="en-US" dirty="0"/>
              <a:t>课程组</a:t>
            </a:r>
            <a:endParaRPr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1524000" y="1359434"/>
            <a:ext cx="6858000" cy="1332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计算机系统基础</a:t>
            </a:r>
            <a:b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Programming Assignment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前情提要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342497" y="1492407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/>
              <a:t>src</a:t>
            </a:r>
            <a:endParaRPr lang="zh-CN" altLang="en-US" sz="2800" dirty="0"/>
          </a:p>
        </p:txBody>
      </p:sp>
      <p:sp>
        <p:nvSpPr>
          <p:cNvPr id="14" name="文本框 13"/>
          <p:cNvSpPr txBox="1"/>
          <p:nvPr/>
        </p:nvSpPr>
        <p:spPr>
          <a:xfrm>
            <a:off x="7231890" y="3483133"/>
            <a:ext cx="835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/>
              <a:t>dest</a:t>
            </a:r>
            <a:endParaRPr lang="zh-CN" altLang="en-US" sz="28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0098897" y="2502780"/>
            <a:ext cx="1027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result</a:t>
            </a:r>
            <a:endParaRPr lang="zh-CN" altLang="en-US" sz="2800" dirty="0"/>
          </a:p>
        </p:txBody>
      </p:sp>
      <p:sp>
        <p:nvSpPr>
          <p:cNvPr id="8" name="梯形 7"/>
          <p:cNvSpPr/>
          <p:nvPr/>
        </p:nvSpPr>
        <p:spPr>
          <a:xfrm rot="5400000">
            <a:off x="7828308" y="2322956"/>
            <a:ext cx="2081049" cy="882869"/>
          </a:xfrm>
          <a:prstGeom prst="trapezoid">
            <a:avLst>
              <a:gd name="adj" fmla="val 40455"/>
            </a:avLst>
          </a:prstGeom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ALU</a:t>
            </a:r>
            <a:endParaRPr lang="zh-CN" altLang="en-US" sz="3600" dirty="0"/>
          </a:p>
        </p:txBody>
      </p:sp>
      <p:cxnSp>
        <p:nvCxnSpPr>
          <p:cNvPr id="10" name="直接箭头连接符 9"/>
          <p:cNvCxnSpPr>
            <a:stCxn id="8" idx="0"/>
          </p:cNvCxnSpPr>
          <p:nvPr/>
        </p:nvCxnSpPr>
        <p:spPr>
          <a:xfrm rot="5400000" flipH="1" flipV="1">
            <a:off x="9630831" y="2443826"/>
            <a:ext cx="1" cy="641129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7329067" y="2118003"/>
            <a:ext cx="1082565" cy="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7329067" y="3447562"/>
            <a:ext cx="108256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rot="5400000">
            <a:off x="8360498" y="4108504"/>
            <a:ext cx="101667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8012239" y="4603340"/>
            <a:ext cx="1713186" cy="699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EFLAGS</a:t>
            </a:r>
            <a:endParaRPr lang="zh-CN" altLang="en-US" sz="2800" dirty="0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608396" y="5687684"/>
          <a:ext cx="5622340" cy="523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</a:tblGrid>
              <a:tr h="52322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1336703" y="5018898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4355137" y="1906612"/>
          <a:ext cx="1875599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5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EAX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ECX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EBX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ESP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EBP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ESI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EDI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4356308" y="129666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通用寄存器</a:t>
            </a:r>
            <a:endParaRPr lang="zh-CN" altLang="en-US" sz="2800" dirty="0"/>
          </a:p>
        </p:txBody>
      </p:sp>
      <p:sp>
        <p:nvSpPr>
          <p:cNvPr id="32" name="文本框 31"/>
          <p:cNvSpPr txBox="1"/>
          <p:nvPr/>
        </p:nvSpPr>
        <p:spPr>
          <a:xfrm>
            <a:off x="1578947" y="3037395"/>
            <a:ext cx="2049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PA 1-1</a:t>
            </a:r>
            <a:endParaRPr lang="zh-CN" altLang="en-US" sz="4400" dirty="0"/>
          </a:p>
        </p:txBody>
      </p:sp>
      <p:sp>
        <p:nvSpPr>
          <p:cNvPr id="33" name="文本框 32"/>
          <p:cNvSpPr txBox="1"/>
          <p:nvPr/>
        </p:nvSpPr>
        <p:spPr>
          <a:xfrm>
            <a:off x="7844073" y="597757"/>
            <a:ext cx="2049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PA 1-2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b="1" dirty="0"/>
              <a:t>PA 1-1 </a:t>
            </a:r>
            <a:r>
              <a:rPr lang="zh-CN" altLang="en-US" b="1" dirty="0"/>
              <a:t>数据的类型和存取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en-US" altLang="zh-CN" b="1" dirty="0"/>
              <a:t>PA 1-2 </a:t>
            </a:r>
            <a:r>
              <a:rPr lang="zh-CN" altLang="en-US" b="1" dirty="0"/>
              <a:t>整数的表示和运算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PA 1-3 </a:t>
            </a:r>
            <a:r>
              <a:rPr lang="zh-CN" altLang="en-US" b="1" dirty="0">
                <a:solidFill>
                  <a:srgbClr val="C00000"/>
                </a:solidFill>
              </a:rPr>
              <a:t>浮点数的表示和运算</a:t>
            </a:r>
            <a:endParaRPr lang="zh-CN" altLang="en-US" b="1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0719-23B1-4676-A32E-50629200FFE7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概览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68" y="-62172"/>
            <a:ext cx="7370539" cy="398612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756400" y="4351250"/>
            <a:ext cx="2398614" cy="1079500"/>
          </a:xfrm>
          <a:prstGeom prst="rect">
            <a:avLst/>
          </a:prstGeom>
          <a:ln w="444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000" dirty="0"/>
              <a:t>FPU</a:t>
            </a:r>
            <a:endParaRPr lang="zh-CN" altLang="en-US" sz="4000" dirty="0"/>
          </a:p>
        </p:txBody>
      </p:sp>
      <p:sp>
        <p:nvSpPr>
          <p:cNvPr id="9" name="文本框 8"/>
          <p:cNvSpPr txBox="1"/>
          <p:nvPr/>
        </p:nvSpPr>
        <p:spPr>
          <a:xfrm>
            <a:off x="9447114" y="4850852"/>
            <a:ext cx="1144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x87</a:t>
            </a:r>
            <a:endParaRPr lang="zh-CN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6499479" y="5687732"/>
            <a:ext cx="53110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u="sng" dirty="0">
                <a:solidFill>
                  <a:schemeClr val="accent5"/>
                </a:solidFill>
              </a:rPr>
              <a:t>http://www.felixcloutier.com/x86/</a:t>
            </a:r>
            <a:endParaRPr lang="zh-CN" altLang="en-US" sz="2800" u="sng" dirty="0">
              <a:solidFill>
                <a:schemeClr val="accent5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574921" y="4637712"/>
            <a:ext cx="1889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PA 1-3</a:t>
            </a:r>
            <a:endParaRPr lang="zh-CN" altLang="en-US" sz="4000" dirty="0"/>
          </a:p>
        </p:txBody>
      </p:sp>
      <p:sp>
        <p:nvSpPr>
          <p:cNvPr id="8" name="矩形 7"/>
          <p:cNvSpPr/>
          <p:nvPr/>
        </p:nvSpPr>
        <p:spPr>
          <a:xfrm>
            <a:off x="7800513" y="3100028"/>
            <a:ext cx="397416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i="1">
                <a:solidFill>
                  <a:srgbClr val="0070C0"/>
                </a:solidFill>
              </a:rPr>
              <a:t>nemu/include/cpu/reg_fpu.h</a:t>
            </a:r>
            <a:endParaRPr lang="en-US" altLang="zh-CN" sz="2400" i="1">
              <a:solidFill>
                <a:srgbClr val="0070C0"/>
              </a:solidFill>
            </a:endParaRPr>
          </a:p>
          <a:p>
            <a:r>
              <a:rPr lang="zh-CN" altLang="en-US" sz="2400" i="1">
                <a:solidFill>
                  <a:srgbClr val="0070C0"/>
                </a:solidFill>
              </a:rPr>
              <a:t>nemu/include/cpu/fpu.h</a:t>
            </a:r>
            <a:endParaRPr lang="zh-CN" altLang="en-US" sz="2400" i="1">
              <a:solidFill>
                <a:srgbClr val="0070C0"/>
              </a:solidFill>
            </a:endParaRPr>
          </a:p>
          <a:p>
            <a:r>
              <a:rPr lang="pl-PL" altLang="zh-CN" sz="2400" i="1">
                <a:solidFill>
                  <a:srgbClr val="0070C0"/>
                </a:solidFill>
              </a:rPr>
              <a:t>nemu/src/cpu/fpu.c</a:t>
            </a:r>
            <a:endParaRPr lang="zh-CN" altLang="en-US" sz="2400" i="1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概览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756400" y="4351250"/>
            <a:ext cx="2398614" cy="1079500"/>
          </a:xfrm>
          <a:prstGeom prst="rect">
            <a:avLst/>
          </a:prstGeom>
          <a:ln w="444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000" dirty="0"/>
              <a:t>FPU</a:t>
            </a:r>
            <a:endParaRPr lang="zh-CN" altLang="en-US" sz="4000" dirty="0"/>
          </a:p>
        </p:txBody>
      </p:sp>
      <p:sp>
        <p:nvSpPr>
          <p:cNvPr id="9" name="文本框 8"/>
          <p:cNvSpPr txBox="1"/>
          <p:nvPr/>
        </p:nvSpPr>
        <p:spPr>
          <a:xfrm>
            <a:off x="9447114" y="4850852"/>
            <a:ext cx="1144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x87</a:t>
            </a:r>
            <a:endParaRPr lang="zh-CN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6499479" y="5687732"/>
            <a:ext cx="53110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u="sng" dirty="0">
                <a:solidFill>
                  <a:schemeClr val="accent5"/>
                </a:solidFill>
              </a:rPr>
              <a:t>http://www.felixcloutier.com/x86/</a:t>
            </a:r>
            <a:endParaRPr lang="zh-CN" altLang="en-US" sz="2800" u="sng" dirty="0">
              <a:solidFill>
                <a:schemeClr val="accent5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574921" y="4637712"/>
            <a:ext cx="1889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PA 1-3</a:t>
            </a:r>
            <a:endParaRPr lang="zh-CN" altLang="en-US" sz="4000" dirty="0"/>
          </a:p>
        </p:txBody>
      </p:sp>
      <p:sp>
        <p:nvSpPr>
          <p:cNvPr id="8" name="矩形 7"/>
          <p:cNvSpPr/>
          <p:nvPr/>
        </p:nvSpPr>
        <p:spPr>
          <a:xfrm>
            <a:off x="7800513" y="3100028"/>
            <a:ext cx="397416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i="1">
                <a:solidFill>
                  <a:srgbClr val="0070C0"/>
                </a:solidFill>
              </a:rPr>
              <a:t>nemu/include/cpu/reg_fpu.h</a:t>
            </a:r>
            <a:endParaRPr lang="en-US" altLang="zh-CN" sz="2400" i="1">
              <a:solidFill>
                <a:srgbClr val="0070C0"/>
              </a:solidFill>
            </a:endParaRPr>
          </a:p>
          <a:p>
            <a:r>
              <a:rPr lang="zh-CN" altLang="en-US" sz="2400" i="1">
                <a:solidFill>
                  <a:srgbClr val="0070C0"/>
                </a:solidFill>
              </a:rPr>
              <a:t>nemu/include/cpu/fpu.h</a:t>
            </a:r>
            <a:endParaRPr lang="zh-CN" altLang="en-US" sz="2400" i="1">
              <a:solidFill>
                <a:srgbClr val="0070C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013" y="1351233"/>
            <a:ext cx="2514951" cy="1676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734" y="617507"/>
            <a:ext cx="3086531" cy="1143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3" name="矩形 12"/>
          <p:cNvSpPr/>
          <p:nvPr/>
        </p:nvSpPr>
        <p:spPr>
          <a:xfrm>
            <a:off x="4552734" y="142710"/>
            <a:ext cx="27927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altLang="zh-CN" sz="2400" i="1">
                <a:solidFill>
                  <a:srgbClr val="0070C0"/>
                </a:solidFill>
              </a:rPr>
              <a:t>nemu/src/cpu/fpu.c</a:t>
            </a:r>
            <a:endParaRPr lang="zh-CN" altLang="en-US" sz="2400" i="1">
              <a:solidFill>
                <a:srgbClr val="0070C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67886"/>
            <a:ext cx="3010320" cy="30198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9" name="矩形 18"/>
          <p:cNvSpPr/>
          <p:nvPr/>
        </p:nvSpPr>
        <p:spPr>
          <a:xfrm>
            <a:off x="788648" y="2189550"/>
            <a:ext cx="28408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altLang="zh-CN" sz="2400" i="1">
                <a:solidFill>
                  <a:srgbClr val="0070C0"/>
                </a:solidFill>
              </a:rPr>
              <a:t>nemu/src/cpu/</a:t>
            </a:r>
            <a:r>
              <a:rPr lang="en-US" altLang="zh-CN" sz="2400" i="1">
                <a:solidFill>
                  <a:srgbClr val="0070C0"/>
                </a:solidFill>
              </a:rPr>
              <a:t>c</a:t>
            </a:r>
            <a:r>
              <a:rPr lang="pl-PL" altLang="zh-CN" sz="2400" i="1">
                <a:solidFill>
                  <a:srgbClr val="0070C0"/>
                </a:solidFill>
              </a:rPr>
              <a:t>pu.c</a:t>
            </a:r>
            <a:endParaRPr lang="zh-CN" altLang="en-US" sz="2400" i="1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90314" y="1841113"/>
            <a:ext cx="258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以及各个运算函数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82600" y="5345598"/>
            <a:ext cx="30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6"/>
                </a:solidFill>
              </a:rPr>
              <a:t>+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141192" y="2753250"/>
            <a:ext cx="34980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i="1">
                <a:solidFill>
                  <a:srgbClr val="0070C0"/>
                </a:solidFill>
              </a:rPr>
              <a:t>nemu/src/cpu/instr/x87.c</a:t>
            </a:r>
            <a:endParaRPr lang="zh-CN" altLang="en-US" sz="2400" i="1">
              <a:solidFill>
                <a:srgbClr val="0070C0"/>
              </a:solidFill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5393646" y="2210445"/>
            <a:ext cx="0" cy="522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487748" y="2249418"/>
            <a:ext cx="1463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调用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带小数的实数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330263" y="1650126"/>
            <a:ext cx="50870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/>
              <a:t>3.75</a:t>
            </a:r>
            <a:r>
              <a:rPr lang="en-US" altLang="zh-CN" sz="4000" dirty="0"/>
              <a:t>    </a:t>
            </a:r>
            <a:r>
              <a:rPr lang="zh-CN" altLang="en-US" sz="2400" dirty="0"/>
              <a:t>（十进制）</a:t>
            </a:r>
            <a:endParaRPr lang="en-US" altLang="zh-CN" sz="2400" dirty="0"/>
          </a:p>
          <a:p>
            <a:endParaRPr lang="en-US" altLang="zh-CN" sz="4000" dirty="0"/>
          </a:p>
          <a:p>
            <a:r>
              <a:rPr lang="en-US" altLang="zh-CN" sz="6000" dirty="0"/>
              <a:t>11.11</a:t>
            </a:r>
            <a:r>
              <a:rPr lang="en-US" altLang="zh-CN" sz="4000" dirty="0"/>
              <a:t> </a:t>
            </a:r>
            <a:r>
              <a:rPr lang="zh-CN" altLang="en-US" sz="2400" dirty="0"/>
              <a:t>（二进制）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3415862" y="4638664"/>
            <a:ext cx="42251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/>
              <a:t>2</a:t>
            </a:r>
            <a:r>
              <a:rPr lang="en-US" altLang="zh-CN" sz="4000" baseline="30000" dirty="0"/>
              <a:t>1</a:t>
            </a:r>
            <a:r>
              <a:rPr lang="en-US" altLang="zh-CN" sz="4000" dirty="0"/>
              <a:t>   2</a:t>
            </a:r>
            <a:r>
              <a:rPr lang="en-US" altLang="zh-CN" sz="4000" baseline="30000" dirty="0"/>
              <a:t>0</a:t>
            </a:r>
            <a:r>
              <a:rPr lang="en-US" altLang="zh-CN" sz="4000" dirty="0"/>
              <a:t>   2</a:t>
            </a:r>
            <a:r>
              <a:rPr lang="en-US" altLang="zh-CN" sz="4000" baseline="30000" dirty="0"/>
              <a:t>-1</a:t>
            </a:r>
            <a:r>
              <a:rPr lang="en-US" altLang="zh-CN" sz="4000" dirty="0"/>
              <a:t>   2</a:t>
            </a:r>
            <a:r>
              <a:rPr lang="en-US" altLang="zh-CN" sz="4000" baseline="30000" dirty="0"/>
              <a:t>-2</a:t>
            </a:r>
            <a:endParaRPr lang="zh-CN" altLang="en-US" sz="4000" baseline="30000" dirty="0"/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4960884" y="4167619"/>
            <a:ext cx="84081" cy="4710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4146331" y="4130566"/>
            <a:ext cx="436179" cy="50809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44055" y="4167619"/>
            <a:ext cx="152399" cy="4710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001408" y="4130566"/>
            <a:ext cx="630620" cy="50809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定点数和浮点数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84618" y="1167257"/>
            <a:ext cx="264687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/>
              <a:t>带小数的实数</a:t>
            </a:r>
            <a:endParaRPr lang="en-US" altLang="zh-CN" sz="3200" dirty="0"/>
          </a:p>
          <a:p>
            <a:pPr algn="ctr"/>
            <a:r>
              <a:rPr lang="zh-CN" altLang="en-US" sz="3200" dirty="0"/>
              <a:t>（真值）</a:t>
            </a:r>
            <a:endParaRPr lang="zh-CN" alt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730904" y="2209052"/>
            <a:ext cx="35477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定点数（机器数）</a:t>
            </a:r>
            <a:endParaRPr lang="zh-CN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8137444" y="2209053"/>
            <a:ext cx="30963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浮点数（机器数）</a:t>
            </a:r>
            <a:endParaRPr lang="zh-CN" altLang="en-US" sz="3200" dirty="0"/>
          </a:p>
        </p:txBody>
      </p:sp>
      <p:cxnSp>
        <p:nvCxnSpPr>
          <p:cNvPr id="11" name="肘形连接符 10"/>
          <p:cNvCxnSpPr>
            <a:stCxn id="7" idx="1"/>
            <a:endCxn id="8" idx="0"/>
          </p:cNvCxnSpPr>
          <p:nvPr/>
        </p:nvCxnSpPr>
        <p:spPr>
          <a:xfrm rot="10800000" flipV="1">
            <a:off x="2504788" y="1705866"/>
            <a:ext cx="2379831" cy="503186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7" idx="3"/>
            <a:endCxn id="9" idx="0"/>
          </p:cNvCxnSpPr>
          <p:nvPr/>
        </p:nvCxnSpPr>
        <p:spPr>
          <a:xfrm>
            <a:off x="7531496" y="1705866"/>
            <a:ext cx="2154130" cy="503187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14169" y="2958464"/>
            <a:ext cx="1744717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16</a:t>
            </a:r>
            <a:r>
              <a:rPr lang="zh-CN" altLang="en-US" sz="2800" dirty="0"/>
              <a:t>位整数</a:t>
            </a:r>
            <a:endParaRPr lang="zh-CN" altLang="en-US" sz="2800" dirty="0"/>
          </a:p>
        </p:txBody>
      </p:sp>
      <p:sp>
        <p:nvSpPr>
          <p:cNvPr id="18" name="矩形 17"/>
          <p:cNvSpPr/>
          <p:nvPr/>
        </p:nvSpPr>
        <p:spPr>
          <a:xfrm>
            <a:off x="2358886" y="2958464"/>
            <a:ext cx="1744717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16</a:t>
            </a:r>
            <a:r>
              <a:rPr lang="zh-CN" altLang="en-US" sz="2800" dirty="0"/>
              <a:t>位小数</a:t>
            </a:r>
            <a:endParaRPr lang="zh-CN" altLang="en-US" sz="28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278670" y="2832227"/>
            <a:ext cx="2361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i="1" dirty="0"/>
              <a:t>自定义一种</a:t>
            </a:r>
            <a:r>
              <a:rPr lang="en-US" altLang="zh-CN" sz="2400" i="1" dirty="0"/>
              <a:t>32</a:t>
            </a:r>
            <a:r>
              <a:rPr lang="zh-CN" altLang="en-US" sz="2400" i="1" dirty="0"/>
              <a:t>位定点数表示法</a:t>
            </a:r>
            <a:endParaRPr lang="zh-CN" altLang="en-US" sz="2400" i="1" dirty="0"/>
          </a:p>
        </p:txBody>
      </p:sp>
      <p:sp>
        <p:nvSpPr>
          <p:cNvPr id="25" name="文本框 24"/>
          <p:cNvSpPr txBox="1"/>
          <p:nvPr/>
        </p:nvSpPr>
        <p:spPr>
          <a:xfrm>
            <a:off x="3022600" y="3813491"/>
            <a:ext cx="1610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小数点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cxnSp>
        <p:nvCxnSpPr>
          <p:cNvPr id="27" name="肘形连接符 26"/>
          <p:cNvCxnSpPr>
            <a:stCxn id="25" idx="1"/>
          </p:cNvCxnSpPr>
          <p:nvPr/>
        </p:nvCxnSpPr>
        <p:spPr>
          <a:xfrm rot="10800000">
            <a:off x="2358886" y="3536989"/>
            <a:ext cx="663714" cy="538113"/>
          </a:xfrm>
          <a:prstGeom prst="bentConnector3">
            <a:avLst>
              <a:gd name="adj1" fmla="val 100674"/>
            </a:avLst>
          </a:prstGeom>
          <a:ln>
            <a:solidFill>
              <a:srgbClr val="C0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896615" y="2958464"/>
            <a:ext cx="536186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s</a:t>
            </a:r>
            <a:endParaRPr lang="zh-CN" altLang="en-US" sz="2800" dirty="0"/>
          </a:p>
        </p:txBody>
      </p:sp>
      <p:sp>
        <p:nvSpPr>
          <p:cNvPr id="31" name="矩形 30"/>
          <p:cNvSpPr/>
          <p:nvPr/>
        </p:nvSpPr>
        <p:spPr>
          <a:xfrm>
            <a:off x="9641331" y="2958464"/>
            <a:ext cx="1744717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尾数</a:t>
            </a:r>
            <a:endParaRPr lang="zh-CN" altLang="en-US" sz="2800" dirty="0"/>
          </a:p>
        </p:txBody>
      </p:sp>
      <p:sp>
        <p:nvSpPr>
          <p:cNvPr id="32" name="矩形 31"/>
          <p:cNvSpPr/>
          <p:nvPr/>
        </p:nvSpPr>
        <p:spPr>
          <a:xfrm>
            <a:off x="8432801" y="2958463"/>
            <a:ext cx="1208530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阶码</a:t>
            </a:r>
            <a:endParaRPr lang="zh-CN" altLang="en-US" sz="2800" dirty="0"/>
          </a:p>
        </p:txBody>
      </p:sp>
      <p:sp>
        <p:nvSpPr>
          <p:cNvPr id="33" name="文本框 32"/>
          <p:cNvSpPr txBox="1"/>
          <p:nvPr/>
        </p:nvSpPr>
        <p:spPr>
          <a:xfrm>
            <a:off x="9423400" y="3613436"/>
            <a:ext cx="2361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i="1" dirty="0"/>
              <a:t>IEEE 754</a:t>
            </a:r>
            <a:endParaRPr lang="zh-CN" alt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定点数和浮点数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84618" y="1167257"/>
            <a:ext cx="264687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/>
              <a:t>带小数的实数</a:t>
            </a:r>
            <a:endParaRPr lang="en-US" altLang="zh-CN" sz="3200" dirty="0"/>
          </a:p>
          <a:p>
            <a:pPr algn="ctr"/>
            <a:r>
              <a:rPr lang="zh-CN" altLang="en-US" sz="3200" dirty="0"/>
              <a:t>（真值）</a:t>
            </a:r>
            <a:endParaRPr lang="zh-CN" alt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730904" y="2209052"/>
            <a:ext cx="35477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定点数（机器数）</a:t>
            </a:r>
            <a:endParaRPr lang="zh-CN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8137444" y="2209053"/>
            <a:ext cx="30963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浮点数（机器数）</a:t>
            </a:r>
            <a:endParaRPr lang="zh-CN" altLang="en-US" sz="3200" dirty="0"/>
          </a:p>
        </p:txBody>
      </p:sp>
      <p:cxnSp>
        <p:nvCxnSpPr>
          <p:cNvPr id="11" name="肘形连接符 10"/>
          <p:cNvCxnSpPr>
            <a:stCxn id="7" idx="1"/>
            <a:endCxn id="8" idx="0"/>
          </p:cNvCxnSpPr>
          <p:nvPr/>
        </p:nvCxnSpPr>
        <p:spPr>
          <a:xfrm rot="10800000" flipV="1">
            <a:off x="2504788" y="1705866"/>
            <a:ext cx="2379831" cy="503186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7" idx="3"/>
            <a:endCxn id="9" idx="0"/>
          </p:cNvCxnSpPr>
          <p:nvPr/>
        </p:nvCxnSpPr>
        <p:spPr>
          <a:xfrm>
            <a:off x="7531496" y="1705866"/>
            <a:ext cx="2154130" cy="503187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14169" y="2958464"/>
            <a:ext cx="1744717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accent5"/>
                </a:solidFill>
              </a:rPr>
              <a:t>16</a:t>
            </a:r>
            <a:r>
              <a:rPr lang="zh-CN" altLang="en-US" sz="2800" b="1" dirty="0">
                <a:solidFill>
                  <a:schemeClr val="accent5"/>
                </a:solidFill>
              </a:rPr>
              <a:t>位整数</a:t>
            </a:r>
            <a:endParaRPr lang="zh-CN" altLang="en-US" sz="2800" b="1" dirty="0">
              <a:solidFill>
                <a:schemeClr val="accent5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358886" y="2958464"/>
            <a:ext cx="1744717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位小数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78670" y="2832227"/>
            <a:ext cx="2361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i="1" dirty="0"/>
              <a:t>自定义一种</a:t>
            </a:r>
            <a:r>
              <a:rPr lang="en-US" altLang="zh-CN" sz="2400" i="1" dirty="0"/>
              <a:t>32</a:t>
            </a:r>
            <a:r>
              <a:rPr lang="zh-CN" altLang="en-US" sz="2400" i="1" dirty="0"/>
              <a:t>位定点数表示法</a:t>
            </a:r>
            <a:endParaRPr lang="zh-CN" altLang="en-US" sz="2400" i="1" dirty="0"/>
          </a:p>
        </p:txBody>
      </p:sp>
      <p:sp>
        <p:nvSpPr>
          <p:cNvPr id="25" name="文本框 24"/>
          <p:cNvSpPr txBox="1"/>
          <p:nvPr/>
        </p:nvSpPr>
        <p:spPr>
          <a:xfrm>
            <a:off x="3022600" y="3813491"/>
            <a:ext cx="1610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小数点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cxnSp>
        <p:nvCxnSpPr>
          <p:cNvPr id="27" name="肘形连接符 26"/>
          <p:cNvCxnSpPr>
            <a:stCxn id="25" idx="1"/>
          </p:cNvCxnSpPr>
          <p:nvPr/>
        </p:nvCxnSpPr>
        <p:spPr>
          <a:xfrm rot="10800000">
            <a:off x="2358886" y="3536989"/>
            <a:ext cx="663714" cy="538113"/>
          </a:xfrm>
          <a:prstGeom prst="bentConnector3">
            <a:avLst>
              <a:gd name="adj1" fmla="val 100674"/>
            </a:avLst>
          </a:prstGeom>
          <a:ln>
            <a:solidFill>
              <a:srgbClr val="C0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896615" y="2958464"/>
            <a:ext cx="536186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s</a:t>
            </a:r>
            <a:endParaRPr lang="zh-CN" altLang="en-US" sz="2800" dirty="0"/>
          </a:p>
        </p:txBody>
      </p:sp>
      <p:sp>
        <p:nvSpPr>
          <p:cNvPr id="31" name="矩形 30"/>
          <p:cNvSpPr/>
          <p:nvPr/>
        </p:nvSpPr>
        <p:spPr>
          <a:xfrm>
            <a:off x="9641331" y="2958464"/>
            <a:ext cx="1744717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尾数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432801" y="2958463"/>
            <a:ext cx="1208530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阶码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423400" y="3613436"/>
            <a:ext cx="2361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i="1" dirty="0"/>
              <a:t>IEEE 754</a:t>
            </a:r>
            <a:endParaRPr lang="zh-CN" altLang="en-US" sz="2400" i="1" dirty="0"/>
          </a:p>
        </p:txBody>
      </p:sp>
      <p:sp>
        <p:nvSpPr>
          <p:cNvPr id="3" name="矩形 2"/>
          <p:cNvSpPr/>
          <p:nvPr/>
        </p:nvSpPr>
        <p:spPr>
          <a:xfrm>
            <a:off x="5422425" y="488661"/>
            <a:ext cx="15712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solidFill>
                  <a:srgbClr val="C00000"/>
                </a:solidFill>
              </a:rPr>
              <a:t>11.11</a:t>
            </a:r>
            <a:endParaRPr lang="zh-CN" altLang="en-US" sz="4400" b="1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3660" y="4621421"/>
            <a:ext cx="4270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accent5"/>
                </a:solidFill>
                <a:latin typeface="Consolas" panose="020B0609020204030204" pitchFamily="49" charset="0"/>
              </a:rPr>
              <a:t>00…0011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1100…00</a:t>
            </a:r>
            <a:endParaRPr lang="zh-CN" altLang="en-US" sz="4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左大括号 12"/>
          <p:cNvSpPr/>
          <p:nvPr/>
        </p:nvSpPr>
        <p:spPr>
          <a:xfrm rot="16200000">
            <a:off x="892235" y="4900611"/>
            <a:ext cx="391457" cy="1289171"/>
          </a:xfrm>
          <a:prstGeom prst="leftBrace">
            <a:avLst>
              <a:gd name="adj1" fmla="val 37532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左大括号 22"/>
          <p:cNvSpPr/>
          <p:nvPr/>
        </p:nvSpPr>
        <p:spPr>
          <a:xfrm rot="16200000">
            <a:off x="3438356" y="4900610"/>
            <a:ext cx="391457" cy="1289171"/>
          </a:xfrm>
          <a:prstGeom prst="leftBrace">
            <a:avLst>
              <a:gd name="adj1" fmla="val 37532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35549" y="5875625"/>
            <a:ext cx="139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14</a:t>
            </a:r>
            <a:r>
              <a:rPr lang="zh-CN" altLang="en-US" sz="2800" dirty="0"/>
              <a:t>个</a:t>
            </a:r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881670" y="5875625"/>
            <a:ext cx="139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14</a:t>
            </a:r>
            <a:r>
              <a:rPr lang="zh-CN" altLang="en-US" sz="2800" dirty="0"/>
              <a:t>个</a:t>
            </a:r>
            <a:r>
              <a:rPr lang="en-US" altLang="zh-CN" sz="2800" dirty="0"/>
              <a:t>0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定点数和浮点数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84618" y="1167257"/>
            <a:ext cx="264687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/>
              <a:t>带小数的实数</a:t>
            </a:r>
            <a:endParaRPr lang="en-US" altLang="zh-CN" sz="3200" dirty="0"/>
          </a:p>
          <a:p>
            <a:pPr algn="ctr"/>
            <a:r>
              <a:rPr lang="zh-CN" altLang="en-US" sz="3200" dirty="0"/>
              <a:t>（真值）</a:t>
            </a:r>
            <a:endParaRPr lang="zh-CN" alt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730904" y="2209052"/>
            <a:ext cx="35477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定点数（机器数）</a:t>
            </a:r>
            <a:endParaRPr lang="zh-CN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8137444" y="2209053"/>
            <a:ext cx="30963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浮点数（机器数）</a:t>
            </a:r>
            <a:endParaRPr lang="zh-CN" altLang="en-US" sz="3200" dirty="0"/>
          </a:p>
        </p:txBody>
      </p:sp>
      <p:cxnSp>
        <p:nvCxnSpPr>
          <p:cNvPr id="11" name="肘形连接符 10"/>
          <p:cNvCxnSpPr>
            <a:stCxn id="7" idx="1"/>
            <a:endCxn id="8" idx="0"/>
          </p:cNvCxnSpPr>
          <p:nvPr/>
        </p:nvCxnSpPr>
        <p:spPr>
          <a:xfrm rot="10800000" flipV="1">
            <a:off x="2504788" y="1705866"/>
            <a:ext cx="2379831" cy="503186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7" idx="3"/>
            <a:endCxn id="9" idx="0"/>
          </p:cNvCxnSpPr>
          <p:nvPr/>
        </p:nvCxnSpPr>
        <p:spPr>
          <a:xfrm>
            <a:off x="7531496" y="1705866"/>
            <a:ext cx="2154130" cy="503187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14169" y="2958464"/>
            <a:ext cx="1744717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16</a:t>
            </a:r>
            <a:r>
              <a:rPr lang="zh-CN" altLang="en-US" sz="2800" dirty="0"/>
              <a:t>位整数</a:t>
            </a:r>
            <a:endParaRPr lang="zh-CN" altLang="en-US" sz="2800" dirty="0"/>
          </a:p>
        </p:txBody>
      </p:sp>
      <p:sp>
        <p:nvSpPr>
          <p:cNvPr id="18" name="矩形 17"/>
          <p:cNvSpPr/>
          <p:nvPr/>
        </p:nvSpPr>
        <p:spPr>
          <a:xfrm>
            <a:off x="2358886" y="2958464"/>
            <a:ext cx="1744717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16</a:t>
            </a:r>
            <a:r>
              <a:rPr lang="zh-CN" altLang="en-US" sz="2800" dirty="0"/>
              <a:t>位小数</a:t>
            </a:r>
            <a:endParaRPr lang="zh-CN" altLang="en-US" sz="28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278670" y="2832227"/>
            <a:ext cx="2361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i="1" dirty="0"/>
              <a:t>自定义一种</a:t>
            </a:r>
            <a:r>
              <a:rPr lang="en-US" altLang="zh-CN" sz="2400" i="1" dirty="0"/>
              <a:t>32</a:t>
            </a:r>
            <a:r>
              <a:rPr lang="zh-CN" altLang="en-US" sz="2400" i="1" dirty="0"/>
              <a:t>位定点数表示法</a:t>
            </a:r>
            <a:endParaRPr lang="zh-CN" altLang="en-US" sz="2400" i="1" dirty="0"/>
          </a:p>
        </p:txBody>
      </p:sp>
      <p:sp>
        <p:nvSpPr>
          <p:cNvPr id="25" name="文本框 24"/>
          <p:cNvSpPr txBox="1"/>
          <p:nvPr/>
        </p:nvSpPr>
        <p:spPr>
          <a:xfrm>
            <a:off x="3022600" y="3813491"/>
            <a:ext cx="1610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小数点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cxnSp>
        <p:nvCxnSpPr>
          <p:cNvPr id="27" name="肘形连接符 26"/>
          <p:cNvCxnSpPr>
            <a:stCxn id="25" idx="1"/>
          </p:cNvCxnSpPr>
          <p:nvPr/>
        </p:nvCxnSpPr>
        <p:spPr>
          <a:xfrm rot="10800000">
            <a:off x="2358886" y="3536989"/>
            <a:ext cx="663714" cy="538113"/>
          </a:xfrm>
          <a:prstGeom prst="bentConnector3">
            <a:avLst>
              <a:gd name="adj1" fmla="val 100674"/>
            </a:avLst>
          </a:prstGeom>
          <a:ln>
            <a:solidFill>
              <a:srgbClr val="C0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896615" y="2958464"/>
            <a:ext cx="536186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s</a:t>
            </a:r>
            <a:endParaRPr lang="zh-CN" altLang="en-US" sz="2800" dirty="0"/>
          </a:p>
        </p:txBody>
      </p:sp>
      <p:sp>
        <p:nvSpPr>
          <p:cNvPr id="31" name="矩形 30"/>
          <p:cNvSpPr/>
          <p:nvPr/>
        </p:nvSpPr>
        <p:spPr>
          <a:xfrm>
            <a:off x="9641331" y="2958464"/>
            <a:ext cx="1744717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尾数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432801" y="2958463"/>
            <a:ext cx="1208530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accent5"/>
                </a:solidFill>
              </a:rPr>
              <a:t>阶码</a:t>
            </a:r>
            <a:endParaRPr lang="zh-CN" altLang="en-US" sz="2800" b="1" dirty="0">
              <a:solidFill>
                <a:schemeClr val="accent5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423400" y="3613436"/>
            <a:ext cx="2361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i="1" dirty="0"/>
              <a:t>IEEE 754</a:t>
            </a:r>
            <a:endParaRPr lang="zh-CN" altLang="en-US" sz="2400" i="1" dirty="0"/>
          </a:p>
        </p:txBody>
      </p:sp>
      <p:sp>
        <p:nvSpPr>
          <p:cNvPr id="3" name="矩形 2"/>
          <p:cNvSpPr/>
          <p:nvPr/>
        </p:nvSpPr>
        <p:spPr>
          <a:xfrm>
            <a:off x="5422425" y="488661"/>
            <a:ext cx="15712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solidFill>
                  <a:srgbClr val="C00000"/>
                </a:solidFill>
              </a:rPr>
              <a:t>11.11</a:t>
            </a:r>
            <a:endParaRPr lang="zh-CN" altLang="en-US" sz="4400" b="1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3660" y="4621421"/>
            <a:ext cx="4270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latin typeface="Consolas" panose="020B0609020204030204" pitchFamily="49" charset="0"/>
              </a:rPr>
              <a:t>00…00111100…00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sp>
        <p:nvSpPr>
          <p:cNvPr id="13" name="左大括号 12"/>
          <p:cNvSpPr/>
          <p:nvPr/>
        </p:nvSpPr>
        <p:spPr>
          <a:xfrm rot="16200000">
            <a:off x="892235" y="4900611"/>
            <a:ext cx="391457" cy="1289171"/>
          </a:xfrm>
          <a:prstGeom prst="leftBrace">
            <a:avLst>
              <a:gd name="adj1" fmla="val 37532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左大括号 22"/>
          <p:cNvSpPr/>
          <p:nvPr/>
        </p:nvSpPr>
        <p:spPr>
          <a:xfrm rot="16200000">
            <a:off x="3438356" y="4900610"/>
            <a:ext cx="391457" cy="1289171"/>
          </a:xfrm>
          <a:prstGeom prst="leftBrace">
            <a:avLst>
              <a:gd name="adj1" fmla="val 37532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35549" y="5875625"/>
            <a:ext cx="139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14</a:t>
            </a:r>
            <a:r>
              <a:rPr lang="zh-CN" altLang="en-US" sz="2800" dirty="0"/>
              <a:t>个</a:t>
            </a:r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881670" y="5875625"/>
            <a:ext cx="139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14</a:t>
            </a:r>
            <a:r>
              <a:rPr lang="zh-CN" altLang="en-US" sz="2800" dirty="0"/>
              <a:t>个</a:t>
            </a:r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28" name="文本框 27"/>
          <p:cNvSpPr txBox="1"/>
          <p:nvPr/>
        </p:nvSpPr>
        <p:spPr>
          <a:xfrm>
            <a:off x="6640544" y="4597185"/>
            <a:ext cx="5195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latin typeface="Consolas" panose="020B0609020204030204" pitchFamily="49" charset="0"/>
              </a:rPr>
              <a:t>0</a:t>
            </a:r>
            <a:r>
              <a:rPr lang="en-US" altLang="zh-CN" sz="4000" dirty="0">
                <a:solidFill>
                  <a:schemeClr val="accent5"/>
                </a:solidFill>
                <a:latin typeface="Consolas" panose="020B0609020204030204" pitchFamily="49" charset="0"/>
              </a:rPr>
              <a:t>10000000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11100…0</a:t>
            </a:r>
            <a:endParaRPr lang="zh-CN" altLang="en-US" sz="4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907015" y="5394656"/>
            <a:ext cx="48782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solidFill>
                  <a:srgbClr val="C00000"/>
                </a:solidFill>
              </a:rPr>
              <a:t>11.11 </a:t>
            </a:r>
            <a:r>
              <a:rPr lang="en-US" altLang="zh-CN" sz="4400" b="1" dirty="0"/>
              <a:t>=</a:t>
            </a:r>
            <a:r>
              <a:rPr lang="en-US" altLang="zh-CN" sz="4400" b="1" dirty="0">
                <a:solidFill>
                  <a:srgbClr val="C00000"/>
                </a:solidFill>
              </a:rPr>
              <a:t> </a:t>
            </a:r>
            <a:r>
              <a:rPr lang="en-US" altLang="zh-CN" sz="4400" b="1" dirty="0">
                <a:solidFill>
                  <a:schemeClr val="accent2">
                    <a:lumMod val="75000"/>
                  </a:schemeClr>
                </a:solidFill>
              </a:rPr>
              <a:t>1.111</a:t>
            </a:r>
            <a:r>
              <a:rPr lang="en-US" altLang="zh-CN" sz="4400" b="1" dirty="0">
                <a:solidFill>
                  <a:srgbClr val="C00000"/>
                </a:solidFill>
              </a:rPr>
              <a:t> </a:t>
            </a:r>
            <a:r>
              <a:rPr lang="en-US" altLang="zh-CN" sz="4400" b="1" dirty="0"/>
              <a:t>x</a:t>
            </a:r>
            <a:r>
              <a:rPr lang="en-US" altLang="zh-CN" sz="4400" b="1" dirty="0">
                <a:solidFill>
                  <a:srgbClr val="C00000"/>
                </a:solidFill>
              </a:rPr>
              <a:t> </a:t>
            </a:r>
            <a:r>
              <a:rPr lang="en-US" altLang="zh-CN" sz="4400" b="1" dirty="0">
                <a:solidFill>
                  <a:schemeClr val="accent5"/>
                </a:solidFill>
              </a:rPr>
              <a:t>2</a:t>
            </a:r>
            <a:r>
              <a:rPr lang="en-US" altLang="zh-CN" sz="4400" b="1" baseline="30000" dirty="0">
                <a:solidFill>
                  <a:schemeClr val="accent5"/>
                </a:solidFill>
              </a:rPr>
              <a:t>1</a:t>
            </a:r>
            <a:endParaRPr lang="zh-CN" altLang="en-US" sz="4400" b="1" baseline="300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定点数和浮点数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84618" y="1167257"/>
            <a:ext cx="264687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/>
              <a:t>带小数的实数</a:t>
            </a:r>
            <a:endParaRPr lang="en-US" altLang="zh-CN" sz="3200" dirty="0"/>
          </a:p>
          <a:p>
            <a:pPr algn="ctr"/>
            <a:r>
              <a:rPr lang="zh-CN" altLang="en-US" sz="3200" dirty="0"/>
              <a:t>（真值）</a:t>
            </a:r>
            <a:endParaRPr lang="zh-CN" alt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730904" y="2209052"/>
            <a:ext cx="35477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定点数（机器数）</a:t>
            </a:r>
            <a:endParaRPr lang="zh-CN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8137444" y="2209053"/>
            <a:ext cx="30963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浮点数（机器数）</a:t>
            </a:r>
            <a:endParaRPr lang="zh-CN" altLang="en-US" sz="3200" dirty="0"/>
          </a:p>
        </p:txBody>
      </p:sp>
      <p:cxnSp>
        <p:nvCxnSpPr>
          <p:cNvPr id="11" name="肘形连接符 10"/>
          <p:cNvCxnSpPr>
            <a:stCxn id="7" idx="1"/>
            <a:endCxn id="8" idx="0"/>
          </p:cNvCxnSpPr>
          <p:nvPr/>
        </p:nvCxnSpPr>
        <p:spPr>
          <a:xfrm rot="10800000" flipV="1">
            <a:off x="2504788" y="1705866"/>
            <a:ext cx="2379831" cy="503186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7" idx="3"/>
            <a:endCxn id="9" idx="0"/>
          </p:cNvCxnSpPr>
          <p:nvPr/>
        </p:nvCxnSpPr>
        <p:spPr>
          <a:xfrm>
            <a:off x="7531496" y="1705866"/>
            <a:ext cx="2154130" cy="503187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14169" y="2958464"/>
            <a:ext cx="1744717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16</a:t>
            </a:r>
            <a:r>
              <a:rPr lang="zh-CN" altLang="en-US" sz="2800" dirty="0"/>
              <a:t>位整数</a:t>
            </a:r>
            <a:endParaRPr lang="zh-CN" altLang="en-US" sz="2800" dirty="0"/>
          </a:p>
        </p:txBody>
      </p:sp>
      <p:sp>
        <p:nvSpPr>
          <p:cNvPr id="18" name="矩形 17"/>
          <p:cNvSpPr/>
          <p:nvPr/>
        </p:nvSpPr>
        <p:spPr>
          <a:xfrm>
            <a:off x="2358886" y="2958464"/>
            <a:ext cx="1744717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16</a:t>
            </a:r>
            <a:r>
              <a:rPr lang="zh-CN" altLang="en-US" sz="2800" dirty="0"/>
              <a:t>位小数</a:t>
            </a:r>
            <a:endParaRPr lang="zh-CN" altLang="en-US" sz="28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278670" y="2832227"/>
            <a:ext cx="2361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i="1" dirty="0"/>
              <a:t>自定义一种</a:t>
            </a:r>
            <a:r>
              <a:rPr lang="en-US" altLang="zh-CN" sz="2400" i="1" dirty="0"/>
              <a:t>32</a:t>
            </a:r>
            <a:r>
              <a:rPr lang="zh-CN" altLang="en-US" sz="2400" i="1" dirty="0"/>
              <a:t>位定点数表示法</a:t>
            </a:r>
            <a:endParaRPr lang="zh-CN" altLang="en-US" sz="2400" i="1" dirty="0"/>
          </a:p>
        </p:txBody>
      </p:sp>
      <p:sp>
        <p:nvSpPr>
          <p:cNvPr id="25" name="文本框 24"/>
          <p:cNvSpPr txBox="1"/>
          <p:nvPr/>
        </p:nvSpPr>
        <p:spPr>
          <a:xfrm>
            <a:off x="3022600" y="3813491"/>
            <a:ext cx="1610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小数点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cxnSp>
        <p:nvCxnSpPr>
          <p:cNvPr id="27" name="肘形连接符 26"/>
          <p:cNvCxnSpPr>
            <a:stCxn id="25" idx="1"/>
          </p:cNvCxnSpPr>
          <p:nvPr/>
        </p:nvCxnSpPr>
        <p:spPr>
          <a:xfrm rot="10800000">
            <a:off x="2358886" y="3536989"/>
            <a:ext cx="663714" cy="538113"/>
          </a:xfrm>
          <a:prstGeom prst="bentConnector3">
            <a:avLst>
              <a:gd name="adj1" fmla="val 100674"/>
            </a:avLst>
          </a:prstGeom>
          <a:ln>
            <a:solidFill>
              <a:srgbClr val="C0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896615" y="2958464"/>
            <a:ext cx="536186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s</a:t>
            </a:r>
            <a:endParaRPr lang="zh-CN" altLang="en-US" sz="2800" dirty="0"/>
          </a:p>
        </p:txBody>
      </p:sp>
      <p:sp>
        <p:nvSpPr>
          <p:cNvPr id="31" name="矩形 30"/>
          <p:cNvSpPr/>
          <p:nvPr/>
        </p:nvSpPr>
        <p:spPr>
          <a:xfrm>
            <a:off x="9641331" y="2958464"/>
            <a:ext cx="1744717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尾数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432801" y="2958463"/>
            <a:ext cx="1208530" cy="578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accent5"/>
                </a:solidFill>
              </a:rPr>
              <a:t>阶码</a:t>
            </a:r>
            <a:endParaRPr lang="zh-CN" altLang="en-US" sz="2800" b="1" dirty="0">
              <a:solidFill>
                <a:schemeClr val="accent5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423400" y="3613436"/>
            <a:ext cx="2361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i="1" dirty="0"/>
              <a:t>IEEE 754</a:t>
            </a:r>
            <a:endParaRPr lang="zh-CN" altLang="en-US" sz="2400" i="1" dirty="0"/>
          </a:p>
        </p:txBody>
      </p:sp>
      <p:sp>
        <p:nvSpPr>
          <p:cNvPr id="3" name="矩形 2"/>
          <p:cNvSpPr/>
          <p:nvPr/>
        </p:nvSpPr>
        <p:spPr>
          <a:xfrm>
            <a:off x="5422425" y="488661"/>
            <a:ext cx="15712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solidFill>
                  <a:srgbClr val="C00000"/>
                </a:solidFill>
              </a:rPr>
              <a:t>11.11</a:t>
            </a:r>
            <a:endParaRPr lang="zh-CN" altLang="en-US" sz="4400" b="1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3660" y="4621421"/>
            <a:ext cx="4270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latin typeface="Consolas" panose="020B0609020204030204" pitchFamily="49" charset="0"/>
              </a:rPr>
              <a:t>00…00111100…00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sp>
        <p:nvSpPr>
          <p:cNvPr id="13" name="左大括号 12"/>
          <p:cNvSpPr/>
          <p:nvPr/>
        </p:nvSpPr>
        <p:spPr>
          <a:xfrm rot="16200000">
            <a:off x="892235" y="4900611"/>
            <a:ext cx="391457" cy="1289171"/>
          </a:xfrm>
          <a:prstGeom prst="leftBrace">
            <a:avLst>
              <a:gd name="adj1" fmla="val 37532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左大括号 22"/>
          <p:cNvSpPr/>
          <p:nvPr/>
        </p:nvSpPr>
        <p:spPr>
          <a:xfrm rot="16200000">
            <a:off x="3438356" y="4900610"/>
            <a:ext cx="391457" cy="1289171"/>
          </a:xfrm>
          <a:prstGeom prst="leftBrace">
            <a:avLst>
              <a:gd name="adj1" fmla="val 37532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35549" y="5875625"/>
            <a:ext cx="139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14</a:t>
            </a:r>
            <a:r>
              <a:rPr lang="zh-CN" altLang="en-US" sz="2800" dirty="0"/>
              <a:t>个</a:t>
            </a:r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881670" y="5875625"/>
            <a:ext cx="139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14</a:t>
            </a:r>
            <a:r>
              <a:rPr lang="zh-CN" altLang="en-US" sz="2800" dirty="0"/>
              <a:t>个</a:t>
            </a:r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28" name="文本框 27"/>
          <p:cNvSpPr txBox="1"/>
          <p:nvPr/>
        </p:nvSpPr>
        <p:spPr>
          <a:xfrm>
            <a:off x="6640544" y="4597185"/>
            <a:ext cx="5195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latin typeface="Consolas" panose="020B0609020204030204" pitchFamily="49" charset="0"/>
              </a:rPr>
              <a:t>0</a:t>
            </a:r>
            <a:r>
              <a:rPr lang="en-US" altLang="zh-CN" sz="4000" dirty="0">
                <a:solidFill>
                  <a:schemeClr val="accent5"/>
                </a:solidFill>
                <a:latin typeface="Consolas" panose="020B0609020204030204" pitchFamily="49" charset="0"/>
              </a:rPr>
              <a:t>10000000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11100…0</a:t>
            </a:r>
            <a:endParaRPr lang="zh-CN" altLang="en-US" sz="4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907015" y="5394656"/>
            <a:ext cx="48782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solidFill>
                  <a:srgbClr val="C00000"/>
                </a:solidFill>
              </a:rPr>
              <a:t>11.11 </a:t>
            </a:r>
            <a:r>
              <a:rPr lang="en-US" altLang="zh-CN" sz="4400" b="1" dirty="0"/>
              <a:t>=</a:t>
            </a:r>
            <a:r>
              <a:rPr lang="en-US" altLang="zh-CN" sz="4400" b="1" dirty="0">
                <a:solidFill>
                  <a:srgbClr val="C00000"/>
                </a:solidFill>
              </a:rPr>
              <a:t> </a:t>
            </a:r>
            <a:r>
              <a:rPr lang="en-US" altLang="zh-CN" sz="4400" b="1" dirty="0">
                <a:solidFill>
                  <a:schemeClr val="accent2">
                    <a:lumMod val="75000"/>
                  </a:schemeClr>
                </a:solidFill>
              </a:rPr>
              <a:t>1.111</a:t>
            </a:r>
            <a:r>
              <a:rPr lang="en-US" altLang="zh-CN" sz="4400" b="1" dirty="0">
                <a:solidFill>
                  <a:srgbClr val="C00000"/>
                </a:solidFill>
              </a:rPr>
              <a:t> </a:t>
            </a:r>
            <a:r>
              <a:rPr lang="en-US" altLang="zh-CN" sz="4400" b="1" dirty="0"/>
              <a:t>x</a:t>
            </a:r>
            <a:r>
              <a:rPr lang="en-US" altLang="zh-CN" sz="4400" b="1" dirty="0">
                <a:solidFill>
                  <a:srgbClr val="C00000"/>
                </a:solidFill>
              </a:rPr>
              <a:t> </a:t>
            </a:r>
            <a:r>
              <a:rPr lang="en-US" altLang="zh-CN" sz="4400" b="1" dirty="0">
                <a:solidFill>
                  <a:schemeClr val="accent5"/>
                </a:solidFill>
              </a:rPr>
              <a:t>2</a:t>
            </a:r>
            <a:r>
              <a:rPr lang="en-US" altLang="zh-CN" sz="4400" b="1" baseline="30000" dirty="0">
                <a:solidFill>
                  <a:schemeClr val="accent5"/>
                </a:solidFill>
              </a:rPr>
              <a:t>1</a:t>
            </a:r>
            <a:endParaRPr lang="zh-CN" altLang="en-US" sz="4400" b="1" baseline="30000" dirty="0">
              <a:solidFill>
                <a:schemeClr val="accent5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640544" y="2209052"/>
            <a:ext cx="5288697" cy="4065624"/>
          </a:xfrm>
          <a:prstGeom prst="roundRect">
            <a:avLst>
              <a:gd name="adj" fmla="val 7262"/>
            </a:avLst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IEEE 754 </a:t>
            </a:r>
            <a:r>
              <a:rPr lang="zh-CN" altLang="en-US" dirty="0"/>
              <a:t>浮点数标准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295187" y="4519905"/>
            <a:ext cx="38651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William Kahan （</a:t>
            </a:r>
            <a:r>
              <a:rPr lang="en-US" altLang="zh-CN" sz="2400" dirty="0"/>
              <a:t>1933 - ?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ACM Turing Award, 1989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5853075" y="2272091"/>
            <a:ext cx="502460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i="1" dirty="0"/>
              <a:t>For his fundamental contributions to numerical analysis. One of the foremost experts on floating-point computations. Kahan has dedicated himself to "making the world safe for numerical computations"! </a:t>
            </a:r>
            <a:endParaRPr lang="zh-CN" altLang="en-US" sz="2000" i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171" y="1984322"/>
            <a:ext cx="3967192" cy="24860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IEEE 754 </a:t>
            </a:r>
            <a:r>
              <a:rPr lang="zh-CN" altLang="en-US" dirty="0"/>
              <a:t>浮点数标准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371816" y="2130705"/>
            <a:ext cx="236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i="1" dirty="0"/>
              <a:t>IEEE 754</a:t>
            </a:r>
            <a:endParaRPr lang="zh-CN" altLang="en-US" sz="3600" i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425" y="1937190"/>
            <a:ext cx="5732930" cy="1237726"/>
          </a:xfrm>
          <a:prstGeom prst="rect">
            <a:avLst/>
          </a:prstGeom>
        </p:spPr>
      </p:pic>
      <p:sp>
        <p:nvSpPr>
          <p:cNvPr id="15" name="左大括号 14"/>
          <p:cNvSpPr/>
          <p:nvPr/>
        </p:nvSpPr>
        <p:spPr>
          <a:xfrm rot="16200000">
            <a:off x="5280161" y="504179"/>
            <a:ext cx="391457" cy="5732930"/>
          </a:xfrm>
          <a:prstGeom prst="leftBrace">
            <a:avLst>
              <a:gd name="adj1" fmla="val 37532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184634" y="3877566"/>
            <a:ext cx="47927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32</a:t>
            </a:r>
            <a:r>
              <a:rPr lang="zh-CN" altLang="en-US" sz="2800" dirty="0"/>
              <a:t>位单精度浮点数：</a:t>
            </a:r>
            <a:r>
              <a:rPr lang="en-US" altLang="zh-CN" sz="2800" dirty="0"/>
              <a:t>float</a:t>
            </a:r>
            <a:endParaRPr lang="en-US" altLang="zh-CN" sz="2800" dirty="0"/>
          </a:p>
          <a:p>
            <a:r>
              <a:rPr lang="en-US" altLang="zh-CN" sz="2800" dirty="0"/>
              <a:t>64</a:t>
            </a:r>
            <a:r>
              <a:rPr lang="zh-CN" altLang="en-US" sz="2800" dirty="0"/>
              <a:t>位双精度浮点数：</a:t>
            </a:r>
            <a:r>
              <a:rPr lang="en-US" altLang="zh-CN" sz="2800" dirty="0"/>
              <a:t>double</a:t>
            </a:r>
            <a:endParaRPr lang="zh-CN" altLang="en-US" sz="2800" dirty="0"/>
          </a:p>
        </p:txBody>
      </p:sp>
      <p:sp>
        <p:nvSpPr>
          <p:cNvPr id="17" name="右箭头 16"/>
          <p:cNvSpPr/>
          <p:nvPr/>
        </p:nvSpPr>
        <p:spPr>
          <a:xfrm>
            <a:off x="1714500" y="3683000"/>
            <a:ext cx="1470134" cy="9144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nemu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IEEE 754 </a:t>
            </a:r>
            <a:r>
              <a:rPr lang="zh-CN" altLang="en-US" dirty="0"/>
              <a:t>浮点数标准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371816" y="2130705"/>
            <a:ext cx="236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i="1" dirty="0"/>
              <a:t>IEEE 754</a:t>
            </a:r>
            <a:endParaRPr lang="zh-CN" altLang="en-US" sz="3600" i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425" y="1937190"/>
            <a:ext cx="5732930" cy="1237726"/>
          </a:xfrm>
          <a:prstGeom prst="rect">
            <a:avLst/>
          </a:prstGeom>
        </p:spPr>
      </p:pic>
      <p:sp>
        <p:nvSpPr>
          <p:cNvPr id="7" name="左大括号 6"/>
          <p:cNvSpPr/>
          <p:nvPr/>
        </p:nvSpPr>
        <p:spPr>
          <a:xfrm>
            <a:off x="3731172" y="3668111"/>
            <a:ext cx="307428" cy="1627072"/>
          </a:xfrm>
          <a:prstGeom prst="leftBrace">
            <a:avLst>
              <a:gd name="adj1" fmla="val 459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10130" y="3720591"/>
            <a:ext cx="184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正数：</a:t>
            </a:r>
            <a:r>
              <a:rPr lang="en-US" altLang="zh-CN" sz="3200" dirty="0"/>
              <a:t>0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4110130" y="4710408"/>
            <a:ext cx="184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负数：</a:t>
            </a:r>
            <a:r>
              <a:rPr lang="en-US" altLang="zh-CN" sz="3200" dirty="0"/>
              <a:t>1</a:t>
            </a:r>
            <a:endParaRPr lang="zh-CN" altLang="en-US" sz="3200" dirty="0"/>
          </a:p>
        </p:txBody>
      </p:sp>
      <p:cxnSp>
        <p:nvCxnSpPr>
          <p:cNvPr id="11" name="肘形连接符 10"/>
          <p:cNvCxnSpPr>
            <a:endCxn id="7" idx="1"/>
          </p:cNvCxnSpPr>
          <p:nvPr/>
        </p:nvCxnSpPr>
        <p:spPr>
          <a:xfrm rot="16200000" flipH="1">
            <a:off x="2641230" y="3391705"/>
            <a:ext cx="1528242" cy="651641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678213" y="4246277"/>
            <a:ext cx="5675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（类比带符号整数原码表示法）</a:t>
            </a:r>
            <a:endParaRPr lang="zh-CN" altLang="en-US" sz="3200" dirty="0"/>
          </a:p>
        </p:txBody>
      </p:sp>
      <p:sp>
        <p:nvSpPr>
          <p:cNvPr id="15" name="文本框 14"/>
          <p:cNvSpPr txBox="1"/>
          <p:nvPr/>
        </p:nvSpPr>
        <p:spPr>
          <a:xfrm>
            <a:off x="2609425" y="1342421"/>
            <a:ext cx="1121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1</a:t>
            </a:r>
            <a:r>
              <a:rPr lang="zh-CN" altLang="en-US" sz="3200" dirty="0"/>
              <a:t>位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IEEE 754 </a:t>
            </a:r>
            <a:r>
              <a:rPr lang="zh-CN" altLang="en-US" dirty="0"/>
              <a:t>浮点数标准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371816" y="2130705"/>
            <a:ext cx="236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i="1" dirty="0"/>
              <a:t>IEEE 754</a:t>
            </a:r>
            <a:endParaRPr lang="zh-CN" altLang="en-US" sz="3600" i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425" y="1937190"/>
            <a:ext cx="5732930" cy="1237726"/>
          </a:xfrm>
          <a:prstGeom prst="rect">
            <a:avLst/>
          </a:prstGeom>
        </p:spPr>
      </p:pic>
      <p:sp>
        <p:nvSpPr>
          <p:cNvPr id="7" name="左大括号 6"/>
          <p:cNvSpPr/>
          <p:nvPr/>
        </p:nvSpPr>
        <p:spPr>
          <a:xfrm>
            <a:off x="5093046" y="3674868"/>
            <a:ext cx="307428" cy="1627072"/>
          </a:xfrm>
          <a:prstGeom prst="leftBrace">
            <a:avLst>
              <a:gd name="adj1" fmla="val 459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472004" y="3489688"/>
            <a:ext cx="6440596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非零 且非全</a:t>
            </a:r>
            <a:r>
              <a:rPr lang="en-US" altLang="zh-CN" sz="3200" dirty="0"/>
              <a:t>1[</a:t>
            </a:r>
            <a:r>
              <a:rPr lang="zh-CN" altLang="en-US" sz="3200" dirty="0"/>
              <a:t>规格化数</a:t>
            </a:r>
            <a:r>
              <a:rPr lang="en-US" altLang="zh-CN" sz="3200" dirty="0"/>
              <a:t>]</a:t>
            </a:r>
            <a:r>
              <a:rPr lang="zh-CN" altLang="en-US" sz="3200" dirty="0"/>
              <a:t>：表示 </a:t>
            </a:r>
            <a:r>
              <a:rPr lang="en-US" altLang="zh-CN" sz="4400" dirty="0"/>
              <a:t>2</a:t>
            </a:r>
            <a:r>
              <a:rPr lang="en-US" altLang="zh-CN" sz="4400" b="1" baseline="30000" dirty="0">
                <a:solidFill>
                  <a:schemeClr val="accent5"/>
                </a:solidFill>
              </a:rPr>
              <a:t>exp - </a:t>
            </a:r>
            <a:r>
              <a:rPr lang="en-US" altLang="zh-CN" sz="4400" b="1" baseline="30000" dirty="0">
                <a:solidFill>
                  <a:schemeClr val="accent6">
                    <a:lumMod val="75000"/>
                  </a:schemeClr>
                </a:solidFill>
              </a:rPr>
              <a:t>127</a:t>
            </a:r>
            <a:endParaRPr lang="zh-CN" altLang="en-US" sz="4400" b="1" baseline="30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72004" y="4544000"/>
            <a:ext cx="633899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dirty="0"/>
              <a:t>全零 </a:t>
            </a:r>
            <a:r>
              <a:rPr lang="en-US" altLang="zh-CN" sz="3200" dirty="0"/>
              <a:t>[</a:t>
            </a:r>
            <a:r>
              <a:rPr lang="zh-CN" altLang="en-US" sz="3200" dirty="0"/>
              <a:t>非规格化数</a:t>
            </a:r>
            <a:r>
              <a:rPr lang="en-US" altLang="zh-CN" sz="3200" dirty="0"/>
              <a:t>]</a:t>
            </a:r>
            <a:r>
              <a:rPr lang="zh-CN" altLang="en-US" sz="3200" dirty="0"/>
              <a:t>：表示 </a:t>
            </a:r>
            <a:r>
              <a:rPr lang="en-US" altLang="zh-CN" sz="4400" dirty="0">
                <a:solidFill>
                  <a:prstClr val="black"/>
                </a:solidFill>
              </a:rPr>
              <a:t>2</a:t>
            </a:r>
            <a:r>
              <a:rPr lang="en-US" altLang="zh-CN" sz="4400" b="1" baseline="30000" dirty="0">
                <a:solidFill>
                  <a:schemeClr val="accent5"/>
                </a:solidFill>
              </a:rPr>
              <a:t>-126</a:t>
            </a:r>
            <a:endParaRPr lang="zh-CN" altLang="en-US" sz="4400" b="1" baseline="30000" dirty="0">
              <a:solidFill>
                <a:schemeClr val="accent5"/>
              </a:solidFill>
            </a:endParaRPr>
          </a:p>
          <a:p>
            <a:endParaRPr lang="zh-CN" altLang="en-US" sz="3200" dirty="0"/>
          </a:p>
        </p:txBody>
      </p:sp>
      <p:cxnSp>
        <p:nvCxnSpPr>
          <p:cNvPr id="11" name="肘形连接符 10"/>
          <p:cNvCxnSpPr>
            <a:endCxn id="7" idx="1"/>
          </p:cNvCxnSpPr>
          <p:nvPr/>
        </p:nvCxnSpPr>
        <p:spPr>
          <a:xfrm rot="16200000" flipH="1">
            <a:off x="4003104" y="3398462"/>
            <a:ext cx="1528242" cy="651641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1020097" y="2881651"/>
            <a:ext cx="790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偏置常数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016068" y="2881651"/>
            <a:ext cx="790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5"/>
                </a:solidFill>
              </a:rPr>
              <a:t>阶码数值</a:t>
            </a:r>
            <a:endParaRPr lang="zh-CN" altLang="en-US" b="1" dirty="0">
              <a:solidFill>
                <a:schemeClr val="accent5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609425" y="1342421"/>
            <a:ext cx="1121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1</a:t>
            </a:r>
            <a:r>
              <a:rPr lang="zh-CN" altLang="en-US" sz="3200" dirty="0"/>
              <a:t>位</a:t>
            </a:r>
            <a:endParaRPr lang="zh-CN" altLang="en-US" sz="32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074072" y="1342421"/>
            <a:ext cx="1121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8</a:t>
            </a:r>
            <a:r>
              <a:rPr lang="zh-CN" altLang="en-US" sz="3200" dirty="0"/>
              <a:t>位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IEEE 754 </a:t>
            </a:r>
            <a:r>
              <a:rPr lang="zh-CN" altLang="en-US" dirty="0"/>
              <a:t>浮点数标准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371816" y="2130705"/>
            <a:ext cx="236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i="1" dirty="0"/>
              <a:t>IEEE 754</a:t>
            </a:r>
            <a:endParaRPr lang="zh-CN" altLang="en-US" sz="3600" i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425" y="1937190"/>
            <a:ext cx="5732930" cy="1237726"/>
          </a:xfrm>
          <a:prstGeom prst="rect">
            <a:avLst/>
          </a:prstGeom>
        </p:spPr>
      </p:pic>
      <p:sp>
        <p:nvSpPr>
          <p:cNvPr id="7" name="左大括号 6"/>
          <p:cNvSpPr/>
          <p:nvPr/>
        </p:nvSpPr>
        <p:spPr>
          <a:xfrm>
            <a:off x="1879946" y="3827011"/>
            <a:ext cx="307428" cy="1627072"/>
          </a:xfrm>
          <a:prstGeom prst="leftBrace">
            <a:avLst>
              <a:gd name="adj1" fmla="val 459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258904" y="3643763"/>
            <a:ext cx="8474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尾数真值 </a:t>
            </a:r>
            <a:r>
              <a:rPr lang="en-US" altLang="zh-CN" sz="3200" dirty="0"/>
              <a:t>[</a:t>
            </a:r>
            <a:r>
              <a:rPr lang="zh-CN" altLang="en-US" sz="3200" dirty="0"/>
              <a:t>规格化数</a:t>
            </a:r>
            <a:r>
              <a:rPr lang="en-US" altLang="zh-CN" sz="3200" dirty="0"/>
              <a:t>]</a:t>
            </a:r>
            <a:r>
              <a:rPr lang="zh-CN" altLang="en-US" sz="3200" dirty="0"/>
              <a:t>：     </a:t>
            </a:r>
            <a:r>
              <a:rPr lang="en-US" altLang="zh-CN" sz="4800" b="1" dirty="0">
                <a:solidFill>
                  <a:srgbClr val="C00000"/>
                </a:solidFill>
              </a:rPr>
              <a:t>1.</a:t>
            </a:r>
            <a:r>
              <a:rPr lang="en-US" altLang="zh-CN" sz="3200" dirty="0">
                <a:solidFill>
                  <a:schemeClr val="accent2">
                    <a:lumMod val="75000"/>
                  </a:schemeClr>
                </a:solidFill>
              </a:rPr>
              <a:t>23</a:t>
            </a: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</a:rPr>
              <a:t>位尾数的编码</a:t>
            </a:r>
            <a:endParaRPr lang="zh-CN" altLang="en-US" sz="4400" b="1" baseline="30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58904" y="4696143"/>
            <a:ext cx="84747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dirty="0"/>
              <a:t>尾数真值 </a:t>
            </a:r>
            <a:r>
              <a:rPr lang="en-US" altLang="zh-CN" sz="3200" dirty="0"/>
              <a:t>[</a:t>
            </a:r>
            <a:r>
              <a:rPr lang="zh-CN" altLang="en-US" sz="3200" dirty="0"/>
              <a:t>非规格化数</a:t>
            </a:r>
            <a:r>
              <a:rPr lang="en-US" altLang="zh-CN" sz="3200" dirty="0"/>
              <a:t>]</a:t>
            </a:r>
            <a:r>
              <a:rPr lang="zh-CN" altLang="en-US" sz="3200" dirty="0"/>
              <a:t>：</a:t>
            </a:r>
            <a:r>
              <a:rPr lang="en-US" altLang="zh-CN" sz="4800" b="1" dirty="0">
                <a:solidFill>
                  <a:srgbClr val="C00000"/>
                </a:solidFill>
              </a:rPr>
              <a:t> 0.</a:t>
            </a:r>
            <a:r>
              <a:rPr lang="en-US" altLang="zh-CN" sz="3200" dirty="0">
                <a:solidFill>
                  <a:schemeClr val="accent2">
                    <a:lumMod val="75000"/>
                  </a:schemeClr>
                </a:solidFill>
              </a:rPr>
              <a:t>23</a:t>
            </a: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</a:rPr>
              <a:t>位尾数的编码</a:t>
            </a:r>
            <a:endParaRPr lang="zh-CN" altLang="en-US" sz="4400" b="1" baseline="30000" dirty="0">
              <a:solidFill>
                <a:schemeClr val="accent5"/>
              </a:solidFill>
            </a:endParaRPr>
          </a:p>
          <a:p>
            <a:endParaRPr lang="zh-CN" altLang="en-US" sz="3200" dirty="0"/>
          </a:p>
        </p:txBody>
      </p:sp>
      <p:sp>
        <p:nvSpPr>
          <p:cNvPr id="16" name="文本框 15"/>
          <p:cNvSpPr txBox="1"/>
          <p:nvPr/>
        </p:nvSpPr>
        <p:spPr>
          <a:xfrm>
            <a:off x="2609425" y="1342421"/>
            <a:ext cx="1121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1</a:t>
            </a:r>
            <a:r>
              <a:rPr lang="zh-CN" altLang="en-US" sz="3200" dirty="0"/>
              <a:t>位</a:t>
            </a:r>
            <a:endParaRPr lang="zh-CN" altLang="en-US" sz="3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4074072" y="1342421"/>
            <a:ext cx="1121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8</a:t>
            </a:r>
            <a:r>
              <a:rPr lang="zh-CN" altLang="en-US" sz="3200" dirty="0"/>
              <a:t>位</a:t>
            </a:r>
            <a:endParaRPr lang="zh-CN" altLang="en-US" sz="3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6499772" y="1342421"/>
            <a:ext cx="1121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23</a:t>
            </a:r>
            <a:r>
              <a:rPr lang="zh-CN" altLang="en-US" sz="3200" dirty="0"/>
              <a:t>位</a:t>
            </a:r>
            <a:endParaRPr lang="zh-CN" altLang="en-US" sz="3200" dirty="0"/>
          </a:p>
        </p:txBody>
      </p:sp>
      <p:sp>
        <p:nvSpPr>
          <p:cNvPr id="19" name="任意多边形 18"/>
          <p:cNvSpPr/>
          <p:nvPr/>
        </p:nvSpPr>
        <p:spPr>
          <a:xfrm>
            <a:off x="1270000" y="2961543"/>
            <a:ext cx="5626100" cy="1673957"/>
          </a:xfrm>
          <a:custGeom>
            <a:avLst/>
            <a:gdLst>
              <a:gd name="connsiteX0" fmla="*/ 5626100 w 5626100"/>
              <a:gd name="connsiteY0" fmla="*/ 0 h 1638300"/>
              <a:gd name="connsiteX1" fmla="*/ 5626100 w 5626100"/>
              <a:gd name="connsiteY1" fmla="*/ 431800 h 1638300"/>
              <a:gd name="connsiteX2" fmla="*/ 0 w 5626100"/>
              <a:gd name="connsiteY2" fmla="*/ 431800 h 1638300"/>
              <a:gd name="connsiteX3" fmla="*/ 0 w 5626100"/>
              <a:gd name="connsiteY3" fmla="*/ 1638300 h 1638300"/>
              <a:gd name="connsiteX4" fmla="*/ 495300 w 5626100"/>
              <a:gd name="connsiteY4" fmla="*/ 1638300 h 163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6100" h="1638300">
                <a:moveTo>
                  <a:pt x="5626100" y="0"/>
                </a:moveTo>
                <a:lnTo>
                  <a:pt x="5626100" y="431800"/>
                </a:lnTo>
                <a:lnTo>
                  <a:pt x="0" y="431800"/>
                </a:lnTo>
                <a:lnTo>
                  <a:pt x="0" y="1638300"/>
                </a:lnTo>
                <a:lnTo>
                  <a:pt x="495300" y="1638300"/>
                </a:lnTo>
              </a:path>
            </a:pathLst>
          </a:cu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488330" y="3112798"/>
            <a:ext cx="3393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The implied bit</a:t>
            </a:r>
            <a:endParaRPr lang="zh-CN" altLang="en-US" sz="2800" dirty="0"/>
          </a:p>
        </p:txBody>
      </p:sp>
      <p:cxnSp>
        <p:nvCxnSpPr>
          <p:cNvPr id="22" name="直接箭头连接符 21"/>
          <p:cNvCxnSpPr/>
          <p:nvPr/>
        </p:nvCxnSpPr>
        <p:spPr>
          <a:xfrm flipH="1">
            <a:off x="7213600" y="3532169"/>
            <a:ext cx="292100" cy="324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IEEE 754 </a:t>
            </a:r>
            <a:r>
              <a:rPr lang="zh-CN" altLang="en-US" dirty="0"/>
              <a:t>浮点数标准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371816" y="2130705"/>
            <a:ext cx="236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i="1" dirty="0"/>
              <a:t>IEEE 754</a:t>
            </a:r>
            <a:endParaRPr lang="zh-CN" altLang="en-US" sz="3600" i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425" y="1937190"/>
            <a:ext cx="5732930" cy="1237726"/>
          </a:xfrm>
          <a:prstGeom prst="rect">
            <a:avLst/>
          </a:prstGeom>
        </p:spPr>
      </p:pic>
      <p:sp>
        <p:nvSpPr>
          <p:cNvPr id="7" name="左大括号 6"/>
          <p:cNvSpPr/>
          <p:nvPr/>
        </p:nvSpPr>
        <p:spPr>
          <a:xfrm>
            <a:off x="1879946" y="3827011"/>
            <a:ext cx="307428" cy="1627072"/>
          </a:xfrm>
          <a:prstGeom prst="leftBrace">
            <a:avLst>
              <a:gd name="adj1" fmla="val 459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258904" y="3643763"/>
            <a:ext cx="8474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尾数真值 </a:t>
            </a:r>
            <a:r>
              <a:rPr lang="en-US" altLang="zh-CN" sz="3200" dirty="0"/>
              <a:t>[</a:t>
            </a:r>
            <a:r>
              <a:rPr lang="zh-CN" altLang="en-US" sz="3200" dirty="0"/>
              <a:t>规格化数</a:t>
            </a:r>
            <a:r>
              <a:rPr lang="en-US" altLang="zh-CN" sz="3200" dirty="0"/>
              <a:t>]</a:t>
            </a:r>
            <a:r>
              <a:rPr lang="zh-CN" altLang="en-US" sz="3200" dirty="0"/>
              <a:t>：     </a:t>
            </a:r>
            <a:r>
              <a:rPr lang="en-US" altLang="zh-CN" sz="4800" b="1" dirty="0">
                <a:solidFill>
                  <a:srgbClr val="C00000"/>
                </a:solidFill>
              </a:rPr>
              <a:t>1.</a:t>
            </a:r>
            <a:r>
              <a:rPr lang="en-US" altLang="zh-CN" sz="3200" dirty="0">
                <a:solidFill>
                  <a:schemeClr val="accent2">
                    <a:lumMod val="75000"/>
                  </a:schemeClr>
                </a:solidFill>
              </a:rPr>
              <a:t>23</a:t>
            </a: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</a:rPr>
              <a:t>位尾数的编码</a:t>
            </a:r>
            <a:endParaRPr lang="zh-CN" altLang="en-US" sz="4400" b="1" baseline="30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58904" y="4696143"/>
            <a:ext cx="84747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dirty="0"/>
              <a:t>尾数真值 </a:t>
            </a:r>
            <a:r>
              <a:rPr lang="en-US" altLang="zh-CN" sz="3200" dirty="0"/>
              <a:t>[</a:t>
            </a:r>
            <a:r>
              <a:rPr lang="zh-CN" altLang="en-US" sz="3200" dirty="0"/>
              <a:t>非规格化数</a:t>
            </a:r>
            <a:r>
              <a:rPr lang="en-US" altLang="zh-CN" sz="3200" dirty="0"/>
              <a:t>]</a:t>
            </a:r>
            <a:r>
              <a:rPr lang="zh-CN" altLang="en-US" sz="3200" dirty="0"/>
              <a:t>：</a:t>
            </a:r>
            <a:r>
              <a:rPr lang="en-US" altLang="zh-CN" sz="4800" b="1" dirty="0">
                <a:solidFill>
                  <a:srgbClr val="C00000"/>
                </a:solidFill>
              </a:rPr>
              <a:t> 0.</a:t>
            </a:r>
            <a:r>
              <a:rPr lang="en-US" altLang="zh-CN" sz="3200" dirty="0">
                <a:solidFill>
                  <a:schemeClr val="accent2">
                    <a:lumMod val="75000"/>
                  </a:schemeClr>
                </a:solidFill>
              </a:rPr>
              <a:t>23</a:t>
            </a: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</a:rPr>
              <a:t>位尾数的编码</a:t>
            </a:r>
            <a:endParaRPr lang="zh-CN" altLang="en-US" sz="4400" b="1" baseline="30000" dirty="0">
              <a:solidFill>
                <a:schemeClr val="accent5"/>
              </a:solidFill>
            </a:endParaRPr>
          </a:p>
          <a:p>
            <a:endParaRPr lang="zh-CN" altLang="en-US" sz="3200" dirty="0"/>
          </a:p>
        </p:txBody>
      </p:sp>
      <p:sp>
        <p:nvSpPr>
          <p:cNvPr id="16" name="文本框 15"/>
          <p:cNvSpPr txBox="1"/>
          <p:nvPr/>
        </p:nvSpPr>
        <p:spPr>
          <a:xfrm>
            <a:off x="2609425" y="1342421"/>
            <a:ext cx="1121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1</a:t>
            </a:r>
            <a:r>
              <a:rPr lang="zh-CN" altLang="en-US" sz="3200" dirty="0"/>
              <a:t>位</a:t>
            </a:r>
            <a:endParaRPr lang="zh-CN" altLang="en-US" sz="3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4074072" y="1342421"/>
            <a:ext cx="1121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8</a:t>
            </a:r>
            <a:r>
              <a:rPr lang="zh-CN" altLang="en-US" sz="3200" dirty="0"/>
              <a:t>位</a:t>
            </a:r>
            <a:endParaRPr lang="zh-CN" altLang="en-US" sz="3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6499772" y="1342421"/>
            <a:ext cx="1121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23</a:t>
            </a:r>
            <a:r>
              <a:rPr lang="zh-CN" altLang="en-US" sz="3200" dirty="0"/>
              <a:t>位</a:t>
            </a:r>
            <a:endParaRPr lang="zh-CN" altLang="en-US" sz="3200" dirty="0"/>
          </a:p>
        </p:txBody>
      </p:sp>
      <p:sp>
        <p:nvSpPr>
          <p:cNvPr id="19" name="任意多边形 18"/>
          <p:cNvSpPr/>
          <p:nvPr/>
        </p:nvSpPr>
        <p:spPr>
          <a:xfrm>
            <a:off x="1270000" y="2961543"/>
            <a:ext cx="5626100" cy="1673957"/>
          </a:xfrm>
          <a:custGeom>
            <a:avLst/>
            <a:gdLst>
              <a:gd name="connsiteX0" fmla="*/ 5626100 w 5626100"/>
              <a:gd name="connsiteY0" fmla="*/ 0 h 1638300"/>
              <a:gd name="connsiteX1" fmla="*/ 5626100 w 5626100"/>
              <a:gd name="connsiteY1" fmla="*/ 431800 h 1638300"/>
              <a:gd name="connsiteX2" fmla="*/ 0 w 5626100"/>
              <a:gd name="connsiteY2" fmla="*/ 431800 h 1638300"/>
              <a:gd name="connsiteX3" fmla="*/ 0 w 5626100"/>
              <a:gd name="connsiteY3" fmla="*/ 1638300 h 1638300"/>
              <a:gd name="connsiteX4" fmla="*/ 495300 w 5626100"/>
              <a:gd name="connsiteY4" fmla="*/ 1638300 h 163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6100" h="1638300">
                <a:moveTo>
                  <a:pt x="5626100" y="0"/>
                </a:moveTo>
                <a:lnTo>
                  <a:pt x="5626100" y="431800"/>
                </a:lnTo>
                <a:lnTo>
                  <a:pt x="0" y="431800"/>
                </a:lnTo>
                <a:lnTo>
                  <a:pt x="0" y="1638300"/>
                </a:lnTo>
                <a:lnTo>
                  <a:pt x="495300" y="1638300"/>
                </a:lnTo>
              </a:path>
            </a:pathLst>
          </a:cu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80072" y="5818615"/>
            <a:ext cx="893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/>
              <a:t>nemu</a:t>
            </a:r>
            <a:r>
              <a:rPr lang="zh-CN" altLang="en-US" sz="2800" dirty="0"/>
              <a:t>变量起名：</a:t>
            </a:r>
            <a:r>
              <a:rPr lang="en-US" altLang="zh-CN" sz="2800" dirty="0"/>
              <a:t>significand                          fraction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171950" y="5568950"/>
            <a:ext cx="180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带上隐藏位的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981950" y="5568950"/>
            <a:ext cx="180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不带隐藏位的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IEEE 754 </a:t>
            </a:r>
            <a:r>
              <a:rPr lang="zh-CN" altLang="en-US" dirty="0"/>
              <a:t>浮点数标准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49" y="1535900"/>
            <a:ext cx="9946399" cy="4585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IEEE 754 </a:t>
            </a:r>
            <a:r>
              <a:rPr lang="zh-CN" altLang="en-US" dirty="0"/>
              <a:t>浮点数标准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38200" y="1683903"/>
            <a:ext cx="7048500" cy="4401205"/>
          </a:xfrm>
          <a:prstGeom prst="rect">
            <a:avLst/>
          </a:prstGeom>
          <a:ln w="12700">
            <a:solidFill>
              <a:schemeClr val="dk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typedef union {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	struct </a:t>
            </a:r>
            <a:r>
              <a:rPr lang="en-US" altLang="zh-CN" sz="2800" dirty="0">
                <a:latin typeface="Consolas" panose="020B0609020204030204" pitchFamily="49" charset="0"/>
              </a:rPr>
              <a:t>// IEEE 754 float</a:t>
            </a:r>
            <a:r>
              <a:rPr lang="zh-CN" altLang="en-US" sz="2800" dirty="0">
                <a:latin typeface="Consolas" panose="020B0609020204030204" pitchFamily="49" charset="0"/>
              </a:rPr>
              <a:t>结构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	{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		uint32_t fraction : 23;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		uint32_t exponent : 8;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		uint32_t sign : 1;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	};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	float fval;    </a:t>
            </a:r>
            <a:r>
              <a:rPr lang="en-US" altLang="zh-CN" sz="2800" dirty="0">
                <a:latin typeface="Consolas" panose="020B0609020204030204" pitchFamily="49" charset="0"/>
              </a:rPr>
              <a:t>// </a:t>
            </a:r>
            <a:r>
              <a:rPr lang="zh-CN" altLang="en-US" sz="2800" dirty="0">
                <a:latin typeface="Consolas" panose="020B0609020204030204" pitchFamily="49" charset="0"/>
              </a:rPr>
              <a:t>浮点数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	uint32_t val;  </a:t>
            </a:r>
            <a:r>
              <a:rPr lang="en-US" altLang="zh-CN" sz="2800" dirty="0">
                <a:latin typeface="Consolas" panose="020B0609020204030204" pitchFamily="49" charset="0"/>
              </a:rPr>
              <a:t>// </a:t>
            </a:r>
            <a:r>
              <a:rPr lang="zh-CN" altLang="en-US" sz="2800" dirty="0">
                <a:latin typeface="Consolas" panose="020B0609020204030204" pitchFamily="49" charset="0"/>
              </a:rPr>
              <a:t>机器数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} FLOAT;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05000" y="1080656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/include/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reg_fpu.h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500" y="3275870"/>
            <a:ext cx="3784600" cy="817086"/>
          </a:xfrm>
          <a:prstGeom prst="rect">
            <a:avLst/>
          </a:prstGeom>
        </p:spPr>
      </p:pic>
      <p:sp>
        <p:nvSpPr>
          <p:cNvPr id="15" name="右箭头 14"/>
          <p:cNvSpPr/>
          <p:nvPr/>
        </p:nvSpPr>
        <p:spPr>
          <a:xfrm>
            <a:off x="7531100" y="2822228"/>
            <a:ext cx="622300" cy="172437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/>
              <a:t>NEMU</a:t>
            </a:r>
            <a:r>
              <a:rPr lang="zh-CN" altLang="en-US" sz="4000" dirty="0"/>
              <a:t>中模拟浮点数的算术运算的部件</a:t>
            </a:r>
            <a:endParaRPr lang="en-US" altLang="zh-CN" sz="4000" dirty="0"/>
          </a:p>
          <a:p>
            <a:pPr lvl="1">
              <a:lnSpc>
                <a:spcPct val="150000"/>
              </a:lnSpc>
            </a:pPr>
            <a:r>
              <a:rPr lang="en-US" altLang="zh-CN" sz="3600" dirty="0"/>
              <a:t>FPU - </a:t>
            </a:r>
            <a:r>
              <a:rPr lang="zh-CN" altLang="en-US" sz="3600" dirty="0"/>
              <a:t>浮点运算单元（大部分由框架代码实现）</a:t>
            </a:r>
            <a:endParaRPr lang="en-US" altLang="zh-CN" sz="3600" dirty="0"/>
          </a:p>
          <a:p>
            <a:pPr lvl="1">
              <a:lnSpc>
                <a:spcPct val="150000"/>
              </a:lnSpc>
            </a:pPr>
            <a:r>
              <a:rPr lang="zh-CN" altLang="en-US" sz="3600" dirty="0"/>
              <a:t>实现浮点数运算：加减乘除</a:t>
            </a:r>
            <a:endParaRPr lang="en-US" altLang="zh-CN" sz="3600" dirty="0"/>
          </a:p>
          <a:p>
            <a:pPr lvl="1">
              <a:lnSpc>
                <a:spcPct val="150000"/>
              </a:lnSpc>
            </a:pPr>
            <a:r>
              <a:rPr lang="zh-CN" altLang="en-US" sz="3600" dirty="0"/>
              <a:t>相关代码：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en-US" altLang="zh-CN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3600" dirty="0"/>
              <a:t>需要实现</a:t>
            </a:r>
            <a:r>
              <a:rPr lang="en-US" altLang="zh-CN" sz="3600" dirty="0" err="1">
                <a:latin typeface="Consolas" panose="020B0609020204030204" pitchFamily="49" charset="0"/>
              </a:rPr>
              <a:t>internal_float_xxx</a:t>
            </a:r>
            <a:r>
              <a:rPr lang="en-US" altLang="zh-CN" sz="3600" dirty="0">
                <a:latin typeface="Consolas" panose="020B0609020204030204" pitchFamily="49" charset="0"/>
              </a:rPr>
              <a:t>()</a:t>
            </a:r>
            <a:r>
              <a:rPr lang="zh-CN" altLang="en-US" sz="3600" dirty="0"/>
              <a:t>函数</a:t>
            </a:r>
            <a:endParaRPr lang="en-US" altLang="zh-CN" sz="3600" dirty="0"/>
          </a:p>
          <a:p>
            <a:pPr lvl="2">
              <a:lnSpc>
                <a:spcPct val="150000"/>
              </a:lnSpc>
            </a:pPr>
            <a:r>
              <a:rPr lang="en-US" altLang="zh-CN" sz="3200" dirty="0">
                <a:latin typeface="Consolas" panose="020B0609020204030204" pitchFamily="49" charset="0"/>
              </a:rPr>
              <a:t>xxx</a:t>
            </a:r>
            <a:r>
              <a:rPr lang="zh-CN" altLang="en-US" sz="3200" dirty="0"/>
              <a:t>可以是</a:t>
            </a:r>
            <a:r>
              <a:rPr lang="en-US" altLang="zh-CN" sz="3200" dirty="0">
                <a:latin typeface="Consolas" panose="020B0609020204030204" pitchFamily="49" charset="0"/>
              </a:rPr>
              <a:t>add</a:t>
            </a:r>
            <a:r>
              <a:rPr lang="zh-CN" altLang="en-US" sz="3200" dirty="0"/>
              <a:t>、</a:t>
            </a:r>
            <a:r>
              <a:rPr lang="en-US" altLang="zh-CN" sz="3200" dirty="0">
                <a:latin typeface="Consolas" panose="020B0609020204030204" pitchFamily="49" charset="0"/>
              </a:rPr>
              <a:t>sub</a:t>
            </a:r>
            <a:r>
              <a:rPr lang="zh-CN" altLang="en-US" sz="3200" dirty="0"/>
              <a:t>、</a:t>
            </a:r>
            <a:r>
              <a:rPr lang="en-US" altLang="zh-CN" sz="3200" dirty="0" err="1">
                <a:latin typeface="Consolas" panose="020B0609020204030204" pitchFamily="49" charset="0"/>
              </a:rPr>
              <a:t>mul</a:t>
            </a:r>
            <a:r>
              <a:rPr lang="zh-CN" altLang="en-US" sz="3200" dirty="0"/>
              <a:t>或</a:t>
            </a:r>
            <a:r>
              <a:rPr lang="en-US" altLang="zh-CN" sz="3200" dirty="0">
                <a:latin typeface="Consolas" panose="020B0609020204030204" pitchFamily="49" charset="0"/>
              </a:rPr>
              <a:t>div</a:t>
            </a:r>
            <a:endParaRPr lang="en-US" altLang="zh-CN" sz="3200" dirty="0">
              <a:latin typeface="Consolas" panose="020B060902020403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3200" dirty="0"/>
              <a:t>需要实现</a:t>
            </a:r>
            <a:r>
              <a:rPr lang="en-US" altLang="zh-CN" sz="3200" dirty="0" err="1">
                <a:latin typeface="Consolas" panose="020B0609020204030204" pitchFamily="49" charset="0"/>
              </a:rPr>
              <a:t>internal_normalize</a:t>
            </a:r>
            <a:r>
              <a:rPr lang="en-US" altLang="zh-CN" sz="3200" dirty="0">
                <a:latin typeface="Consolas" panose="020B0609020204030204" pitchFamily="49" charset="0"/>
              </a:rPr>
              <a:t>()</a:t>
            </a:r>
            <a:r>
              <a:rPr lang="zh-CN" altLang="en-US" sz="3200" dirty="0"/>
              <a:t>函数</a:t>
            </a:r>
            <a:endParaRPr lang="en-US" altLang="zh-CN" sz="3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842500" y="1981200"/>
            <a:ext cx="977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浮点栈</a:t>
            </a:r>
            <a:endParaRPr lang="en-US" altLang="zh-CN" dirty="0"/>
          </a:p>
          <a:p>
            <a:r>
              <a:rPr lang="zh-CN" altLang="en-US" dirty="0"/>
              <a:t>状态字</a:t>
            </a:r>
            <a:endParaRPr lang="en-US" altLang="zh-CN" dirty="0"/>
          </a:p>
          <a:p>
            <a:r>
              <a:rPr lang="zh-CN" altLang="en-US" dirty="0"/>
              <a:t>控制字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54117" y="3021112"/>
            <a:ext cx="119378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Consolas" panose="020B0609020204030204" pitchFamily="49" charset="0"/>
              </a:rPr>
              <a:t>uint32_t internal_float_add(uint32_t b, uint32_t a)</a:t>
            </a:r>
            <a:r>
              <a:rPr lang="en-US" altLang="zh-CN" sz="3200" dirty="0">
                <a:latin typeface="Consolas" panose="020B0609020204030204" pitchFamily="49" charset="0"/>
              </a:rPr>
              <a:t>;</a:t>
            </a:r>
            <a:endParaRPr lang="zh-CN" altLang="en-US" sz="3200" dirty="0"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14932" y="1974733"/>
            <a:ext cx="526297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40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4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40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4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40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4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54117" y="3021112"/>
            <a:ext cx="119378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uint32_t </a:t>
            </a:r>
            <a:r>
              <a:rPr lang="zh-CN" altLang="en-US" sz="3200" dirty="0">
                <a:latin typeface="Consolas" panose="020B0609020204030204" pitchFamily="49" charset="0"/>
              </a:rPr>
              <a:t>internal_float_</a:t>
            </a:r>
            <a:r>
              <a:rPr lang="zh-CN" altLang="en-US" sz="3200" dirty="0">
                <a:solidFill>
                  <a:srgbClr val="C00000"/>
                </a:solidFill>
                <a:latin typeface="Consolas" panose="020B0609020204030204" pitchFamily="49" charset="0"/>
              </a:rPr>
              <a:t>add</a:t>
            </a:r>
            <a:r>
              <a:rPr lang="zh-CN" altLang="en-US" sz="3200" dirty="0">
                <a:latin typeface="Consolas" panose="020B0609020204030204" pitchFamily="49" charset="0"/>
              </a:rPr>
              <a:t>(</a:t>
            </a:r>
            <a:r>
              <a:rPr lang="zh-CN" altLang="en-US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uint32_t b</a:t>
            </a:r>
            <a:r>
              <a:rPr lang="zh-CN" altLang="en-US" sz="3200" dirty="0">
                <a:latin typeface="Consolas" panose="020B0609020204030204" pitchFamily="49" charset="0"/>
              </a:rPr>
              <a:t>, </a:t>
            </a:r>
            <a:r>
              <a:rPr lang="zh-CN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uint32_t a</a:t>
            </a:r>
            <a:r>
              <a:rPr lang="zh-CN" altLang="en-US" sz="3200" dirty="0">
                <a:latin typeface="Consolas" panose="020B0609020204030204" pitchFamily="49" charset="0"/>
              </a:rPr>
              <a:t>)</a:t>
            </a:r>
            <a:r>
              <a:rPr lang="en-US" altLang="zh-CN" sz="3200" dirty="0">
                <a:latin typeface="Consolas" panose="020B0609020204030204" pitchFamily="49" charset="0"/>
              </a:rPr>
              <a:t>;</a:t>
            </a:r>
            <a:endParaRPr lang="zh-CN" altLang="en-US" sz="3200" dirty="0">
              <a:latin typeface="Consolas" panose="020B0609020204030204" pitchFamily="49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95800" y="2308171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运算名称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42100" y="3769884"/>
            <a:ext cx="196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chemeClr val="accent5"/>
                </a:solidFill>
              </a:rPr>
              <a:t>操作数</a:t>
            </a:r>
            <a:r>
              <a:rPr lang="en-US" altLang="zh-CN" sz="3600" dirty="0">
                <a:solidFill>
                  <a:schemeClr val="accent5"/>
                </a:solidFill>
              </a:rPr>
              <a:t>b</a:t>
            </a:r>
            <a:endParaRPr lang="zh-CN" altLang="en-US" sz="3600" dirty="0">
              <a:solidFill>
                <a:schemeClr val="accent5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254578" y="3769884"/>
            <a:ext cx="2099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7030A0"/>
                </a:solidFill>
              </a:rPr>
              <a:t>操作数</a:t>
            </a:r>
            <a:r>
              <a:rPr lang="en-US" altLang="zh-CN" sz="3600" dirty="0">
                <a:solidFill>
                  <a:srgbClr val="7030A0"/>
                </a:solidFill>
              </a:rPr>
              <a:t>a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58800" y="3769884"/>
            <a:ext cx="2247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chemeClr val="accent6"/>
                </a:solidFill>
              </a:rPr>
              <a:t>运算结果</a:t>
            </a:r>
            <a:endParaRPr lang="zh-CN" altLang="en-US" sz="36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54117" y="3021112"/>
            <a:ext cx="119378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uint32_t </a:t>
            </a:r>
            <a:r>
              <a:rPr lang="zh-CN" altLang="en-US" sz="3200" dirty="0">
                <a:latin typeface="Consolas" panose="020B0609020204030204" pitchFamily="49" charset="0"/>
              </a:rPr>
              <a:t>internal_float_</a:t>
            </a:r>
            <a:r>
              <a:rPr lang="zh-CN" altLang="en-US" sz="3200" dirty="0">
                <a:solidFill>
                  <a:srgbClr val="C00000"/>
                </a:solidFill>
                <a:latin typeface="Consolas" panose="020B0609020204030204" pitchFamily="49" charset="0"/>
              </a:rPr>
              <a:t>add</a:t>
            </a:r>
            <a:r>
              <a:rPr lang="zh-CN" altLang="en-US" sz="3200" dirty="0">
                <a:latin typeface="Consolas" panose="020B0609020204030204" pitchFamily="49" charset="0"/>
              </a:rPr>
              <a:t>(</a:t>
            </a:r>
            <a:r>
              <a:rPr lang="zh-CN" altLang="en-US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uint32_t b</a:t>
            </a:r>
            <a:r>
              <a:rPr lang="zh-CN" altLang="en-US" sz="3200" dirty="0">
                <a:latin typeface="Consolas" panose="020B0609020204030204" pitchFamily="49" charset="0"/>
              </a:rPr>
              <a:t>, </a:t>
            </a:r>
            <a:r>
              <a:rPr lang="zh-CN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uint32_t a</a:t>
            </a:r>
            <a:r>
              <a:rPr lang="zh-CN" altLang="en-US" sz="3200" dirty="0">
                <a:latin typeface="Consolas" panose="020B0609020204030204" pitchFamily="49" charset="0"/>
              </a:rPr>
              <a:t>)</a:t>
            </a:r>
            <a:r>
              <a:rPr lang="en-US" altLang="zh-CN" sz="3200" dirty="0">
                <a:latin typeface="Consolas" panose="020B0609020204030204" pitchFamily="49" charset="0"/>
              </a:rPr>
              <a:t>;</a:t>
            </a:r>
            <a:endParaRPr lang="zh-CN" altLang="en-US" sz="32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95800" y="2308171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运算名称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42100" y="3769884"/>
            <a:ext cx="196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chemeClr val="accent5"/>
                </a:solidFill>
              </a:rPr>
              <a:t>操作数</a:t>
            </a:r>
            <a:r>
              <a:rPr lang="en-US" altLang="zh-CN" sz="3600" dirty="0">
                <a:solidFill>
                  <a:schemeClr val="accent5"/>
                </a:solidFill>
              </a:rPr>
              <a:t>b</a:t>
            </a:r>
            <a:endParaRPr lang="zh-CN" altLang="en-US" sz="3600" dirty="0">
              <a:solidFill>
                <a:schemeClr val="accent5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254578" y="3769884"/>
            <a:ext cx="2099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7030A0"/>
                </a:solidFill>
              </a:rPr>
              <a:t>操作数</a:t>
            </a:r>
            <a:r>
              <a:rPr lang="en-US" altLang="zh-CN" sz="3600" dirty="0">
                <a:solidFill>
                  <a:srgbClr val="7030A0"/>
                </a:solidFill>
              </a:rPr>
              <a:t>a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8800" y="3769884"/>
            <a:ext cx="2247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chemeClr val="accent6"/>
                </a:solidFill>
              </a:rPr>
              <a:t>运算结果</a:t>
            </a:r>
            <a:endParaRPr lang="zh-CN" altLang="en-US" sz="3600" dirty="0">
              <a:solidFill>
                <a:schemeClr val="accent6"/>
              </a:solidFill>
            </a:endParaRPr>
          </a:p>
        </p:txBody>
      </p:sp>
      <p:sp>
        <p:nvSpPr>
          <p:cNvPr id="12" name="左大括号 11"/>
          <p:cNvSpPr/>
          <p:nvPr/>
        </p:nvSpPr>
        <p:spPr>
          <a:xfrm rot="16200000">
            <a:off x="5755754" y="-368117"/>
            <a:ext cx="431800" cy="10266903"/>
          </a:xfrm>
          <a:prstGeom prst="leftBrace">
            <a:avLst>
              <a:gd name="adj1" fmla="val 43627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50981" y="5235483"/>
            <a:ext cx="5551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float</a:t>
            </a:r>
            <a:r>
              <a:rPr lang="zh-CN" altLang="en-US" sz="3200" dirty="0"/>
              <a:t>对应的机器数，</a:t>
            </a:r>
            <a:r>
              <a:rPr lang="en-US" altLang="zh-CN" sz="3200" dirty="0"/>
              <a:t>IEEE 754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71844" y="1948934"/>
            <a:ext cx="10240304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uint32_t internal_float_add(uint32_t b, uint32_t a)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{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}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浮点数的运算模拟（禁用方法）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71844" y="1948934"/>
            <a:ext cx="10240304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uint32_t internal_float_add(uint32_t b, uint32_t a)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{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FLOAT fa, fb, f;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</a:t>
            </a:r>
            <a:r>
              <a:rPr lang="en-US" altLang="zh-CN" sz="2800" dirty="0" err="1">
                <a:latin typeface="Consolas" panose="020B0609020204030204" pitchFamily="49" charset="0"/>
              </a:rPr>
              <a:t>fa.val</a:t>
            </a:r>
            <a:r>
              <a:rPr lang="en-US" altLang="zh-CN" sz="2800" dirty="0">
                <a:latin typeface="Consolas" panose="020B0609020204030204" pitchFamily="49" charset="0"/>
              </a:rPr>
              <a:t> = a;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</a:t>
            </a:r>
            <a:r>
              <a:rPr lang="en-US" altLang="zh-CN" sz="2800" dirty="0" err="1">
                <a:latin typeface="Consolas" panose="020B0609020204030204" pitchFamily="49" charset="0"/>
              </a:rPr>
              <a:t>fb.val</a:t>
            </a:r>
            <a:r>
              <a:rPr lang="en-US" altLang="zh-CN" sz="2800" dirty="0">
                <a:latin typeface="Consolas" panose="020B0609020204030204" pitchFamily="49" charset="0"/>
              </a:rPr>
              <a:t> = b;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</a:t>
            </a:r>
            <a:r>
              <a:rPr lang="en-US" altLang="zh-CN" sz="2800" dirty="0" err="1">
                <a:latin typeface="Consolas" panose="020B0609020204030204" pitchFamily="49" charset="0"/>
              </a:rPr>
              <a:t>f.fval</a:t>
            </a:r>
            <a:r>
              <a:rPr lang="en-US" altLang="zh-CN" sz="2800" dirty="0">
                <a:latin typeface="Consolas" panose="020B0609020204030204" pitchFamily="49" charset="0"/>
              </a:rPr>
              <a:t> = </a:t>
            </a:r>
            <a:r>
              <a:rPr lang="en-US" altLang="zh-CN" sz="2800" dirty="0" err="1">
                <a:latin typeface="Consolas" panose="020B0609020204030204" pitchFamily="49" charset="0"/>
              </a:rPr>
              <a:t>fa.fval</a:t>
            </a:r>
            <a:r>
              <a:rPr lang="en-US" altLang="zh-CN" sz="2800" dirty="0">
                <a:latin typeface="Consolas" panose="020B0609020204030204" pitchFamily="49" charset="0"/>
              </a:rPr>
              <a:t> + </a:t>
            </a:r>
            <a:r>
              <a:rPr lang="en-US" altLang="zh-CN" sz="2800" dirty="0" err="1">
                <a:latin typeface="Consolas" panose="020B0609020204030204" pitchFamily="49" charset="0"/>
              </a:rPr>
              <a:t>fb.fval</a:t>
            </a:r>
            <a:r>
              <a:rPr lang="en-US" altLang="zh-CN" sz="2800" dirty="0">
                <a:latin typeface="Consolas" panose="020B0609020204030204" pitchFamily="49" charset="0"/>
              </a:rPr>
              <a:t>;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return </a:t>
            </a:r>
            <a:r>
              <a:rPr lang="en-US" altLang="zh-CN" sz="2800" dirty="0" err="1">
                <a:latin typeface="Consolas" panose="020B0609020204030204" pitchFamily="49" charset="0"/>
              </a:rPr>
              <a:t>f.val</a:t>
            </a:r>
            <a:r>
              <a:rPr lang="en-US" altLang="zh-CN" sz="2800" dirty="0">
                <a:latin typeface="Consolas" panose="020B0609020204030204" pitchFamily="49" charset="0"/>
              </a:rPr>
              <a:t>;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}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30950" y="834657"/>
            <a:ext cx="364490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rgbClr val="C00000"/>
                </a:solidFill>
              </a:rPr>
              <a:t>x</a:t>
            </a:r>
            <a:endParaRPr lang="zh-CN" altLang="en-US" sz="28700" dirty="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92199" y="3046096"/>
            <a:ext cx="340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但可以用来测试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9845" y="4124702"/>
            <a:ext cx="3893105" cy="2727324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浮点数的运算模拟（要求的方法）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71844" y="1948934"/>
            <a:ext cx="10240304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uint32_t internal_float_add(uint32_t b, uint32_t a)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{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</a:t>
            </a:r>
            <a:r>
              <a:rPr lang="zh-CN" altLang="en-US" sz="2800" dirty="0">
                <a:latin typeface="Consolas" panose="020B0609020204030204" pitchFamily="49" charset="0"/>
              </a:rPr>
              <a:t>利用位操作和整数运算来实现浮点数运算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Soft Floating Point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}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浮点数的运算模拟（要求的方法）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71844" y="1948934"/>
            <a:ext cx="10240304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uint32_t internal_float_add(uint32_t b, uint32_t a)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{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</a:t>
            </a:r>
            <a:r>
              <a:rPr lang="zh-CN" altLang="en-US" sz="2800" dirty="0">
                <a:latin typeface="Consolas" panose="020B0609020204030204" pitchFamily="49" charset="0"/>
              </a:rPr>
              <a:t>利用位操作和整数运算来实现浮点数运算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Soft Floating Point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}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71844" y="4557236"/>
            <a:ext cx="593463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参考：</a:t>
            </a:r>
            <a:r>
              <a:rPr lang="zh-CN" altLang="en-US" sz="3200" dirty="0">
                <a:hlinkClick r:id="rId1"/>
              </a:rPr>
              <a:t>https://bellard.org/softfp/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传奇程序员：</a:t>
            </a:r>
            <a:r>
              <a:rPr lang="en-US" altLang="zh-CN" sz="3200" dirty="0"/>
              <a:t>QEMU</a:t>
            </a:r>
            <a:r>
              <a:rPr lang="zh-CN" altLang="en-US" sz="3200" dirty="0"/>
              <a:t>、</a:t>
            </a:r>
            <a:r>
              <a:rPr lang="en-US" altLang="zh-CN" sz="3200" dirty="0"/>
              <a:t>FFMPEG</a:t>
            </a:r>
            <a:endParaRPr lang="zh-CN" altLang="en-US" sz="3200" dirty="0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3060700" y="5181600"/>
            <a:ext cx="825500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浮点数的运算模拟（基本流程）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71844" y="1948934"/>
            <a:ext cx="10634643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uint32_t internal_float_</a:t>
            </a:r>
            <a:r>
              <a:rPr lang="en-US" altLang="zh-CN" sz="2800" dirty="0">
                <a:latin typeface="Consolas" panose="020B0609020204030204" pitchFamily="49" charset="0"/>
              </a:rPr>
              <a:t>add</a:t>
            </a:r>
            <a:r>
              <a:rPr lang="zh-CN" altLang="en-US" sz="2800" dirty="0">
                <a:latin typeface="Consolas" panose="020B0609020204030204" pitchFamily="49" charset="0"/>
              </a:rPr>
              <a:t>(uint32_t b, uint32_t a)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{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1. </a:t>
            </a:r>
            <a:r>
              <a:rPr lang="zh-CN" altLang="en-US" sz="2800" dirty="0">
                <a:latin typeface="Consolas" panose="020B0609020204030204" pitchFamily="49" charset="0"/>
              </a:rPr>
              <a:t>处理边界情况（</a:t>
            </a:r>
            <a:r>
              <a:rPr lang="en-US" altLang="zh-CN" sz="2800" dirty="0" err="1">
                <a:latin typeface="Consolas" panose="020B0609020204030204" pitchFamily="49" charset="0"/>
              </a:rPr>
              <a:t>NaN</a:t>
            </a:r>
            <a:r>
              <a:rPr lang="zh-CN" altLang="en-US" sz="2800" dirty="0"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latin typeface="Consolas" panose="020B0609020204030204" pitchFamily="49" charset="0"/>
              </a:rPr>
              <a:t>0</a:t>
            </a:r>
            <a:r>
              <a:rPr lang="zh-CN" altLang="en-US" sz="2800" dirty="0"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latin typeface="Consolas" panose="020B0609020204030204" pitchFamily="49" charset="0"/>
              </a:rPr>
              <a:t>INF</a:t>
            </a:r>
            <a:r>
              <a:rPr lang="zh-CN" altLang="en-US" sz="2800" dirty="0">
                <a:latin typeface="Consolas" panose="020B0609020204030204" pitchFamily="49" charset="0"/>
              </a:rPr>
              <a:t>）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2. </a:t>
            </a:r>
            <a:r>
              <a:rPr lang="zh-CN" altLang="en-US" sz="2800" dirty="0">
                <a:latin typeface="Consolas" panose="020B0609020204030204" pitchFamily="49" charset="0"/>
              </a:rPr>
              <a:t>提取符号、阶码、尾数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3. </a:t>
            </a:r>
            <a:r>
              <a:rPr lang="zh-CN" altLang="en-US" sz="2800" dirty="0">
                <a:latin typeface="Consolas" panose="020B0609020204030204" pitchFamily="49" charset="0"/>
              </a:rPr>
              <a:t>整数运算得到中间结果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4. </a:t>
            </a:r>
            <a:r>
              <a:rPr lang="zh-CN" altLang="en-US" sz="2800" dirty="0">
                <a:latin typeface="Consolas" panose="020B0609020204030204" pitchFamily="49" charset="0"/>
              </a:rPr>
              <a:t>舍入并规格化后返回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}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浮点数的运算模拟（以加法为例）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71844" y="1948934"/>
            <a:ext cx="10240304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uint32_t internal_float_add(uint32_t b, uint32_t a)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{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</a:t>
            </a:r>
            <a:r>
              <a:rPr lang="en-US" altLang="zh-CN" sz="2800" dirty="0">
                <a:solidFill>
                  <a:srgbClr val="C00000"/>
                </a:solidFill>
                <a:latin typeface="Consolas" panose="020B0609020204030204" pitchFamily="49" charset="0"/>
              </a:rPr>
              <a:t>1. </a:t>
            </a:r>
            <a:r>
              <a:rPr lang="zh-CN" altLang="en-US" sz="2800" dirty="0">
                <a:solidFill>
                  <a:srgbClr val="C00000"/>
                </a:solidFill>
                <a:latin typeface="Consolas" panose="020B0609020204030204" pitchFamily="49" charset="0"/>
              </a:rPr>
              <a:t>处理边界情况（</a:t>
            </a:r>
            <a:r>
              <a:rPr lang="en-US" altLang="zh-CN" sz="2800" dirty="0" err="1">
                <a:solidFill>
                  <a:srgbClr val="C00000"/>
                </a:solidFill>
                <a:latin typeface="Consolas" panose="020B0609020204030204" pitchFamily="49" charset="0"/>
              </a:rPr>
              <a:t>NaN</a:t>
            </a:r>
            <a:r>
              <a:rPr lang="zh-CN" altLang="en-US" sz="2800" dirty="0">
                <a:solidFill>
                  <a:srgbClr val="C00000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r>
              <a:rPr lang="zh-CN" altLang="en-US" sz="2800" dirty="0">
                <a:solidFill>
                  <a:srgbClr val="C00000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solidFill>
                  <a:srgbClr val="C00000"/>
                </a:solidFill>
                <a:latin typeface="Consolas" panose="020B0609020204030204" pitchFamily="49" charset="0"/>
              </a:rPr>
              <a:t>INF</a:t>
            </a:r>
            <a:r>
              <a:rPr lang="zh-CN" altLang="en-US" sz="2800" dirty="0">
                <a:solidFill>
                  <a:srgbClr val="C00000"/>
                </a:solidFill>
                <a:latin typeface="Consolas" panose="020B0609020204030204" pitchFamily="49" charset="0"/>
              </a:rPr>
              <a:t>）</a:t>
            </a:r>
            <a:endParaRPr lang="en-US" altLang="zh-CN" sz="28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2. </a:t>
            </a:r>
            <a:r>
              <a:rPr lang="zh-CN" altLang="en-US" sz="2800" dirty="0">
                <a:latin typeface="Consolas" panose="020B0609020204030204" pitchFamily="49" charset="0"/>
              </a:rPr>
              <a:t>提取符号、阶码、尾数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3. </a:t>
            </a:r>
            <a:r>
              <a:rPr lang="zh-CN" altLang="en-US" sz="2800" dirty="0">
                <a:latin typeface="Consolas" panose="020B0609020204030204" pitchFamily="49" charset="0"/>
              </a:rPr>
              <a:t>整数运算得到中间结果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4. </a:t>
            </a:r>
            <a:r>
              <a:rPr lang="zh-CN" altLang="en-US" sz="2800" dirty="0">
                <a:latin typeface="Consolas" panose="020B0609020204030204" pitchFamily="49" charset="0"/>
              </a:rPr>
              <a:t>舍入并规格化后返回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}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409792" y="2810707"/>
            <a:ext cx="4309241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/>
              <a:t>框架代码已经针对浮点数的加减乘除运算完成了对边界情况的处理</a:t>
            </a:r>
            <a:endParaRPr lang="zh-CN" altLang="en-US" sz="2800" dirty="0"/>
          </a:p>
        </p:txBody>
      </p:sp>
      <p:sp>
        <p:nvSpPr>
          <p:cNvPr id="10" name="矩形 9"/>
          <p:cNvSpPr/>
          <p:nvPr/>
        </p:nvSpPr>
        <p:spPr>
          <a:xfrm>
            <a:off x="6579475" y="4581535"/>
            <a:ext cx="513955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CORNER_CASE_RULE corner_add[] = {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{P_ZERO_F, P_ZERO_F, P_ZERO_F},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{N_ZERO_F, P_ZERO_F, P_ZERO_F},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…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 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// 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71844" y="1948934"/>
            <a:ext cx="10240304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uint32_t internal_float_add(uint32_t b, uint32_t a)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{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1. </a:t>
            </a:r>
            <a:r>
              <a:rPr lang="zh-CN" altLang="en-US" sz="2800" dirty="0">
                <a:latin typeface="Consolas" panose="020B0609020204030204" pitchFamily="49" charset="0"/>
              </a:rPr>
              <a:t>处理边界情况（</a:t>
            </a:r>
            <a:r>
              <a:rPr lang="en-US" altLang="zh-CN" sz="2800" dirty="0" err="1">
                <a:latin typeface="Consolas" panose="020B0609020204030204" pitchFamily="49" charset="0"/>
              </a:rPr>
              <a:t>NaN</a:t>
            </a:r>
            <a:r>
              <a:rPr lang="zh-CN" altLang="en-US" sz="2800" dirty="0"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latin typeface="Consolas" panose="020B0609020204030204" pitchFamily="49" charset="0"/>
              </a:rPr>
              <a:t>0</a:t>
            </a:r>
            <a:r>
              <a:rPr lang="zh-CN" altLang="en-US" sz="2800" dirty="0"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latin typeface="Consolas" panose="020B0609020204030204" pitchFamily="49" charset="0"/>
              </a:rPr>
              <a:t>INF</a:t>
            </a:r>
            <a:r>
              <a:rPr lang="zh-CN" altLang="en-US" sz="2800" dirty="0">
                <a:latin typeface="Consolas" panose="020B0609020204030204" pitchFamily="49" charset="0"/>
              </a:rPr>
              <a:t>）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</a:t>
            </a:r>
            <a:r>
              <a:rPr lang="en-US" altLang="zh-CN" sz="2800" dirty="0">
                <a:solidFill>
                  <a:srgbClr val="C00000"/>
                </a:solidFill>
                <a:latin typeface="Consolas" panose="020B0609020204030204" pitchFamily="49" charset="0"/>
              </a:rPr>
              <a:t>2. </a:t>
            </a:r>
            <a:r>
              <a:rPr lang="zh-CN" altLang="en-US" sz="2800" dirty="0">
                <a:solidFill>
                  <a:srgbClr val="C00000"/>
                </a:solidFill>
                <a:latin typeface="Consolas" panose="020B0609020204030204" pitchFamily="49" charset="0"/>
              </a:rPr>
              <a:t>提取符号、阶码、尾数</a:t>
            </a:r>
            <a:endParaRPr lang="en-US" altLang="zh-CN" sz="28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3. </a:t>
            </a:r>
            <a:r>
              <a:rPr lang="zh-CN" altLang="en-US" sz="2800" dirty="0">
                <a:latin typeface="Consolas" panose="020B0609020204030204" pitchFamily="49" charset="0"/>
              </a:rPr>
              <a:t>整数运算得到中间结果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4. </a:t>
            </a:r>
            <a:r>
              <a:rPr lang="zh-CN" altLang="en-US" sz="2800" dirty="0">
                <a:latin typeface="Consolas" panose="020B0609020204030204" pitchFamily="49" charset="0"/>
              </a:rPr>
              <a:t>舍入并规格化后返回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}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提取符号、阶码、尾数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366346"/>
            <a:ext cx="9291145" cy="526297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uint32_t internal_float_add(uint32_t b, uint32_t a) </a:t>
            </a:r>
            <a:r>
              <a:rPr lang="en-US" altLang="zh-CN" sz="2400" dirty="0">
                <a:latin typeface="Consolas" panose="020B0609020204030204" pitchFamily="49" charset="0"/>
              </a:rPr>
              <a:t>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FLOAT f, fa, fb;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fa.val</a:t>
            </a:r>
            <a:r>
              <a:rPr lang="en-US" altLang="zh-CN" sz="2400" dirty="0">
                <a:latin typeface="Consolas" panose="020B0609020204030204" pitchFamily="49" charset="0"/>
              </a:rPr>
              <a:t> = a;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fb.val</a:t>
            </a:r>
            <a:r>
              <a:rPr lang="en-US" altLang="zh-CN" sz="2400" dirty="0">
                <a:latin typeface="Consolas" panose="020B0609020204030204" pitchFamily="49" charset="0"/>
              </a:rPr>
              <a:t> = 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uint32_t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latin typeface="Consolas" panose="020B0609020204030204" pitchFamily="49" charset="0"/>
              </a:rPr>
              <a:t>sig_res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= </a:t>
            </a:r>
            <a:r>
              <a:rPr lang="en-US" altLang="zh-CN" sz="2400" dirty="0" err="1">
                <a:latin typeface="Consolas" panose="020B0609020204030204" pitchFamily="49" charset="0"/>
              </a:rPr>
              <a:t>fa.fraction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if (</a:t>
            </a:r>
            <a:r>
              <a:rPr lang="en-US" altLang="zh-CN" sz="2400" dirty="0" err="1">
                <a:latin typeface="Consolas" panose="020B0609020204030204" pitchFamily="49" charset="0"/>
              </a:rPr>
              <a:t>fa.exponent</a:t>
            </a:r>
            <a:r>
              <a:rPr lang="en-US" altLang="zh-CN" sz="2400" dirty="0">
                <a:latin typeface="Consolas" panose="020B0609020204030204" pitchFamily="49" charset="0"/>
              </a:rPr>
              <a:t> != 0)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|= 0x800000;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 = </a:t>
            </a:r>
            <a:r>
              <a:rPr lang="en-US" altLang="zh-CN" sz="2400" dirty="0" err="1">
                <a:latin typeface="Consolas" panose="020B0609020204030204" pitchFamily="49" charset="0"/>
              </a:rPr>
              <a:t>fb.fraction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if (</a:t>
            </a:r>
            <a:r>
              <a:rPr lang="en-US" altLang="zh-CN" sz="2400" dirty="0" err="1">
                <a:latin typeface="Consolas" panose="020B0609020204030204" pitchFamily="49" charset="0"/>
              </a:rPr>
              <a:t>fb.exponent</a:t>
            </a:r>
            <a:r>
              <a:rPr lang="en-US" altLang="zh-CN" sz="2400" dirty="0">
                <a:latin typeface="Consolas" panose="020B0609020204030204" pitchFamily="49" charset="0"/>
              </a:rPr>
              <a:t> != 0)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 |= 0x800000;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207" y="2717447"/>
            <a:ext cx="5382871" cy="377098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文本框 8"/>
          <p:cNvSpPr txBox="1"/>
          <p:nvPr/>
        </p:nvSpPr>
        <p:spPr>
          <a:xfrm>
            <a:off x="6011917" y="806740"/>
            <a:ext cx="48242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提取符号、阶码、尾数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366346"/>
            <a:ext cx="9291145" cy="526297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uint32_t internal_float_add(uint32_t b, uint32_t a) </a:t>
            </a:r>
            <a:r>
              <a:rPr lang="en-US" altLang="zh-CN" sz="2400" dirty="0">
                <a:latin typeface="Consolas" panose="020B0609020204030204" pitchFamily="49" charset="0"/>
              </a:rPr>
              <a:t>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FLOAT f, fa, fb;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fa.val</a:t>
            </a:r>
            <a:r>
              <a:rPr lang="en-US" altLang="zh-CN" sz="2400" dirty="0">
                <a:latin typeface="Consolas" panose="020B0609020204030204" pitchFamily="49" charset="0"/>
              </a:rPr>
              <a:t> = a;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fb.val</a:t>
            </a:r>
            <a:r>
              <a:rPr lang="en-US" altLang="zh-CN" sz="2400" dirty="0">
                <a:latin typeface="Consolas" panose="020B0609020204030204" pitchFamily="49" charset="0"/>
              </a:rPr>
              <a:t> = 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uint32_t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latin typeface="Consolas" panose="020B0609020204030204" pitchFamily="49" charset="0"/>
              </a:rPr>
              <a:t>sig_res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= </a:t>
            </a:r>
            <a:r>
              <a:rPr lang="en-US" altLang="zh-CN" sz="2400" dirty="0" err="1">
                <a:latin typeface="Consolas" panose="020B0609020204030204" pitchFamily="49" charset="0"/>
              </a:rPr>
              <a:t>fa.fraction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if (</a:t>
            </a:r>
            <a:r>
              <a:rPr lang="en-US" altLang="zh-CN" sz="2400" dirty="0" err="1">
                <a:latin typeface="Consolas" panose="020B0609020204030204" pitchFamily="49" charset="0"/>
              </a:rPr>
              <a:t>fa.exponent</a:t>
            </a:r>
            <a:r>
              <a:rPr lang="en-US" altLang="zh-CN" sz="2400" dirty="0">
                <a:latin typeface="Consolas" panose="020B0609020204030204" pitchFamily="49" charset="0"/>
              </a:rPr>
              <a:t> != 0)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|= 0x800000;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 = </a:t>
            </a:r>
            <a:r>
              <a:rPr lang="en-US" altLang="zh-CN" sz="2400" dirty="0" err="1">
                <a:latin typeface="Consolas" panose="020B0609020204030204" pitchFamily="49" charset="0"/>
              </a:rPr>
              <a:t>fb.fraction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if (</a:t>
            </a:r>
            <a:r>
              <a:rPr lang="en-US" altLang="zh-CN" sz="2400" dirty="0" err="1">
                <a:latin typeface="Consolas" panose="020B0609020204030204" pitchFamily="49" charset="0"/>
              </a:rPr>
              <a:t>fb.exponent</a:t>
            </a:r>
            <a:r>
              <a:rPr lang="en-US" altLang="zh-CN" sz="2400" dirty="0">
                <a:latin typeface="Consolas" panose="020B0609020204030204" pitchFamily="49" charset="0"/>
              </a:rPr>
              <a:t> != 0)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 |= 0x800000;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1917" y="806740"/>
            <a:ext cx="48242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490205" y="4550228"/>
          <a:ext cx="4918029" cy="914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857"/>
                <a:gridCol w="827314"/>
                <a:gridCol w="2775858"/>
              </a:tblGrid>
              <a:tr h="9144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0 … 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1/0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fraction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7216920" y="3016237"/>
            <a:ext cx="3198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uint32_t </a:t>
            </a:r>
            <a:r>
              <a:rPr lang="en-US" altLang="zh-CN" sz="3200" dirty="0" err="1"/>
              <a:t>sig_x</a:t>
            </a:r>
            <a:endParaRPr lang="zh-CN" altLang="en-US" sz="3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6577293" y="3972578"/>
            <a:ext cx="1099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8 bits</a:t>
            </a:r>
            <a:endParaRPr lang="zh-CN" altLang="en-US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7641275" y="3972578"/>
            <a:ext cx="1099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 bit</a:t>
            </a:r>
            <a:endParaRPr lang="zh-CN" altLang="en-US" sz="2800" dirty="0"/>
          </a:p>
        </p:txBody>
      </p:sp>
      <p:sp>
        <p:nvSpPr>
          <p:cNvPr id="13" name="文本框 12"/>
          <p:cNvSpPr txBox="1"/>
          <p:nvPr/>
        </p:nvSpPr>
        <p:spPr>
          <a:xfrm>
            <a:off x="9550565" y="3972578"/>
            <a:ext cx="156357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23 bits</a:t>
            </a:r>
            <a:endParaRPr lang="zh-CN" altLang="en-US" sz="2800" dirty="0"/>
          </a:p>
        </p:txBody>
      </p:sp>
      <p:sp>
        <p:nvSpPr>
          <p:cNvPr id="14" name="右大括号 13"/>
          <p:cNvSpPr/>
          <p:nvPr/>
        </p:nvSpPr>
        <p:spPr>
          <a:xfrm rot="16200000">
            <a:off x="8659499" y="1790965"/>
            <a:ext cx="294099" cy="4134759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491261" y="5339959"/>
            <a:ext cx="249471" cy="2494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025427" y="5802535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小数点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20" name="肘形连接符 19"/>
          <p:cNvCxnSpPr>
            <a:stCxn id="18" idx="1"/>
            <a:endCxn id="17" idx="4"/>
          </p:cNvCxnSpPr>
          <p:nvPr/>
        </p:nvCxnSpPr>
        <p:spPr>
          <a:xfrm rot="10800000">
            <a:off x="8615997" y="5589430"/>
            <a:ext cx="409430" cy="44393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71844" y="1948934"/>
            <a:ext cx="10240304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uint32_t internal_float_add(uint32_t b, uint32_t a)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{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1. </a:t>
            </a:r>
            <a:r>
              <a:rPr lang="zh-CN" altLang="en-US" sz="2800" dirty="0">
                <a:latin typeface="Consolas" panose="020B0609020204030204" pitchFamily="49" charset="0"/>
              </a:rPr>
              <a:t>处理边界情况（</a:t>
            </a:r>
            <a:r>
              <a:rPr lang="en-US" altLang="zh-CN" sz="2800" dirty="0" err="1">
                <a:latin typeface="Consolas" panose="020B0609020204030204" pitchFamily="49" charset="0"/>
              </a:rPr>
              <a:t>NaN</a:t>
            </a:r>
            <a:r>
              <a:rPr lang="zh-CN" altLang="en-US" sz="2800" dirty="0"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latin typeface="Consolas" panose="020B0609020204030204" pitchFamily="49" charset="0"/>
              </a:rPr>
              <a:t>0</a:t>
            </a:r>
            <a:r>
              <a:rPr lang="zh-CN" altLang="en-US" sz="2800" dirty="0"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latin typeface="Consolas" panose="020B0609020204030204" pitchFamily="49" charset="0"/>
              </a:rPr>
              <a:t>INF</a:t>
            </a:r>
            <a:r>
              <a:rPr lang="zh-CN" altLang="en-US" sz="2800" dirty="0">
                <a:latin typeface="Consolas" panose="020B0609020204030204" pitchFamily="49" charset="0"/>
              </a:rPr>
              <a:t>）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2. </a:t>
            </a:r>
            <a:r>
              <a:rPr lang="zh-CN" altLang="en-US" sz="2800" dirty="0">
                <a:latin typeface="Consolas" panose="020B0609020204030204" pitchFamily="49" charset="0"/>
              </a:rPr>
              <a:t>提取符号、阶码、尾数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rgbClr val="C00000"/>
                </a:solidFill>
                <a:latin typeface="Consolas" panose="020B0609020204030204" pitchFamily="49" charset="0"/>
              </a:rPr>
              <a:t>    3. </a:t>
            </a:r>
            <a:r>
              <a:rPr lang="zh-CN" altLang="en-US" sz="2800" dirty="0">
                <a:solidFill>
                  <a:srgbClr val="C00000"/>
                </a:solidFill>
                <a:latin typeface="Consolas" panose="020B0609020204030204" pitchFamily="49" charset="0"/>
              </a:rPr>
              <a:t>整数运算得到中间结果</a:t>
            </a:r>
            <a:endParaRPr lang="en-US" altLang="zh-CN" sz="28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4. </a:t>
            </a:r>
            <a:r>
              <a:rPr lang="zh-CN" altLang="en-US" sz="2800" dirty="0">
                <a:latin typeface="Consolas" panose="020B0609020204030204" pitchFamily="49" charset="0"/>
              </a:rPr>
              <a:t>舍入并规格化后返回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}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整数运算得到中间结果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浮点数做加法（减法）的步骤</a:t>
            </a:r>
            <a:endParaRPr lang="en-US" altLang="zh-CN" dirty="0"/>
          </a:p>
          <a:p>
            <a:pPr marL="971550" lvl="1" indent="-514350">
              <a:lnSpc>
                <a:spcPct val="200000"/>
              </a:lnSpc>
              <a:buAutoNum type="arabicPeriod"/>
            </a:pPr>
            <a:r>
              <a:rPr lang="zh-CN" altLang="en-US" sz="2800" dirty="0"/>
              <a:t>对阶：小阶向大阶看齐</a:t>
            </a:r>
            <a:endParaRPr lang="en-US" altLang="zh-CN" sz="2800" dirty="0"/>
          </a:p>
          <a:p>
            <a:pPr marL="971550" lvl="1" indent="-514350">
              <a:lnSpc>
                <a:spcPct val="200000"/>
              </a:lnSpc>
              <a:buAutoNum type="arabicPeriod"/>
            </a:pPr>
            <a:endParaRPr lang="en-US" altLang="zh-CN" sz="2800" dirty="0"/>
          </a:p>
          <a:p>
            <a:pPr marL="971550" lvl="1" indent="-514350">
              <a:lnSpc>
                <a:spcPct val="200000"/>
              </a:lnSpc>
              <a:buAutoNum type="arabicPeriod"/>
            </a:pPr>
            <a:r>
              <a:rPr lang="zh-CN" altLang="en-US" sz="2800" dirty="0"/>
              <a:t>尾数相加（相减）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7944" y="1523999"/>
            <a:ext cx="5507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/>
              <a:t>1.1 x 2</a:t>
            </a:r>
            <a:r>
              <a:rPr lang="en-US" altLang="zh-CN" sz="4000" baseline="30000" dirty="0"/>
              <a:t>10</a:t>
            </a:r>
            <a:r>
              <a:rPr lang="en-US" altLang="zh-CN" sz="4000" dirty="0"/>
              <a:t>  +  1.11 x 2</a:t>
            </a:r>
            <a:r>
              <a:rPr lang="en-US" altLang="zh-CN" sz="4000" baseline="30000" dirty="0"/>
              <a:t>12</a:t>
            </a:r>
            <a:endParaRPr lang="zh-CN" altLang="en-US" sz="4000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整数运算得到中间结果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5615152" cy="482845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浮点数做加法（减法）的步骤</a:t>
            </a:r>
            <a:endParaRPr lang="en-US" altLang="zh-CN" dirty="0"/>
          </a:p>
          <a:p>
            <a:pPr marL="971550" lvl="1" indent="-514350">
              <a:lnSpc>
                <a:spcPct val="200000"/>
              </a:lnSpc>
              <a:buAutoNum type="arabicPeriod"/>
            </a:pPr>
            <a:r>
              <a:rPr lang="zh-CN" altLang="en-US" sz="2800" dirty="0">
                <a:solidFill>
                  <a:srgbClr val="C00000"/>
                </a:solidFill>
              </a:rPr>
              <a:t>对阶：小阶向大阶看齐</a:t>
            </a:r>
            <a:endParaRPr lang="en-US" altLang="zh-CN" sz="2800" dirty="0">
              <a:solidFill>
                <a:srgbClr val="C00000"/>
              </a:solidFill>
            </a:endParaRPr>
          </a:p>
          <a:p>
            <a:pPr marL="971550" lvl="1" indent="-514350">
              <a:lnSpc>
                <a:spcPct val="200000"/>
              </a:lnSpc>
              <a:buAutoNum type="arabicPeriod"/>
            </a:pPr>
            <a:endParaRPr lang="en-US" altLang="zh-CN" sz="2800" dirty="0"/>
          </a:p>
          <a:p>
            <a:pPr marL="971550" lvl="1" indent="-514350">
              <a:lnSpc>
                <a:spcPct val="200000"/>
              </a:lnSpc>
              <a:buAutoNum type="arabicPeriod"/>
            </a:pPr>
            <a:r>
              <a:rPr lang="zh-CN" altLang="en-US" sz="2800" dirty="0">
                <a:solidFill>
                  <a:srgbClr val="C00000"/>
                </a:solidFill>
              </a:rPr>
              <a:t>尾数相加（相减）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7944" y="1523999"/>
            <a:ext cx="5507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/>
              <a:t>1.1 x 2</a:t>
            </a:r>
            <a:r>
              <a:rPr lang="en-US" altLang="zh-CN" sz="4000" baseline="30000" dirty="0"/>
              <a:t>10</a:t>
            </a:r>
            <a:r>
              <a:rPr lang="en-US" altLang="zh-CN" sz="4000" dirty="0"/>
              <a:t>  +  1.11 x 2</a:t>
            </a:r>
            <a:r>
              <a:rPr lang="en-US" altLang="zh-CN" sz="4000" baseline="30000" dirty="0"/>
              <a:t>12</a:t>
            </a:r>
            <a:endParaRPr lang="zh-CN" altLang="en-US" sz="4000" baseline="30000" dirty="0"/>
          </a:p>
        </p:txBody>
      </p:sp>
      <p:sp>
        <p:nvSpPr>
          <p:cNvPr id="20" name="任意多边形 19"/>
          <p:cNvSpPr/>
          <p:nvPr/>
        </p:nvSpPr>
        <p:spPr>
          <a:xfrm>
            <a:off x="8639504" y="798786"/>
            <a:ext cx="2743200" cy="777766"/>
          </a:xfrm>
          <a:custGeom>
            <a:avLst/>
            <a:gdLst>
              <a:gd name="connsiteX0" fmla="*/ 0 w 2743200"/>
              <a:gd name="connsiteY0" fmla="*/ 830526 h 830526"/>
              <a:gd name="connsiteX1" fmla="*/ 1261242 w 2743200"/>
              <a:gd name="connsiteY1" fmla="*/ 208 h 830526"/>
              <a:gd name="connsiteX2" fmla="*/ 2743200 w 2743200"/>
              <a:gd name="connsiteY2" fmla="*/ 767464 h 830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3200" h="830526">
                <a:moveTo>
                  <a:pt x="0" y="830526"/>
                </a:moveTo>
                <a:cubicBezTo>
                  <a:pt x="402021" y="420622"/>
                  <a:pt x="804042" y="10718"/>
                  <a:pt x="1261242" y="208"/>
                </a:cubicBezTo>
                <a:cubicBezTo>
                  <a:pt x="1718442" y="-10302"/>
                  <a:pt x="2230821" y="378581"/>
                  <a:pt x="2743200" y="767464"/>
                </a:cubicBezTo>
              </a:path>
            </a:pathLst>
          </a:custGeom>
          <a:noFill/>
          <a:ln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9559159" y="798786"/>
            <a:ext cx="903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</a:rPr>
              <a:t>看齐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057400" y="3205656"/>
            <a:ext cx="396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小阶增加至大阶，同时尾数右移，保证对应真值不变</a:t>
            </a:r>
            <a:endParaRPr lang="zh-CN" altLang="en-US" sz="2400" dirty="0"/>
          </a:p>
        </p:txBody>
      </p:sp>
      <p:sp>
        <p:nvSpPr>
          <p:cNvPr id="23" name="文本框 22"/>
          <p:cNvSpPr txBox="1"/>
          <p:nvPr/>
        </p:nvSpPr>
        <p:spPr>
          <a:xfrm>
            <a:off x="6115450" y="2851713"/>
            <a:ext cx="6076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= 0.011 x 2</a:t>
            </a:r>
            <a:r>
              <a:rPr lang="en-US" altLang="zh-CN" sz="4000" baseline="30000" dirty="0"/>
              <a:t>12</a:t>
            </a:r>
            <a:r>
              <a:rPr lang="en-US" altLang="zh-CN" sz="4000" dirty="0"/>
              <a:t>  +  1.11 x 2</a:t>
            </a:r>
            <a:r>
              <a:rPr lang="en-US" altLang="zh-CN" sz="4000" baseline="30000" dirty="0"/>
              <a:t>12</a:t>
            </a:r>
            <a:endParaRPr lang="zh-CN" altLang="en-US" sz="4000" baseline="30000" dirty="0"/>
          </a:p>
        </p:txBody>
      </p:sp>
      <p:sp>
        <p:nvSpPr>
          <p:cNvPr id="24" name="下箭头 23"/>
          <p:cNvSpPr/>
          <p:nvPr/>
        </p:nvSpPr>
        <p:spPr>
          <a:xfrm>
            <a:off x="7756634" y="2264137"/>
            <a:ext cx="396766" cy="6093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127531" y="4272099"/>
            <a:ext cx="5680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= 10.001 x 2</a:t>
            </a:r>
            <a:r>
              <a:rPr lang="en-US" altLang="zh-CN" sz="4000" baseline="30000" dirty="0"/>
              <a:t>12</a:t>
            </a:r>
            <a:endParaRPr lang="zh-CN" altLang="en-US" sz="4000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5750" y="62448"/>
            <a:ext cx="11620500" cy="674030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uint32_t internal_float_add(uint32_t b, uint32_t a) </a:t>
            </a:r>
            <a:r>
              <a:rPr lang="en-US" altLang="zh-CN" sz="2400" dirty="0">
                <a:latin typeface="Consolas" panose="020B0609020204030204" pitchFamily="49" charset="0"/>
              </a:rPr>
              <a:t>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FLOAT f, fa, fb;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fa.val</a:t>
            </a:r>
            <a:r>
              <a:rPr lang="en-US" altLang="zh-CN" sz="2400" dirty="0">
                <a:latin typeface="Consolas" panose="020B0609020204030204" pitchFamily="49" charset="0"/>
              </a:rPr>
              <a:t> = a;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fb.val</a:t>
            </a:r>
            <a:r>
              <a:rPr lang="en-US" altLang="zh-CN" sz="2400" dirty="0">
                <a:latin typeface="Consolas" panose="020B0609020204030204" pitchFamily="49" charset="0"/>
              </a:rPr>
              <a:t> = 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if (</a:t>
            </a:r>
            <a:r>
              <a:rPr lang="en-US" altLang="zh-CN" sz="2400" dirty="0" err="1">
                <a:latin typeface="Consolas" panose="020B0609020204030204" pitchFamily="49" charset="0"/>
              </a:rPr>
              <a:t>fa.exponent</a:t>
            </a:r>
            <a:r>
              <a:rPr lang="en-US" altLang="zh-CN" sz="2400" dirty="0">
                <a:latin typeface="Consolas" panose="020B0609020204030204" pitchFamily="49" charset="0"/>
              </a:rPr>
              <a:t> &gt; </a:t>
            </a:r>
            <a:r>
              <a:rPr lang="en-US" altLang="zh-CN" sz="2400" dirty="0" err="1">
                <a:latin typeface="Consolas" panose="020B0609020204030204" pitchFamily="49" charset="0"/>
              </a:rPr>
              <a:t>fb.exponent</a:t>
            </a:r>
            <a:r>
              <a:rPr lang="en-US" altLang="zh-CN" sz="2400" dirty="0">
                <a:latin typeface="Consolas" panose="020B0609020204030204" pitchFamily="49" charset="0"/>
              </a:rPr>
              <a:t>) 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</a:rPr>
              <a:t>fa.val</a:t>
            </a:r>
            <a:r>
              <a:rPr lang="en-US" altLang="zh-CN" sz="2400" dirty="0">
                <a:latin typeface="Consolas" panose="020B0609020204030204" pitchFamily="49" charset="0"/>
              </a:rPr>
              <a:t> = 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</a:rPr>
              <a:t>fb.val</a:t>
            </a:r>
            <a:r>
              <a:rPr lang="en-US" altLang="zh-CN" sz="2400" dirty="0">
                <a:latin typeface="Consolas" panose="020B0609020204030204" pitchFamily="49" charset="0"/>
              </a:rPr>
              <a:t> = a;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// alignment shift for fa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uint32_t shift = 0;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/* TODO: shift = ? */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("\e[0;31mPlease implement me at </a:t>
            </a:r>
            <a:r>
              <a:rPr lang="en-US" altLang="zh-CN" sz="2400" dirty="0" err="1">
                <a:latin typeface="Consolas" panose="020B0609020204030204" pitchFamily="49" charset="0"/>
              </a:rPr>
              <a:t>fpu.c</a:t>
            </a:r>
            <a:r>
              <a:rPr lang="en-US" altLang="zh-CN" sz="2400" dirty="0">
                <a:latin typeface="Consolas" panose="020B0609020204030204" pitchFamily="49" charset="0"/>
              </a:rPr>
              <a:t>\e[0m\n");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assert(0);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assert(shift &gt;= 0);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01775" y="5751255"/>
            <a:ext cx="482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30310" y="827704"/>
            <a:ext cx="57759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对阶：小阶向大阶看齐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55710" y="3247213"/>
            <a:ext cx="53721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将移位的位数计算出来，将阶较小的数的尾数部分右移，计算</a:t>
            </a:r>
            <a:r>
              <a:rPr lang="en-US" altLang="zh-CN" sz="2800" dirty="0">
                <a:solidFill>
                  <a:srgbClr val="C00000"/>
                </a:solidFill>
              </a:rPr>
              <a:t>shift</a:t>
            </a:r>
            <a:r>
              <a:rPr lang="zh-CN" altLang="en-US" sz="2800" dirty="0">
                <a:solidFill>
                  <a:srgbClr val="C00000"/>
                </a:solidFill>
              </a:rPr>
              <a:t>时注意非规格化数的情形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71525" y="1914348"/>
            <a:ext cx="5372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</a:rPr>
              <a:t>fa</a:t>
            </a:r>
            <a:r>
              <a:rPr lang="zh-CN" altLang="en-US" sz="2800" dirty="0">
                <a:solidFill>
                  <a:srgbClr val="C00000"/>
                </a:solidFill>
              </a:rPr>
              <a:t>中保留阶较小的数</a:t>
            </a:r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en-US" altLang="zh-CN" sz="2800" dirty="0">
                <a:solidFill>
                  <a:srgbClr val="C00000"/>
                </a:solidFill>
              </a:rPr>
              <a:t>fb</a:t>
            </a:r>
            <a:r>
              <a:rPr lang="zh-CN" altLang="en-US" sz="2800" dirty="0">
                <a:solidFill>
                  <a:srgbClr val="C00000"/>
                </a:solidFill>
              </a:rPr>
              <a:t>中保留阶较大的数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对阶：小阶向大阶看齐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38200" y="3851728"/>
          <a:ext cx="4918029" cy="914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857"/>
                <a:gridCol w="827314"/>
                <a:gridCol w="2775858"/>
              </a:tblGrid>
              <a:tr h="9144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0 … 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1/0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fraction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564915" y="2317737"/>
            <a:ext cx="3198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uint32_t </a:t>
            </a:r>
            <a:r>
              <a:rPr lang="en-US" altLang="zh-CN" sz="3200" dirty="0" err="1"/>
              <a:t>sig_x</a:t>
            </a:r>
            <a:endParaRPr lang="zh-CN" altLang="en-US" sz="3200" dirty="0"/>
          </a:p>
        </p:txBody>
      </p:sp>
      <p:sp>
        <p:nvSpPr>
          <p:cNvPr id="9" name="文本框 8"/>
          <p:cNvSpPr txBox="1"/>
          <p:nvPr/>
        </p:nvSpPr>
        <p:spPr>
          <a:xfrm>
            <a:off x="925288" y="3274078"/>
            <a:ext cx="1099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8 bits</a:t>
            </a:r>
            <a:endParaRPr lang="zh-CN" altLang="en-US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1989270" y="3274078"/>
            <a:ext cx="1099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 bit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898560" y="3274078"/>
            <a:ext cx="156357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23 bits</a:t>
            </a:r>
            <a:endParaRPr lang="zh-CN" altLang="en-US" sz="2800" dirty="0"/>
          </a:p>
        </p:txBody>
      </p:sp>
      <p:sp>
        <p:nvSpPr>
          <p:cNvPr id="12" name="右大括号 11"/>
          <p:cNvSpPr/>
          <p:nvPr/>
        </p:nvSpPr>
        <p:spPr>
          <a:xfrm rot="16200000">
            <a:off x="3007494" y="1092465"/>
            <a:ext cx="294099" cy="4134759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839256" y="4641459"/>
            <a:ext cx="249471" cy="2494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373422" y="5104035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小数点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15" name="肘形连接符 14"/>
          <p:cNvCxnSpPr>
            <a:stCxn id="14" idx="1"/>
            <a:endCxn id="13" idx="4"/>
          </p:cNvCxnSpPr>
          <p:nvPr/>
        </p:nvCxnSpPr>
        <p:spPr>
          <a:xfrm rot="10800000">
            <a:off x="2963992" y="4890930"/>
            <a:ext cx="409430" cy="44393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044042" y="5874828"/>
            <a:ext cx="2239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尾数（含隐藏位）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6271384" y="3851728"/>
            <a:ext cx="3825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latin typeface="Consolas" panose="020B0609020204030204" pitchFamily="49" charset="0"/>
              </a:rPr>
              <a:t>&gt;&gt; shift</a:t>
            </a:r>
            <a:endParaRPr lang="zh-CN" altLang="en-US" sz="4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对阶：小阶向大阶看齐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38200" y="3851728"/>
          <a:ext cx="4918029" cy="914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857"/>
                <a:gridCol w="827314"/>
                <a:gridCol w="2775858"/>
              </a:tblGrid>
              <a:tr h="9144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0 … 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1/0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fraction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564915" y="2317737"/>
            <a:ext cx="3198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uint32_t </a:t>
            </a:r>
            <a:r>
              <a:rPr lang="en-US" altLang="zh-CN" sz="3200" dirty="0" err="1"/>
              <a:t>sig_x</a:t>
            </a:r>
            <a:endParaRPr lang="zh-CN" altLang="en-US" sz="3200" dirty="0"/>
          </a:p>
        </p:txBody>
      </p:sp>
      <p:sp>
        <p:nvSpPr>
          <p:cNvPr id="9" name="文本框 8"/>
          <p:cNvSpPr txBox="1"/>
          <p:nvPr/>
        </p:nvSpPr>
        <p:spPr>
          <a:xfrm>
            <a:off x="925288" y="3274078"/>
            <a:ext cx="1099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8 bits</a:t>
            </a:r>
            <a:endParaRPr lang="zh-CN" altLang="en-US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1989270" y="3274078"/>
            <a:ext cx="1099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 bit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898560" y="3274078"/>
            <a:ext cx="156357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23 bits</a:t>
            </a:r>
            <a:endParaRPr lang="zh-CN" altLang="en-US" sz="2800" dirty="0"/>
          </a:p>
        </p:txBody>
      </p:sp>
      <p:sp>
        <p:nvSpPr>
          <p:cNvPr id="12" name="右大括号 11"/>
          <p:cNvSpPr/>
          <p:nvPr/>
        </p:nvSpPr>
        <p:spPr>
          <a:xfrm rot="16200000">
            <a:off x="3007494" y="1092465"/>
            <a:ext cx="294099" cy="4134759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839256" y="4641459"/>
            <a:ext cx="249471" cy="2494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373422" y="5104035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小数点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15" name="肘形连接符 14"/>
          <p:cNvCxnSpPr>
            <a:stCxn id="14" idx="1"/>
            <a:endCxn id="13" idx="4"/>
          </p:cNvCxnSpPr>
          <p:nvPr/>
        </p:nvCxnSpPr>
        <p:spPr>
          <a:xfrm rot="10800000">
            <a:off x="2963992" y="4890930"/>
            <a:ext cx="409430" cy="44393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044042" y="5874828"/>
            <a:ext cx="2239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尾数（含隐藏位）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6271384" y="3851728"/>
            <a:ext cx="3825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latin typeface="Consolas" panose="020B0609020204030204" pitchFamily="49" charset="0"/>
              </a:rPr>
              <a:t>&gt;&gt; shift</a:t>
            </a:r>
            <a:endParaRPr lang="zh-CN" altLang="en-US" sz="4800" dirty="0"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85905" y="2768285"/>
            <a:ext cx="60100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丢弃移出的位？精度的严重损失</a:t>
            </a:r>
            <a:endParaRPr lang="en-US" altLang="zh-CN" sz="3200" dirty="0"/>
          </a:p>
          <a:p>
            <a:r>
              <a:rPr lang="en-US" altLang="zh-CN" sz="3200" dirty="0"/>
              <a:t>shift &gt;= 24?</a:t>
            </a:r>
            <a:endParaRPr lang="en-US" altLang="zh-CN" sz="3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4726305" y="30283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对阶：小阶向大阶看齐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38200" y="3851728"/>
          <a:ext cx="4918029" cy="914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857"/>
                <a:gridCol w="827314"/>
                <a:gridCol w="2775858"/>
              </a:tblGrid>
              <a:tr h="9144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0 … 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1/0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fraction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564915" y="2317737"/>
            <a:ext cx="3198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uint32_t </a:t>
            </a:r>
            <a:r>
              <a:rPr lang="en-US" altLang="zh-CN" sz="3200" dirty="0" err="1"/>
              <a:t>sig_x</a:t>
            </a:r>
            <a:endParaRPr lang="zh-CN" altLang="en-US" sz="3200" dirty="0"/>
          </a:p>
        </p:txBody>
      </p:sp>
      <p:sp>
        <p:nvSpPr>
          <p:cNvPr id="9" name="文本框 8"/>
          <p:cNvSpPr txBox="1"/>
          <p:nvPr/>
        </p:nvSpPr>
        <p:spPr>
          <a:xfrm>
            <a:off x="925288" y="3274078"/>
            <a:ext cx="1099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8 bits</a:t>
            </a:r>
            <a:endParaRPr lang="zh-CN" altLang="en-US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1989270" y="3274078"/>
            <a:ext cx="1099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 bit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898560" y="3274078"/>
            <a:ext cx="156357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23 bits</a:t>
            </a:r>
            <a:endParaRPr lang="zh-CN" altLang="en-US" sz="2800" dirty="0"/>
          </a:p>
        </p:txBody>
      </p:sp>
      <p:sp>
        <p:nvSpPr>
          <p:cNvPr id="12" name="右大括号 11"/>
          <p:cNvSpPr/>
          <p:nvPr/>
        </p:nvSpPr>
        <p:spPr>
          <a:xfrm rot="16200000">
            <a:off x="3007494" y="1092465"/>
            <a:ext cx="294099" cy="4134759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839256" y="4641459"/>
            <a:ext cx="249471" cy="2494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373422" y="5104035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小数点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15" name="肘形连接符 14"/>
          <p:cNvCxnSpPr>
            <a:stCxn id="14" idx="1"/>
            <a:endCxn id="13" idx="4"/>
          </p:cNvCxnSpPr>
          <p:nvPr/>
        </p:nvCxnSpPr>
        <p:spPr>
          <a:xfrm rot="10800000">
            <a:off x="2963992" y="4890930"/>
            <a:ext cx="409430" cy="44393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044042" y="5874828"/>
            <a:ext cx="2239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尾数（含隐藏位）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6718300" y="3851728"/>
            <a:ext cx="914467" cy="9144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dirty="0"/>
              <a:t>G</a:t>
            </a:r>
            <a:endParaRPr lang="zh-CN" altLang="en-US" sz="4400" dirty="0"/>
          </a:p>
        </p:txBody>
      </p:sp>
      <p:sp>
        <p:nvSpPr>
          <p:cNvPr id="18" name="矩形 17"/>
          <p:cNvSpPr/>
          <p:nvPr/>
        </p:nvSpPr>
        <p:spPr>
          <a:xfrm>
            <a:off x="8001000" y="3851728"/>
            <a:ext cx="914467" cy="9144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dirty="0"/>
              <a:t>R</a:t>
            </a:r>
            <a:endParaRPr lang="zh-CN" altLang="en-US" sz="4400" dirty="0"/>
          </a:p>
        </p:txBody>
      </p:sp>
      <p:sp>
        <p:nvSpPr>
          <p:cNvPr id="19" name="矩形 18"/>
          <p:cNvSpPr/>
          <p:nvPr/>
        </p:nvSpPr>
        <p:spPr>
          <a:xfrm>
            <a:off x="9283700" y="3857687"/>
            <a:ext cx="914467" cy="91446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dirty="0"/>
              <a:t>S</a:t>
            </a:r>
            <a:endParaRPr lang="zh-CN" altLang="en-US" sz="4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6578683" y="3067198"/>
            <a:ext cx="2108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保护位</a:t>
            </a:r>
            <a:endParaRPr lang="zh-CN" altLang="en-US" sz="3600" dirty="0"/>
          </a:p>
        </p:txBody>
      </p:sp>
      <p:sp>
        <p:nvSpPr>
          <p:cNvPr id="21" name="文本框 20"/>
          <p:cNvSpPr txBox="1"/>
          <p:nvPr/>
        </p:nvSpPr>
        <p:spPr>
          <a:xfrm>
            <a:off x="7759783" y="4890930"/>
            <a:ext cx="2108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舍入位</a:t>
            </a:r>
            <a:endParaRPr lang="zh-CN" altLang="en-US" sz="3600" dirty="0"/>
          </a:p>
        </p:txBody>
      </p:sp>
      <p:sp>
        <p:nvSpPr>
          <p:cNvPr id="22" name="文本框 21"/>
          <p:cNvSpPr txBox="1"/>
          <p:nvPr/>
        </p:nvSpPr>
        <p:spPr>
          <a:xfrm>
            <a:off x="9144083" y="3063296"/>
            <a:ext cx="2108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粘位</a:t>
            </a:r>
            <a:endParaRPr lang="zh-CN" altLang="en-US" sz="3600" dirty="0"/>
          </a:p>
        </p:txBody>
      </p:sp>
      <p:sp>
        <p:nvSpPr>
          <p:cNvPr id="23" name="文本框 22"/>
          <p:cNvSpPr txBox="1"/>
          <p:nvPr/>
        </p:nvSpPr>
        <p:spPr>
          <a:xfrm>
            <a:off x="5756229" y="3893462"/>
            <a:ext cx="923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latin typeface="Consolas" panose="020B0609020204030204" pitchFamily="49" charset="0"/>
              </a:rPr>
              <a:t>&gt;&gt;</a:t>
            </a:r>
            <a:endParaRPr lang="zh-CN" altLang="en-US" sz="4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5750" y="62448"/>
            <a:ext cx="11620500" cy="674030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uint32_t internal_float_add(uint32_t b, uint32_t a) </a:t>
            </a:r>
            <a:r>
              <a:rPr lang="en-US" altLang="zh-CN" sz="2400" dirty="0">
                <a:latin typeface="Consolas" panose="020B0609020204030204" pitchFamily="49" charset="0"/>
              </a:rPr>
              <a:t>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FLOAT f, fa, fb;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fa.val</a:t>
            </a:r>
            <a:r>
              <a:rPr lang="en-US" altLang="zh-CN" sz="2400" dirty="0">
                <a:latin typeface="Consolas" panose="020B0609020204030204" pitchFamily="49" charset="0"/>
              </a:rPr>
              <a:t> = a;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fb.val</a:t>
            </a:r>
            <a:r>
              <a:rPr lang="en-US" altLang="zh-CN" sz="2400" dirty="0">
                <a:latin typeface="Consolas" panose="020B0609020204030204" pitchFamily="49" charset="0"/>
              </a:rPr>
              <a:t> = 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= (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&lt;&lt; 3); // guard, round, sticky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 = (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 &lt;&lt; 3);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01775" y="5751255"/>
            <a:ext cx="482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30310" y="827704"/>
            <a:ext cx="57759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对阶：小阶向大阶看齐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30310" y="2391402"/>
            <a:ext cx="537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尾数左移留出</a:t>
            </a:r>
            <a:r>
              <a:rPr lang="en-US" altLang="zh-CN" sz="2800" dirty="0">
                <a:solidFill>
                  <a:srgbClr val="C00000"/>
                </a:solidFill>
              </a:rPr>
              <a:t>GRS bits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834695" y="4587259"/>
          <a:ext cx="4918029" cy="914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857"/>
                <a:gridCol w="827314"/>
                <a:gridCol w="2775858"/>
              </a:tblGrid>
              <a:tr h="9144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0 … 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1/0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fraction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3960486" y="2980896"/>
            <a:ext cx="3198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uint32_t </a:t>
            </a:r>
            <a:r>
              <a:rPr lang="en-US" altLang="zh-CN" sz="3200" dirty="0" err="1"/>
              <a:t>sig_x</a:t>
            </a:r>
            <a:endParaRPr lang="zh-CN" altLang="en-US" sz="32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921783" y="4009609"/>
            <a:ext cx="1099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5 bits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985765" y="4009609"/>
            <a:ext cx="1099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 bit</a:t>
            </a:r>
            <a:endParaRPr lang="zh-CN" altLang="en-US" sz="2800" dirty="0"/>
          </a:p>
        </p:txBody>
      </p:sp>
      <p:sp>
        <p:nvSpPr>
          <p:cNvPr id="17" name="文本框 16"/>
          <p:cNvSpPr txBox="1"/>
          <p:nvPr/>
        </p:nvSpPr>
        <p:spPr>
          <a:xfrm>
            <a:off x="5427374" y="4029881"/>
            <a:ext cx="352391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23+3 = 26 bits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18" name="右大括号 17"/>
          <p:cNvSpPr/>
          <p:nvPr/>
        </p:nvSpPr>
        <p:spPr>
          <a:xfrm rot="16200000">
            <a:off x="5642843" y="189141"/>
            <a:ext cx="294099" cy="741246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835751" y="5376990"/>
            <a:ext cx="249471" cy="2494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369917" y="5839566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小数点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21" name="肘形连接符 20"/>
          <p:cNvCxnSpPr>
            <a:stCxn id="20" idx="1"/>
            <a:endCxn id="19" idx="4"/>
          </p:cNvCxnSpPr>
          <p:nvPr/>
        </p:nvCxnSpPr>
        <p:spPr>
          <a:xfrm rot="10800000">
            <a:off x="3960487" y="5626461"/>
            <a:ext cx="409430" cy="44393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6752724" y="4587259"/>
            <a:ext cx="914467" cy="9144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dirty="0"/>
              <a:t>G</a:t>
            </a:r>
            <a:endParaRPr lang="zh-CN" altLang="en-US" sz="4400" dirty="0"/>
          </a:p>
        </p:txBody>
      </p:sp>
      <p:sp>
        <p:nvSpPr>
          <p:cNvPr id="23" name="矩形 22"/>
          <p:cNvSpPr/>
          <p:nvPr/>
        </p:nvSpPr>
        <p:spPr>
          <a:xfrm>
            <a:off x="7667191" y="4587259"/>
            <a:ext cx="914467" cy="9144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dirty="0"/>
              <a:t>R</a:t>
            </a:r>
            <a:endParaRPr lang="zh-CN" altLang="en-US" sz="4400" dirty="0"/>
          </a:p>
        </p:txBody>
      </p:sp>
      <p:sp>
        <p:nvSpPr>
          <p:cNvPr id="24" name="矩形 23"/>
          <p:cNvSpPr/>
          <p:nvPr/>
        </p:nvSpPr>
        <p:spPr>
          <a:xfrm>
            <a:off x="8581658" y="4591491"/>
            <a:ext cx="914467" cy="91446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dirty="0"/>
              <a:t>S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5750" y="62448"/>
            <a:ext cx="11620500" cy="674030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uint32_t internal_float_add(uint32_t b, uint32_t a) </a:t>
            </a:r>
            <a:r>
              <a:rPr lang="en-US" altLang="zh-CN" sz="2400" dirty="0">
                <a:latin typeface="Consolas" panose="020B0609020204030204" pitchFamily="49" charset="0"/>
              </a:rPr>
              <a:t>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FLOAT f, fa, fb;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fa.val</a:t>
            </a:r>
            <a:r>
              <a:rPr lang="en-US" altLang="zh-CN" sz="2400" dirty="0">
                <a:latin typeface="Consolas" panose="020B0609020204030204" pitchFamily="49" charset="0"/>
              </a:rPr>
              <a:t> = a;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fb.val</a:t>
            </a:r>
            <a:r>
              <a:rPr lang="en-US" altLang="zh-CN" sz="2400" dirty="0">
                <a:latin typeface="Consolas" panose="020B0609020204030204" pitchFamily="49" charset="0"/>
              </a:rPr>
              <a:t> = 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= (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&lt;&lt; 3); // guard, round, sticky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 = (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 &lt;&lt; 3);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uint32_t sticky = 0;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while (shift &gt; 0)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sticky = sticky | (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&amp; 0x1);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=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&gt;&gt; 1;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|= sticky;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shift--;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01775" y="5751255"/>
            <a:ext cx="482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30310" y="827704"/>
            <a:ext cx="57759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对阶：小阶向大阶看齐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6000" y="4921003"/>
            <a:ext cx="537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尾数右移对阶，注意粘位的操作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30310" y="2391402"/>
            <a:ext cx="537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尾数左移留出</a:t>
            </a:r>
            <a:r>
              <a:rPr lang="en-US" altLang="zh-CN" sz="2800" dirty="0">
                <a:solidFill>
                  <a:srgbClr val="C00000"/>
                </a:solidFill>
              </a:rPr>
              <a:t>GRS bits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5750" y="62448"/>
            <a:ext cx="11620500" cy="674030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uint32_t internal_float_add(uint32_t b, uint32_t a) </a:t>
            </a:r>
            <a:r>
              <a:rPr lang="en-US" altLang="zh-CN" sz="2400" dirty="0">
                <a:latin typeface="Consolas" panose="020B0609020204030204" pitchFamily="49" charset="0"/>
              </a:rPr>
              <a:t>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FLOAT f, fa, fb;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fa.val</a:t>
            </a:r>
            <a:r>
              <a:rPr lang="en-US" altLang="zh-CN" sz="2400" dirty="0">
                <a:latin typeface="Consolas" panose="020B0609020204030204" pitchFamily="49" charset="0"/>
              </a:rPr>
              <a:t> = a;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fb.val</a:t>
            </a:r>
            <a:r>
              <a:rPr lang="en-US" altLang="zh-CN" sz="2400" dirty="0">
                <a:latin typeface="Consolas" panose="020B0609020204030204" pitchFamily="49" charset="0"/>
              </a:rPr>
              <a:t> = b;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if (</a:t>
            </a:r>
            <a:r>
              <a:rPr lang="en-US" altLang="zh-CN" sz="2400" dirty="0" err="1">
                <a:latin typeface="Consolas" panose="020B0609020204030204" pitchFamily="49" charset="0"/>
              </a:rPr>
              <a:t>fa.sign</a:t>
            </a:r>
            <a:r>
              <a:rPr lang="en-US" altLang="zh-CN" sz="2400" dirty="0">
                <a:latin typeface="Consolas" panose="020B0609020204030204" pitchFamily="49" charset="0"/>
              </a:rPr>
              <a:t>) {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*= -1; 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if (</a:t>
            </a:r>
            <a:r>
              <a:rPr lang="en-US" altLang="zh-CN" sz="2400" dirty="0" err="1">
                <a:latin typeface="Consolas" panose="020B0609020204030204" pitchFamily="49" charset="0"/>
              </a:rPr>
              <a:t>fb.sign</a:t>
            </a:r>
            <a:r>
              <a:rPr lang="en-US" altLang="zh-CN" sz="2400" dirty="0">
                <a:latin typeface="Consolas" panose="020B0609020204030204" pitchFamily="49" charset="0"/>
              </a:rPr>
              <a:t>) { 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 *= -1; 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sig_res</a:t>
            </a:r>
            <a:r>
              <a:rPr lang="en-US" altLang="zh-CN" sz="2400" dirty="0">
                <a:latin typeface="Consolas" panose="020B0609020204030204" pitchFamily="49" charset="0"/>
              </a:rPr>
              <a:t> =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+ 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if (sign(</a:t>
            </a:r>
            <a:r>
              <a:rPr lang="en-US" altLang="zh-CN" sz="2400" dirty="0" err="1">
                <a:latin typeface="Consolas" panose="020B0609020204030204" pitchFamily="49" charset="0"/>
              </a:rPr>
              <a:t>sig_res</a:t>
            </a:r>
            <a:r>
              <a:rPr lang="en-US" altLang="zh-CN" sz="2400" dirty="0">
                <a:latin typeface="Consolas" panose="020B0609020204030204" pitchFamily="49" charset="0"/>
              </a:rPr>
              <a:t>)) 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</a:rPr>
              <a:t>f.sign</a:t>
            </a:r>
            <a:r>
              <a:rPr lang="en-US" altLang="zh-CN" sz="2400" dirty="0">
                <a:latin typeface="Consolas" panose="020B0609020204030204" pitchFamily="49" charset="0"/>
              </a:rPr>
              <a:t> = 1;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</a:rPr>
              <a:t>sig_res</a:t>
            </a:r>
            <a:r>
              <a:rPr lang="en-US" altLang="zh-CN" sz="2400" dirty="0">
                <a:latin typeface="Consolas" panose="020B0609020204030204" pitchFamily="49" charset="0"/>
              </a:rPr>
              <a:t> *= -1;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else { </a:t>
            </a:r>
            <a:r>
              <a:rPr lang="en-US" altLang="zh-CN" sz="2400" dirty="0" err="1">
                <a:latin typeface="Consolas" panose="020B0609020204030204" pitchFamily="49" charset="0"/>
              </a:rPr>
              <a:t>f.sign</a:t>
            </a:r>
            <a:r>
              <a:rPr lang="en-US" altLang="zh-CN" sz="2400" dirty="0">
                <a:latin typeface="Consolas" panose="020B0609020204030204" pitchFamily="49" charset="0"/>
              </a:rPr>
              <a:t> = 0; 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01775" y="5751255"/>
            <a:ext cx="482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029153" y="680326"/>
            <a:ext cx="26981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尾数相加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77255" y="4481361"/>
            <a:ext cx="575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根据符号，尾数相加得到中间结果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整数运算得到中间结果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5615152" cy="482845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浮点数做加法（减法）的步骤</a:t>
            </a:r>
            <a:endParaRPr lang="en-US" altLang="zh-CN" dirty="0"/>
          </a:p>
          <a:p>
            <a:pPr marL="971550" lvl="1" indent="-514350">
              <a:lnSpc>
                <a:spcPct val="200000"/>
              </a:lnSpc>
              <a:buAutoNum type="arabicPeriod"/>
            </a:pPr>
            <a:r>
              <a:rPr lang="zh-CN" altLang="en-US" sz="2800" dirty="0"/>
              <a:t>对阶：小阶向大阶看齐</a:t>
            </a:r>
            <a:endParaRPr lang="en-US" altLang="zh-CN" sz="2800" dirty="0"/>
          </a:p>
          <a:p>
            <a:pPr marL="971550" lvl="1" indent="-514350">
              <a:lnSpc>
                <a:spcPct val="200000"/>
              </a:lnSpc>
              <a:buAutoNum type="arabicPeriod"/>
            </a:pPr>
            <a:endParaRPr lang="en-US" altLang="zh-CN" sz="2800" dirty="0"/>
          </a:p>
          <a:p>
            <a:pPr marL="971550" lvl="1" indent="-514350">
              <a:lnSpc>
                <a:spcPct val="200000"/>
              </a:lnSpc>
              <a:buAutoNum type="arabicPeriod"/>
            </a:pPr>
            <a:r>
              <a:rPr lang="zh-CN" altLang="en-US" sz="2800" dirty="0"/>
              <a:t>尾数相加（相减）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7944" y="1523999"/>
            <a:ext cx="5507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/>
              <a:t>1.1 x 2</a:t>
            </a:r>
            <a:r>
              <a:rPr lang="en-US" altLang="zh-CN" sz="4000" baseline="30000" dirty="0"/>
              <a:t>10</a:t>
            </a:r>
            <a:r>
              <a:rPr lang="en-US" altLang="zh-CN" sz="4000" dirty="0"/>
              <a:t>  +  1.11 x 2</a:t>
            </a:r>
            <a:r>
              <a:rPr lang="en-US" altLang="zh-CN" sz="4000" baseline="30000" dirty="0"/>
              <a:t>12</a:t>
            </a:r>
            <a:endParaRPr lang="zh-CN" altLang="en-US" sz="4000" baseline="30000" dirty="0"/>
          </a:p>
        </p:txBody>
      </p:sp>
      <p:sp>
        <p:nvSpPr>
          <p:cNvPr id="22" name="文本框 21"/>
          <p:cNvSpPr txBox="1"/>
          <p:nvPr/>
        </p:nvSpPr>
        <p:spPr>
          <a:xfrm>
            <a:off x="2057400" y="3205656"/>
            <a:ext cx="396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小阶增加至大阶，同时尾数右移，保证对应真值不变</a:t>
            </a:r>
            <a:endParaRPr lang="zh-CN" altLang="en-US" sz="2400" dirty="0"/>
          </a:p>
        </p:txBody>
      </p:sp>
      <p:sp>
        <p:nvSpPr>
          <p:cNvPr id="23" name="文本框 22"/>
          <p:cNvSpPr txBox="1"/>
          <p:nvPr/>
        </p:nvSpPr>
        <p:spPr>
          <a:xfrm>
            <a:off x="6115450" y="2851713"/>
            <a:ext cx="6076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= 0.011 x 2</a:t>
            </a:r>
            <a:r>
              <a:rPr lang="en-US" altLang="zh-CN" sz="4000" baseline="30000" dirty="0"/>
              <a:t>12</a:t>
            </a:r>
            <a:r>
              <a:rPr lang="en-US" altLang="zh-CN" sz="4000" dirty="0"/>
              <a:t>  +  1.11 x 2</a:t>
            </a:r>
            <a:r>
              <a:rPr lang="en-US" altLang="zh-CN" sz="4000" baseline="30000" dirty="0"/>
              <a:t>12</a:t>
            </a:r>
            <a:endParaRPr lang="zh-CN" altLang="en-US" sz="4000" baseline="30000" dirty="0"/>
          </a:p>
        </p:txBody>
      </p:sp>
      <p:sp>
        <p:nvSpPr>
          <p:cNvPr id="24" name="下箭头 23"/>
          <p:cNvSpPr/>
          <p:nvPr/>
        </p:nvSpPr>
        <p:spPr>
          <a:xfrm>
            <a:off x="7756634" y="2264137"/>
            <a:ext cx="396766" cy="6093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127531" y="4272099"/>
            <a:ext cx="5680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= 10.001 x 2</a:t>
            </a:r>
            <a:r>
              <a:rPr lang="en-US" altLang="zh-CN" sz="4000" baseline="30000" dirty="0"/>
              <a:t>12</a:t>
            </a:r>
            <a:endParaRPr lang="zh-CN" altLang="en-US" sz="4000" baseline="30000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6670307" y="5091764"/>
            <a:ext cx="2695074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270531" y="5210987"/>
            <a:ext cx="33948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不符合</a:t>
            </a:r>
            <a:r>
              <a:rPr lang="en-US" altLang="zh-CN" sz="2800" dirty="0">
                <a:solidFill>
                  <a:srgbClr val="C00000"/>
                </a:solidFill>
              </a:rPr>
              <a:t>IEEE 754</a:t>
            </a:r>
            <a:r>
              <a:rPr lang="zh-CN" altLang="en-US" sz="2800" dirty="0">
                <a:solidFill>
                  <a:srgbClr val="C00000"/>
                </a:solidFill>
              </a:rPr>
              <a:t>标准</a:t>
            </a:r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zh-CN" altLang="en-US" sz="2800" dirty="0">
                <a:solidFill>
                  <a:srgbClr val="C00000"/>
                </a:solidFill>
              </a:rPr>
              <a:t>必须进行规格化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浮点数的运算模拟（基本流程）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71844" y="1948934"/>
            <a:ext cx="10634643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uint32_t internal_float_</a:t>
            </a:r>
            <a:r>
              <a:rPr lang="en-US" altLang="zh-CN" sz="2800" dirty="0">
                <a:latin typeface="Consolas" panose="020B0609020204030204" pitchFamily="49" charset="0"/>
              </a:rPr>
              <a:t>add</a:t>
            </a:r>
            <a:r>
              <a:rPr lang="zh-CN" altLang="en-US" sz="2800" dirty="0">
                <a:latin typeface="Consolas" panose="020B0609020204030204" pitchFamily="49" charset="0"/>
              </a:rPr>
              <a:t>(uint32_t b, uint32_t a)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{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1. </a:t>
            </a:r>
            <a:r>
              <a:rPr lang="zh-CN" altLang="en-US" sz="2800" dirty="0">
                <a:latin typeface="Consolas" panose="020B0609020204030204" pitchFamily="49" charset="0"/>
              </a:rPr>
              <a:t>处理边界情况（</a:t>
            </a:r>
            <a:r>
              <a:rPr lang="en-US" altLang="zh-CN" sz="2800" dirty="0" err="1">
                <a:latin typeface="Consolas" panose="020B0609020204030204" pitchFamily="49" charset="0"/>
              </a:rPr>
              <a:t>NaN</a:t>
            </a:r>
            <a:r>
              <a:rPr lang="zh-CN" altLang="en-US" sz="2800" dirty="0"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latin typeface="Consolas" panose="020B0609020204030204" pitchFamily="49" charset="0"/>
              </a:rPr>
              <a:t>0</a:t>
            </a:r>
            <a:r>
              <a:rPr lang="zh-CN" altLang="en-US" sz="2800" dirty="0"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latin typeface="Consolas" panose="020B0609020204030204" pitchFamily="49" charset="0"/>
              </a:rPr>
              <a:t>INF</a:t>
            </a:r>
            <a:r>
              <a:rPr lang="zh-CN" altLang="en-US" sz="2800" dirty="0">
                <a:latin typeface="Consolas" panose="020B0609020204030204" pitchFamily="49" charset="0"/>
              </a:rPr>
              <a:t>）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2. </a:t>
            </a:r>
            <a:r>
              <a:rPr lang="zh-CN" altLang="en-US" sz="2800" dirty="0">
                <a:latin typeface="Consolas" panose="020B0609020204030204" pitchFamily="49" charset="0"/>
              </a:rPr>
              <a:t>提取符号、阶码、尾数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3. </a:t>
            </a:r>
            <a:r>
              <a:rPr lang="zh-CN" altLang="en-US" sz="2800" dirty="0">
                <a:latin typeface="Consolas" panose="020B0609020204030204" pitchFamily="49" charset="0"/>
              </a:rPr>
              <a:t>整数运算得到中间结果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rgbClr val="C00000"/>
                </a:solidFill>
                <a:latin typeface="Consolas" panose="020B0609020204030204" pitchFamily="49" charset="0"/>
              </a:rPr>
              <a:t>    4. </a:t>
            </a:r>
            <a:r>
              <a:rPr lang="zh-CN" altLang="en-US" sz="2800" dirty="0">
                <a:solidFill>
                  <a:srgbClr val="C00000"/>
                </a:solidFill>
                <a:latin typeface="Consolas" panose="020B0609020204030204" pitchFamily="49" charset="0"/>
              </a:rPr>
              <a:t>舍入并规格化后返回</a:t>
            </a:r>
            <a:endParaRPr lang="en-US" altLang="zh-CN" sz="28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}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规格化与舍入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4171" y="1194644"/>
            <a:ext cx="11876690" cy="156966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uint32_t internal_normalize(uint32_t sign,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                    </a:t>
            </a:r>
            <a:r>
              <a:rPr lang="zh-CN" altLang="en-US" sz="2400" dirty="0">
                <a:latin typeface="Consolas" panose="020B0609020204030204" pitchFamily="49" charset="0"/>
              </a:rPr>
              <a:t>int32_t exp,   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                    </a:t>
            </a:r>
            <a:r>
              <a:rPr lang="zh-CN" altLang="en-US" sz="2400" dirty="0">
                <a:latin typeface="Consolas" panose="020B0609020204030204" pitchFamily="49" charset="0"/>
              </a:rPr>
              <a:t>uint64_t sig_grs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                   </a:t>
            </a:r>
            <a:r>
              <a:rPr lang="zh-CN" altLang="en-US" sz="2400" dirty="0">
                <a:latin typeface="Consolas" panose="020B0609020204030204" pitchFamily="49" charset="0"/>
              </a:rPr>
              <a:t>)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367751" y="435003"/>
            <a:ext cx="482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规格化与舍入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4171" y="1194644"/>
            <a:ext cx="11876690" cy="156966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uint32_t </a:t>
            </a:r>
            <a:r>
              <a:rPr lang="zh-CN" altLang="en-US" sz="2400" dirty="0">
                <a:latin typeface="Consolas" panose="020B0609020204030204" pitchFamily="49" charset="0"/>
              </a:rPr>
              <a:t>internal_normalize(uint32_t sign,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结果的符号</a:t>
            </a:r>
            <a:r>
              <a:rPr lang="en-US" altLang="zh-CN" sz="2400" dirty="0">
                <a:latin typeface="Consolas" panose="020B0609020204030204" pitchFamily="49" charset="0"/>
              </a:rPr>
              <a:t>                            </a:t>
            </a:r>
            <a:endParaRPr lang="en-US" altLang="zh-CN" sz="24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                    </a:t>
            </a:r>
            <a:r>
              <a:rPr lang="zh-CN" altLang="en-US" sz="2400" dirty="0">
                <a:latin typeface="Consolas" panose="020B0609020204030204" pitchFamily="49" charset="0"/>
              </a:rPr>
              <a:t>int32_t exp,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中间结果阶数（含偏置常数，可能为负）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                    </a:t>
            </a:r>
            <a:r>
              <a:rPr lang="zh-CN" altLang="en-US" sz="2400" dirty="0">
                <a:latin typeface="Consolas" panose="020B0609020204030204" pitchFamily="49" charset="0"/>
              </a:rPr>
              <a:t>uint64_t sig_grs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中间结果尾数，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26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位小数</a:t>
            </a:r>
            <a:endParaRPr lang="en-US" altLang="zh-CN" sz="24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                       </a:t>
            </a:r>
            <a:r>
              <a:rPr lang="zh-CN" altLang="en-US" sz="2400" dirty="0">
                <a:latin typeface="Consolas" panose="020B0609020204030204" pitchFamily="49" charset="0"/>
              </a:rPr>
              <a:t>)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150380" y="4738969"/>
          <a:ext cx="4918029" cy="914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2171"/>
                <a:gridCol w="2775858"/>
              </a:tblGrid>
              <a:tr h="9144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整数部分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fraction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276171" y="3132606"/>
            <a:ext cx="3198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uint64_t </a:t>
            </a:r>
            <a:r>
              <a:rPr lang="en-US" altLang="zh-CN" sz="3200" dirty="0" err="1"/>
              <a:t>sig_grs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660973" y="4194135"/>
            <a:ext cx="137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38 bits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43059" y="4181591"/>
            <a:ext cx="352391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23+3 = 26 bits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13" name="右大括号 12"/>
          <p:cNvSpPr/>
          <p:nvPr/>
        </p:nvSpPr>
        <p:spPr>
          <a:xfrm rot="16200000">
            <a:off x="5830401" y="228637"/>
            <a:ext cx="310014" cy="7652809"/>
          </a:xfrm>
          <a:prstGeom prst="rightBrace">
            <a:avLst>
              <a:gd name="adj1" fmla="val 26768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151436" y="5528700"/>
            <a:ext cx="249471" cy="2494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685602" y="5991276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小数点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16" name="肘形连接符 15"/>
          <p:cNvCxnSpPr>
            <a:stCxn id="15" idx="1"/>
            <a:endCxn id="14" idx="4"/>
          </p:cNvCxnSpPr>
          <p:nvPr/>
        </p:nvCxnSpPr>
        <p:spPr>
          <a:xfrm rot="10800000">
            <a:off x="4276172" y="5778171"/>
            <a:ext cx="409430" cy="44393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7068409" y="4738969"/>
            <a:ext cx="914467" cy="9144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dirty="0"/>
              <a:t>G</a:t>
            </a:r>
            <a:endParaRPr lang="zh-CN" altLang="en-US" sz="4400" dirty="0"/>
          </a:p>
        </p:txBody>
      </p:sp>
      <p:sp>
        <p:nvSpPr>
          <p:cNvPr id="18" name="矩形 17"/>
          <p:cNvSpPr/>
          <p:nvPr/>
        </p:nvSpPr>
        <p:spPr>
          <a:xfrm>
            <a:off x="7982876" y="4738969"/>
            <a:ext cx="914467" cy="9144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dirty="0"/>
              <a:t>R</a:t>
            </a:r>
            <a:endParaRPr lang="zh-CN" altLang="en-US" sz="4400" dirty="0"/>
          </a:p>
        </p:txBody>
      </p:sp>
      <p:sp>
        <p:nvSpPr>
          <p:cNvPr id="19" name="矩形 18"/>
          <p:cNvSpPr/>
          <p:nvPr/>
        </p:nvSpPr>
        <p:spPr>
          <a:xfrm>
            <a:off x="8897343" y="4743201"/>
            <a:ext cx="914467" cy="91446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dirty="0"/>
              <a:t>S</a:t>
            </a:r>
            <a:endParaRPr lang="zh-CN" altLang="en-US" sz="4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7367751" y="435003"/>
            <a:ext cx="482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28600" y="1557592"/>
            <a:ext cx="1755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返回</a:t>
            </a:r>
            <a:r>
              <a:rPr lang="en-US" altLang="zh-CN" sz="2400" dirty="0">
                <a:solidFill>
                  <a:srgbClr val="C00000"/>
                </a:solidFill>
              </a:rPr>
              <a:t>IEEE 754</a:t>
            </a:r>
            <a:r>
              <a:rPr lang="zh-CN" altLang="en-US" sz="2400" dirty="0">
                <a:solidFill>
                  <a:srgbClr val="C00000"/>
                </a:solidFill>
              </a:rPr>
              <a:t>标准的浮点数编码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规格化与舍入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17715" y="1250032"/>
            <a:ext cx="12346276" cy="44627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300" dirty="0">
                <a:latin typeface="Consolas" panose="020B0609020204030204" pitchFamily="49" charset="0"/>
              </a:rPr>
              <a:t>uint32_t internal_normalize(uint32_t sign, </a:t>
            </a:r>
            <a:r>
              <a:rPr lang="en-US" altLang="zh-CN" sz="2300" dirty="0">
                <a:latin typeface="Consolas" panose="020B0609020204030204" pitchFamily="49" charset="0"/>
              </a:rPr>
              <a:t> </a:t>
            </a:r>
            <a:r>
              <a:rPr lang="zh-CN" altLang="en-US" sz="2300" dirty="0">
                <a:solidFill>
                  <a:schemeClr val="accent6"/>
                </a:solidFill>
                <a:latin typeface="Consolas" panose="020B0609020204030204" pitchFamily="49" charset="0"/>
              </a:rPr>
              <a:t>int32_t exp</a:t>
            </a:r>
            <a:r>
              <a:rPr lang="zh-CN" altLang="en-US" sz="2300" dirty="0">
                <a:latin typeface="Consolas" panose="020B0609020204030204" pitchFamily="49" charset="0"/>
              </a:rPr>
              <a:t>,</a:t>
            </a:r>
            <a:r>
              <a:rPr lang="en-US" altLang="zh-CN" sz="2300" dirty="0">
                <a:latin typeface="Consolas" panose="020B0609020204030204" pitchFamily="49" charset="0"/>
              </a:rPr>
              <a:t> </a:t>
            </a:r>
            <a:r>
              <a:rPr lang="zh-CN" altLang="en-US" sz="2300" dirty="0">
                <a:solidFill>
                  <a:srgbClr val="7030A0"/>
                </a:solidFill>
                <a:latin typeface="Consolas" panose="020B0609020204030204" pitchFamily="49" charset="0"/>
              </a:rPr>
              <a:t>uint64_t sig_grs</a:t>
            </a:r>
            <a:r>
              <a:rPr lang="zh-CN" altLang="en-US" sz="2300" dirty="0">
                <a:latin typeface="Consolas" panose="020B0609020204030204" pitchFamily="49" charset="0"/>
              </a:rPr>
              <a:t>)</a:t>
            </a:r>
            <a:endParaRPr lang="zh-CN" altLang="en-US" sz="23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89171" y="651360"/>
            <a:ext cx="5442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对于加减法，中间结果</a:t>
            </a:r>
            <a:r>
              <a:rPr lang="en-US" altLang="zh-CN" sz="2800" dirty="0" err="1">
                <a:solidFill>
                  <a:srgbClr val="C00000"/>
                </a:solidFill>
              </a:rPr>
              <a:t>exp</a:t>
            </a:r>
            <a:r>
              <a:rPr lang="en-US" altLang="zh-CN" sz="2800" dirty="0">
                <a:solidFill>
                  <a:srgbClr val="C00000"/>
                </a:solidFill>
              </a:rPr>
              <a:t> &gt;= 0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012370" y="2505870"/>
            <a:ext cx="12518570" cy="206210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4"/>
            <a:r>
              <a:rPr lang="en-US" altLang="zh-CN" sz="3200" b="1" dirty="0"/>
              <a:t>Case 1</a:t>
            </a:r>
            <a:r>
              <a:rPr lang="en-US" altLang="zh-CN" sz="3200" dirty="0"/>
              <a:t>: </a:t>
            </a:r>
            <a:r>
              <a:rPr lang="en-US" altLang="zh-CN" sz="3200" dirty="0" err="1">
                <a:solidFill>
                  <a:srgbClr val="00B050"/>
                </a:solidFill>
              </a:rPr>
              <a:t>exp</a:t>
            </a:r>
            <a:r>
              <a:rPr lang="en-US" altLang="zh-CN" sz="3200" dirty="0">
                <a:solidFill>
                  <a:srgbClr val="00B050"/>
                </a:solidFill>
              </a:rPr>
              <a:t> &gt; 0</a:t>
            </a:r>
            <a:r>
              <a:rPr lang="zh-CN" altLang="en-US" sz="3200" dirty="0"/>
              <a:t>，且</a:t>
            </a:r>
            <a:r>
              <a:rPr lang="zh-CN" altLang="en-US" sz="3200" dirty="0" smtClean="0"/>
              <a:t>，</a:t>
            </a:r>
            <a:r>
              <a:rPr lang="en-US" altLang="zh-CN" sz="3200" dirty="0">
                <a:solidFill>
                  <a:srgbClr val="7030A0"/>
                </a:solidFill>
              </a:rPr>
              <a:t> </a:t>
            </a:r>
            <a:r>
              <a:rPr lang="en-US" altLang="zh-CN" sz="3200" dirty="0" err="1">
                <a:solidFill>
                  <a:srgbClr val="7030A0"/>
                </a:solidFill>
              </a:rPr>
              <a:t>sig_grs</a:t>
            </a:r>
            <a:r>
              <a:rPr lang="en-US" altLang="zh-CN" sz="3200" dirty="0">
                <a:solidFill>
                  <a:srgbClr val="7030A0"/>
                </a:solidFill>
              </a:rPr>
              <a:t> &gt;&gt; 26 &gt; 1</a:t>
            </a:r>
            <a:r>
              <a:rPr lang="en-US" altLang="zh-CN" sz="3200" dirty="0"/>
              <a:t> </a:t>
            </a:r>
            <a:endParaRPr lang="en-US" altLang="zh-CN" sz="3200" dirty="0"/>
          </a:p>
          <a:p>
            <a:pPr lvl="5"/>
            <a:r>
              <a:rPr lang="zh-CN" altLang="en-US" sz="3200" dirty="0" smtClean="0"/>
              <a:t>操作</a:t>
            </a:r>
            <a:r>
              <a:rPr lang="zh-CN" altLang="en-US" sz="3200" dirty="0"/>
              <a:t>：将尾数右移</a:t>
            </a:r>
            <a:r>
              <a:rPr lang="en-US" altLang="zh-CN" sz="3200" dirty="0"/>
              <a:t>1</a:t>
            </a:r>
            <a:r>
              <a:rPr lang="zh-CN" altLang="en-US" sz="3200" dirty="0"/>
              <a:t>位，</a:t>
            </a:r>
            <a:r>
              <a:rPr lang="en-US" altLang="zh-CN" sz="3200" dirty="0" err="1">
                <a:solidFill>
                  <a:srgbClr val="00B050"/>
                </a:solidFill>
              </a:rPr>
              <a:t>exp</a:t>
            </a:r>
            <a:r>
              <a:rPr lang="en-US" altLang="zh-CN" sz="3200" dirty="0">
                <a:solidFill>
                  <a:srgbClr val="00B050"/>
                </a:solidFill>
              </a:rPr>
              <a:t>++</a:t>
            </a:r>
            <a:r>
              <a:rPr lang="zh-CN" altLang="en-US" sz="3200" dirty="0"/>
              <a:t>，直至</a:t>
            </a:r>
            <a:r>
              <a:rPr lang="en-US" altLang="zh-CN" sz="3200" dirty="0" err="1">
                <a:solidFill>
                  <a:srgbClr val="7030A0"/>
                </a:solidFill>
              </a:rPr>
              <a:t>sig_grs</a:t>
            </a:r>
            <a:r>
              <a:rPr lang="en-US" altLang="zh-CN" sz="3200" dirty="0">
                <a:solidFill>
                  <a:srgbClr val="7030A0"/>
                </a:solidFill>
              </a:rPr>
              <a:t> &gt;&gt; 26 == 1</a:t>
            </a:r>
            <a:endParaRPr lang="en-US" altLang="zh-CN" sz="3200" dirty="0">
              <a:solidFill>
                <a:srgbClr val="7030A0"/>
              </a:solidFill>
            </a:endParaRPr>
          </a:p>
          <a:p>
            <a:pPr lvl="6"/>
            <a:r>
              <a:rPr lang="zh-CN" altLang="en-US" sz="3200" dirty="0"/>
              <a:t>注意</a:t>
            </a:r>
            <a:r>
              <a:rPr lang="en-US" altLang="zh-CN" sz="3200" dirty="0"/>
              <a:t>sticky bit</a:t>
            </a:r>
            <a:r>
              <a:rPr lang="zh-CN" altLang="en-US" sz="3200" dirty="0"/>
              <a:t>的操作</a:t>
            </a:r>
            <a:endParaRPr lang="en-US" altLang="zh-CN" sz="3200" dirty="0"/>
          </a:p>
          <a:p>
            <a:pPr lvl="5"/>
            <a:r>
              <a:rPr lang="zh-CN" altLang="en-US" sz="3200" dirty="0"/>
              <a:t>例外：</a:t>
            </a:r>
            <a:r>
              <a:rPr lang="en-US" altLang="zh-CN" sz="3200" dirty="0" err="1">
                <a:solidFill>
                  <a:srgbClr val="00B050"/>
                </a:solidFill>
              </a:rPr>
              <a:t>exp</a:t>
            </a:r>
            <a:r>
              <a:rPr lang="zh-CN" altLang="en-US" sz="3200" dirty="0"/>
              <a:t>加过了头（</a:t>
            </a:r>
            <a:r>
              <a:rPr lang="en-US" altLang="zh-CN" sz="3200" dirty="0">
                <a:solidFill>
                  <a:srgbClr val="00B050"/>
                </a:solidFill>
              </a:rPr>
              <a:t> &gt;= 0xFF</a:t>
            </a:r>
            <a:r>
              <a:rPr lang="zh-CN" altLang="en-US" sz="3200" dirty="0">
                <a:solidFill>
                  <a:srgbClr val="00B050"/>
                </a:solidFill>
              </a:rPr>
              <a:t>了</a:t>
            </a:r>
            <a:r>
              <a:rPr lang="zh-CN" altLang="en-US" sz="3200" dirty="0"/>
              <a:t>），阶码上溢</a:t>
            </a:r>
            <a:endParaRPr lang="en-US" altLang="zh-CN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规格化与舍入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17715" y="1250032"/>
            <a:ext cx="1234627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300" dirty="0">
                <a:latin typeface="Consolas" panose="020B0609020204030204" pitchFamily="49" charset="0"/>
              </a:rPr>
              <a:t>uint32_t internal_normalize(uint32_t sign, </a:t>
            </a:r>
            <a:r>
              <a:rPr lang="en-US" altLang="zh-CN" sz="2300" dirty="0">
                <a:latin typeface="Consolas" panose="020B0609020204030204" pitchFamily="49" charset="0"/>
              </a:rPr>
              <a:t> </a:t>
            </a:r>
            <a:r>
              <a:rPr lang="zh-CN" altLang="en-US" sz="2300" dirty="0">
                <a:solidFill>
                  <a:schemeClr val="accent6"/>
                </a:solidFill>
                <a:latin typeface="Consolas" panose="020B0609020204030204" pitchFamily="49" charset="0"/>
              </a:rPr>
              <a:t>int32_t exp</a:t>
            </a:r>
            <a:r>
              <a:rPr lang="zh-CN" altLang="en-US" sz="2300" dirty="0">
                <a:latin typeface="Consolas" panose="020B0609020204030204" pitchFamily="49" charset="0"/>
              </a:rPr>
              <a:t>,</a:t>
            </a:r>
            <a:r>
              <a:rPr lang="en-US" altLang="zh-CN" sz="2300" dirty="0">
                <a:latin typeface="Consolas" panose="020B0609020204030204" pitchFamily="49" charset="0"/>
              </a:rPr>
              <a:t> </a:t>
            </a:r>
            <a:r>
              <a:rPr lang="zh-CN" altLang="en-US" sz="2300" dirty="0">
                <a:solidFill>
                  <a:srgbClr val="7030A0"/>
                </a:solidFill>
                <a:latin typeface="Consolas" panose="020B0609020204030204" pitchFamily="49" charset="0"/>
              </a:rPr>
              <a:t>uint64_t sig_grs</a:t>
            </a:r>
            <a:r>
              <a:rPr lang="zh-CN" altLang="en-US" sz="2300" dirty="0">
                <a:latin typeface="Consolas" panose="020B0609020204030204" pitchFamily="49" charset="0"/>
              </a:rPr>
              <a:t>)</a:t>
            </a:r>
            <a:endParaRPr lang="zh-CN" altLang="en-US" sz="23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89171" y="651360"/>
            <a:ext cx="5442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对于加减法，中间结果</a:t>
            </a:r>
            <a:r>
              <a:rPr lang="en-US" altLang="zh-CN" sz="2800" dirty="0" err="1">
                <a:solidFill>
                  <a:srgbClr val="C00000"/>
                </a:solidFill>
              </a:rPr>
              <a:t>exp</a:t>
            </a:r>
            <a:r>
              <a:rPr lang="en-US" altLang="zh-CN" sz="2800" dirty="0">
                <a:solidFill>
                  <a:srgbClr val="C00000"/>
                </a:solidFill>
              </a:rPr>
              <a:t> &gt;= 0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710871" y="2300855"/>
            <a:ext cx="1371237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/>
            <a:r>
              <a:rPr lang="en-US" altLang="zh-CN" sz="3200" b="1" dirty="0"/>
              <a:t>Case 2</a:t>
            </a:r>
            <a:r>
              <a:rPr lang="en-US" altLang="zh-CN" sz="3200" dirty="0"/>
              <a:t>: </a:t>
            </a:r>
            <a:r>
              <a:rPr lang="en-US" altLang="zh-CN" sz="3200" dirty="0" err="1">
                <a:solidFill>
                  <a:srgbClr val="00B050"/>
                </a:solidFill>
              </a:rPr>
              <a:t>exp</a:t>
            </a:r>
            <a:r>
              <a:rPr lang="en-US" altLang="zh-CN" sz="3200" dirty="0">
                <a:solidFill>
                  <a:srgbClr val="00B050"/>
                </a:solidFill>
              </a:rPr>
              <a:t> &gt; 0</a:t>
            </a:r>
            <a:r>
              <a:rPr lang="zh-CN" altLang="en-US" sz="3200" dirty="0"/>
              <a:t>，且</a:t>
            </a:r>
            <a:r>
              <a:rPr lang="zh-CN" altLang="en-US" sz="3200" dirty="0" smtClean="0"/>
              <a:t>，</a:t>
            </a:r>
            <a:r>
              <a:rPr lang="en-US" altLang="zh-CN" sz="3200" dirty="0">
                <a:solidFill>
                  <a:srgbClr val="7030A0"/>
                </a:solidFill>
              </a:rPr>
              <a:t> </a:t>
            </a:r>
            <a:r>
              <a:rPr lang="en-US" altLang="zh-CN" sz="3200" dirty="0" err="1">
                <a:solidFill>
                  <a:srgbClr val="7030A0"/>
                </a:solidFill>
              </a:rPr>
              <a:t>sig_grs</a:t>
            </a:r>
            <a:r>
              <a:rPr lang="en-US" altLang="zh-CN" sz="3200" dirty="0">
                <a:solidFill>
                  <a:srgbClr val="7030A0"/>
                </a:solidFill>
              </a:rPr>
              <a:t> &gt;&gt; (23 + 3) == 0</a:t>
            </a:r>
            <a:r>
              <a:rPr lang="en-US" altLang="zh-CN" sz="3200" dirty="0" smtClean="0"/>
              <a:t>, </a:t>
            </a:r>
            <a:r>
              <a:rPr lang="zh-CN" altLang="en-US" sz="3200" dirty="0"/>
              <a:t>如：</a:t>
            </a:r>
            <a:r>
              <a:rPr lang="en-US" altLang="zh-CN" sz="3200" dirty="0"/>
              <a:t>1.x + (–1.0)</a:t>
            </a:r>
            <a:endParaRPr lang="en-US" altLang="zh-CN" sz="3200" dirty="0"/>
          </a:p>
          <a:p>
            <a:pPr lvl="5"/>
            <a:r>
              <a:rPr lang="zh-CN" altLang="en-US" sz="3200" smtClean="0"/>
              <a:t>操作</a:t>
            </a:r>
            <a:r>
              <a:rPr lang="zh-CN" altLang="en-US" sz="3200" dirty="0"/>
              <a:t>：尾数左移</a:t>
            </a:r>
            <a:r>
              <a:rPr lang="en-US" altLang="zh-CN" sz="3200" dirty="0"/>
              <a:t>1</a:t>
            </a:r>
            <a:r>
              <a:rPr lang="zh-CN" altLang="en-US" sz="3200" dirty="0"/>
              <a:t>位，</a:t>
            </a:r>
            <a:r>
              <a:rPr lang="en-US" altLang="zh-CN" sz="3200" dirty="0" err="1">
                <a:solidFill>
                  <a:srgbClr val="00B050"/>
                </a:solidFill>
              </a:rPr>
              <a:t>exp</a:t>
            </a:r>
            <a:r>
              <a:rPr lang="en-US" altLang="zh-CN" sz="3200" dirty="0">
                <a:solidFill>
                  <a:srgbClr val="00B050"/>
                </a:solidFill>
              </a:rPr>
              <a:t>--</a:t>
            </a:r>
            <a:r>
              <a:rPr lang="zh-CN" altLang="en-US" sz="3200" dirty="0"/>
              <a:t>，直至</a:t>
            </a:r>
            <a:r>
              <a:rPr lang="en-US" altLang="zh-CN" sz="3200" dirty="0" err="1">
                <a:solidFill>
                  <a:srgbClr val="7030A0"/>
                </a:solidFill>
              </a:rPr>
              <a:t>sig_grs</a:t>
            </a:r>
            <a:r>
              <a:rPr lang="en-US" altLang="zh-CN" sz="3200" dirty="0">
                <a:solidFill>
                  <a:srgbClr val="7030A0"/>
                </a:solidFill>
              </a:rPr>
              <a:t> &gt;&gt; 26 == 1</a:t>
            </a:r>
            <a:endParaRPr lang="en-US" altLang="zh-CN" sz="3200" dirty="0">
              <a:solidFill>
                <a:srgbClr val="7030A0"/>
              </a:solidFill>
            </a:endParaRPr>
          </a:p>
          <a:p>
            <a:pPr lvl="5"/>
            <a:r>
              <a:rPr lang="zh-CN" altLang="en-US" sz="3200" dirty="0"/>
              <a:t>例外：</a:t>
            </a:r>
            <a:r>
              <a:rPr lang="en-US" altLang="zh-CN" sz="3200" dirty="0" err="1">
                <a:solidFill>
                  <a:srgbClr val="00B050"/>
                </a:solidFill>
              </a:rPr>
              <a:t>exp</a:t>
            </a:r>
            <a:r>
              <a:rPr lang="zh-CN" altLang="en-US" sz="3200" dirty="0"/>
              <a:t>减过了头（</a:t>
            </a:r>
            <a:r>
              <a:rPr lang="en-US" altLang="zh-CN" sz="3200" dirty="0">
                <a:solidFill>
                  <a:srgbClr val="00B050"/>
                </a:solidFill>
              </a:rPr>
              <a:t>==0</a:t>
            </a:r>
            <a:r>
              <a:rPr lang="zh-CN" altLang="en-US" sz="3200" dirty="0"/>
              <a:t>了），得到了非规格化数</a:t>
            </a:r>
            <a:endParaRPr lang="en-US" altLang="zh-CN" sz="3200" dirty="0"/>
          </a:p>
          <a:p>
            <a:pPr lvl="6"/>
            <a:r>
              <a:rPr lang="zh-CN" altLang="en-US" sz="3200" dirty="0"/>
              <a:t>注意为了配合非规格化数的阶码为</a:t>
            </a:r>
            <a:r>
              <a:rPr lang="en-US" altLang="zh-CN" sz="3200" dirty="0"/>
              <a:t>0</a:t>
            </a:r>
            <a:r>
              <a:rPr lang="zh-CN" altLang="en-US" sz="3200" dirty="0"/>
              <a:t>表示</a:t>
            </a:r>
            <a:r>
              <a:rPr lang="en-US" altLang="zh-CN" sz="3200" dirty="0"/>
              <a:t>2</a:t>
            </a:r>
            <a:r>
              <a:rPr lang="en-US" altLang="zh-CN" sz="3200" baseline="30000" dirty="0"/>
              <a:t>-126</a:t>
            </a:r>
            <a:r>
              <a:rPr lang="zh-CN" altLang="en-US" sz="3200" dirty="0"/>
              <a:t>，需要额外将尾数右移一次，注意</a:t>
            </a:r>
            <a:r>
              <a:rPr lang="en-US" altLang="zh-CN" sz="3200" dirty="0"/>
              <a:t>sticky bit</a:t>
            </a:r>
            <a:r>
              <a:rPr lang="zh-CN" altLang="en-US" sz="3200" dirty="0"/>
              <a:t>的操作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规格化与舍入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17715" y="1250032"/>
            <a:ext cx="1234627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300" dirty="0">
                <a:latin typeface="Consolas" panose="020B0609020204030204" pitchFamily="49" charset="0"/>
              </a:rPr>
              <a:t>uint32_t internal_normalize(uint32_t sign, </a:t>
            </a:r>
            <a:r>
              <a:rPr lang="en-US" altLang="zh-CN" sz="2300" dirty="0">
                <a:latin typeface="Consolas" panose="020B0609020204030204" pitchFamily="49" charset="0"/>
              </a:rPr>
              <a:t> </a:t>
            </a:r>
            <a:r>
              <a:rPr lang="zh-CN" altLang="en-US" sz="2300" dirty="0">
                <a:solidFill>
                  <a:schemeClr val="accent6"/>
                </a:solidFill>
                <a:latin typeface="Consolas" panose="020B0609020204030204" pitchFamily="49" charset="0"/>
              </a:rPr>
              <a:t>int32_t exp</a:t>
            </a:r>
            <a:r>
              <a:rPr lang="zh-CN" altLang="en-US" sz="2300" dirty="0">
                <a:latin typeface="Consolas" panose="020B0609020204030204" pitchFamily="49" charset="0"/>
              </a:rPr>
              <a:t>,</a:t>
            </a:r>
            <a:r>
              <a:rPr lang="en-US" altLang="zh-CN" sz="2300" dirty="0">
                <a:latin typeface="Consolas" panose="020B0609020204030204" pitchFamily="49" charset="0"/>
              </a:rPr>
              <a:t> </a:t>
            </a:r>
            <a:r>
              <a:rPr lang="zh-CN" altLang="en-US" sz="2300" dirty="0">
                <a:solidFill>
                  <a:srgbClr val="7030A0"/>
                </a:solidFill>
                <a:latin typeface="Consolas" panose="020B0609020204030204" pitchFamily="49" charset="0"/>
              </a:rPr>
              <a:t>uint64_t sig_grs</a:t>
            </a:r>
            <a:r>
              <a:rPr lang="zh-CN" altLang="en-US" sz="2300" dirty="0">
                <a:latin typeface="Consolas" panose="020B0609020204030204" pitchFamily="49" charset="0"/>
              </a:rPr>
              <a:t>)</a:t>
            </a:r>
            <a:endParaRPr lang="zh-CN" altLang="en-US" sz="23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89171" y="651360"/>
            <a:ext cx="5442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对于加减法，中间结果</a:t>
            </a:r>
            <a:r>
              <a:rPr lang="en-US" altLang="zh-CN" sz="2800" dirty="0" err="1">
                <a:solidFill>
                  <a:srgbClr val="C00000"/>
                </a:solidFill>
              </a:rPr>
              <a:t>exp</a:t>
            </a:r>
            <a:r>
              <a:rPr lang="en-US" altLang="zh-CN" sz="2800" dirty="0">
                <a:solidFill>
                  <a:srgbClr val="C00000"/>
                </a:solidFill>
              </a:rPr>
              <a:t> &gt;= 0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74170" y="2415155"/>
            <a:ext cx="1063534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/>
            <a:r>
              <a:rPr lang="en-US" altLang="zh-CN" sz="3200" b="1" dirty="0"/>
              <a:t>Case 3</a:t>
            </a:r>
            <a:r>
              <a:rPr lang="zh-CN" altLang="en-US" sz="3200" dirty="0"/>
              <a:t>：</a:t>
            </a:r>
            <a:r>
              <a:rPr lang="en-US" altLang="zh-CN" sz="3200" dirty="0" err="1">
                <a:solidFill>
                  <a:srgbClr val="00B050"/>
                </a:solidFill>
              </a:rPr>
              <a:t>exp</a:t>
            </a:r>
            <a:r>
              <a:rPr lang="en-US" altLang="zh-CN" sz="3200" dirty="0">
                <a:solidFill>
                  <a:srgbClr val="00B050"/>
                </a:solidFill>
              </a:rPr>
              <a:t> == 0</a:t>
            </a:r>
            <a:r>
              <a:rPr lang="zh-CN" altLang="en-US" sz="3200" dirty="0"/>
              <a:t>，且，</a:t>
            </a:r>
            <a:r>
              <a:rPr lang="en-US" altLang="zh-CN" sz="3200" dirty="0">
                <a:solidFill>
                  <a:srgbClr val="7030A0"/>
                </a:solidFill>
              </a:rPr>
              <a:t> </a:t>
            </a:r>
            <a:r>
              <a:rPr lang="en-US" altLang="zh-CN" sz="3200" dirty="0" err="1">
                <a:solidFill>
                  <a:srgbClr val="7030A0"/>
                </a:solidFill>
              </a:rPr>
              <a:t>sig_grs</a:t>
            </a:r>
            <a:r>
              <a:rPr lang="en-US" altLang="zh-CN" sz="3200" dirty="0">
                <a:solidFill>
                  <a:srgbClr val="7030A0"/>
                </a:solidFill>
              </a:rPr>
              <a:t> &gt;&gt; 26 == 1</a:t>
            </a:r>
            <a:endParaRPr lang="en-US" altLang="zh-CN" sz="3200" dirty="0">
              <a:solidFill>
                <a:srgbClr val="7030A0"/>
              </a:solidFill>
            </a:endParaRPr>
          </a:p>
          <a:p>
            <a:pPr lvl="5"/>
            <a:r>
              <a:rPr lang="en-US" altLang="zh-CN" sz="3200" b="1" dirty="0" err="1">
                <a:solidFill>
                  <a:srgbClr val="FF0000"/>
                </a:solidFill>
              </a:rPr>
              <a:t>需要将exp</a:t>
            </a:r>
            <a:r>
              <a:rPr lang="en-US" altLang="zh-CN" sz="3200" b="1" dirty="0">
                <a:solidFill>
                  <a:srgbClr val="FF0000"/>
                </a:solidFill>
              </a:rPr>
              <a:t>++，保证阶码真值为-126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lvl="5"/>
            <a:endParaRPr lang="en-US" altLang="zh-CN" sz="3200" b="1" dirty="0">
              <a:solidFill>
                <a:srgbClr val="FF0000"/>
              </a:solidFill>
            </a:endParaRPr>
          </a:p>
          <a:p>
            <a:pPr lvl="5"/>
            <a:endParaRPr lang="en-US" altLang="zh-CN" sz="3200" dirty="0"/>
          </a:p>
          <a:p>
            <a:pPr lvl="4"/>
            <a:r>
              <a:rPr lang="zh-CN" altLang="en-US" sz="3200" dirty="0"/>
              <a:t>其它情形：无需进行规格化（有哪些情形？）</a:t>
            </a:r>
            <a:endParaRPr lang="en-US" altLang="zh-CN" sz="3200" dirty="0"/>
          </a:p>
          <a:p>
            <a:pPr lvl="4"/>
            <a:r>
              <a:rPr lang="zh-CN" altLang="en-US" sz="3200" dirty="0"/>
              <a:t>理解教程中的伪代码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规格化与舍入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785585" y="2000977"/>
            <a:ext cx="12977585" cy="2704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</a:pPr>
            <a:r>
              <a:rPr lang="zh-CN" altLang="en-US" sz="3200" dirty="0"/>
              <a:t>如果前面的过程没有产生溢出，根据</a:t>
            </a:r>
            <a:r>
              <a:rPr lang="en-US" altLang="zh-CN" sz="3200" dirty="0"/>
              <a:t>GRS bits</a:t>
            </a:r>
            <a:r>
              <a:rPr lang="zh-CN" altLang="en-US" sz="3200" dirty="0"/>
              <a:t>的取值情况进行舍入</a:t>
            </a:r>
            <a:endParaRPr lang="en-US" altLang="zh-CN" sz="3200" dirty="0"/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800" dirty="0"/>
              <a:t>就近舍入到偶数</a:t>
            </a:r>
            <a:endParaRPr lang="en-US" altLang="zh-CN" sz="2800" dirty="0"/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舍入若产生尾数加</a:t>
            </a:r>
            <a:r>
              <a:rPr lang="en-US" altLang="zh-CN" sz="2800" dirty="0"/>
              <a:t>1</a:t>
            </a:r>
            <a:r>
              <a:rPr lang="zh-CN" altLang="en-US" sz="2800" dirty="0"/>
              <a:t>，有可能出现破坏规格化的情况</a:t>
            </a:r>
            <a:endParaRPr lang="en-US" altLang="zh-CN" sz="2800" dirty="0"/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此时需要进行额外的一次右规并判断阶码上溢的情况</a:t>
            </a:r>
            <a:endParaRPr lang="en-US" altLang="zh-CN" sz="2800" dirty="0"/>
          </a:p>
        </p:txBody>
      </p:sp>
      <p:sp>
        <p:nvSpPr>
          <p:cNvPr id="8" name="矩形 7"/>
          <p:cNvSpPr/>
          <p:nvPr/>
        </p:nvSpPr>
        <p:spPr>
          <a:xfrm>
            <a:off x="217715" y="1250032"/>
            <a:ext cx="1234627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300" dirty="0">
                <a:latin typeface="Consolas" panose="020B0609020204030204" pitchFamily="49" charset="0"/>
              </a:rPr>
              <a:t>uint32_t internal_normalize(uint32_t sign, </a:t>
            </a:r>
            <a:r>
              <a:rPr lang="en-US" altLang="zh-CN" sz="2300" dirty="0">
                <a:latin typeface="Consolas" panose="020B0609020204030204" pitchFamily="49" charset="0"/>
              </a:rPr>
              <a:t> </a:t>
            </a:r>
            <a:r>
              <a:rPr lang="zh-CN" altLang="en-US" sz="2300" dirty="0">
                <a:solidFill>
                  <a:schemeClr val="accent6"/>
                </a:solidFill>
                <a:latin typeface="Consolas" panose="020B0609020204030204" pitchFamily="49" charset="0"/>
              </a:rPr>
              <a:t>int32_t exp</a:t>
            </a:r>
            <a:r>
              <a:rPr lang="zh-CN" altLang="en-US" sz="2300" dirty="0">
                <a:latin typeface="Consolas" panose="020B0609020204030204" pitchFamily="49" charset="0"/>
              </a:rPr>
              <a:t>,</a:t>
            </a:r>
            <a:r>
              <a:rPr lang="en-US" altLang="zh-CN" sz="2300" dirty="0">
                <a:latin typeface="Consolas" panose="020B0609020204030204" pitchFamily="49" charset="0"/>
              </a:rPr>
              <a:t> </a:t>
            </a:r>
            <a:r>
              <a:rPr lang="zh-CN" altLang="en-US" sz="2300" dirty="0">
                <a:solidFill>
                  <a:srgbClr val="7030A0"/>
                </a:solidFill>
                <a:latin typeface="Consolas" panose="020B0609020204030204" pitchFamily="49" charset="0"/>
              </a:rPr>
              <a:t>uint64_t sig_grs</a:t>
            </a:r>
            <a:r>
              <a:rPr lang="zh-CN" altLang="en-US" sz="2300" dirty="0">
                <a:latin typeface="Consolas" panose="020B0609020204030204" pitchFamily="49" charset="0"/>
              </a:rPr>
              <a:t>)</a:t>
            </a:r>
            <a:endParaRPr lang="zh-CN" altLang="en-US" sz="2300" dirty="0">
              <a:latin typeface="Consolas" panose="020B0609020204030204" pitchFamily="49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00" y="5188325"/>
            <a:ext cx="3784600" cy="8170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43" y="5188325"/>
            <a:ext cx="5286741" cy="817086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3395984" y="5016500"/>
            <a:ext cx="2057400" cy="98891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右箭头 12"/>
          <p:cNvSpPr/>
          <p:nvPr/>
        </p:nvSpPr>
        <p:spPr>
          <a:xfrm>
            <a:off x="5901692" y="4860902"/>
            <a:ext cx="1447800" cy="130010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舍入</a:t>
            </a:r>
            <a:endParaRPr lang="en-US" altLang="zh-CN" dirty="0"/>
          </a:p>
          <a:p>
            <a:pPr algn="ctr"/>
            <a:r>
              <a:rPr lang="zh-CN" altLang="en-US" dirty="0"/>
              <a:t>并返回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85730" y="5125788"/>
            <a:ext cx="2057400" cy="98891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26691" y="6009810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此时只剩隐藏位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8267390" y="6009810"/>
            <a:ext cx="304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符合</a:t>
            </a:r>
            <a:r>
              <a:rPr lang="en-US" altLang="zh-CN" dirty="0"/>
              <a:t>IEEE 754</a:t>
            </a:r>
            <a:r>
              <a:rPr lang="zh-CN" altLang="en-US" dirty="0"/>
              <a:t>标准的机器数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浮点数的运算模拟（基本流程）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71844" y="1948934"/>
            <a:ext cx="10634643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uint32_t internal_float_</a:t>
            </a:r>
            <a:r>
              <a:rPr lang="en-US" altLang="zh-CN" sz="2800" dirty="0">
                <a:latin typeface="Consolas" panose="020B0609020204030204" pitchFamily="49" charset="0"/>
              </a:rPr>
              <a:t>add</a:t>
            </a:r>
            <a:r>
              <a:rPr lang="zh-CN" altLang="en-US" sz="2800" dirty="0">
                <a:latin typeface="Consolas" panose="020B0609020204030204" pitchFamily="49" charset="0"/>
              </a:rPr>
              <a:t>(uint32_t b, uint32_t a)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{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1. </a:t>
            </a:r>
            <a:r>
              <a:rPr lang="zh-CN" altLang="en-US" sz="2800" dirty="0">
                <a:latin typeface="Consolas" panose="020B0609020204030204" pitchFamily="49" charset="0"/>
              </a:rPr>
              <a:t>处理边界情况（</a:t>
            </a:r>
            <a:r>
              <a:rPr lang="en-US" altLang="zh-CN" sz="2800" dirty="0" err="1">
                <a:latin typeface="Consolas" panose="020B0609020204030204" pitchFamily="49" charset="0"/>
              </a:rPr>
              <a:t>NaN</a:t>
            </a:r>
            <a:r>
              <a:rPr lang="zh-CN" altLang="en-US" sz="2800" dirty="0"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latin typeface="Consolas" panose="020B0609020204030204" pitchFamily="49" charset="0"/>
              </a:rPr>
              <a:t>0</a:t>
            </a:r>
            <a:r>
              <a:rPr lang="zh-CN" altLang="en-US" sz="2800" dirty="0"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latin typeface="Consolas" panose="020B0609020204030204" pitchFamily="49" charset="0"/>
              </a:rPr>
              <a:t>INF</a:t>
            </a:r>
            <a:r>
              <a:rPr lang="zh-CN" altLang="en-US" sz="2800" dirty="0">
                <a:latin typeface="Consolas" panose="020B0609020204030204" pitchFamily="49" charset="0"/>
              </a:rPr>
              <a:t>）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2. </a:t>
            </a:r>
            <a:r>
              <a:rPr lang="zh-CN" altLang="en-US" sz="2800" dirty="0">
                <a:latin typeface="Consolas" panose="020B0609020204030204" pitchFamily="49" charset="0"/>
              </a:rPr>
              <a:t>提取符号、阶码、尾数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3. </a:t>
            </a:r>
            <a:r>
              <a:rPr lang="zh-CN" altLang="en-US" sz="2800" dirty="0">
                <a:latin typeface="Consolas" panose="020B0609020204030204" pitchFamily="49" charset="0"/>
              </a:rPr>
              <a:t>整数运算得到中间结果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4. </a:t>
            </a:r>
            <a:r>
              <a:rPr lang="zh-CN" altLang="en-US" sz="2800" dirty="0">
                <a:latin typeface="Consolas" panose="020B0609020204030204" pitchFamily="49" charset="0"/>
              </a:rPr>
              <a:t>舍入并规格化后返回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}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浮点数的运算模拟（基本流程）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71844" y="1948934"/>
            <a:ext cx="10634643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uint32_t internal_float_</a:t>
            </a:r>
            <a:r>
              <a:rPr lang="en-US" altLang="zh-CN" sz="2800" dirty="0">
                <a:latin typeface="Consolas" panose="020B0609020204030204" pitchFamily="49" charset="0"/>
              </a:rPr>
              <a:t>add</a:t>
            </a:r>
            <a:r>
              <a:rPr lang="zh-CN" altLang="en-US" sz="2800" dirty="0">
                <a:latin typeface="Consolas" panose="020B0609020204030204" pitchFamily="49" charset="0"/>
              </a:rPr>
              <a:t>(uint32_t b, uint32_t a)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{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1. </a:t>
            </a:r>
            <a:r>
              <a:rPr lang="zh-CN" altLang="en-US" sz="2800" dirty="0">
                <a:latin typeface="Consolas" panose="020B0609020204030204" pitchFamily="49" charset="0"/>
              </a:rPr>
              <a:t>处理边界情况（</a:t>
            </a:r>
            <a:r>
              <a:rPr lang="en-US" altLang="zh-CN" sz="2800" dirty="0" err="1">
                <a:latin typeface="Consolas" panose="020B0609020204030204" pitchFamily="49" charset="0"/>
              </a:rPr>
              <a:t>NaN</a:t>
            </a:r>
            <a:r>
              <a:rPr lang="zh-CN" altLang="en-US" sz="2800" dirty="0"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latin typeface="Consolas" panose="020B0609020204030204" pitchFamily="49" charset="0"/>
              </a:rPr>
              <a:t>0</a:t>
            </a:r>
            <a:r>
              <a:rPr lang="zh-CN" altLang="en-US" sz="2800" dirty="0">
                <a:latin typeface="Consolas" panose="020B0609020204030204" pitchFamily="49" charset="0"/>
              </a:rPr>
              <a:t>、</a:t>
            </a:r>
            <a:r>
              <a:rPr lang="en-US" altLang="zh-CN" sz="2800" dirty="0">
                <a:latin typeface="Consolas" panose="020B0609020204030204" pitchFamily="49" charset="0"/>
              </a:rPr>
              <a:t>INF</a:t>
            </a:r>
            <a:r>
              <a:rPr lang="zh-CN" altLang="en-US" sz="2800" dirty="0">
                <a:latin typeface="Consolas" panose="020B0609020204030204" pitchFamily="49" charset="0"/>
              </a:rPr>
              <a:t>）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2. </a:t>
            </a:r>
            <a:r>
              <a:rPr lang="zh-CN" altLang="en-US" sz="2800" dirty="0">
                <a:latin typeface="Consolas" panose="020B0609020204030204" pitchFamily="49" charset="0"/>
              </a:rPr>
              <a:t>提取符号、阶码、尾数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rgbClr val="C00000"/>
                </a:solidFill>
                <a:latin typeface="Consolas" panose="020B0609020204030204" pitchFamily="49" charset="0"/>
              </a:rPr>
              <a:t>    3. </a:t>
            </a:r>
            <a:r>
              <a:rPr lang="zh-CN" altLang="en-US" sz="2800" dirty="0">
                <a:solidFill>
                  <a:srgbClr val="C00000"/>
                </a:solidFill>
                <a:latin typeface="Consolas" panose="020B0609020204030204" pitchFamily="49" charset="0"/>
              </a:rPr>
              <a:t>整数运算得到中间结果</a:t>
            </a:r>
            <a:endParaRPr lang="en-US" altLang="zh-CN" sz="28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    4. </a:t>
            </a:r>
            <a:r>
              <a:rPr lang="zh-CN" altLang="en-US" sz="2800" dirty="0">
                <a:latin typeface="Consolas" panose="020B0609020204030204" pitchFamily="49" charset="0"/>
              </a:rPr>
              <a:t>舍入并规格化后返回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}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51600" y="4149536"/>
            <a:ext cx="5354887" cy="2062103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乘法：尾数相乘，阶码相加</a:t>
            </a:r>
            <a:endParaRPr lang="en-US" altLang="zh-CN" sz="3200" dirty="0"/>
          </a:p>
          <a:p>
            <a:r>
              <a:rPr lang="zh-CN" altLang="en-US" sz="3200" dirty="0"/>
              <a:t>除法：尾数相除，阶码相减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注意偏置常数的加减操作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乘除法提示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19991"/>
          </a:xfrm>
        </p:spPr>
        <p:txBody>
          <a:bodyPr/>
          <a:lstStyle/>
          <a:p>
            <a:r>
              <a:rPr lang="zh-CN" altLang="en-US" dirty="0"/>
              <a:t>乘法：尾数相乘，阶码相加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85750" y="2488148"/>
            <a:ext cx="11620500" cy="415498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uint32_t internal_float_</a:t>
            </a:r>
            <a:r>
              <a:rPr lang="en-US" altLang="zh-CN" sz="2400" dirty="0" err="1">
                <a:latin typeface="Consolas" panose="020B0609020204030204" pitchFamily="49" charset="0"/>
              </a:rPr>
              <a:t>mul</a:t>
            </a:r>
            <a:r>
              <a:rPr lang="zh-CN" altLang="en-US" sz="2400" dirty="0">
                <a:latin typeface="Consolas" panose="020B0609020204030204" pitchFamily="49" charset="0"/>
              </a:rPr>
              <a:t>(uint32_t b, uint32_t a) </a:t>
            </a:r>
            <a:r>
              <a:rPr lang="en-US" altLang="zh-CN" sz="2400" dirty="0">
                <a:latin typeface="Consolas" panose="020B0609020204030204" pitchFamily="49" charset="0"/>
              </a:rPr>
              <a:t>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uint64_t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latin typeface="Consolas" panose="020B0609020204030204" pitchFamily="49" charset="0"/>
              </a:rPr>
              <a:t>sig_res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sig_res</a:t>
            </a:r>
            <a:r>
              <a:rPr lang="en-US" altLang="zh-CN" sz="2400" dirty="0">
                <a:latin typeface="Consolas" panose="020B0609020204030204" pitchFamily="49" charset="0"/>
              </a:rPr>
              <a:t> = </a:t>
            </a:r>
            <a:r>
              <a:rPr lang="en-US" altLang="zh-CN" sz="2400" dirty="0" err="1">
                <a:latin typeface="Consolas" panose="020B0609020204030204" pitchFamily="49" charset="0"/>
              </a:rPr>
              <a:t>sig_a</a:t>
            </a:r>
            <a:r>
              <a:rPr lang="en-US" altLang="zh-CN" sz="2400" dirty="0">
                <a:latin typeface="Consolas" panose="020B0609020204030204" pitchFamily="49" charset="0"/>
              </a:rPr>
              <a:t> * </a:t>
            </a:r>
            <a:r>
              <a:rPr lang="en-US" altLang="zh-CN" sz="2400" dirty="0" err="1">
                <a:latin typeface="Consolas" panose="020B0609020204030204" pitchFamily="49" charset="0"/>
              </a:rPr>
              <a:t>sig_b</a:t>
            </a:r>
            <a:r>
              <a:rPr lang="en-US" altLang="zh-CN" sz="2400" dirty="0">
                <a:latin typeface="Consolas" panose="020B0609020204030204" pitchFamily="49" charset="0"/>
              </a:rPr>
              <a:t>; 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uint32_t </a:t>
            </a:r>
            <a:r>
              <a:rPr lang="en-US" altLang="zh-CN" sz="2400" dirty="0" err="1">
                <a:latin typeface="Consolas" panose="020B0609020204030204" pitchFamily="49" charset="0"/>
              </a:rPr>
              <a:t>exp_res</a:t>
            </a:r>
            <a:r>
              <a:rPr lang="en-US" altLang="zh-CN" sz="2400" dirty="0">
                <a:latin typeface="Consolas" panose="020B0609020204030204" pitchFamily="49" charset="0"/>
              </a:rPr>
              <a:t> = 0;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/* TODO: </a:t>
            </a: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exp_res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 = ? leave space for GRS bits. */</a:t>
            </a:r>
            <a:endParaRPr lang="en-US" altLang="zh-CN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("\e[0;31mPlease implement me at </a:t>
            </a:r>
            <a:r>
              <a:rPr lang="en-US" altLang="zh-CN" sz="2400" dirty="0" err="1">
                <a:latin typeface="Consolas" panose="020B0609020204030204" pitchFamily="49" charset="0"/>
              </a:rPr>
              <a:t>fpu.c</a:t>
            </a:r>
            <a:r>
              <a:rPr lang="en-US" altLang="zh-CN" sz="2400" dirty="0">
                <a:latin typeface="Consolas" panose="020B0609020204030204" pitchFamily="49" charset="0"/>
              </a:rPr>
              <a:t>\e[0m\n");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assert(0);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66151" y="1068115"/>
            <a:ext cx="482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乘除法提示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19991"/>
          </a:xfrm>
        </p:spPr>
        <p:txBody>
          <a:bodyPr/>
          <a:lstStyle/>
          <a:p>
            <a:r>
              <a:rPr lang="zh-CN" altLang="en-US" dirty="0"/>
              <a:t>乘法：尾数相乘，阶码相加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66151" y="1068115"/>
            <a:ext cx="482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135206" y="2996962"/>
          <a:ext cx="8128000" cy="695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24200"/>
                <a:gridCol w="939800"/>
                <a:gridCol w="4064000"/>
              </a:tblGrid>
              <a:tr h="695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40</a:t>
                      </a:r>
                      <a:r>
                        <a:rPr lang="zh-CN" altLang="en-US" sz="3200" dirty="0"/>
                        <a:t>个</a:t>
                      </a:r>
                      <a:r>
                        <a:rPr lang="en-US" altLang="zh-CN" sz="3200" dirty="0"/>
                        <a:t>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1/0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23</a:t>
                      </a:r>
                      <a:r>
                        <a:rPr lang="zh-CN" altLang="en-US" sz="3200" dirty="0"/>
                        <a:t>位小数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1047306" y="254802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135206" y="254802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63</a:t>
            </a:r>
            <a:endParaRPr lang="zh-CN" altLang="en-US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3135206" y="4443419"/>
          <a:ext cx="8128000" cy="695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24200"/>
                <a:gridCol w="939800"/>
                <a:gridCol w="4064000"/>
              </a:tblGrid>
              <a:tr h="695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40</a:t>
                      </a:r>
                      <a:r>
                        <a:rPr lang="zh-CN" altLang="en-US" sz="3200" dirty="0"/>
                        <a:t>个</a:t>
                      </a:r>
                      <a:r>
                        <a:rPr lang="en-US" altLang="zh-CN" sz="3200" dirty="0"/>
                        <a:t>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1/0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23</a:t>
                      </a:r>
                      <a:r>
                        <a:rPr lang="zh-CN" altLang="en-US" sz="3200" dirty="0"/>
                        <a:t>位小数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1047306" y="39944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3135206" y="399448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63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0" y="3097483"/>
            <a:ext cx="2945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uint64_t </a:t>
            </a:r>
            <a:r>
              <a:rPr lang="en-US" altLang="zh-CN" sz="2800" dirty="0" err="1">
                <a:latin typeface="Consolas" panose="020B0609020204030204" pitchFamily="49" charset="0"/>
              </a:rPr>
              <a:t>sig_a</a:t>
            </a:r>
            <a:endParaRPr lang="zh-CN" altLang="en-US" sz="2800" dirty="0"/>
          </a:p>
        </p:txBody>
      </p:sp>
      <p:sp>
        <p:nvSpPr>
          <p:cNvPr id="19" name="矩形 18"/>
          <p:cNvSpPr/>
          <p:nvPr/>
        </p:nvSpPr>
        <p:spPr>
          <a:xfrm>
            <a:off x="0" y="4488076"/>
            <a:ext cx="2945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uint64_t </a:t>
            </a:r>
            <a:r>
              <a:rPr lang="en-US" altLang="zh-CN" sz="2800" dirty="0" err="1">
                <a:latin typeface="Consolas" panose="020B0609020204030204" pitchFamily="49" charset="0"/>
              </a:rPr>
              <a:t>sig_b</a:t>
            </a:r>
            <a:endParaRPr lang="zh-CN" altLang="en-US" sz="2800" dirty="0"/>
          </a:p>
        </p:txBody>
      </p:sp>
      <p:sp>
        <p:nvSpPr>
          <p:cNvPr id="20" name="文本框 19"/>
          <p:cNvSpPr txBox="1"/>
          <p:nvPr/>
        </p:nvSpPr>
        <p:spPr>
          <a:xfrm>
            <a:off x="2006600" y="3486652"/>
            <a:ext cx="60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C00000"/>
                </a:solidFill>
              </a:rPr>
              <a:t>x</a:t>
            </a:r>
            <a:endParaRPr lang="zh-CN" altLang="en-US" sz="6000" dirty="0">
              <a:solidFill>
                <a:srgbClr val="C00000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074470" y="3620703"/>
            <a:ext cx="249471" cy="2494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7074470" y="5041973"/>
            <a:ext cx="249471" cy="2494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662881" y="5533123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小数点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25" name="肘形连接符 24"/>
          <p:cNvCxnSpPr>
            <a:stCxn id="24" idx="1"/>
          </p:cNvCxnSpPr>
          <p:nvPr/>
        </p:nvCxnSpPr>
        <p:spPr>
          <a:xfrm rot="10800000">
            <a:off x="7253451" y="5320018"/>
            <a:ext cx="409430" cy="44393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28366" y="5412884"/>
            <a:ext cx="64782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无符号整数相乘得到的中间结果，如何对应带小数点的尾数真值相乘中间结果？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  <p:bldP spid="24" grpId="0"/>
      <p:bldP spid="3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乘除法提示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19991"/>
          </a:xfrm>
        </p:spPr>
        <p:txBody>
          <a:bodyPr/>
          <a:lstStyle/>
          <a:p>
            <a:r>
              <a:rPr lang="zh-CN" altLang="en-US" dirty="0"/>
              <a:t>乘法：尾数相乘，阶码相加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66151" y="1068115"/>
            <a:ext cx="482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28366" y="5412884"/>
            <a:ext cx="40455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与我们约定的</a:t>
            </a:r>
            <a:r>
              <a:rPr lang="en-US" altLang="zh-CN" sz="2800" dirty="0" err="1">
                <a:solidFill>
                  <a:srgbClr val="C00000"/>
                </a:solidFill>
              </a:rPr>
              <a:t>sig_grs</a:t>
            </a:r>
            <a:r>
              <a:rPr lang="zh-CN" altLang="en-US" sz="2800" dirty="0">
                <a:solidFill>
                  <a:srgbClr val="C00000"/>
                </a:solidFill>
              </a:rPr>
              <a:t>的标准之间有没有不一致？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2348122" y="3993863"/>
          <a:ext cx="4918029" cy="914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2171"/>
                <a:gridCol w="2775858"/>
              </a:tblGrid>
              <a:tr h="9144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整数部分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fraction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4473913" y="2387500"/>
            <a:ext cx="3198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uint64_t </a:t>
            </a:r>
            <a:r>
              <a:rPr lang="en-US" altLang="zh-CN" sz="3200" dirty="0" err="1"/>
              <a:t>sig_grs</a:t>
            </a:r>
            <a:endParaRPr lang="zh-CN" altLang="en-US" sz="3200" dirty="0"/>
          </a:p>
        </p:txBody>
      </p:sp>
      <p:sp>
        <p:nvSpPr>
          <p:cNvPr id="28" name="文本框 27"/>
          <p:cNvSpPr txBox="1"/>
          <p:nvPr/>
        </p:nvSpPr>
        <p:spPr>
          <a:xfrm>
            <a:off x="2858715" y="3449029"/>
            <a:ext cx="137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38 bits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940801" y="3436485"/>
            <a:ext cx="352391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23+3 = 26 bits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30" name="右大括号 29"/>
          <p:cNvSpPr/>
          <p:nvPr/>
        </p:nvSpPr>
        <p:spPr>
          <a:xfrm rot="16200000">
            <a:off x="6156270" y="-404255"/>
            <a:ext cx="294099" cy="741246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4349178" y="4783594"/>
            <a:ext cx="249471" cy="2494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7266151" y="3993863"/>
            <a:ext cx="914467" cy="9144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dirty="0"/>
              <a:t>G</a:t>
            </a:r>
            <a:endParaRPr lang="zh-CN" altLang="en-US" sz="4400" dirty="0"/>
          </a:p>
        </p:txBody>
      </p:sp>
      <p:sp>
        <p:nvSpPr>
          <p:cNvPr id="34" name="矩形 33"/>
          <p:cNvSpPr/>
          <p:nvPr/>
        </p:nvSpPr>
        <p:spPr>
          <a:xfrm>
            <a:off x="8180618" y="3993863"/>
            <a:ext cx="914467" cy="9144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dirty="0"/>
              <a:t>R</a:t>
            </a:r>
            <a:endParaRPr lang="zh-CN" altLang="en-US" sz="4400" dirty="0"/>
          </a:p>
        </p:txBody>
      </p:sp>
      <p:sp>
        <p:nvSpPr>
          <p:cNvPr id="35" name="矩形 34"/>
          <p:cNvSpPr/>
          <p:nvPr/>
        </p:nvSpPr>
        <p:spPr>
          <a:xfrm>
            <a:off x="9095085" y="3998095"/>
            <a:ext cx="914467" cy="91446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dirty="0"/>
              <a:t>S</a:t>
            </a:r>
            <a:endParaRPr lang="zh-CN" altLang="en-US" sz="4400" dirty="0"/>
          </a:p>
        </p:txBody>
      </p:sp>
      <p:sp>
        <p:nvSpPr>
          <p:cNvPr id="9" name="右箭头 8"/>
          <p:cNvSpPr/>
          <p:nvPr/>
        </p:nvSpPr>
        <p:spPr>
          <a:xfrm>
            <a:off x="4863830" y="5412884"/>
            <a:ext cx="1984442" cy="95410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266151" y="5197439"/>
            <a:ext cx="45789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/>
                </a:solidFill>
              </a:rPr>
              <a:t>保持尾数中间结果编码不变，通过调整阶码</a:t>
            </a:r>
            <a:r>
              <a:rPr lang="en-US" altLang="zh-CN" sz="2800" b="1" dirty="0" err="1">
                <a:solidFill>
                  <a:schemeClr val="accent5"/>
                </a:solidFill>
              </a:rPr>
              <a:t>exp</a:t>
            </a:r>
            <a:r>
              <a:rPr lang="zh-CN" altLang="en-US" sz="2800" b="1" dirty="0">
                <a:solidFill>
                  <a:schemeClr val="accent5"/>
                </a:solidFill>
              </a:rPr>
              <a:t>，使得真值符合</a:t>
            </a:r>
            <a:r>
              <a:rPr lang="en-US" altLang="zh-CN" sz="2800" b="1" dirty="0" err="1">
                <a:solidFill>
                  <a:schemeClr val="accent5"/>
                </a:solidFill>
              </a:rPr>
              <a:t>sig_grs</a:t>
            </a:r>
            <a:r>
              <a:rPr lang="zh-CN" altLang="en-US" sz="2800" b="1" dirty="0">
                <a:solidFill>
                  <a:schemeClr val="accent5"/>
                </a:solidFill>
              </a:rPr>
              <a:t>约定</a:t>
            </a:r>
            <a:endParaRPr lang="zh-CN" altLang="en-US" sz="28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乘除法提示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19991"/>
          </a:xfrm>
        </p:spPr>
        <p:txBody>
          <a:bodyPr/>
          <a:lstStyle/>
          <a:p>
            <a:r>
              <a:rPr lang="zh-CN" altLang="en-US" dirty="0"/>
              <a:t>除法：尾数相除，阶码相减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66151" y="1068115"/>
            <a:ext cx="482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135206" y="2996962"/>
          <a:ext cx="8128000" cy="695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24200"/>
                <a:gridCol w="939800"/>
                <a:gridCol w="4064000"/>
              </a:tblGrid>
              <a:tr h="695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40</a:t>
                      </a:r>
                      <a:r>
                        <a:rPr lang="zh-CN" altLang="en-US" sz="3200" dirty="0"/>
                        <a:t>个</a:t>
                      </a:r>
                      <a:r>
                        <a:rPr lang="en-US" altLang="zh-CN" sz="3200" dirty="0"/>
                        <a:t>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1/0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23</a:t>
                      </a:r>
                      <a:r>
                        <a:rPr lang="zh-CN" altLang="en-US" sz="3200" dirty="0"/>
                        <a:t>位小数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1047306" y="254802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135206" y="254802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63</a:t>
            </a:r>
            <a:endParaRPr lang="zh-CN" altLang="en-US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3135206" y="4443419"/>
          <a:ext cx="8128000" cy="695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24200"/>
                <a:gridCol w="939800"/>
                <a:gridCol w="4064000"/>
              </a:tblGrid>
              <a:tr h="695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40</a:t>
                      </a:r>
                      <a:r>
                        <a:rPr lang="zh-CN" altLang="en-US" sz="3200" dirty="0"/>
                        <a:t>个</a:t>
                      </a:r>
                      <a:r>
                        <a:rPr lang="en-US" altLang="zh-CN" sz="3200" dirty="0"/>
                        <a:t>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1/0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23</a:t>
                      </a:r>
                      <a:r>
                        <a:rPr lang="zh-CN" altLang="en-US" sz="3200" dirty="0"/>
                        <a:t>位小数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1047306" y="39944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3135206" y="399448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63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2006600" y="3486652"/>
            <a:ext cx="60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C00000"/>
                </a:solidFill>
              </a:rPr>
              <a:t>/</a:t>
            </a:r>
            <a:endParaRPr lang="zh-CN" altLang="en-US" sz="6000" dirty="0">
              <a:solidFill>
                <a:srgbClr val="C00000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074470" y="3620703"/>
            <a:ext cx="249471" cy="2494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7074470" y="5041973"/>
            <a:ext cx="249471" cy="2494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662881" y="5533123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小数点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25" name="肘形连接符 24"/>
          <p:cNvCxnSpPr>
            <a:stCxn id="24" idx="1"/>
          </p:cNvCxnSpPr>
          <p:nvPr/>
        </p:nvCxnSpPr>
        <p:spPr>
          <a:xfrm rot="10800000">
            <a:off x="7253451" y="5320018"/>
            <a:ext cx="409430" cy="44393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0" y="3097483"/>
            <a:ext cx="32528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uint64_t </a:t>
            </a:r>
            <a:r>
              <a:rPr lang="zh-CN" altLang="en-US" sz="2400" dirty="0">
                <a:latin typeface="Consolas" panose="020B0609020204030204" pitchFamily="49" charset="0"/>
              </a:rPr>
              <a:t>被除数尾数</a:t>
            </a:r>
            <a:endParaRPr lang="zh-CN" altLang="en-US" sz="2400" dirty="0"/>
          </a:p>
        </p:txBody>
      </p:sp>
      <p:sp>
        <p:nvSpPr>
          <p:cNvPr id="26" name="矩形 25"/>
          <p:cNvSpPr/>
          <p:nvPr/>
        </p:nvSpPr>
        <p:spPr>
          <a:xfrm>
            <a:off x="0" y="4488076"/>
            <a:ext cx="29450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uint64_t </a:t>
            </a:r>
            <a:r>
              <a:rPr lang="zh-CN" altLang="en-US" sz="2400" dirty="0">
                <a:latin typeface="Consolas" panose="020B0609020204030204" pitchFamily="49" charset="0"/>
              </a:rPr>
              <a:t>除数尾数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乘除法提示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19991"/>
          </a:xfrm>
        </p:spPr>
        <p:txBody>
          <a:bodyPr/>
          <a:lstStyle/>
          <a:p>
            <a:r>
              <a:rPr lang="zh-CN" altLang="en-US" dirty="0"/>
              <a:t>除法：尾数相除，阶码相减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66151" y="1068115"/>
            <a:ext cx="482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135206" y="2996962"/>
          <a:ext cx="8128000" cy="695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24200"/>
                <a:gridCol w="939800"/>
                <a:gridCol w="4064000"/>
              </a:tblGrid>
              <a:tr h="695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40</a:t>
                      </a:r>
                      <a:r>
                        <a:rPr lang="zh-CN" altLang="en-US" sz="3200" dirty="0"/>
                        <a:t>个</a:t>
                      </a:r>
                      <a:r>
                        <a:rPr lang="en-US" altLang="zh-CN" sz="3200" dirty="0"/>
                        <a:t>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1/0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23</a:t>
                      </a:r>
                      <a:r>
                        <a:rPr lang="zh-CN" altLang="en-US" sz="3200" dirty="0"/>
                        <a:t>位小数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1047306" y="254802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135206" y="254802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63</a:t>
            </a:r>
            <a:endParaRPr lang="zh-CN" altLang="en-US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3135206" y="4443419"/>
          <a:ext cx="8128000" cy="695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24200"/>
                <a:gridCol w="939800"/>
                <a:gridCol w="4064000"/>
              </a:tblGrid>
              <a:tr h="695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40</a:t>
                      </a:r>
                      <a:r>
                        <a:rPr lang="zh-CN" altLang="en-US" sz="3200" dirty="0"/>
                        <a:t>个</a:t>
                      </a:r>
                      <a:r>
                        <a:rPr lang="en-US" altLang="zh-CN" sz="3200" dirty="0"/>
                        <a:t>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1/0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23</a:t>
                      </a:r>
                      <a:r>
                        <a:rPr lang="zh-CN" altLang="en-US" sz="3200" dirty="0"/>
                        <a:t>位小数</a:t>
                      </a:r>
                      <a:endParaRPr lang="zh-CN" altLang="en-US" sz="3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1047306" y="39944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3135206" y="399448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63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0" y="3097483"/>
            <a:ext cx="32528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uint64_t </a:t>
            </a:r>
            <a:r>
              <a:rPr lang="zh-CN" altLang="en-US" sz="2400" dirty="0">
                <a:latin typeface="Consolas" panose="020B0609020204030204" pitchFamily="49" charset="0"/>
              </a:rPr>
              <a:t>被除数尾数</a:t>
            </a:r>
            <a:endParaRPr lang="zh-CN" altLang="en-US" sz="2400" dirty="0"/>
          </a:p>
        </p:txBody>
      </p:sp>
      <p:sp>
        <p:nvSpPr>
          <p:cNvPr id="19" name="矩形 18"/>
          <p:cNvSpPr/>
          <p:nvPr/>
        </p:nvSpPr>
        <p:spPr>
          <a:xfrm>
            <a:off x="0" y="4488076"/>
            <a:ext cx="29450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uint64_t </a:t>
            </a:r>
            <a:r>
              <a:rPr lang="zh-CN" altLang="en-US" sz="2400" dirty="0">
                <a:latin typeface="Consolas" panose="020B0609020204030204" pitchFamily="49" charset="0"/>
              </a:rPr>
              <a:t>除数尾数</a:t>
            </a:r>
            <a:endParaRPr lang="zh-CN" altLang="en-US" sz="2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2006600" y="3486652"/>
            <a:ext cx="60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C00000"/>
                </a:solidFill>
              </a:rPr>
              <a:t>/</a:t>
            </a:r>
            <a:endParaRPr lang="zh-CN" altLang="en-US" sz="6000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60126" y="2331245"/>
            <a:ext cx="4337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</a:rPr>
              <a:t>&lt;&lt; </a:t>
            </a:r>
            <a:r>
              <a:rPr lang="zh-CN" altLang="en-US" sz="2800" dirty="0">
                <a:solidFill>
                  <a:srgbClr val="C00000"/>
                </a:solidFill>
              </a:rPr>
              <a:t>左移直至高位没有</a:t>
            </a:r>
            <a:r>
              <a:rPr lang="en-US" altLang="zh-CN" sz="2800" dirty="0">
                <a:solidFill>
                  <a:srgbClr val="C00000"/>
                </a:solidFill>
              </a:rPr>
              <a:t>0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509362" y="5289227"/>
            <a:ext cx="4337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</a:rPr>
              <a:t>&gt;&gt; </a:t>
            </a:r>
            <a:r>
              <a:rPr lang="zh-CN" altLang="en-US" sz="2800">
                <a:solidFill>
                  <a:srgbClr val="C00000"/>
                </a:solidFill>
              </a:rPr>
              <a:t>右移直至低位</a:t>
            </a:r>
            <a:r>
              <a:rPr lang="zh-CN" altLang="en-US" sz="2800" dirty="0">
                <a:solidFill>
                  <a:srgbClr val="C00000"/>
                </a:solidFill>
              </a:rPr>
              <a:t>没有</a:t>
            </a:r>
            <a:r>
              <a:rPr lang="en-US" altLang="zh-CN" sz="2800" dirty="0">
                <a:solidFill>
                  <a:srgbClr val="C00000"/>
                </a:solidFill>
              </a:rPr>
              <a:t>0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5882" y="5323093"/>
            <a:ext cx="2956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为提高计算精度所做的操作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252815" y="5369587"/>
            <a:ext cx="42565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/>
                </a:solidFill>
              </a:rPr>
              <a:t>同样需要调整阶码</a:t>
            </a:r>
            <a:r>
              <a:rPr lang="en-US" altLang="zh-CN" sz="2800" b="1" dirty="0" err="1">
                <a:solidFill>
                  <a:schemeClr val="accent5"/>
                </a:solidFill>
              </a:rPr>
              <a:t>exp</a:t>
            </a:r>
            <a:r>
              <a:rPr lang="zh-CN" altLang="en-US" sz="2800" b="1" dirty="0">
                <a:solidFill>
                  <a:schemeClr val="accent5"/>
                </a:solidFill>
              </a:rPr>
              <a:t>，使得真值符合</a:t>
            </a:r>
            <a:r>
              <a:rPr lang="en-US" altLang="zh-CN" sz="2800" b="1" dirty="0" err="1">
                <a:solidFill>
                  <a:schemeClr val="accent5"/>
                </a:solidFill>
              </a:rPr>
              <a:t>sig_grs</a:t>
            </a:r>
            <a:r>
              <a:rPr lang="zh-CN" altLang="en-US" sz="2800" b="1" dirty="0">
                <a:solidFill>
                  <a:schemeClr val="accent5"/>
                </a:solidFill>
              </a:rPr>
              <a:t>约定</a:t>
            </a:r>
            <a:endParaRPr lang="zh-CN" altLang="en-US" sz="28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乘除法的尾数规格化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144965" y="2222645"/>
            <a:ext cx="1200242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zh-CN" altLang="en-US" sz="2800" dirty="0"/>
              <a:t>加减法规则基础上的额外情形：</a:t>
            </a:r>
            <a:r>
              <a:rPr lang="en-US" altLang="zh-CN" sz="2800" dirty="0" err="1">
                <a:solidFill>
                  <a:srgbClr val="00B050"/>
                </a:solidFill>
              </a:rPr>
              <a:t>exp</a:t>
            </a:r>
            <a:r>
              <a:rPr lang="en-US" altLang="zh-CN" sz="2800" dirty="0">
                <a:solidFill>
                  <a:srgbClr val="00B050"/>
                </a:solidFill>
              </a:rPr>
              <a:t> &lt; 0 </a:t>
            </a:r>
            <a:endParaRPr lang="en-US" altLang="zh-CN" sz="2800" dirty="0">
              <a:solidFill>
                <a:srgbClr val="00B050"/>
              </a:solidFill>
            </a:endParaRPr>
          </a:p>
          <a:p>
            <a:pPr lvl="3"/>
            <a:r>
              <a:rPr lang="zh-CN" altLang="en-US" sz="2400" dirty="0"/>
              <a:t>操作：和</a:t>
            </a:r>
            <a:r>
              <a:rPr lang="en-US" altLang="zh-CN" sz="2400" dirty="0" err="1">
                <a:solidFill>
                  <a:srgbClr val="7030A0"/>
                </a:solidFill>
              </a:rPr>
              <a:t>sig_grs</a:t>
            </a:r>
            <a:r>
              <a:rPr lang="en-US" altLang="zh-CN" sz="2400" dirty="0">
                <a:solidFill>
                  <a:srgbClr val="7030A0"/>
                </a:solidFill>
              </a:rPr>
              <a:t> &gt;&gt; 26 &gt; 1</a:t>
            </a:r>
            <a:r>
              <a:rPr lang="zh-CN" altLang="en-US" sz="2400" dirty="0"/>
              <a:t>的情形一样，需要右规，直至</a:t>
            </a:r>
            <a:endParaRPr lang="en-US" altLang="zh-CN" sz="2400" dirty="0"/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得到非规格化数：</a:t>
            </a:r>
            <a:r>
              <a:rPr lang="en-US" altLang="zh-CN" sz="2400" dirty="0" err="1">
                <a:solidFill>
                  <a:srgbClr val="00B050"/>
                </a:solidFill>
              </a:rPr>
              <a:t>exp</a:t>
            </a:r>
            <a:r>
              <a:rPr lang="en-US" altLang="zh-CN" sz="2400" dirty="0">
                <a:solidFill>
                  <a:srgbClr val="00B050"/>
                </a:solidFill>
              </a:rPr>
              <a:t> == 0 </a:t>
            </a:r>
            <a:r>
              <a:rPr lang="zh-CN" altLang="en-US" sz="2400" dirty="0"/>
              <a:t>且 </a:t>
            </a:r>
            <a:r>
              <a:rPr lang="en-US" altLang="zh-CN" sz="2400" dirty="0" err="1">
                <a:solidFill>
                  <a:srgbClr val="7030A0"/>
                </a:solidFill>
              </a:rPr>
              <a:t>sig_grs</a:t>
            </a:r>
            <a:r>
              <a:rPr lang="en-US" altLang="zh-CN" sz="2400" dirty="0">
                <a:solidFill>
                  <a:srgbClr val="7030A0"/>
                </a:solidFill>
              </a:rPr>
              <a:t> &gt;&gt; 26 &lt;= 1</a:t>
            </a:r>
            <a:r>
              <a:rPr lang="en-US" altLang="zh-CN" sz="2400" dirty="0">
                <a:solidFill>
                  <a:srgbClr val="00B050"/>
                </a:solidFill>
              </a:rPr>
              <a:t> </a:t>
            </a:r>
            <a:r>
              <a:rPr lang="zh-CN" altLang="en-US" sz="2400" dirty="0"/>
              <a:t>且 </a:t>
            </a:r>
            <a:r>
              <a:rPr lang="en-US" altLang="zh-CN" sz="2400" dirty="0" err="1">
                <a:solidFill>
                  <a:srgbClr val="7030A0"/>
                </a:solidFill>
              </a:rPr>
              <a:t>sig_grs</a:t>
            </a:r>
            <a:r>
              <a:rPr lang="en-US" altLang="zh-CN" sz="2400" dirty="0">
                <a:solidFill>
                  <a:srgbClr val="7030A0"/>
                </a:solidFill>
              </a:rPr>
              <a:t> &gt; 0 </a:t>
            </a:r>
            <a:r>
              <a:rPr lang="zh-CN" altLang="en-US" sz="2400" dirty="0">
                <a:solidFill>
                  <a:srgbClr val="7030A0"/>
                </a:solidFill>
              </a:rPr>
              <a:t>（舍入之后仍大于</a:t>
            </a:r>
            <a:r>
              <a:rPr lang="en-US" altLang="zh-CN" sz="2400" dirty="0">
                <a:solidFill>
                  <a:srgbClr val="7030A0"/>
                </a:solidFill>
              </a:rPr>
              <a:t>0</a:t>
            </a:r>
            <a:r>
              <a:rPr lang="zh-CN" altLang="en-US" sz="2400" dirty="0">
                <a:solidFill>
                  <a:srgbClr val="7030A0"/>
                </a:solidFill>
              </a:rPr>
              <a:t>）</a:t>
            </a:r>
            <a:endParaRPr lang="en-US" altLang="zh-CN" sz="2400" dirty="0">
              <a:solidFill>
                <a:srgbClr val="7030A0"/>
              </a:solidFill>
            </a:endParaRP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在</a:t>
            </a:r>
            <a:r>
              <a:rPr lang="en-US" altLang="zh-CN" sz="2400" dirty="0"/>
              <a:t>while</a:t>
            </a:r>
            <a:r>
              <a:rPr lang="zh-CN" altLang="en-US" sz="2400" dirty="0"/>
              <a:t>循环外多右移一次配合非规格化数阶码的约定</a:t>
            </a:r>
            <a:endParaRPr lang="en-US" altLang="zh-CN" sz="2400" dirty="0"/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或，得到规格化数：</a:t>
            </a:r>
            <a:r>
              <a:rPr lang="en-US" altLang="zh-CN" sz="2400" dirty="0" err="1">
                <a:solidFill>
                  <a:srgbClr val="00B050"/>
                </a:solidFill>
              </a:rPr>
              <a:t>exp</a:t>
            </a:r>
            <a:r>
              <a:rPr lang="en-US" altLang="zh-CN" sz="2400" dirty="0">
                <a:solidFill>
                  <a:srgbClr val="00B050"/>
                </a:solidFill>
              </a:rPr>
              <a:t> &gt; 0</a:t>
            </a:r>
            <a:r>
              <a:rPr lang="en-US" altLang="zh-CN" sz="2400" dirty="0"/>
              <a:t> </a:t>
            </a:r>
            <a:r>
              <a:rPr lang="zh-CN" altLang="en-US" sz="2400" dirty="0"/>
              <a:t>且 </a:t>
            </a:r>
            <a:r>
              <a:rPr lang="en-US" altLang="zh-CN" sz="2400" dirty="0" err="1">
                <a:solidFill>
                  <a:srgbClr val="7030A0"/>
                </a:solidFill>
              </a:rPr>
              <a:t>sig_grs</a:t>
            </a:r>
            <a:r>
              <a:rPr lang="en-US" altLang="zh-CN" sz="2400" dirty="0">
                <a:solidFill>
                  <a:srgbClr val="7030A0"/>
                </a:solidFill>
              </a:rPr>
              <a:t> &gt;&gt; 26 == 1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lvl="3"/>
            <a:r>
              <a:rPr lang="zh-CN" altLang="en-US" sz="2400" dirty="0"/>
              <a:t>例外：</a:t>
            </a:r>
            <a:endParaRPr lang="en-US" altLang="zh-CN" sz="2400" dirty="0"/>
          </a:p>
          <a:p>
            <a:pPr lvl="4"/>
            <a:r>
              <a:rPr lang="zh-CN" altLang="en-US" sz="2400" dirty="0"/>
              <a:t>已经无法右规了</a:t>
            </a:r>
            <a:r>
              <a:rPr lang="en-US" altLang="zh-CN" sz="2400" dirty="0" err="1">
                <a:solidFill>
                  <a:srgbClr val="7030A0"/>
                </a:solidFill>
              </a:rPr>
              <a:t>sig_grs</a:t>
            </a:r>
            <a:r>
              <a:rPr lang="en-US" altLang="zh-CN" sz="2400" dirty="0">
                <a:solidFill>
                  <a:srgbClr val="7030A0"/>
                </a:solidFill>
              </a:rPr>
              <a:t> &lt;= 4 </a:t>
            </a:r>
            <a:r>
              <a:rPr lang="zh-CN" altLang="en-US" sz="2400" dirty="0">
                <a:solidFill>
                  <a:srgbClr val="7030A0"/>
                </a:solidFill>
              </a:rPr>
              <a:t>（舍入后就是</a:t>
            </a:r>
            <a:r>
              <a:rPr lang="en-US" altLang="zh-CN" sz="2400" dirty="0">
                <a:solidFill>
                  <a:srgbClr val="7030A0"/>
                </a:solidFill>
              </a:rPr>
              <a:t>0</a:t>
            </a:r>
            <a:r>
              <a:rPr lang="zh-CN" altLang="en-US" sz="2400" dirty="0">
                <a:solidFill>
                  <a:srgbClr val="7030A0"/>
                </a:solidFill>
              </a:rPr>
              <a:t>了）</a:t>
            </a:r>
            <a:r>
              <a:rPr lang="zh-CN" altLang="en-US" sz="2400" dirty="0"/>
              <a:t>，</a:t>
            </a:r>
            <a:r>
              <a:rPr lang="en-US" altLang="zh-CN" sz="2400" dirty="0" err="1">
                <a:solidFill>
                  <a:srgbClr val="00B050"/>
                </a:solidFill>
              </a:rPr>
              <a:t>exp</a:t>
            </a:r>
            <a:r>
              <a:rPr lang="zh-CN" altLang="en-US" sz="2400" dirty="0"/>
              <a:t>仍然小于</a:t>
            </a:r>
            <a:r>
              <a:rPr lang="en-US" altLang="zh-CN" sz="2400" dirty="0"/>
              <a:t>0</a:t>
            </a:r>
            <a:r>
              <a:rPr lang="zh-CN" altLang="en-US" sz="2400" dirty="0"/>
              <a:t>，产生阶码下溢</a:t>
            </a:r>
            <a:endParaRPr lang="en-US" altLang="zh-CN" sz="2400" dirty="0"/>
          </a:p>
        </p:txBody>
      </p:sp>
      <p:sp>
        <p:nvSpPr>
          <p:cNvPr id="8" name="矩形 7"/>
          <p:cNvSpPr/>
          <p:nvPr/>
        </p:nvSpPr>
        <p:spPr>
          <a:xfrm>
            <a:off x="207204" y="1567919"/>
            <a:ext cx="1234627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300" dirty="0">
                <a:latin typeface="Consolas" panose="020B0609020204030204" pitchFamily="49" charset="0"/>
              </a:rPr>
              <a:t>uint32_t internal_normalize(uint32_t sign, </a:t>
            </a:r>
            <a:r>
              <a:rPr lang="en-US" altLang="zh-CN" sz="2300" dirty="0">
                <a:latin typeface="Consolas" panose="020B0609020204030204" pitchFamily="49" charset="0"/>
              </a:rPr>
              <a:t> </a:t>
            </a:r>
            <a:r>
              <a:rPr lang="zh-CN" altLang="en-US" sz="2300" dirty="0">
                <a:solidFill>
                  <a:schemeClr val="accent6"/>
                </a:solidFill>
                <a:latin typeface="Consolas" panose="020B0609020204030204" pitchFamily="49" charset="0"/>
              </a:rPr>
              <a:t>int32_t exp</a:t>
            </a:r>
            <a:r>
              <a:rPr lang="zh-CN" altLang="en-US" sz="2300" dirty="0">
                <a:latin typeface="Consolas" panose="020B0609020204030204" pitchFamily="49" charset="0"/>
              </a:rPr>
              <a:t>,</a:t>
            </a:r>
            <a:r>
              <a:rPr lang="en-US" altLang="zh-CN" sz="2300" dirty="0">
                <a:latin typeface="Consolas" panose="020B0609020204030204" pitchFamily="49" charset="0"/>
              </a:rPr>
              <a:t> </a:t>
            </a:r>
            <a:r>
              <a:rPr lang="zh-CN" altLang="en-US" sz="2300" dirty="0">
                <a:solidFill>
                  <a:srgbClr val="7030A0"/>
                </a:solidFill>
                <a:latin typeface="Consolas" panose="020B0609020204030204" pitchFamily="49" charset="0"/>
              </a:rPr>
              <a:t>uint64_t sig_grs</a:t>
            </a:r>
            <a:r>
              <a:rPr lang="zh-CN" altLang="en-US" sz="2300" dirty="0">
                <a:latin typeface="Consolas" panose="020B0609020204030204" pitchFamily="49" charset="0"/>
              </a:rPr>
              <a:t>)</a:t>
            </a:r>
            <a:endParaRPr lang="zh-CN" altLang="en-US" sz="23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01766" y="987689"/>
            <a:ext cx="5442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对于加减法，中间结果</a:t>
            </a:r>
            <a:r>
              <a:rPr lang="en-US" altLang="zh-CN" sz="2800" dirty="0" err="1"/>
              <a:t>exp</a:t>
            </a:r>
            <a:r>
              <a:rPr lang="en-US" altLang="zh-CN" sz="2800" dirty="0"/>
              <a:t> &gt;= 0</a:t>
            </a:r>
            <a:endParaRPr lang="zh-CN" altLang="en-US" sz="2800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6096000" y="1249299"/>
            <a:ext cx="599192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369050" y="711200"/>
            <a:ext cx="2749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乘除法这一条不再成立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实验过程及要求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0545" y="1099128"/>
            <a:ext cx="7654159" cy="530167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1.</a:t>
            </a:r>
            <a:r>
              <a:rPr lang="zh-CN" altLang="en-US" sz="2000" dirty="0"/>
              <a:t>实现</a:t>
            </a:r>
            <a:r>
              <a:rPr lang="en-US" altLang="zh-CN" sz="2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0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0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0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fpu.c</a:t>
            </a:r>
            <a:r>
              <a:rPr lang="zh-CN" altLang="en-US" sz="2000" dirty="0"/>
              <a:t>中的四个浮点数运算函数；</a:t>
            </a:r>
            <a:endParaRPr lang="zh-CN" alt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2.</a:t>
            </a:r>
            <a:r>
              <a:rPr lang="zh-CN" altLang="en-US" sz="2000" dirty="0"/>
              <a:t>将</a:t>
            </a:r>
            <a:r>
              <a:rPr lang="en-US" altLang="zh-CN" sz="2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internal_normalize</a:t>
            </a:r>
            <a:r>
              <a:rPr lang="en-US" altLang="zh-CN" sz="2000" dirty="0">
                <a:solidFill>
                  <a:schemeClr val="accent5"/>
                </a:solidFill>
                <a:latin typeface="Consolas" panose="020B0609020204030204" pitchFamily="49" charset="0"/>
              </a:rPr>
              <a:t>()</a:t>
            </a:r>
            <a:r>
              <a:rPr lang="zh-CN" altLang="en-US" sz="2000" dirty="0"/>
              <a:t>函数补完；</a:t>
            </a:r>
            <a:endParaRPr lang="zh-CN" alt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3.</a:t>
            </a:r>
            <a:r>
              <a:rPr lang="zh-CN" altLang="en-US" sz="2000" dirty="0"/>
              <a:t>使用</a:t>
            </a:r>
            <a:r>
              <a:rPr lang="en-US" altLang="zh-CN" sz="2000" dirty="0"/>
              <a:t>make</a:t>
            </a:r>
            <a:r>
              <a:rPr lang="zh-CN" altLang="en-US" sz="2000" dirty="0"/>
              <a:t>命令编译项目；</a:t>
            </a:r>
            <a:endParaRPr lang="zh-CN" alt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4.</a:t>
            </a:r>
            <a:r>
              <a:rPr lang="zh-CN" altLang="en-US" sz="2000" dirty="0"/>
              <a:t>使用</a:t>
            </a:r>
            <a:r>
              <a:rPr lang="en-US" altLang="zh-CN" sz="2000" dirty="0">
                <a:solidFill>
                  <a:schemeClr val="accent5"/>
                </a:solidFill>
                <a:latin typeface="Consolas" panose="020B0609020204030204" pitchFamily="49" charset="0"/>
              </a:rPr>
              <a:t>./</a:t>
            </a:r>
            <a:r>
              <a:rPr lang="en-US" altLang="zh-CN" sz="2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0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000" dirty="0">
                <a:solidFill>
                  <a:schemeClr val="accent5"/>
                </a:solidFill>
                <a:latin typeface="Consolas" panose="020B0609020204030204" pitchFamily="49" charset="0"/>
              </a:rPr>
              <a:t> --test-</a:t>
            </a:r>
            <a:r>
              <a:rPr lang="en-US" altLang="zh-CN" sz="2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fpu</a:t>
            </a:r>
            <a:r>
              <a:rPr lang="en-US" altLang="zh-CN" sz="2000" dirty="0">
                <a:solidFill>
                  <a:schemeClr val="accent5"/>
                </a:solidFill>
                <a:latin typeface="Consolas" panose="020B0609020204030204" pitchFamily="49" charset="0"/>
              </a:rPr>
              <a:t> xxx</a:t>
            </a:r>
            <a:r>
              <a:rPr lang="zh-CN" altLang="en-US" sz="2000" dirty="0"/>
              <a:t>或</a:t>
            </a:r>
            <a:r>
              <a:rPr lang="en-US" altLang="zh-CN" sz="2000" dirty="0">
                <a:solidFill>
                  <a:schemeClr val="accent5"/>
                </a:solidFill>
                <a:latin typeface="Consolas" panose="020B0609020204030204" pitchFamily="49" charset="0"/>
              </a:rPr>
              <a:t>make test_pa-1</a:t>
            </a:r>
            <a:r>
              <a:rPr lang="zh-CN" altLang="en-US" sz="2000" dirty="0"/>
              <a:t>命令执行</a:t>
            </a:r>
            <a:r>
              <a:rPr lang="en-US" altLang="zh-CN" sz="2000" dirty="0"/>
              <a:t>NEMU</a:t>
            </a:r>
            <a:r>
              <a:rPr lang="zh-CN" altLang="en-US" sz="2000" dirty="0"/>
              <a:t>并通过各个浮点数运算测试用例。</a:t>
            </a:r>
            <a:endParaRPr lang="zh-CN" alt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在实验报告中，回答以下问题：</a:t>
            </a:r>
            <a:endParaRPr lang="zh-CN" alt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为浮点数加法和乘法各找两个例子：</a:t>
            </a:r>
            <a:r>
              <a:rPr lang="en-US" altLang="zh-CN" sz="2000" dirty="0"/>
              <a:t>1</a:t>
            </a:r>
            <a:r>
              <a:rPr lang="zh-CN" altLang="en-US" sz="2000" dirty="0"/>
              <a:t>）对应输入是规格化或非规格化数，而输出产生了阶码上溢结果为正（负）无穷的情况；</a:t>
            </a:r>
            <a:r>
              <a:rPr lang="en-US" altLang="zh-CN" sz="2000" dirty="0"/>
              <a:t>2</a:t>
            </a:r>
            <a:r>
              <a:rPr lang="zh-CN" altLang="en-US" sz="2000" dirty="0"/>
              <a:t>）对应输入是规格化或非规格化数，而输出产生了阶码下溢结果为正（负）零的情况。是否都能找到？若找不到，说出理由。</a:t>
            </a:r>
            <a:endParaRPr lang="zh-CN" altLang="en-US" sz="1400" dirty="0"/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741129" y="2814415"/>
            <a:ext cx="301625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pu_test_add()  </a:t>
            </a:r>
            <a:r>
              <a:rPr lang="zh-CN" altLang="en-US" dirty="0">
                <a:solidFill>
                  <a:srgbClr val="00B050"/>
                </a:solidFill>
              </a:rPr>
              <a:t>pass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fpu_test_sub()  </a:t>
            </a:r>
            <a:r>
              <a:rPr lang="zh-CN" altLang="en-US" dirty="0">
                <a:solidFill>
                  <a:srgbClr val="00B050"/>
                </a:solidFill>
              </a:rPr>
              <a:t>pass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fpu_test_mul()  </a:t>
            </a:r>
            <a:r>
              <a:rPr lang="zh-CN" altLang="en-US" dirty="0">
                <a:solidFill>
                  <a:srgbClr val="00B050"/>
                </a:solidFill>
              </a:rPr>
              <a:t>pass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fpu_test_div()  </a:t>
            </a:r>
            <a:r>
              <a:rPr lang="zh-CN" altLang="en-US" dirty="0">
                <a:solidFill>
                  <a:srgbClr val="00B050"/>
                </a:solidFill>
              </a:rPr>
              <a:t>pass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10600" y="2143647"/>
            <a:ext cx="327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~PA 1-3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顺利完成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路线图进展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1B-276C-4689-9DC4-FD611E4D7A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02"/>
          <a:stretch>
            <a:fillRect/>
          </a:stretch>
        </p:blipFill>
        <p:spPr>
          <a:xfrm>
            <a:off x="1577905" y="1669669"/>
            <a:ext cx="8818019" cy="433173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9494"/>
            <a:ext cx="9144000" cy="2387600"/>
          </a:xfrm>
        </p:spPr>
        <p:txBody>
          <a:bodyPr/>
          <a:lstStyle/>
          <a:p>
            <a:r>
              <a:rPr lang="en-US" altLang="zh-CN" dirty="0"/>
              <a:t>PA 1-3 </a:t>
            </a:r>
            <a:r>
              <a:rPr lang="zh-CN" altLang="en-US" dirty="0"/>
              <a:t>结束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FA84-EAF4-4339-BDEC-060012F97A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F54F-F0B0-4455-BE05-B2A17988505B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19100" y="2566670"/>
            <a:ext cx="10877550" cy="3846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/>
              <a:t>整个</a:t>
            </a:r>
            <a:r>
              <a:rPr lang="en-US" altLang="zh-CN" sz="3200" dirty="0"/>
              <a:t>PA 1</a:t>
            </a:r>
            <a:r>
              <a:rPr lang="zh-CN" altLang="en-US" sz="3200" dirty="0"/>
              <a:t>截止</a:t>
            </a:r>
            <a:endParaRPr lang="en-US" altLang="zh-CN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rgbClr val="C00000"/>
                </a:solidFill>
              </a:rPr>
              <a:t>2025</a:t>
            </a:r>
            <a:r>
              <a:rPr lang="zh-CN" altLang="en-US" sz="3200" dirty="0">
                <a:solidFill>
                  <a:srgbClr val="C00000"/>
                </a:solidFill>
              </a:rPr>
              <a:t>年</a:t>
            </a:r>
            <a:r>
              <a:rPr lang="en-US" altLang="zh-CN" sz="3200" dirty="0">
                <a:solidFill>
                  <a:srgbClr val="C00000"/>
                </a:solidFill>
              </a:rPr>
              <a:t>9</a:t>
            </a:r>
            <a:r>
              <a:rPr lang="zh-CN" altLang="en-US" sz="3200" dirty="0">
                <a:solidFill>
                  <a:srgbClr val="C00000"/>
                </a:solidFill>
              </a:rPr>
              <a:t>月</a:t>
            </a:r>
            <a:r>
              <a:rPr lang="en-US" altLang="zh-CN" sz="3200" dirty="0">
                <a:solidFill>
                  <a:srgbClr val="C00000"/>
                </a:solidFill>
              </a:rPr>
              <a:t>21</a:t>
            </a:r>
            <a:r>
              <a:rPr lang="zh-CN" altLang="en-US" sz="3200" dirty="0">
                <a:solidFill>
                  <a:srgbClr val="C00000"/>
                </a:solidFill>
              </a:rPr>
              <a:t>日（周日）</a:t>
            </a:r>
            <a:r>
              <a:rPr lang="en-US" altLang="zh-CN" sz="3200" dirty="0">
                <a:solidFill>
                  <a:srgbClr val="C00000"/>
                </a:solidFill>
              </a:rPr>
              <a:t>24:00</a:t>
            </a:r>
            <a:endParaRPr lang="en-US" altLang="zh-CN" sz="3200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/>
              <a:t>提交方式</a:t>
            </a:r>
            <a:endParaRPr lang="en-US" altLang="zh-CN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rgbClr val="C00000"/>
                </a:solidFill>
              </a:rPr>
              <a:t>make submit_pa-1</a:t>
            </a:r>
            <a:endParaRPr lang="en-US" altLang="zh-CN" sz="3200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3200" dirty="0"/>
              <a:t>下载</a:t>
            </a:r>
            <a:r>
              <a:rPr lang="en-US" altLang="zh-CN" sz="3200" dirty="0">
                <a:solidFill>
                  <a:srgbClr val="C00000"/>
                </a:solidFill>
              </a:rPr>
              <a:t>submit/</a:t>
            </a:r>
            <a:r>
              <a:rPr lang="zh-CN" altLang="en-US" sz="3200" dirty="0"/>
              <a:t>下面产生的</a:t>
            </a:r>
            <a:r>
              <a:rPr lang="zh-CN" altLang="en-US" sz="3200" dirty="0">
                <a:solidFill>
                  <a:srgbClr val="C00000"/>
                </a:solidFill>
              </a:rPr>
              <a:t>压缩包</a:t>
            </a:r>
            <a:endParaRPr lang="en-US" altLang="zh-CN" sz="3200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3200" dirty="0"/>
              <a:t>将</a:t>
            </a:r>
            <a:r>
              <a:rPr lang="zh-CN" altLang="en-US" sz="3200" dirty="0">
                <a:solidFill>
                  <a:srgbClr val="C00000"/>
                </a:solidFill>
              </a:rPr>
              <a:t>压缩包</a:t>
            </a:r>
            <a:r>
              <a:rPr lang="zh-CN" altLang="en-US" sz="3200" dirty="0"/>
              <a:t>和</a:t>
            </a:r>
            <a:r>
              <a:rPr lang="zh-CN" altLang="en-US" sz="3200" dirty="0">
                <a:solidFill>
                  <a:srgbClr val="C00000"/>
                </a:solidFill>
              </a:rPr>
              <a:t>实验报告</a:t>
            </a:r>
            <a:r>
              <a:rPr lang="zh-CN" altLang="en-US" sz="3200" dirty="0"/>
              <a:t>分别提交到</a:t>
            </a:r>
            <a:r>
              <a:rPr lang="en-US" altLang="zh-CN" sz="3200" dirty="0" err="1"/>
              <a:t>cslab</a:t>
            </a:r>
            <a:r>
              <a:rPr lang="zh-CN" altLang="en-US" sz="3200" dirty="0"/>
              <a:t>中对应的备用窗口</a:t>
            </a:r>
            <a:endParaRPr lang="en-US" altLang="zh-CN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3200" dirty="0"/>
              <a:t>实验报告中需回答</a:t>
            </a:r>
            <a:r>
              <a:rPr lang="en-US" altLang="zh-CN" sz="3200" dirty="0"/>
              <a:t>PA 1-1 </a:t>
            </a:r>
            <a:r>
              <a:rPr lang="zh-CN" altLang="en-US" sz="3200" dirty="0"/>
              <a:t>到 </a:t>
            </a:r>
            <a:r>
              <a:rPr lang="en-US" altLang="zh-CN" sz="3200" dirty="0"/>
              <a:t>PA 1-3</a:t>
            </a:r>
            <a:r>
              <a:rPr lang="zh-CN" altLang="en-US" sz="3200" dirty="0"/>
              <a:t>教程后面的问题</a:t>
            </a:r>
            <a:endParaRPr lang="en-US" altLang="zh-CN" sz="3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也可以报告在做实验过程中遇到的问题，心得和建议</a:t>
            </a:r>
            <a:endParaRPr lang="zh-CN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0_spring_pa_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2020_spring_pa_0</Template>
  <TotalTime>0</TotalTime>
  <Words>10874</Words>
  <Application>WPS 演示</Application>
  <PresentationFormat>宽屏</PresentationFormat>
  <Paragraphs>1460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9" baseType="lpstr">
      <vt:lpstr>Arial</vt:lpstr>
      <vt:lpstr>宋体</vt:lpstr>
      <vt:lpstr>Wingdings</vt:lpstr>
      <vt:lpstr>微软雅黑</vt:lpstr>
      <vt:lpstr>幼圆</vt:lpstr>
      <vt:lpstr>Consolas</vt:lpstr>
      <vt:lpstr>等线</vt:lpstr>
      <vt:lpstr>Arial Unicode MS</vt:lpstr>
      <vt:lpstr>2020_spring_pa_0</vt:lpstr>
      <vt:lpstr>PA 1-3 – 浮点数的表示和运算</vt:lpstr>
      <vt:lpstr>前情提要</vt:lpstr>
      <vt:lpstr>目录</vt:lpstr>
      <vt:lpstr>概览</vt:lpstr>
      <vt:lpstr>概览</vt:lpstr>
      <vt:lpstr>带小数的实数</vt:lpstr>
      <vt:lpstr>定点数和浮点数</vt:lpstr>
      <vt:lpstr>定点数和浮点数</vt:lpstr>
      <vt:lpstr>定点数和浮点数</vt:lpstr>
      <vt:lpstr>定点数和浮点数</vt:lpstr>
      <vt:lpstr>IEEE 754 浮点数标准</vt:lpstr>
      <vt:lpstr>IEEE 754 浮点数标准</vt:lpstr>
      <vt:lpstr>IEEE 754 浮点数标准</vt:lpstr>
      <vt:lpstr>IEEE 754 浮点数标准</vt:lpstr>
      <vt:lpstr>IEEE 754 浮点数标准</vt:lpstr>
      <vt:lpstr>IEEE 754 浮点数标准</vt:lpstr>
      <vt:lpstr>IEEE 754 浮点数标准</vt:lpstr>
      <vt:lpstr>IEEE 754 浮点数标准</vt:lpstr>
      <vt:lpstr>浮点数的运算模拟</vt:lpstr>
      <vt:lpstr>浮点数的运算模拟</vt:lpstr>
      <vt:lpstr>浮点数的运算模拟</vt:lpstr>
      <vt:lpstr>浮点数的运算模拟</vt:lpstr>
      <vt:lpstr>浮点数的运算模拟</vt:lpstr>
      <vt:lpstr>浮点数的运算模拟（禁用方法）</vt:lpstr>
      <vt:lpstr>浮点数的运算模拟（要求的方法）</vt:lpstr>
      <vt:lpstr>浮点数的运算模拟（要求的方法）</vt:lpstr>
      <vt:lpstr>浮点数的运算模拟（基本流程）</vt:lpstr>
      <vt:lpstr>浮点数的运算模拟（以加法为例）</vt:lpstr>
      <vt:lpstr>浮点数的运算模拟</vt:lpstr>
      <vt:lpstr>提取符号、阶码、尾数</vt:lpstr>
      <vt:lpstr>提取符号、阶码、尾数</vt:lpstr>
      <vt:lpstr>浮点数的运算模拟</vt:lpstr>
      <vt:lpstr>整数运算得到中间结果</vt:lpstr>
      <vt:lpstr>整数运算得到中间结果</vt:lpstr>
      <vt:lpstr>PowerPoint 演示文稿</vt:lpstr>
      <vt:lpstr>对阶：小阶向大阶看齐</vt:lpstr>
      <vt:lpstr>对阶：小阶向大阶看齐</vt:lpstr>
      <vt:lpstr>对阶：小阶向大阶看齐</vt:lpstr>
      <vt:lpstr>PowerPoint 演示文稿</vt:lpstr>
      <vt:lpstr>PowerPoint 演示文稿</vt:lpstr>
      <vt:lpstr>PowerPoint 演示文稿</vt:lpstr>
      <vt:lpstr>整数运算得到中间结果</vt:lpstr>
      <vt:lpstr>浮点数的运算模拟（基本流程）</vt:lpstr>
      <vt:lpstr>规格化与舍入</vt:lpstr>
      <vt:lpstr>规格化与舍入</vt:lpstr>
      <vt:lpstr>规格化与舍入</vt:lpstr>
      <vt:lpstr>规格化与舍入</vt:lpstr>
      <vt:lpstr>规格化与舍入</vt:lpstr>
      <vt:lpstr>规格化与舍入</vt:lpstr>
      <vt:lpstr>浮点数的运算模拟（基本流程）</vt:lpstr>
      <vt:lpstr>浮点数的运算模拟（基本流程）</vt:lpstr>
      <vt:lpstr>乘除法提示</vt:lpstr>
      <vt:lpstr>乘除法提示</vt:lpstr>
      <vt:lpstr>乘除法提示</vt:lpstr>
      <vt:lpstr>乘除法提示</vt:lpstr>
      <vt:lpstr>乘除法提示</vt:lpstr>
      <vt:lpstr>乘除法的尾数规格化</vt:lpstr>
      <vt:lpstr>实验过程及要求</vt:lpstr>
      <vt:lpstr>路线图进展</vt:lpstr>
      <vt:lpstr>PA 1-3 结束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 1-2 – 整数的表示和运算</dc:title>
  <dc:creator>wangliang</dc:creator>
  <cp:lastModifiedBy>汪亮</cp:lastModifiedBy>
  <cp:revision>487</cp:revision>
  <dcterms:created xsi:type="dcterms:W3CDTF">2020-03-05T02:49:00Z</dcterms:created>
  <dcterms:modified xsi:type="dcterms:W3CDTF">2025-09-10T06:58:25Z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0FE5D21C490746D28147289109E5AB8B_12</vt:lpwstr>
  </property>
  <property fmtid="{D5CDD505-2E9C-101B-9397-08002B2CF9AE}" pid="3" name="KSOProductBuildVer">
    <vt:lpwstr>2052-12.1.0.22529</vt:lpwstr>
  </property>
</Properties>
</file>